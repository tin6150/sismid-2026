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92" r:id="rId3"/>
    <p:sldId id="257" r:id="rId4"/>
    <p:sldId id="258" r:id="rId5"/>
    <p:sldId id="259" r:id="rId6"/>
    <p:sldId id="293" r:id="rId7"/>
    <p:sldId id="260" r:id="rId8"/>
    <p:sldId id="261" r:id="rId9"/>
    <p:sldId id="262" r:id="rId10"/>
    <p:sldId id="263" r:id="rId11"/>
    <p:sldId id="264" r:id="rId12"/>
    <p:sldId id="265" r:id="rId13"/>
    <p:sldId id="266" r:id="rId14"/>
    <p:sldId id="267" r:id="rId15"/>
    <p:sldId id="294" r:id="rId16"/>
    <p:sldId id="268" r:id="rId17"/>
    <p:sldId id="269" r:id="rId18"/>
    <p:sldId id="270" r:id="rId19"/>
    <p:sldId id="271" r:id="rId20"/>
    <p:sldId id="272" r:id="rId21"/>
    <p:sldId id="273" r:id="rId22"/>
    <p:sldId id="274" r:id="rId23"/>
    <p:sldId id="275" r:id="rId24"/>
    <p:sldId id="295" r:id="rId25"/>
    <p:sldId id="276" r:id="rId26"/>
    <p:sldId id="277" r:id="rId27"/>
    <p:sldId id="278" r:id="rId28"/>
    <p:sldId id="279" r:id="rId29"/>
    <p:sldId id="282" r:id="rId30"/>
    <p:sldId id="283" r:id="rId3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36815" autoAdjust="0"/>
  </p:normalViewPr>
  <p:slideViewPr>
    <p:cSldViewPr snapToGrid="0" snapToObjects="1">
      <p:cViewPr varScale="1">
        <p:scale>
          <a:sx n="30" d="100"/>
          <a:sy n="30" d="100"/>
        </p:scale>
        <p:origin x="2674"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47AAC20-53D5-43EB-84E1-EAE5A724430B}"/>
              </a:ext>
            </a:extLst>
          </p:cNvPr>
          <p:cNvSpPr>
            <a:spLocks noGrp="1"/>
          </p:cNvSpPr>
          <p:nvPr/>
        </p:nvSpPr>
        <p:spPr>
          <a:xfrm>
            <a:off x="1960110" y="935695"/>
            <a:ext cx="7899400" cy="1417320"/>
          </a:xfrm>
          <a:prstGeom prst="rect">
            <a:avLst/>
          </a:prstGeom>
          <a:noFill/>
        </p:spPr>
        <p:txBody>
          <a:bodyPr wrap="square" lIns="0" tIns="0" rIns="0" bIns="0" anchor="ctr">
            <a:normAutofit/>
          </a:bodyPr>
          <a:lstStyle/>
          <a:p>
            <a:pPr marL="0" indent="0" algn="ctr">
              <a:buNone/>
            </a:pPr>
            <a:r>
              <a:rPr sz="4400" b="1">
                <a:solidFill>
                  <a:srgbClr val="0B1F3A"/>
                </a:solidFill>
                <a:latin typeface="Aptos Display"/>
                <a:ea typeface="Aptos Display"/>
                <a:cs typeface="Aptos Display"/>
              </a:rPr>
              <a:t>Prompting for AI-Assisted</a:t>
            </a:r>
          </a:p>
          <a:p>
            <a:pPr marL="0" indent="0" algn="ctr">
              <a:buNone/>
            </a:pPr>
            <a:r>
              <a:rPr sz="4400" b="1">
                <a:solidFill>
                  <a:srgbClr val="0B1F3A"/>
                </a:solidFill>
                <a:latin typeface="Aptos Display"/>
                <a:ea typeface="Aptos Display"/>
                <a:cs typeface="Aptos Display"/>
              </a:rPr>
              <a:t>Coding and Analysis</a:t>
            </a:r>
          </a:p>
        </p:txBody>
      </p:sp>
      <p:sp>
        <p:nvSpPr>
          <p:cNvPr id="10" name="Shape 8">
            <a:extLst>
              <a:ext uri="{FF2B5EF4-FFF2-40B4-BE49-F238E27FC236}">
                <a16:creationId xmlns:a16="http://schemas.microsoft.com/office/drawing/2014/main" id="{F72C3670-0F01-4067-BF09-B86C560842F2}"/>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11" name="Text 9">
            <a:extLst>
              <a:ext uri="{FF2B5EF4-FFF2-40B4-BE49-F238E27FC236}">
                <a16:creationId xmlns:a16="http://schemas.microsoft.com/office/drawing/2014/main" id="{B97C14F8-0947-4BD9-95AD-3FFE39E025D2}"/>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B7280"/>
                </a:solidFill>
                <a:latin typeface="Aptos"/>
                <a:ea typeface="Aptos"/>
                <a:cs typeface="Aptos"/>
              </a:rPr>
              <a:t>Prompting for AI-Assisted Analysis • Nathan J. McNeese</a:t>
            </a:r>
          </a:p>
        </p:txBody>
      </p:sp>
      <p:sp>
        <p:nvSpPr>
          <p:cNvPr id="12" name="Text 10">
            <a:extLst>
              <a:ext uri="{FF2B5EF4-FFF2-40B4-BE49-F238E27FC236}">
                <a16:creationId xmlns:a16="http://schemas.microsoft.com/office/drawing/2014/main" id="{6032ED3C-7CD2-48E2-87A5-941CB46AF1DF}"/>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B7280"/>
                </a:solidFill>
                <a:latin typeface="Aptos"/>
                <a:ea typeface="Aptos"/>
                <a:cs typeface="Aptos"/>
              </a:rPr>
              <a:t>1</a:t>
            </a:r>
          </a:p>
        </p:txBody>
      </p:sp>
      <p:sp>
        <p:nvSpPr>
          <p:cNvPr id="13" name="Subtitle 1">
            <a:extLst>
              <a:ext uri="{FF2B5EF4-FFF2-40B4-BE49-F238E27FC236}">
                <a16:creationId xmlns:a16="http://schemas.microsoft.com/office/drawing/2014/main" id="{082785D0-DAE6-9B83-F1A4-23E3497DC7A3}"/>
              </a:ext>
            </a:extLst>
          </p:cNvPr>
          <p:cNvSpPr>
            <a:spLocks noGrp="1"/>
          </p:cNvSpPr>
          <p:nvPr/>
        </p:nvSpPr>
        <p:spPr>
          <a:xfrm>
            <a:off x="3743450" y="2656000"/>
            <a:ext cx="4332721" cy="531126"/>
          </a:xfrm>
          <a:prstGeom prst="rect">
            <a:avLst/>
          </a:prstGeom>
        </p:spPr>
        <p:txBody>
          <a:bodyPr>
            <a:normAutofit lnSpcReduction="10000"/>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ctr">
              <a:buNone/>
            </a:pPr>
            <a:r>
              <a:rPr sz="3200" b="1"/>
              <a:t>Nathan J. McNeese</a:t>
            </a:r>
          </a:p>
        </p:txBody>
      </p:sp>
      <p:pic>
        <p:nvPicPr>
          <p:cNvPr id="22" name="Picture 14"/>
          <p:cNvPicPr>
            <a:picLocks noChangeAspect="1"/>
          </p:cNvPicPr>
          <p:nvPr/>
        </p:nvPicPr>
        <p:blipFill>
          <a:blip r:embed="rId3"/>
          <a:stretch>
            <a:fillRect/>
          </a:stretch>
        </p:blipFill>
        <p:spPr>
          <a:xfrm>
            <a:off x="9641740" y="5338977"/>
            <a:ext cx="2214431" cy="830412"/>
          </a:xfrm>
          <a:prstGeom prst="rect">
            <a:avLst/>
          </a:prstGeom>
        </p:spPr>
      </p:pic>
      <p:pic>
        <p:nvPicPr>
          <p:cNvPr id="23" name="Picture 2"/>
          <p:cNvPicPr>
            <a:picLocks noChangeAspect="1"/>
          </p:cNvPicPr>
          <p:nvPr/>
        </p:nvPicPr>
        <p:blipFill>
          <a:blip r:embed="rId4"/>
          <a:srcRect/>
          <a:stretch>
            <a:fillRect/>
          </a:stretch>
        </p:blipFill>
        <p:spPr>
          <a:xfrm>
            <a:off x="146133" y="5011342"/>
            <a:ext cx="1407746" cy="1407746"/>
          </a:xfrm>
          <a:prstGeom prst="rect">
            <a:avLst/>
          </a:prstGeom>
        </p:spPr>
      </p:pic>
      <p:pic>
        <p:nvPicPr>
          <p:cNvPr id="24" name="Graphic 16"/>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00463" y="5149574"/>
            <a:ext cx="2018694" cy="1209218"/>
          </a:xfrm>
          <a:prstGeom prst="rect">
            <a:avLst/>
          </a:prstGeom>
        </p:spPr>
      </p:pic>
      <p:sp>
        <p:nvSpPr>
          <p:cNvPr id="3" name="Text Placeholder 2">
            <a:extLst>
              <a:ext uri="{FF2B5EF4-FFF2-40B4-BE49-F238E27FC236}">
                <a16:creationId xmlns:a16="http://schemas.microsoft.com/office/drawing/2014/main" id="{3799510E-8A84-5629-DD36-5B2D02606192}"/>
              </a:ext>
            </a:extLst>
          </p:cNvPr>
          <p:cNvSpPr>
            <a:spLocks noGrp="1"/>
          </p:cNvSpPr>
          <p:nvPr/>
        </p:nvSpPr>
        <p:spPr>
          <a:xfrm>
            <a:off x="2372360" y="3186524"/>
            <a:ext cx="6883981" cy="1278593"/>
          </a:xfrm>
          <a:prstGeom prst="rect">
            <a:avLst/>
          </a:prstGeom>
          <a:ln>
            <a:noFill/>
          </a:ln>
        </p:spPr>
        <p:txBody>
          <a:bodyPr>
            <a:normAutofit/>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ctr">
              <a:spcBef>
                <a:spcPts val="0"/>
              </a:spcBef>
              <a:buNone/>
            </a:pPr>
            <a:r>
              <a:rPr sz="1600"/>
              <a:t>Associate Vice President for Technology &amp; Innovation</a:t>
            </a:r>
          </a:p>
          <a:p>
            <a:pPr marL="0" indent="0" algn="ctr">
              <a:spcBef>
                <a:spcPts val="0"/>
              </a:spcBef>
              <a:buNone/>
            </a:pPr>
            <a:r>
              <a:rPr sz="1600"/>
              <a:t>McQueen Quattlebaum Endowed Professor</a:t>
            </a:r>
          </a:p>
          <a:p>
            <a:pPr marL="0" indent="0" algn="ctr">
              <a:spcBef>
                <a:spcPts val="0"/>
              </a:spcBef>
              <a:buNone/>
            </a:pPr>
            <a:r>
              <a:rPr sz="1600"/>
              <a:t>Founding Director, Clemson Center for Human-AI Interaction, Collaboration, &amp; Teaming</a:t>
            </a:r>
          </a:p>
          <a:p>
            <a:pPr marL="0" indent="0" algn="ctr">
              <a:spcBef>
                <a:spcPts val="0"/>
              </a:spcBef>
              <a:buNone/>
            </a:pPr>
            <a:r>
              <a:rPr sz="1600"/>
              <a:t>Founding Director, TRACE Research Group</a:t>
            </a:r>
          </a:p>
        </p:txBody>
      </p:sp>
    </p:spTree>
    <p:extLst>
      <p:ext uri="{BB962C8B-B14F-4D97-AF65-F5344CB8AC3E}">
        <p14:creationId xmlns:p14="http://schemas.microsoft.com/office/powerpoint/2010/main" val="449315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DA491-FBC8-3C63-4730-644602482661}"/>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3EDB8D3C-24A8-DE19-C558-C942C277349F}"/>
              </a:ext>
            </a:extLst>
          </p:cNvPr>
          <p:cNvSpPr>
            <a:spLocks noGrp="1"/>
          </p:cNvSpPr>
          <p:nvPr/>
        </p:nvSpPr>
        <p:spPr>
          <a:xfrm>
            <a:off x="1098368" y="2504803"/>
            <a:ext cx="9995263" cy="1566454"/>
          </a:xfrm>
          <a:prstGeom prst="rect">
            <a:avLst/>
          </a:prstGeom>
          <a:noFill/>
        </p:spPr>
        <p:txBody>
          <a:bodyPr wrap="square" lIns="0" tIns="0" rIns="0" bIns="0" anchor="ctr">
            <a:normAutofit fontScale="97500"/>
          </a:bodyPr>
          <a:lstStyle/>
          <a:p>
            <a:pPr marL="0" indent="0" algn="ctr">
              <a:buNone/>
            </a:pPr>
            <a:r>
              <a:rPr lang="en-US" sz="4000" b="1" dirty="0">
                <a:solidFill>
                  <a:srgbClr val="102544"/>
                </a:solidFill>
                <a:latin typeface="Aptos Display"/>
                <a:ea typeface="Aptos Display"/>
                <a:cs typeface="Aptos Display"/>
              </a:rPr>
              <a:t>The Importance of Prompts</a:t>
            </a:r>
            <a:endParaRPr sz="4000" b="1" dirty="0">
              <a:solidFill>
                <a:srgbClr val="102544"/>
              </a:solidFill>
              <a:latin typeface="Aptos Display"/>
              <a:ea typeface="Aptos Display"/>
              <a:cs typeface="Aptos Display"/>
            </a:endParaRPr>
          </a:p>
        </p:txBody>
      </p:sp>
    </p:spTree>
    <p:extLst>
      <p:ext uri="{BB962C8B-B14F-4D97-AF65-F5344CB8AC3E}">
        <p14:creationId xmlns:p14="http://schemas.microsoft.com/office/powerpoint/2010/main" val="520847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88E2E6-B5C3-4CD9-A71A-53472264BDB2}"/>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1 | WHY PROMPTS MATTER</a:t>
            </a:r>
          </a:p>
        </p:txBody>
      </p:sp>
      <p:sp>
        <p:nvSpPr>
          <p:cNvPr id="3" name="Text 1">
            <a:extLst>
              <a:ext uri="{FF2B5EF4-FFF2-40B4-BE49-F238E27FC236}">
                <a16:creationId xmlns:a16="http://schemas.microsoft.com/office/drawing/2014/main" id="{78FF4E60-9290-4945-BDE1-03DC4E0AA57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Prompting coordinates intent and action</a:t>
            </a:r>
          </a:p>
        </p:txBody>
      </p:sp>
      <p:sp>
        <p:nvSpPr>
          <p:cNvPr id="4" name="Shape 2">
            <a:extLst>
              <a:ext uri="{FF2B5EF4-FFF2-40B4-BE49-F238E27FC236}">
                <a16:creationId xmlns:a16="http://schemas.microsoft.com/office/drawing/2014/main" id="{C4086BC4-09FA-47C0-A875-7F9829171D9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37606ECD-0CB4-4B4E-94EB-12C39735037D}"/>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258BE6DC-78A9-4267-B331-C8EC84C2D87D}"/>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AB6A3ECA-F7B1-48C0-BEC7-05865C27FE00}"/>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a:t>
            </a:r>
          </a:p>
        </p:txBody>
      </p:sp>
      <p:sp>
        <p:nvSpPr>
          <p:cNvPr id="8" name="Text 6">
            <a:extLst>
              <a:ext uri="{FF2B5EF4-FFF2-40B4-BE49-F238E27FC236}">
                <a16:creationId xmlns:a16="http://schemas.microsoft.com/office/drawing/2014/main" id="{3E1823B8-8F98-43E5-BF64-614155A53C1D}"/>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lgn="l">
              <a:buNone/>
            </a:pPr>
            <a:r>
              <a:rPr sz="2175" b="1">
                <a:solidFill>
                  <a:srgbClr val="0B1F3A"/>
                </a:solidFill>
                <a:latin typeface="Aptos Display"/>
                <a:ea typeface="Aptos Display"/>
                <a:cs typeface="Aptos Display"/>
              </a:rPr>
              <a:t>In human–AI work, prompting translates a scientific objective into a bounded contribution—connecting the shared goal to work the AI can attempt and the human can inspect.</a:t>
            </a:r>
          </a:p>
        </p:txBody>
      </p:sp>
      <p:sp>
        <p:nvSpPr>
          <p:cNvPr id="10" name="Text 8">
            <a:extLst>
              <a:ext uri="{FF2B5EF4-FFF2-40B4-BE49-F238E27FC236}">
                <a16:creationId xmlns:a16="http://schemas.microsoft.com/office/drawing/2014/main" id="{D1664438-A86A-43A6-9ADA-F1CE4EB24C97}"/>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lgn="l">
              <a:buNone/>
            </a:pPr>
            <a:r>
              <a:rPr sz="2025">
                <a:solidFill>
                  <a:srgbClr val="4B5563"/>
                </a:solidFill>
                <a:latin typeface="Aptos"/>
                <a:ea typeface="Aptos"/>
                <a:cs typeface="Aptos"/>
              </a:rPr>
              <a:t>• State the analytical goal and the decision it supports.</a:t>
            </a:r>
          </a:p>
          <a:p>
            <a:pPr marL="0" indent="0" algn="l">
              <a:buNone/>
            </a:pPr>
            <a:r>
              <a:rPr sz="2025">
                <a:solidFill>
                  <a:srgbClr val="4B5563"/>
                </a:solidFill>
                <a:latin typeface="Aptos"/>
                <a:ea typeface="Aptos"/>
                <a:cs typeface="Aptos"/>
              </a:rPr>
              <a:t>• Supply the context the AI cannot safely infer.</a:t>
            </a:r>
          </a:p>
          <a:p>
            <a:pPr marL="0" indent="0" algn="l">
              <a:buNone/>
            </a:pPr>
            <a:r>
              <a:rPr sz="2025">
                <a:solidFill>
                  <a:srgbClr val="4B5563"/>
                </a:solidFill>
                <a:latin typeface="Aptos"/>
                <a:ea typeface="Aptos"/>
                <a:cs typeface="Aptos"/>
              </a:rPr>
              <a:t>• Ask for one immediate, bounded task.</a:t>
            </a:r>
          </a:p>
          <a:p>
            <a:pPr marL="0" indent="0" algn="l">
              <a:buNone/>
            </a:pPr>
            <a:r>
              <a:rPr sz="2025">
                <a:solidFill>
                  <a:srgbClr val="4B5563"/>
                </a:solidFill>
                <a:latin typeface="Aptos"/>
                <a:ea typeface="Aptos"/>
                <a:cs typeface="Aptos"/>
              </a:rPr>
              <a:t>• Define constraints and what must remain unchanged.</a:t>
            </a:r>
          </a:p>
          <a:p>
            <a:pPr marL="0" indent="0" algn="l">
              <a:buNone/>
            </a:pPr>
            <a:r>
              <a:rPr sz="2025">
                <a:solidFill>
                  <a:srgbClr val="4B5563"/>
                </a:solidFill>
                <a:latin typeface="Aptos"/>
                <a:ea typeface="Aptos"/>
                <a:cs typeface="Aptos"/>
              </a:rPr>
              <a:t>• Specify the evidence or checks required before acceptance.</a:t>
            </a:r>
          </a:p>
        </p:txBody>
      </p:sp>
    </p:spTree>
    <p:extLst>
      <p:ext uri="{BB962C8B-B14F-4D97-AF65-F5344CB8AC3E}">
        <p14:creationId xmlns:p14="http://schemas.microsoft.com/office/powerpoint/2010/main" val="789696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88E2E6-B5C3-4CD9-A71A-53472264BDB2}"/>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1 | WHY PROMPTS MATTER</a:t>
            </a:r>
          </a:p>
        </p:txBody>
      </p:sp>
      <p:sp>
        <p:nvSpPr>
          <p:cNvPr id="3" name="Text 1">
            <a:extLst>
              <a:ext uri="{FF2B5EF4-FFF2-40B4-BE49-F238E27FC236}">
                <a16:creationId xmlns:a16="http://schemas.microsoft.com/office/drawing/2014/main" id="{78FF4E60-9290-4945-BDE1-03DC4E0AA57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Prompts are structured instructions</a:t>
            </a:r>
          </a:p>
        </p:txBody>
      </p:sp>
      <p:sp>
        <p:nvSpPr>
          <p:cNvPr id="4" name="Shape 2">
            <a:extLst>
              <a:ext uri="{FF2B5EF4-FFF2-40B4-BE49-F238E27FC236}">
                <a16:creationId xmlns:a16="http://schemas.microsoft.com/office/drawing/2014/main" id="{C4086BC4-09FA-47C0-A875-7F9829171D9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37606ECD-0CB4-4B4E-94EB-12C39735037D}"/>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258BE6DC-78A9-4267-B331-C8EC84C2D87D}"/>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AB6A3ECA-F7B1-48C0-BEC7-05865C27FE00}"/>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3</a:t>
            </a:r>
          </a:p>
        </p:txBody>
      </p:sp>
      <p:sp>
        <p:nvSpPr>
          <p:cNvPr id="8" name="Text 6">
            <a:extLst>
              <a:ext uri="{FF2B5EF4-FFF2-40B4-BE49-F238E27FC236}">
                <a16:creationId xmlns:a16="http://schemas.microsoft.com/office/drawing/2014/main" id="{3E1823B8-8F98-43E5-BF64-614155A53C1D}"/>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lgn="l">
              <a:buNone/>
            </a:pPr>
            <a:r>
              <a:rPr sz="2175" b="1">
                <a:solidFill>
                  <a:srgbClr val="0B1F3A"/>
                </a:solidFill>
                <a:latin typeface="Aptos Display"/>
                <a:ea typeface="Aptos Display"/>
                <a:cs typeface="Aptos Display"/>
              </a:rPr>
              <a:t>A prompt is a structured work request. It reduces ambiguity by connecting the desired outcome, available evidence, permitted actions, and definition of a useful response.</a:t>
            </a:r>
          </a:p>
        </p:txBody>
      </p:sp>
      <p:sp>
        <p:nvSpPr>
          <p:cNvPr id="9" name="Text 7">
            <a:extLst>
              <a:ext uri="{FF2B5EF4-FFF2-40B4-BE49-F238E27FC236}">
                <a16:creationId xmlns:a16="http://schemas.microsoft.com/office/drawing/2014/main" id="{43C8AB5B-EA8E-4B7C-AB9E-CB5A5666BBAA}"/>
              </a:ext>
            </a:extLst>
          </p:cNvPr>
          <p:cNvSpPr>
            <a:spLocks noGrp="1"/>
          </p:cNvSpPr>
          <p:nvPr/>
        </p:nvSpPr>
        <p:spPr>
          <a:xfrm>
            <a:off x="1000125" y="5429250"/>
            <a:ext cx="10191750" cy="552450"/>
          </a:xfrm>
          <a:prstGeom prst="rect">
            <a:avLst/>
          </a:prstGeom>
          <a:noFill/>
        </p:spPr>
        <p:txBody>
          <a:bodyPr wrap="square" lIns="0" tIns="0" rIns="0" bIns="0" anchor="ctr">
            <a:noAutofit/>
          </a:bodyPr>
          <a:lstStyle/>
          <a:p>
            <a:pPr marL="0" indent="0" algn="ctr">
              <a:buNone/>
            </a:pPr>
            <a:r>
              <a:rPr sz="1875" b="1">
                <a:solidFill>
                  <a:srgbClr val="2563EB"/>
                </a:solidFill>
                <a:latin typeface="Aptos Display"/>
                <a:ea typeface="Aptos Display"/>
                <a:cs typeface="Aptos Display"/>
              </a:rPr>
              <a:t>Effective prompting is analytical clarity—not a collection of magic words.</a:t>
            </a:r>
          </a:p>
        </p:txBody>
      </p:sp>
      <p:sp>
        <p:nvSpPr>
          <p:cNvPr id="10" name="Text 8">
            <a:extLst>
              <a:ext uri="{FF2B5EF4-FFF2-40B4-BE49-F238E27FC236}">
                <a16:creationId xmlns:a16="http://schemas.microsoft.com/office/drawing/2014/main" id="{D1664438-A86A-43A6-9ADA-F1CE4EB24C97}"/>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lgn="l">
              <a:buNone/>
            </a:pPr>
            <a:r>
              <a:rPr sz="2025">
                <a:solidFill>
                  <a:srgbClr val="4B5563"/>
                </a:solidFill>
                <a:latin typeface="Aptos"/>
                <a:ea typeface="Aptos"/>
                <a:cs typeface="Aptos"/>
              </a:rPr>
              <a:t>• Goal: What outcome or decision are we trying to reach?</a:t>
            </a:r>
          </a:p>
          <a:p>
            <a:pPr marL="0" indent="0" algn="l">
              <a:buNone/>
            </a:pPr>
            <a:r>
              <a:rPr sz="2025">
                <a:solidFill>
                  <a:srgbClr val="4B5563"/>
                </a:solidFill>
                <a:latin typeface="Aptos"/>
                <a:ea typeface="Aptos"/>
                <a:cs typeface="Aptos"/>
              </a:rPr>
              <a:t>• Context: What does the AI need to know about the data and setting?</a:t>
            </a:r>
          </a:p>
          <a:p>
            <a:pPr marL="0" indent="0" algn="l">
              <a:buNone/>
            </a:pPr>
            <a:r>
              <a:rPr sz="2025">
                <a:solidFill>
                  <a:srgbClr val="4B5563"/>
                </a:solidFill>
                <a:latin typeface="Aptos"/>
                <a:ea typeface="Aptos"/>
                <a:cs typeface="Aptos"/>
              </a:rPr>
              <a:t>• Task: What should it do now?</a:t>
            </a:r>
          </a:p>
          <a:p>
            <a:pPr marL="0" indent="0" algn="l">
              <a:buNone/>
            </a:pPr>
            <a:r>
              <a:rPr sz="2025">
                <a:solidFill>
                  <a:srgbClr val="4B5563"/>
                </a:solidFill>
                <a:latin typeface="Aptos"/>
                <a:ea typeface="Aptos"/>
                <a:cs typeface="Aptos"/>
              </a:rPr>
              <a:t>• Constraints: What boundaries must it respect?</a:t>
            </a:r>
          </a:p>
          <a:p>
            <a:pPr marL="0" indent="0" algn="l">
              <a:buNone/>
            </a:pPr>
            <a:r>
              <a:rPr sz="2025">
                <a:solidFill>
                  <a:srgbClr val="4B5563"/>
                </a:solidFill>
                <a:latin typeface="Aptos"/>
                <a:ea typeface="Aptos"/>
                <a:cs typeface="Aptos"/>
              </a:rPr>
              <a:t>• Deliverable: What should come back?</a:t>
            </a:r>
          </a:p>
          <a:p>
            <a:pPr marL="0" indent="0" algn="l">
              <a:buNone/>
            </a:pPr>
            <a:r>
              <a:rPr sz="2025">
                <a:solidFill>
                  <a:srgbClr val="4B5563"/>
                </a:solidFill>
                <a:latin typeface="Aptos"/>
                <a:ea typeface="Aptos"/>
                <a:cs typeface="Aptos"/>
              </a:rPr>
              <a:t>• Validation: How will the result be checked?</a:t>
            </a:r>
          </a:p>
        </p:txBody>
      </p:sp>
    </p:spTree>
    <p:extLst>
      <p:ext uri="{BB962C8B-B14F-4D97-AF65-F5344CB8AC3E}">
        <p14:creationId xmlns:p14="http://schemas.microsoft.com/office/powerpoint/2010/main" val="789696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C4211FB-1917-4162-8220-5753F66CB8A7}"/>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1 | WHY PROMPTS MATTER</a:t>
            </a:r>
          </a:p>
        </p:txBody>
      </p:sp>
      <p:sp>
        <p:nvSpPr>
          <p:cNvPr id="3" name="Text 1">
            <a:extLst>
              <a:ext uri="{FF2B5EF4-FFF2-40B4-BE49-F238E27FC236}">
                <a16:creationId xmlns:a16="http://schemas.microsoft.com/office/drawing/2014/main" id="{77DB4C48-DBE5-4BB8-A7B1-CF7297E85AC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Good prompts produce inspectable work</a:t>
            </a:r>
          </a:p>
        </p:txBody>
      </p:sp>
      <p:sp>
        <p:nvSpPr>
          <p:cNvPr id="4" name="Shape 2">
            <a:extLst>
              <a:ext uri="{FF2B5EF4-FFF2-40B4-BE49-F238E27FC236}">
                <a16:creationId xmlns:a16="http://schemas.microsoft.com/office/drawing/2014/main" id="{45D9E90F-BFCB-4937-9D5A-B673F122A16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EABD00BD-B65A-4A54-9396-F8A1CDEE05C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B47BA403-0925-4706-99A8-1FA5EDDD99AA}"/>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A7454052-E33B-4127-B280-D823EAC4E7ED}"/>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4</a:t>
            </a:r>
          </a:p>
        </p:txBody>
      </p:sp>
      <p:sp>
        <p:nvSpPr>
          <p:cNvPr id="8" name="Text 6">
            <a:extLst>
              <a:ext uri="{FF2B5EF4-FFF2-40B4-BE49-F238E27FC236}">
                <a16:creationId xmlns:a16="http://schemas.microsoft.com/office/drawing/2014/main" id="{CA5A622A-A277-4045-81AA-AA780795B0E6}"/>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lgn="l">
              <a:buNone/>
            </a:pPr>
            <a:r>
              <a:rPr sz="2175" b="1">
                <a:solidFill>
                  <a:srgbClr val="0B1F3A"/>
                </a:solidFill>
                <a:latin typeface="Aptos Display"/>
                <a:ea typeface="Aptos Display"/>
                <a:cs typeface="Aptos Display"/>
              </a:rPr>
              <a:t>The strongest prompts make the AI's contribution visible enough to review. Length matters less than whether the requested work has clear boundaries and produces evidence.</a:t>
            </a:r>
          </a:p>
        </p:txBody>
      </p:sp>
      <p:sp>
        <p:nvSpPr>
          <p:cNvPr id="9" name="Text 7">
            <a:extLst>
              <a:ext uri="{FF2B5EF4-FFF2-40B4-BE49-F238E27FC236}">
                <a16:creationId xmlns:a16="http://schemas.microsoft.com/office/drawing/2014/main" id="{B2856600-C2A9-4DF6-B860-C308B3A13A16}"/>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lgn="l">
              <a:buNone/>
            </a:pPr>
            <a:r>
              <a:rPr sz="2025">
                <a:solidFill>
                  <a:srgbClr val="4B5563"/>
                </a:solidFill>
                <a:latin typeface="Aptos"/>
                <a:ea typeface="Aptos"/>
                <a:cs typeface="Aptos"/>
              </a:rPr>
              <a:t>• Produce one bounded result rather than an entire pipeline.</a:t>
            </a:r>
          </a:p>
          <a:p>
            <a:pPr marL="0" indent="0" algn="l">
              <a:buNone/>
            </a:pPr>
            <a:r>
              <a:rPr sz="2025">
                <a:solidFill>
                  <a:srgbClr val="4B5563"/>
                </a:solidFill>
                <a:latin typeface="Aptos"/>
                <a:ea typeface="Aptos"/>
                <a:cs typeface="Aptos"/>
              </a:rPr>
              <a:t>• Separate assumptions, observations, and interpretations.</a:t>
            </a:r>
          </a:p>
          <a:p>
            <a:pPr marL="0" indent="0" algn="l">
              <a:buNone/>
            </a:pPr>
            <a:r>
              <a:rPr sz="2025">
                <a:solidFill>
                  <a:srgbClr val="4B5563"/>
                </a:solidFill>
                <a:latin typeface="Aptos"/>
                <a:ea typeface="Aptos"/>
                <a:cs typeface="Aptos"/>
              </a:rPr>
              <a:t>• Show proposed changes before applying consequential edits.</a:t>
            </a:r>
          </a:p>
          <a:p>
            <a:pPr marL="0" indent="0" algn="l">
              <a:buNone/>
            </a:pPr>
            <a:r>
              <a:rPr sz="2025">
                <a:solidFill>
                  <a:srgbClr val="4B5563"/>
                </a:solidFill>
                <a:latin typeface="Aptos"/>
                <a:ea typeface="Aptos"/>
                <a:cs typeface="Aptos"/>
              </a:rPr>
              <a:t>• Surface unresolved questions instead of inventing answers.</a:t>
            </a:r>
          </a:p>
          <a:p>
            <a:pPr marL="0" indent="0" algn="l">
              <a:buNone/>
            </a:pPr>
            <a:r>
              <a:rPr sz="2025">
                <a:solidFill>
                  <a:srgbClr val="4B5563"/>
                </a:solidFill>
                <a:latin typeface="Aptos"/>
                <a:ea typeface="Aptos"/>
                <a:cs typeface="Aptos"/>
              </a:rPr>
              <a:t>• Return code, checks, or artifacts the analyst can independently inspect.</a:t>
            </a:r>
          </a:p>
        </p:txBody>
      </p:sp>
    </p:spTree>
    <p:extLst>
      <p:ext uri="{BB962C8B-B14F-4D97-AF65-F5344CB8AC3E}">
        <p14:creationId xmlns:p14="http://schemas.microsoft.com/office/powerpoint/2010/main" val="457371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DA491-FBC8-3C63-4730-644602482661}"/>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3EDB8D3C-24A8-DE19-C558-C942C277349F}"/>
              </a:ext>
            </a:extLst>
          </p:cNvPr>
          <p:cNvSpPr>
            <a:spLocks noGrp="1"/>
          </p:cNvSpPr>
          <p:nvPr/>
        </p:nvSpPr>
        <p:spPr>
          <a:xfrm>
            <a:off x="1098368" y="2504803"/>
            <a:ext cx="9995263" cy="1566454"/>
          </a:xfrm>
          <a:prstGeom prst="rect">
            <a:avLst/>
          </a:prstGeom>
          <a:noFill/>
        </p:spPr>
        <p:txBody>
          <a:bodyPr wrap="square" lIns="0" tIns="0" rIns="0" bIns="0" anchor="ctr">
            <a:normAutofit fontScale="97500"/>
          </a:bodyPr>
          <a:lstStyle/>
          <a:p>
            <a:pPr marL="0" indent="0" algn="ctr">
              <a:buNone/>
            </a:pPr>
            <a:r>
              <a:rPr lang="en-US" sz="4000" b="1" dirty="0">
                <a:solidFill>
                  <a:srgbClr val="102544"/>
                </a:solidFill>
                <a:latin typeface="Aptos Display"/>
                <a:ea typeface="Aptos Display"/>
                <a:cs typeface="Aptos Display"/>
              </a:rPr>
              <a:t>How to Articulate Prompts</a:t>
            </a:r>
            <a:endParaRPr sz="4000" b="1" dirty="0">
              <a:solidFill>
                <a:srgbClr val="102544"/>
              </a:solidFill>
              <a:latin typeface="Aptos Display"/>
              <a:ea typeface="Aptos Display"/>
              <a:cs typeface="Aptos Display"/>
            </a:endParaRPr>
          </a:p>
        </p:txBody>
      </p:sp>
    </p:spTree>
    <p:extLst>
      <p:ext uri="{BB962C8B-B14F-4D97-AF65-F5344CB8AC3E}">
        <p14:creationId xmlns:p14="http://schemas.microsoft.com/office/powerpoint/2010/main" val="2514746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88E2E6-B5C3-4CD9-A71A-53472264BDB2}"/>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2 | PREPARE THE WORK</a:t>
            </a:r>
          </a:p>
        </p:txBody>
      </p:sp>
      <p:sp>
        <p:nvSpPr>
          <p:cNvPr id="3" name="Text 1">
            <a:extLst>
              <a:ext uri="{FF2B5EF4-FFF2-40B4-BE49-F238E27FC236}">
                <a16:creationId xmlns:a16="http://schemas.microsoft.com/office/drawing/2014/main" id="{78FF4E60-9290-4945-BDE1-03DC4E0AA57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Think before asking</a:t>
            </a:r>
          </a:p>
        </p:txBody>
      </p:sp>
      <p:sp>
        <p:nvSpPr>
          <p:cNvPr id="4" name="Shape 2">
            <a:extLst>
              <a:ext uri="{FF2B5EF4-FFF2-40B4-BE49-F238E27FC236}">
                <a16:creationId xmlns:a16="http://schemas.microsoft.com/office/drawing/2014/main" id="{C4086BC4-09FA-47C0-A875-7F9829171D9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37606ECD-0CB4-4B4E-94EB-12C39735037D}"/>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258BE6DC-78A9-4267-B331-C8EC84C2D87D}"/>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AB6A3ECA-F7B1-48C0-BEC7-05865C27FE00}"/>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5</a:t>
            </a:r>
          </a:p>
        </p:txBody>
      </p:sp>
      <p:sp>
        <p:nvSpPr>
          <p:cNvPr id="8" name="Text 6">
            <a:extLst>
              <a:ext uri="{FF2B5EF4-FFF2-40B4-BE49-F238E27FC236}">
                <a16:creationId xmlns:a16="http://schemas.microsoft.com/office/drawing/2014/main" id="{3E1823B8-8F98-43E5-BF64-614155A53C1D}"/>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lgn="l">
              <a:buNone/>
            </a:pPr>
            <a:r>
              <a:rPr sz="2175" b="1">
                <a:solidFill>
                  <a:srgbClr val="0B1F3A"/>
                </a:solidFill>
                <a:latin typeface="Aptos Display"/>
                <a:ea typeface="Aptos Display"/>
                <a:cs typeface="Aptos Display"/>
              </a:rPr>
              <a:t>Prompting starts after the analyst has framed the scientific problem. AI can help clarify choices, but it should not silently decide what outcome matters or how the forecast will be used.</a:t>
            </a:r>
          </a:p>
        </p:txBody>
      </p:sp>
      <p:sp>
        <p:nvSpPr>
          <p:cNvPr id="10" name="Text 8">
            <a:extLst>
              <a:ext uri="{FF2B5EF4-FFF2-40B4-BE49-F238E27FC236}">
                <a16:creationId xmlns:a16="http://schemas.microsoft.com/office/drawing/2014/main" id="{D1664438-A86A-43A6-9ADA-F1CE4EB24C97}"/>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lgn="l">
              <a:buNone/>
            </a:pPr>
            <a:r>
              <a:rPr sz="1875">
                <a:solidFill>
                  <a:srgbClr val="4B5563"/>
                </a:solidFill>
                <a:latin typeface="Aptos"/>
                <a:ea typeface="Aptos"/>
                <a:cs typeface="Aptos"/>
              </a:rPr>
              <a:t>Define before prompting:</a:t>
            </a:r>
          </a:p>
          <a:p>
            <a:pPr marL="0" indent="0" algn="l">
              <a:buNone/>
            </a:pPr>
            <a:r>
              <a:rPr sz="1875">
                <a:solidFill>
                  <a:srgbClr val="4B5563"/>
                </a:solidFill>
                <a:latin typeface="Aptos"/>
                <a:ea typeface="Aptos"/>
                <a:cs typeface="Aptos"/>
              </a:rPr>
              <a:t>• Research or public-health question.</a:t>
            </a:r>
          </a:p>
          <a:p>
            <a:pPr marL="0" indent="0" algn="l">
              <a:buNone/>
            </a:pPr>
            <a:r>
              <a:rPr sz="1875">
                <a:solidFill>
                  <a:srgbClr val="4B5563"/>
                </a:solidFill>
                <a:latin typeface="Aptos"/>
                <a:ea typeface="Aptos"/>
                <a:cs typeface="Aptos"/>
              </a:rPr>
              <a:t>• Population, location, and unit of analysis.</a:t>
            </a:r>
          </a:p>
          <a:p>
            <a:pPr marL="0" indent="0" algn="l">
              <a:buNone/>
            </a:pPr>
            <a:r>
              <a:rPr sz="1875">
                <a:solidFill>
                  <a:srgbClr val="4B5563"/>
                </a:solidFill>
                <a:latin typeface="Aptos"/>
                <a:ea typeface="Aptos"/>
                <a:cs typeface="Aptos"/>
              </a:rPr>
              <a:t>• Outcome variable and reporting definition.</a:t>
            </a:r>
          </a:p>
          <a:p>
            <a:pPr marL="0" indent="0" algn="l">
              <a:buNone/>
            </a:pPr>
            <a:r>
              <a:rPr sz="1875">
                <a:solidFill>
                  <a:srgbClr val="4B5563"/>
                </a:solidFill>
                <a:latin typeface="Aptos"/>
                <a:ea typeface="Aptos"/>
                <a:cs typeface="Aptos"/>
              </a:rPr>
              <a:t>• Forecast horizon and intended use.</a:t>
            </a:r>
          </a:p>
          <a:p>
            <a:pPr marL="0" indent="0" algn="l">
              <a:buNone/>
            </a:pPr>
            <a:r>
              <a:rPr sz="1875">
                <a:solidFill>
                  <a:srgbClr val="4B5563"/>
                </a:solidFill>
                <a:latin typeface="Aptos"/>
                <a:ea typeface="Aptos"/>
                <a:cs typeface="Aptos"/>
              </a:rPr>
              <a:t>• Known limitations, constraints, and decision stakes.</a:t>
            </a:r>
          </a:p>
        </p:txBody>
      </p:sp>
    </p:spTree>
    <p:extLst>
      <p:ext uri="{BB962C8B-B14F-4D97-AF65-F5344CB8AC3E}">
        <p14:creationId xmlns:p14="http://schemas.microsoft.com/office/powerpoint/2010/main" val="789696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CB1B94F-B0DD-48E9-9308-FB0919E984BA}"/>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2 | PREPARE THE WORK</a:t>
            </a:r>
          </a:p>
        </p:txBody>
      </p:sp>
      <p:sp>
        <p:nvSpPr>
          <p:cNvPr id="3" name="Text 1">
            <a:extLst>
              <a:ext uri="{FF2B5EF4-FFF2-40B4-BE49-F238E27FC236}">
                <a16:creationId xmlns:a16="http://schemas.microsoft.com/office/drawing/2014/main" id="{FE11951C-0A4D-428E-B376-48F1D7259656}"/>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Define the scientific objective</a:t>
            </a:r>
          </a:p>
        </p:txBody>
      </p:sp>
      <p:sp>
        <p:nvSpPr>
          <p:cNvPr id="4" name="Shape 2">
            <a:extLst>
              <a:ext uri="{FF2B5EF4-FFF2-40B4-BE49-F238E27FC236}">
                <a16:creationId xmlns:a16="http://schemas.microsoft.com/office/drawing/2014/main" id="{C9B31650-08BB-4672-AC86-E7F7E74A2A6D}"/>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B8E18297-3D77-4103-A23D-3257A558569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4B21029-D08A-4F4A-BAD1-1564AE881A8A}"/>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0898AED7-D0E3-4B73-801B-A58AFE59F01B}"/>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6</a:t>
            </a:r>
          </a:p>
        </p:txBody>
      </p:sp>
      <p:sp>
        <p:nvSpPr>
          <p:cNvPr id="8" name="Text 6">
            <a:extLst>
              <a:ext uri="{FF2B5EF4-FFF2-40B4-BE49-F238E27FC236}">
                <a16:creationId xmlns:a16="http://schemas.microsoft.com/office/drawing/2014/main" id="{B8F73C76-A923-4BF8-A684-21A39477BB63}"/>
              </a:ext>
            </a:extLst>
          </p:cNvPr>
          <p:cNvSpPr>
            <a:spLocks noGrp="1"/>
          </p:cNvSpPr>
          <p:nvPr/>
        </p:nvSpPr>
        <p:spPr>
          <a:xfrm>
            <a:off x="685800" y="1381125"/>
            <a:ext cx="10572750" cy="68580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Specific objectives produce more relevant code and more defensible outputs.</a:t>
            </a:r>
          </a:p>
        </p:txBody>
      </p:sp>
      <p:sp>
        <p:nvSpPr>
          <p:cNvPr id="9" name="Text 7">
            <a:extLst>
              <a:ext uri="{FF2B5EF4-FFF2-40B4-BE49-F238E27FC236}">
                <a16:creationId xmlns:a16="http://schemas.microsoft.com/office/drawing/2014/main" id="{A852AD4B-CF81-4997-855F-1E8321C91392}"/>
              </a:ext>
            </a:extLst>
          </p:cNvPr>
          <p:cNvSpPr>
            <a:spLocks noGrp="1"/>
          </p:cNvSpPr>
          <p:nvPr/>
        </p:nvSpPr>
        <p:spPr>
          <a:xfrm>
            <a:off x="819150" y="2143125"/>
            <a:ext cx="4762500" cy="285750"/>
          </a:xfrm>
          <a:prstGeom prst="rect">
            <a:avLst/>
          </a:prstGeom>
          <a:noFill/>
        </p:spPr>
        <p:txBody>
          <a:bodyPr wrap="square" lIns="0" tIns="0" rIns="0" bIns="0" anchor="ctr">
            <a:noAutofit/>
          </a:bodyPr>
          <a:lstStyle/>
          <a:p>
            <a:pPr marL="0" indent="0">
              <a:buNone/>
            </a:pPr>
            <a:r>
              <a:rPr sz="1800" b="1">
                <a:solidFill>
                  <a:srgbClr val="B91C1C"/>
                </a:solidFill>
                <a:latin typeface="Aptos"/>
                <a:ea typeface="Aptos"/>
                <a:cs typeface="Aptos"/>
              </a:rPr>
              <a:t>Weak</a:t>
            </a:r>
          </a:p>
        </p:txBody>
      </p:sp>
      <p:sp>
        <p:nvSpPr>
          <p:cNvPr id="10" name="Text 8">
            <a:extLst>
              <a:ext uri="{FF2B5EF4-FFF2-40B4-BE49-F238E27FC236}">
                <a16:creationId xmlns:a16="http://schemas.microsoft.com/office/drawing/2014/main" id="{612E4FC2-31C0-454F-8896-DA44743AB69D}"/>
              </a:ext>
            </a:extLst>
          </p:cNvPr>
          <p:cNvSpPr>
            <a:spLocks noGrp="1"/>
          </p:cNvSpPr>
          <p:nvPr/>
        </p:nvSpPr>
        <p:spPr>
          <a:xfrm>
            <a:off x="819150" y="2533650"/>
            <a:ext cx="4762500" cy="1047750"/>
          </a:xfrm>
          <a:prstGeom prst="roundRect">
            <a:avLst/>
          </a:prstGeom>
          <a:solidFill>
            <a:srgbClr val="FEF2F2"/>
          </a:solidFill>
          <a:ln w="12700">
            <a:solidFill>
              <a:srgbClr val="FECACA"/>
            </a:solidFill>
          </a:ln>
        </p:spPr>
        <p:txBody>
          <a:bodyPr wrap="square" lIns="1905" tIns="1905" rIns="1905" bIns="1905" anchor="ctr">
            <a:noAutofit/>
          </a:bodyPr>
          <a:lstStyle/>
          <a:p>
            <a:pPr marL="0" indent="0" algn="ctr">
              <a:buNone/>
            </a:pPr>
            <a:r>
              <a:rPr sz="1800" b="1">
                <a:solidFill>
                  <a:srgbClr val="102544"/>
                </a:solidFill>
                <a:latin typeface="Aptos"/>
                <a:ea typeface="Aptos"/>
                <a:cs typeface="Aptos"/>
              </a:rPr>
              <a:t>“Find interesting patterns and forecast the disease.”</a:t>
            </a:r>
          </a:p>
        </p:txBody>
      </p:sp>
      <p:sp>
        <p:nvSpPr>
          <p:cNvPr id="11" name="Text 9">
            <a:extLst>
              <a:ext uri="{FF2B5EF4-FFF2-40B4-BE49-F238E27FC236}">
                <a16:creationId xmlns:a16="http://schemas.microsoft.com/office/drawing/2014/main" id="{3688C077-7201-4C2D-91E9-EBC2BA5BAAA8}"/>
              </a:ext>
            </a:extLst>
          </p:cNvPr>
          <p:cNvSpPr>
            <a:spLocks noGrp="1"/>
          </p:cNvSpPr>
          <p:nvPr/>
        </p:nvSpPr>
        <p:spPr>
          <a:xfrm>
            <a:off x="6191250" y="2143125"/>
            <a:ext cx="4857750" cy="285750"/>
          </a:xfrm>
          <a:prstGeom prst="rect">
            <a:avLst/>
          </a:prstGeom>
          <a:noFill/>
        </p:spPr>
        <p:txBody>
          <a:bodyPr wrap="square" lIns="0" tIns="0" rIns="0" bIns="0" anchor="ctr">
            <a:noAutofit/>
          </a:bodyPr>
          <a:lstStyle/>
          <a:p>
            <a:pPr marL="0" indent="0">
              <a:buNone/>
            </a:pPr>
            <a:r>
              <a:rPr sz="1800" b="1">
                <a:solidFill>
                  <a:srgbClr val="15803D"/>
                </a:solidFill>
                <a:latin typeface="Aptos"/>
                <a:ea typeface="Aptos"/>
                <a:cs typeface="Aptos"/>
              </a:rPr>
              <a:t>Stronger</a:t>
            </a:r>
          </a:p>
        </p:txBody>
      </p:sp>
      <p:sp>
        <p:nvSpPr>
          <p:cNvPr id="12" name="Text 10">
            <a:extLst>
              <a:ext uri="{FF2B5EF4-FFF2-40B4-BE49-F238E27FC236}">
                <a16:creationId xmlns:a16="http://schemas.microsoft.com/office/drawing/2014/main" id="{6A19C4FB-8715-498A-A64C-113309930DAB}"/>
              </a:ext>
            </a:extLst>
          </p:cNvPr>
          <p:cNvSpPr>
            <a:spLocks noGrp="1"/>
          </p:cNvSpPr>
          <p:nvPr/>
        </p:nvSpPr>
        <p:spPr>
          <a:xfrm>
            <a:off x="6191250" y="2533650"/>
            <a:ext cx="4857750" cy="1047750"/>
          </a:xfrm>
          <a:prstGeom prst="roundRect">
            <a:avLst/>
          </a:prstGeom>
          <a:solidFill>
            <a:srgbClr val="F0FDFA"/>
          </a:solidFill>
          <a:ln w="12700">
            <a:solidFill>
              <a:srgbClr val="A7F3D0"/>
            </a:solidFill>
          </a:ln>
        </p:spPr>
        <p:txBody>
          <a:bodyPr wrap="square" lIns="2032" tIns="2032" rIns="2032" bIns="2032" anchor="ctr">
            <a:noAutofit/>
          </a:bodyPr>
          <a:lstStyle/>
          <a:p>
            <a:pPr marL="0" indent="0" algn="ctr">
              <a:buNone/>
            </a:pPr>
            <a:r>
              <a:rPr sz="1800">
                <a:solidFill>
                  <a:srgbClr val="102544"/>
                </a:solidFill>
                <a:latin typeface="Aptos"/>
                <a:ea typeface="Aptos"/>
                <a:cs typeface="Aptos"/>
              </a:rPr>
              <a:t>“Forecast weekly reported cases for each location one through four weeks ahead to support short-term resource planning.”</a:t>
            </a:r>
          </a:p>
        </p:txBody>
      </p:sp>
      <p:sp>
        <p:nvSpPr>
          <p:cNvPr id="13" name="Text 11">
            <a:extLst>
              <a:ext uri="{FF2B5EF4-FFF2-40B4-BE49-F238E27FC236}">
                <a16:creationId xmlns:a16="http://schemas.microsoft.com/office/drawing/2014/main" id="{30490A6E-A510-4ED7-8F9D-0DEF45E26F84}"/>
              </a:ext>
            </a:extLst>
          </p:cNvPr>
          <p:cNvSpPr>
            <a:spLocks noGrp="1"/>
          </p:cNvSpPr>
          <p:nvPr/>
        </p:nvSpPr>
        <p:spPr>
          <a:xfrm>
            <a:off x="914400" y="3943350"/>
            <a:ext cx="10287000" cy="323850"/>
          </a:xfrm>
          <a:prstGeom prst="rect">
            <a:avLst/>
          </a:prstGeom>
          <a:noFill/>
        </p:spPr>
        <p:txBody>
          <a:bodyPr wrap="square" lIns="0" tIns="0" rIns="0" bIns="0" anchor="ctr">
            <a:noAutofit/>
          </a:bodyPr>
          <a:lstStyle/>
          <a:p>
            <a:pPr marL="0" indent="0">
              <a:buNone/>
            </a:pPr>
            <a:r>
              <a:rPr sz="1800" b="1">
                <a:solidFill>
                  <a:srgbClr val="102544"/>
                </a:solidFill>
                <a:latin typeface="Aptos Display"/>
                <a:ea typeface="Aptos Display"/>
                <a:cs typeface="Aptos Display"/>
              </a:rPr>
              <a:t>What improved?</a:t>
            </a:r>
          </a:p>
        </p:txBody>
      </p:sp>
      <p:sp>
        <p:nvSpPr>
          <p:cNvPr id="14" name="Text 12">
            <a:extLst>
              <a:ext uri="{FF2B5EF4-FFF2-40B4-BE49-F238E27FC236}">
                <a16:creationId xmlns:a16="http://schemas.microsoft.com/office/drawing/2014/main" id="{B09B3644-909C-44A3-94C8-694EC7BA2B09}"/>
              </a:ext>
            </a:extLst>
          </p:cNvPr>
          <p:cNvSpPr>
            <a:spLocks noGrp="1"/>
          </p:cNvSpPr>
          <p:nvPr/>
        </p:nvSpPr>
        <p:spPr>
          <a:xfrm>
            <a:off x="914400" y="4362450"/>
            <a:ext cx="10287000" cy="495300"/>
          </a:xfrm>
          <a:prstGeom prst="rect">
            <a:avLst/>
          </a:prstGeom>
          <a:noFill/>
        </p:spPr>
        <p:txBody>
          <a:bodyPr wrap="square" lIns="0" tIns="0" rIns="0" bIns="0" anchor="ctr">
            <a:noAutofit/>
          </a:bodyPr>
          <a:lstStyle/>
          <a:p>
            <a:pPr marL="0" indent="0">
              <a:buNone/>
            </a:pPr>
            <a:r>
              <a:rPr sz="1800" b="1">
                <a:solidFill>
                  <a:srgbClr val="4B5563"/>
                </a:solidFill>
                <a:latin typeface="Aptos"/>
                <a:ea typeface="Aptos"/>
                <a:cs typeface="Aptos"/>
              </a:rPr>
              <a:t>Target • unit • horizon • intended use</a:t>
            </a:r>
          </a:p>
        </p:txBody>
      </p:sp>
    </p:spTree>
    <p:extLst>
      <p:ext uri="{BB962C8B-B14F-4D97-AF65-F5344CB8AC3E}">
        <p14:creationId xmlns:p14="http://schemas.microsoft.com/office/powerpoint/2010/main" val="1808381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F2D4C16-27FF-48D2-BAEA-35BCB510C87D}"/>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2 | PREPARE THE WORK</a:t>
            </a:r>
          </a:p>
        </p:txBody>
      </p:sp>
      <p:sp>
        <p:nvSpPr>
          <p:cNvPr id="3" name="Text 1">
            <a:extLst>
              <a:ext uri="{FF2B5EF4-FFF2-40B4-BE49-F238E27FC236}">
                <a16:creationId xmlns:a16="http://schemas.microsoft.com/office/drawing/2014/main" id="{02AF822C-F162-48C6-9E23-9D4A66EE0F2D}"/>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Role clarity: some decisions remain human</a:t>
            </a:r>
          </a:p>
        </p:txBody>
      </p:sp>
      <p:sp>
        <p:nvSpPr>
          <p:cNvPr id="4" name="Shape 2">
            <a:extLst>
              <a:ext uri="{FF2B5EF4-FFF2-40B4-BE49-F238E27FC236}">
                <a16:creationId xmlns:a16="http://schemas.microsoft.com/office/drawing/2014/main" id="{65E5BDA3-E57F-40C9-A623-C54D46D4F66B}"/>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A39EEF24-D1C8-461B-A711-1040ED85CB41}"/>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5CCABDD1-1B70-47AE-B5CF-1FC6372AE6D8}"/>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1AD114A2-8593-4406-A70D-E3F4A444DC0D}"/>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7</a:t>
            </a:r>
          </a:p>
        </p:txBody>
      </p:sp>
      <p:sp>
        <p:nvSpPr>
          <p:cNvPr id="8" name="Text 6">
            <a:extLst>
              <a:ext uri="{FF2B5EF4-FFF2-40B4-BE49-F238E27FC236}">
                <a16:creationId xmlns:a16="http://schemas.microsoft.com/office/drawing/2014/main" id="{428830A0-568B-417F-A3D6-831291370153}"/>
              </a:ext>
            </a:extLst>
          </p:cNvPr>
          <p:cNvSpPr>
            <a:spLocks noGrp="1"/>
          </p:cNvSpPr>
          <p:nvPr/>
        </p:nvSpPr>
        <p:spPr>
          <a:xfrm>
            <a:off x="685800" y="1381125"/>
            <a:ext cx="10572750" cy="7810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Effective teaming requires clear decision authority. AI can support these decisions, but it should not silently make them.</a:t>
            </a:r>
          </a:p>
        </p:txBody>
      </p:sp>
      <p:sp>
        <p:nvSpPr>
          <p:cNvPr id="9" name="Text 7">
            <a:extLst>
              <a:ext uri="{FF2B5EF4-FFF2-40B4-BE49-F238E27FC236}">
                <a16:creationId xmlns:a16="http://schemas.microsoft.com/office/drawing/2014/main" id="{C356CC28-2D2B-4B41-8F44-B53FF8E9C5ED}"/>
              </a:ext>
            </a:extLst>
          </p:cNvPr>
          <p:cNvSpPr>
            <a:spLocks noGrp="1"/>
          </p:cNvSpPr>
          <p:nvPr/>
        </p:nvSpPr>
        <p:spPr>
          <a:xfrm>
            <a:off x="868680" y="2121408"/>
            <a:ext cx="4480560" cy="320040"/>
          </a:xfrm>
          <a:prstGeom prst="rect">
            <a:avLst/>
          </a:prstGeom>
          <a:noFill/>
        </p:spPr>
        <p:txBody>
          <a:bodyPr wrap="square" lIns="0" tIns="0" rIns="0" bIns="0" anchor="ctr">
            <a:noAutofit/>
          </a:bodyPr>
          <a:lstStyle/>
          <a:p>
            <a:pPr marL="0" indent="0">
              <a:buNone/>
            </a:pPr>
            <a:r>
              <a:rPr sz="1875" b="1">
                <a:solidFill>
                  <a:srgbClr val="0F766E"/>
                </a:solidFill>
                <a:latin typeface="Aptos Display"/>
                <a:ea typeface="Aptos Display"/>
                <a:cs typeface="Aptos Display"/>
              </a:rPr>
              <a:t>Human responsibility</a:t>
            </a:r>
          </a:p>
        </p:txBody>
      </p:sp>
      <p:sp>
        <p:nvSpPr>
          <p:cNvPr id="10" name="Text 8">
            <a:extLst>
              <a:ext uri="{FF2B5EF4-FFF2-40B4-BE49-F238E27FC236}">
                <a16:creationId xmlns:a16="http://schemas.microsoft.com/office/drawing/2014/main" id="{3EC355CB-A2C8-46E7-B872-413BDB05D5D9}"/>
              </a:ext>
            </a:extLst>
          </p:cNvPr>
          <p:cNvSpPr>
            <a:spLocks noGrp="1"/>
          </p:cNvSpPr>
          <p:nvPr/>
        </p:nvSpPr>
        <p:spPr>
          <a:xfrm>
            <a:off x="9144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Outcome definition</a:t>
            </a:r>
          </a:p>
          <a:p>
            <a:pPr marL="0" indent="0">
              <a:buNone/>
            </a:pPr>
            <a:r>
              <a:rPr sz="1950">
                <a:solidFill>
                  <a:srgbClr val="4B5563"/>
                </a:solidFill>
                <a:latin typeface="Aptos"/>
                <a:ea typeface="Aptos"/>
                <a:cs typeface="Aptos"/>
              </a:rPr>
              <a:t>• Scientific interpretation</a:t>
            </a:r>
          </a:p>
          <a:p>
            <a:pPr marL="0" indent="0">
              <a:buNone/>
            </a:pPr>
            <a:r>
              <a:rPr sz="1950">
                <a:solidFill>
                  <a:srgbClr val="4B5563"/>
                </a:solidFill>
                <a:latin typeface="Aptos"/>
                <a:ea typeface="Aptos"/>
                <a:cs typeface="Aptos"/>
              </a:rPr>
              <a:t>• Privacy and ethics</a:t>
            </a:r>
          </a:p>
          <a:p>
            <a:pPr marL="0" indent="0">
              <a:buNone/>
            </a:pPr>
            <a:r>
              <a:rPr sz="1950">
                <a:solidFill>
                  <a:srgbClr val="4B5563"/>
                </a:solidFill>
                <a:latin typeface="Aptos"/>
                <a:ea typeface="Aptos"/>
                <a:cs typeface="Aptos"/>
              </a:rPr>
              <a:t>• Final claims</a:t>
            </a:r>
          </a:p>
        </p:txBody>
      </p:sp>
      <p:sp>
        <p:nvSpPr>
          <p:cNvPr id="11" name="Shape 9">
            <a:extLst>
              <a:ext uri="{FF2B5EF4-FFF2-40B4-BE49-F238E27FC236}">
                <a16:creationId xmlns:a16="http://schemas.microsoft.com/office/drawing/2014/main" id="{9F45745F-3321-4366-B51A-35E1A7758C97}"/>
              </a:ext>
            </a:extLst>
          </p:cNvPr>
          <p:cNvSpPr>
            <a:spLocks noGrp="1"/>
          </p:cNvSpPr>
          <p:nvPr/>
        </p:nvSpPr>
        <p:spPr>
          <a:xfrm>
            <a:off x="5989320" y="2103120"/>
            <a:ext cx="0" cy="2697480"/>
          </a:xfrm>
          <a:prstGeom prst="line">
            <a:avLst/>
          </a:prstGeom>
          <a:noFill/>
          <a:ln w="19050">
            <a:solidFill>
              <a:srgbClr val="E5E7EB"/>
            </a:solidFill>
            <a:prstDash val="solid"/>
          </a:ln>
        </p:spPr>
        <p:txBody>
          <a:bodyPr/>
          <a:lstStyle/>
          <a:p>
            <a:endParaRPr/>
          </a:p>
        </p:txBody>
      </p:sp>
      <p:sp>
        <p:nvSpPr>
          <p:cNvPr id="12" name="Text 10">
            <a:extLst>
              <a:ext uri="{FF2B5EF4-FFF2-40B4-BE49-F238E27FC236}">
                <a16:creationId xmlns:a16="http://schemas.microsoft.com/office/drawing/2014/main" id="{A77C9C75-169B-48E3-9D35-7364461DDE23}"/>
              </a:ext>
            </a:extLst>
          </p:cNvPr>
          <p:cNvSpPr>
            <a:spLocks noGrp="1"/>
          </p:cNvSpPr>
          <p:nvPr/>
        </p:nvSpPr>
        <p:spPr>
          <a:xfrm>
            <a:off x="6629400" y="2121408"/>
            <a:ext cx="4480560" cy="320040"/>
          </a:xfrm>
          <a:prstGeom prst="rect">
            <a:avLst/>
          </a:prstGeom>
          <a:noFill/>
        </p:spPr>
        <p:txBody>
          <a:bodyPr wrap="square" lIns="0" tIns="0" rIns="0" bIns="0" anchor="ctr">
            <a:noAutofit/>
          </a:bodyPr>
          <a:lstStyle/>
          <a:p>
            <a:pPr marL="0" indent="0">
              <a:buNone/>
            </a:pPr>
            <a:r>
              <a:rPr sz="1875" b="1">
                <a:solidFill>
                  <a:srgbClr val="D97706"/>
                </a:solidFill>
                <a:latin typeface="Aptos Display"/>
                <a:ea typeface="Aptos Display"/>
                <a:cs typeface="Aptos Display"/>
              </a:rPr>
              <a:t>AI can support</a:t>
            </a:r>
          </a:p>
        </p:txBody>
      </p:sp>
      <p:sp>
        <p:nvSpPr>
          <p:cNvPr id="13" name="Text 11">
            <a:extLst>
              <a:ext uri="{FF2B5EF4-FFF2-40B4-BE49-F238E27FC236}">
                <a16:creationId xmlns:a16="http://schemas.microsoft.com/office/drawing/2014/main" id="{DAFE9492-3C83-4D30-91E6-91331725D830}"/>
              </a:ext>
            </a:extLst>
          </p:cNvPr>
          <p:cNvSpPr>
            <a:spLocks noGrp="1"/>
          </p:cNvSpPr>
          <p:nvPr/>
        </p:nvSpPr>
        <p:spPr>
          <a:xfrm>
            <a:off x="66675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Alternative options</a:t>
            </a:r>
          </a:p>
          <a:p>
            <a:pPr marL="0" indent="0">
              <a:buNone/>
            </a:pPr>
            <a:r>
              <a:rPr sz="1950">
                <a:solidFill>
                  <a:srgbClr val="4B5563"/>
                </a:solidFill>
                <a:latin typeface="Aptos"/>
                <a:ea typeface="Aptos"/>
                <a:cs typeface="Aptos"/>
              </a:rPr>
              <a:t>• Code implementation</a:t>
            </a:r>
          </a:p>
          <a:p>
            <a:pPr marL="0" indent="0">
              <a:buNone/>
            </a:pPr>
            <a:r>
              <a:rPr sz="1950">
                <a:solidFill>
                  <a:srgbClr val="4B5563"/>
                </a:solidFill>
                <a:latin typeface="Aptos"/>
                <a:ea typeface="Aptos"/>
                <a:cs typeface="Aptos"/>
              </a:rPr>
              <a:t>• Diagnostics</a:t>
            </a:r>
          </a:p>
          <a:p>
            <a:pPr marL="0" indent="0">
              <a:buNone/>
            </a:pPr>
            <a:r>
              <a:rPr sz="1950">
                <a:solidFill>
                  <a:srgbClr val="4B5563"/>
                </a:solidFill>
                <a:latin typeface="Aptos"/>
                <a:ea typeface="Aptos"/>
                <a:cs typeface="Aptos"/>
              </a:rPr>
              <a:t>• Documentation</a:t>
            </a:r>
          </a:p>
        </p:txBody>
      </p:sp>
      <p:sp>
        <p:nvSpPr>
          <p:cNvPr id="14" name="Text 12">
            <a:extLst>
              <a:ext uri="{FF2B5EF4-FFF2-40B4-BE49-F238E27FC236}">
                <a16:creationId xmlns:a16="http://schemas.microsoft.com/office/drawing/2014/main" id="{0799CA80-A7E0-41FC-9599-1F8F15B394DF}"/>
              </a:ext>
            </a:extLst>
          </p:cNvPr>
          <p:cNvSpPr>
            <a:spLocks noGrp="1"/>
          </p:cNvSpPr>
          <p:nvPr/>
        </p:nvSpPr>
        <p:spPr>
          <a:xfrm>
            <a:off x="1000125" y="5410200"/>
            <a:ext cx="10191750" cy="552450"/>
          </a:xfrm>
          <a:prstGeom prst="rect">
            <a:avLst/>
          </a:prstGeom>
          <a:noFill/>
        </p:spPr>
        <p:txBody>
          <a:bodyPr wrap="square" lIns="0" tIns="0" rIns="0" bIns="0" anchor="ctr">
            <a:noAutofit/>
          </a:bodyPr>
          <a:lstStyle/>
          <a:p>
            <a:pPr marL="0" indent="0" algn="ctr">
              <a:buNone/>
            </a:pPr>
            <a:r>
              <a:rPr sz="1875" b="1">
                <a:solidFill>
                  <a:srgbClr val="2563EB"/>
                </a:solidFill>
                <a:latin typeface="Aptos"/>
                <a:ea typeface="Aptos"/>
                <a:cs typeface="Aptos"/>
              </a:rPr>
              <a:t>Do not delegate accountability with the task.</a:t>
            </a:r>
          </a:p>
        </p:txBody>
      </p:sp>
    </p:spTree>
    <p:extLst>
      <p:ext uri="{BB962C8B-B14F-4D97-AF65-F5344CB8AC3E}">
        <p14:creationId xmlns:p14="http://schemas.microsoft.com/office/powerpoint/2010/main" val="470032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618DF0C-5BD4-434E-AA46-922ACDFBD529}"/>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3 | MATCH TOOL TO TASK</a:t>
            </a:r>
          </a:p>
        </p:txBody>
      </p:sp>
      <p:sp>
        <p:nvSpPr>
          <p:cNvPr id="3" name="Text 1">
            <a:extLst>
              <a:ext uri="{FF2B5EF4-FFF2-40B4-BE49-F238E27FC236}">
                <a16:creationId xmlns:a16="http://schemas.microsoft.com/office/drawing/2014/main" id="{5A37C886-51E4-405A-96B9-BCB3B3C1253F}"/>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Choose the tool before the prompt</a:t>
            </a:r>
          </a:p>
        </p:txBody>
      </p:sp>
      <p:sp>
        <p:nvSpPr>
          <p:cNvPr id="4" name="Shape 2">
            <a:extLst>
              <a:ext uri="{FF2B5EF4-FFF2-40B4-BE49-F238E27FC236}">
                <a16:creationId xmlns:a16="http://schemas.microsoft.com/office/drawing/2014/main" id="{1F08BCB7-DEC0-4767-B305-40FCE6140410}"/>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1E9C699D-0CE8-4778-BB02-D4957FB2C4FD}"/>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816A4A77-28B7-4A43-8C52-EC08816E7565}"/>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5B83AA6E-BDB6-4E92-9F95-31CE6F46DC96}"/>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8</a:t>
            </a:r>
          </a:p>
        </p:txBody>
      </p:sp>
      <p:sp>
        <p:nvSpPr>
          <p:cNvPr id="8" name="Text 6">
            <a:extLst>
              <a:ext uri="{FF2B5EF4-FFF2-40B4-BE49-F238E27FC236}">
                <a16:creationId xmlns:a16="http://schemas.microsoft.com/office/drawing/2014/main" id="{950D5D05-1A41-492C-BC0D-2D90A0967EA7}"/>
              </a:ext>
            </a:extLst>
          </p:cNvPr>
          <p:cNvSpPr>
            <a:spLocks noGrp="1"/>
          </p:cNvSpPr>
          <p:nvPr/>
        </p:nvSpPr>
        <p:spPr>
          <a:xfrm>
            <a:off x="685800" y="1381125"/>
            <a:ext cx="10572750" cy="7429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Different AI surfaces have different context, capabilities, and risk.</a:t>
            </a:r>
          </a:p>
        </p:txBody>
      </p:sp>
      <p:sp>
        <p:nvSpPr>
          <p:cNvPr id="9" name="Text 7">
            <a:extLst>
              <a:ext uri="{FF2B5EF4-FFF2-40B4-BE49-F238E27FC236}">
                <a16:creationId xmlns:a16="http://schemas.microsoft.com/office/drawing/2014/main" id="{3CEA8992-98A0-4346-B2F0-7C3CDC782F10}"/>
              </a:ext>
            </a:extLst>
          </p:cNvPr>
          <p:cNvSpPr>
            <a:spLocks noGrp="1"/>
          </p:cNvSpPr>
          <p:nvPr/>
        </p:nvSpPr>
        <p:spPr>
          <a:xfrm>
            <a:off x="914400" y="2148840"/>
            <a:ext cx="2971800" cy="502920"/>
          </a:xfrm>
          <a:prstGeom prst="roundRect">
            <a:avLst/>
          </a:prstGeom>
          <a:solidFill>
            <a:srgbClr val="0B1F3A"/>
          </a:solidFill>
          <a:ln w="12700">
            <a:solidFill>
              <a:srgbClr val="0B1F3A"/>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Conversation</a:t>
            </a:r>
          </a:p>
        </p:txBody>
      </p:sp>
      <p:sp>
        <p:nvSpPr>
          <p:cNvPr id="10" name="Text 8">
            <a:extLst>
              <a:ext uri="{FF2B5EF4-FFF2-40B4-BE49-F238E27FC236}">
                <a16:creationId xmlns:a16="http://schemas.microsoft.com/office/drawing/2014/main" id="{7B58754E-EAE0-4C4F-BCE7-5D8F6C7A0F47}"/>
              </a:ext>
            </a:extLst>
          </p:cNvPr>
          <p:cNvSpPr>
            <a:spLocks noGrp="1"/>
          </p:cNvSpPr>
          <p:nvPr/>
        </p:nvSpPr>
        <p:spPr>
          <a:xfrm>
            <a:off x="96012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Concepts and explanations</a:t>
            </a:r>
          </a:p>
          <a:p>
            <a:pPr marL="0" indent="0">
              <a:buNone/>
            </a:pPr>
            <a:r>
              <a:rPr sz="1800">
                <a:solidFill>
                  <a:srgbClr val="4B5563"/>
                </a:solidFill>
                <a:latin typeface="Aptos"/>
                <a:ea typeface="Aptos"/>
                <a:cs typeface="Aptos"/>
              </a:rPr>
              <a:t>• Small code examples</a:t>
            </a:r>
          </a:p>
          <a:p>
            <a:pPr marL="0" indent="0">
              <a:buNone/>
            </a:pPr>
            <a:r>
              <a:rPr sz="1800">
                <a:solidFill>
                  <a:srgbClr val="4B5563"/>
                </a:solidFill>
                <a:latin typeface="Aptos"/>
                <a:ea typeface="Aptos"/>
                <a:cs typeface="Aptos"/>
              </a:rPr>
              <a:t>• Critique and planning</a:t>
            </a:r>
          </a:p>
        </p:txBody>
      </p:sp>
      <p:sp>
        <p:nvSpPr>
          <p:cNvPr id="11" name="Text 9">
            <a:extLst>
              <a:ext uri="{FF2B5EF4-FFF2-40B4-BE49-F238E27FC236}">
                <a16:creationId xmlns:a16="http://schemas.microsoft.com/office/drawing/2014/main" id="{D063DB01-4818-4080-8952-CB40BA3BF58E}"/>
              </a:ext>
            </a:extLst>
          </p:cNvPr>
          <p:cNvSpPr>
            <a:spLocks noGrp="1"/>
          </p:cNvSpPr>
          <p:nvPr/>
        </p:nvSpPr>
        <p:spPr>
          <a:xfrm>
            <a:off x="4617720" y="2148840"/>
            <a:ext cx="2971800" cy="502920"/>
          </a:xfrm>
          <a:prstGeom prst="roundRect">
            <a:avLst/>
          </a:prstGeom>
          <a:solidFill>
            <a:srgbClr val="2563EB"/>
          </a:solidFill>
          <a:ln w="12700">
            <a:solidFill>
              <a:srgbClr val="2563EB"/>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Editor assistant</a:t>
            </a:r>
          </a:p>
        </p:txBody>
      </p:sp>
      <p:sp>
        <p:nvSpPr>
          <p:cNvPr id="12" name="Text 10">
            <a:extLst>
              <a:ext uri="{FF2B5EF4-FFF2-40B4-BE49-F238E27FC236}">
                <a16:creationId xmlns:a16="http://schemas.microsoft.com/office/drawing/2014/main" id="{783349E2-8962-4B44-B2C3-E2E9C72B162C}"/>
              </a:ext>
            </a:extLst>
          </p:cNvPr>
          <p:cNvSpPr>
            <a:spLocks noGrp="1"/>
          </p:cNvSpPr>
          <p:nvPr/>
        </p:nvSpPr>
        <p:spPr>
          <a:xfrm>
            <a:off x="466344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Current files and selections</a:t>
            </a:r>
          </a:p>
          <a:p>
            <a:pPr marL="0" indent="0">
              <a:buNone/>
            </a:pPr>
            <a:r>
              <a:rPr sz="1800">
                <a:solidFill>
                  <a:srgbClr val="4B5563"/>
                </a:solidFill>
                <a:latin typeface="Aptos"/>
                <a:ea typeface="Aptos"/>
                <a:cs typeface="Aptos"/>
              </a:rPr>
              <a:t>• Focused code changes</a:t>
            </a:r>
          </a:p>
          <a:p>
            <a:pPr marL="0" indent="0">
              <a:buNone/>
            </a:pPr>
            <a:r>
              <a:rPr sz="1800">
                <a:solidFill>
                  <a:srgbClr val="4B5563"/>
                </a:solidFill>
                <a:latin typeface="Aptos"/>
                <a:ea typeface="Aptos"/>
                <a:cs typeface="Aptos"/>
              </a:rPr>
              <a:t>• Immediate feedback</a:t>
            </a:r>
          </a:p>
        </p:txBody>
      </p:sp>
      <p:sp>
        <p:nvSpPr>
          <p:cNvPr id="13" name="Text 11">
            <a:extLst>
              <a:ext uri="{FF2B5EF4-FFF2-40B4-BE49-F238E27FC236}">
                <a16:creationId xmlns:a16="http://schemas.microsoft.com/office/drawing/2014/main" id="{816DDD33-A1D6-4CA2-B599-F82168A9BCC0}"/>
              </a:ext>
            </a:extLst>
          </p:cNvPr>
          <p:cNvSpPr>
            <a:spLocks noGrp="1"/>
          </p:cNvSpPr>
          <p:nvPr/>
        </p:nvSpPr>
        <p:spPr>
          <a:xfrm>
            <a:off x="8321040" y="2148840"/>
            <a:ext cx="2971800" cy="502920"/>
          </a:xfrm>
          <a:prstGeom prst="roundRect">
            <a:avLst/>
          </a:prstGeom>
          <a:solidFill>
            <a:srgbClr val="0F766E"/>
          </a:solidFill>
          <a:ln w="12700">
            <a:solidFill>
              <a:srgbClr val="0F766E"/>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Coding agent</a:t>
            </a:r>
          </a:p>
        </p:txBody>
      </p:sp>
      <p:sp>
        <p:nvSpPr>
          <p:cNvPr id="14" name="Text 12">
            <a:extLst>
              <a:ext uri="{FF2B5EF4-FFF2-40B4-BE49-F238E27FC236}">
                <a16:creationId xmlns:a16="http://schemas.microsoft.com/office/drawing/2014/main" id="{1A8960F0-1618-4017-BBEA-71FC13C0AC62}"/>
              </a:ext>
            </a:extLst>
          </p:cNvPr>
          <p:cNvSpPr>
            <a:spLocks noGrp="1"/>
          </p:cNvSpPr>
          <p:nvPr/>
        </p:nvSpPr>
        <p:spPr>
          <a:xfrm>
            <a:off x="836676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Multi-file work</a:t>
            </a:r>
          </a:p>
          <a:p>
            <a:pPr marL="0" indent="0">
              <a:buNone/>
            </a:pPr>
            <a:r>
              <a:rPr sz="1800">
                <a:solidFill>
                  <a:srgbClr val="4B5563"/>
                </a:solidFill>
                <a:latin typeface="Aptos"/>
                <a:ea typeface="Aptos"/>
                <a:cs typeface="Aptos"/>
              </a:rPr>
              <a:t>• Terminal and tests</a:t>
            </a:r>
          </a:p>
          <a:p>
            <a:pPr marL="0" indent="0">
              <a:buNone/>
            </a:pPr>
            <a:r>
              <a:rPr sz="1800">
                <a:solidFill>
                  <a:srgbClr val="4B5563"/>
                </a:solidFill>
                <a:latin typeface="Aptos"/>
                <a:ea typeface="Aptos"/>
                <a:cs typeface="Aptos"/>
              </a:rPr>
              <a:t>• Stronger boundaries required</a:t>
            </a:r>
          </a:p>
        </p:txBody>
      </p:sp>
    </p:spTree>
    <p:extLst>
      <p:ext uri="{BB962C8B-B14F-4D97-AF65-F5344CB8AC3E}">
        <p14:creationId xmlns:p14="http://schemas.microsoft.com/office/powerpoint/2010/main" val="1569700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F2D4C16-27FF-48D2-BAEA-35BCB510C87D}"/>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3 | MATCH TOOL TO TASK</a:t>
            </a:r>
          </a:p>
        </p:txBody>
      </p:sp>
      <p:sp>
        <p:nvSpPr>
          <p:cNvPr id="3" name="Text 1">
            <a:extLst>
              <a:ext uri="{FF2B5EF4-FFF2-40B4-BE49-F238E27FC236}">
                <a16:creationId xmlns:a16="http://schemas.microsoft.com/office/drawing/2014/main" id="{02AF822C-F162-48C6-9E23-9D4A66EE0F2D}"/>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More autonomy changes the request</a:t>
            </a:r>
          </a:p>
        </p:txBody>
      </p:sp>
      <p:sp>
        <p:nvSpPr>
          <p:cNvPr id="4" name="Shape 2">
            <a:extLst>
              <a:ext uri="{FF2B5EF4-FFF2-40B4-BE49-F238E27FC236}">
                <a16:creationId xmlns:a16="http://schemas.microsoft.com/office/drawing/2014/main" id="{65E5BDA3-E57F-40C9-A623-C54D46D4F66B}"/>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A39EEF24-D1C8-461B-A711-1040ED85CB41}"/>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5CCABDD1-1B70-47AE-B5CF-1FC6372AE6D8}"/>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1AD114A2-8593-4406-A70D-E3F4A444DC0D}"/>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9</a:t>
            </a:r>
          </a:p>
        </p:txBody>
      </p:sp>
      <p:sp>
        <p:nvSpPr>
          <p:cNvPr id="8" name="Text 6">
            <a:extLst>
              <a:ext uri="{FF2B5EF4-FFF2-40B4-BE49-F238E27FC236}">
                <a16:creationId xmlns:a16="http://schemas.microsoft.com/office/drawing/2014/main" id="{428830A0-568B-417F-A3D6-831291370153}"/>
              </a:ext>
            </a:extLst>
          </p:cNvPr>
          <p:cNvSpPr>
            <a:spLocks noGrp="1"/>
          </p:cNvSpPr>
          <p:nvPr/>
        </p:nvSpPr>
        <p:spPr>
          <a:xfrm>
            <a:off x="685800" y="1381125"/>
            <a:ext cx="10572750" cy="7810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A coding agent needs operational boundaries that a conversational answer may not require.</a:t>
            </a:r>
          </a:p>
        </p:txBody>
      </p:sp>
      <p:sp>
        <p:nvSpPr>
          <p:cNvPr id="9" name="Text 7">
            <a:extLst>
              <a:ext uri="{FF2B5EF4-FFF2-40B4-BE49-F238E27FC236}">
                <a16:creationId xmlns:a16="http://schemas.microsoft.com/office/drawing/2014/main" id="{C356CC28-2D2B-4B41-8F44-B53FF8E9C5ED}"/>
              </a:ext>
            </a:extLst>
          </p:cNvPr>
          <p:cNvSpPr>
            <a:spLocks noGrp="1"/>
          </p:cNvSpPr>
          <p:nvPr/>
        </p:nvSpPr>
        <p:spPr>
          <a:xfrm>
            <a:off x="868680" y="2121408"/>
            <a:ext cx="4480560" cy="320040"/>
          </a:xfrm>
          <a:prstGeom prst="rect">
            <a:avLst/>
          </a:prstGeom>
          <a:noFill/>
        </p:spPr>
        <p:txBody>
          <a:bodyPr wrap="square" lIns="0" tIns="0" rIns="0" bIns="0" anchor="ctr">
            <a:noAutofit/>
          </a:bodyPr>
          <a:lstStyle/>
          <a:p>
            <a:pPr marL="0" indent="0">
              <a:buNone/>
            </a:pPr>
            <a:r>
              <a:rPr sz="1875" b="1">
                <a:solidFill>
                  <a:srgbClr val="0F766E"/>
                </a:solidFill>
                <a:latin typeface="Aptos Display"/>
                <a:ea typeface="Aptos Display"/>
                <a:cs typeface="Aptos Display"/>
              </a:rPr>
              <a:t>For a response</a:t>
            </a:r>
          </a:p>
        </p:txBody>
      </p:sp>
      <p:sp>
        <p:nvSpPr>
          <p:cNvPr id="10" name="Text 8">
            <a:extLst>
              <a:ext uri="{FF2B5EF4-FFF2-40B4-BE49-F238E27FC236}">
                <a16:creationId xmlns:a16="http://schemas.microsoft.com/office/drawing/2014/main" id="{3EC355CB-A2C8-46E7-B872-413BDB05D5D9}"/>
              </a:ext>
            </a:extLst>
          </p:cNvPr>
          <p:cNvSpPr>
            <a:spLocks noGrp="1"/>
          </p:cNvSpPr>
          <p:nvPr/>
        </p:nvSpPr>
        <p:spPr>
          <a:xfrm>
            <a:off x="9144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Desired explanation</a:t>
            </a:r>
          </a:p>
          <a:p>
            <a:pPr marL="0" indent="0">
              <a:buNone/>
            </a:pPr>
            <a:r>
              <a:rPr sz="1950">
                <a:solidFill>
                  <a:srgbClr val="4B5563"/>
                </a:solidFill>
                <a:latin typeface="Aptos"/>
                <a:ea typeface="Aptos"/>
                <a:cs typeface="Aptos"/>
              </a:rPr>
              <a:t>• Code format</a:t>
            </a:r>
          </a:p>
          <a:p>
            <a:pPr marL="0" indent="0">
              <a:buNone/>
            </a:pPr>
            <a:r>
              <a:rPr sz="1950">
                <a:solidFill>
                  <a:srgbClr val="4B5563"/>
                </a:solidFill>
                <a:latin typeface="Aptos"/>
                <a:ea typeface="Aptos"/>
                <a:cs typeface="Aptos"/>
              </a:rPr>
              <a:t>• Assumptions</a:t>
            </a:r>
          </a:p>
          <a:p>
            <a:pPr marL="0" indent="0">
              <a:buNone/>
            </a:pPr>
            <a:r>
              <a:rPr sz="1950">
                <a:solidFill>
                  <a:srgbClr val="4B5563"/>
                </a:solidFill>
                <a:latin typeface="Aptos"/>
                <a:ea typeface="Aptos"/>
                <a:cs typeface="Aptos"/>
              </a:rPr>
              <a:t>• Evidence</a:t>
            </a:r>
          </a:p>
        </p:txBody>
      </p:sp>
      <p:sp>
        <p:nvSpPr>
          <p:cNvPr id="11" name="Shape 9">
            <a:extLst>
              <a:ext uri="{FF2B5EF4-FFF2-40B4-BE49-F238E27FC236}">
                <a16:creationId xmlns:a16="http://schemas.microsoft.com/office/drawing/2014/main" id="{9F45745F-3321-4366-B51A-35E1A7758C97}"/>
              </a:ext>
            </a:extLst>
          </p:cNvPr>
          <p:cNvSpPr>
            <a:spLocks noGrp="1"/>
          </p:cNvSpPr>
          <p:nvPr/>
        </p:nvSpPr>
        <p:spPr>
          <a:xfrm>
            <a:off x="5989320" y="2103120"/>
            <a:ext cx="0" cy="2697480"/>
          </a:xfrm>
          <a:prstGeom prst="line">
            <a:avLst/>
          </a:prstGeom>
          <a:noFill/>
          <a:ln w="19050">
            <a:solidFill>
              <a:srgbClr val="E5E7EB"/>
            </a:solidFill>
            <a:prstDash val="solid"/>
          </a:ln>
        </p:spPr>
        <p:txBody>
          <a:bodyPr/>
          <a:lstStyle/>
          <a:p>
            <a:endParaRPr/>
          </a:p>
        </p:txBody>
      </p:sp>
      <p:sp>
        <p:nvSpPr>
          <p:cNvPr id="12" name="Text 10">
            <a:extLst>
              <a:ext uri="{FF2B5EF4-FFF2-40B4-BE49-F238E27FC236}">
                <a16:creationId xmlns:a16="http://schemas.microsoft.com/office/drawing/2014/main" id="{A77C9C75-169B-48E3-9D35-7364461DDE23}"/>
              </a:ext>
            </a:extLst>
          </p:cNvPr>
          <p:cNvSpPr>
            <a:spLocks noGrp="1"/>
          </p:cNvSpPr>
          <p:nvPr/>
        </p:nvSpPr>
        <p:spPr>
          <a:xfrm>
            <a:off x="6629400" y="2121408"/>
            <a:ext cx="4480560" cy="320040"/>
          </a:xfrm>
          <a:prstGeom prst="rect">
            <a:avLst/>
          </a:prstGeom>
          <a:noFill/>
        </p:spPr>
        <p:txBody>
          <a:bodyPr wrap="square" lIns="0" tIns="0" rIns="0" bIns="0" anchor="ctr">
            <a:noAutofit/>
          </a:bodyPr>
          <a:lstStyle/>
          <a:p>
            <a:pPr marL="0" indent="0">
              <a:buNone/>
            </a:pPr>
            <a:r>
              <a:rPr sz="1875" b="1">
                <a:solidFill>
                  <a:srgbClr val="D97706"/>
                </a:solidFill>
                <a:latin typeface="Aptos Display"/>
                <a:ea typeface="Aptos Display"/>
                <a:cs typeface="Aptos Display"/>
              </a:rPr>
              <a:t>For an agent</a:t>
            </a:r>
          </a:p>
        </p:txBody>
      </p:sp>
      <p:sp>
        <p:nvSpPr>
          <p:cNvPr id="13" name="Text 11">
            <a:extLst>
              <a:ext uri="{FF2B5EF4-FFF2-40B4-BE49-F238E27FC236}">
                <a16:creationId xmlns:a16="http://schemas.microsoft.com/office/drawing/2014/main" id="{DAFE9492-3C83-4D30-91E6-91331725D830}"/>
              </a:ext>
            </a:extLst>
          </p:cNvPr>
          <p:cNvSpPr>
            <a:spLocks noGrp="1"/>
          </p:cNvSpPr>
          <p:nvPr/>
        </p:nvSpPr>
        <p:spPr>
          <a:xfrm>
            <a:off x="66675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Files it may change</a:t>
            </a:r>
          </a:p>
          <a:p>
            <a:pPr marL="0" indent="0">
              <a:buNone/>
            </a:pPr>
            <a:r>
              <a:rPr sz="1950">
                <a:solidFill>
                  <a:srgbClr val="4B5563"/>
                </a:solidFill>
                <a:latin typeface="Aptos"/>
                <a:ea typeface="Aptos"/>
                <a:cs typeface="Aptos"/>
              </a:rPr>
              <a:t>• Commands it may run</a:t>
            </a:r>
          </a:p>
          <a:p>
            <a:pPr marL="0" indent="0">
              <a:buNone/>
            </a:pPr>
            <a:r>
              <a:rPr sz="1950">
                <a:solidFill>
                  <a:srgbClr val="4B5563"/>
                </a:solidFill>
                <a:latin typeface="Aptos"/>
                <a:ea typeface="Aptos"/>
                <a:cs typeface="Aptos"/>
              </a:rPr>
              <a:t>• Tests required</a:t>
            </a:r>
          </a:p>
          <a:p>
            <a:pPr marL="0" indent="0">
              <a:buNone/>
            </a:pPr>
            <a:r>
              <a:rPr sz="1950">
                <a:solidFill>
                  <a:srgbClr val="4B5563"/>
                </a:solidFill>
                <a:latin typeface="Aptos"/>
                <a:ea typeface="Aptos"/>
                <a:cs typeface="Aptos"/>
              </a:rPr>
              <a:t>• Approval and stopping conditions</a:t>
            </a:r>
          </a:p>
        </p:txBody>
      </p:sp>
    </p:spTree>
    <p:extLst>
      <p:ext uri="{BB962C8B-B14F-4D97-AF65-F5344CB8AC3E}">
        <p14:creationId xmlns:p14="http://schemas.microsoft.com/office/powerpoint/2010/main" val="470032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88E2E6-B5C3-4CD9-A71A-53472264BDB2}"/>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4 | BUILD SHARED CONTEXT</a:t>
            </a:r>
          </a:p>
        </p:txBody>
      </p:sp>
      <p:sp>
        <p:nvSpPr>
          <p:cNvPr id="3" name="Text 1">
            <a:extLst>
              <a:ext uri="{FF2B5EF4-FFF2-40B4-BE49-F238E27FC236}">
                <a16:creationId xmlns:a16="http://schemas.microsoft.com/office/drawing/2014/main" id="{78FF4E60-9290-4945-BDE1-03DC4E0AA57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AI context comes from several places</a:t>
            </a:r>
          </a:p>
        </p:txBody>
      </p:sp>
      <p:sp>
        <p:nvSpPr>
          <p:cNvPr id="4" name="Shape 2">
            <a:extLst>
              <a:ext uri="{FF2B5EF4-FFF2-40B4-BE49-F238E27FC236}">
                <a16:creationId xmlns:a16="http://schemas.microsoft.com/office/drawing/2014/main" id="{C4086BC4-09FA-47C0-A875-7F9829171D9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37606ECD-0CB4-4B4E-94EB-12C39735037D}"/>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258BE6DC-78A9-4267-B331-C8EC84C2D87D}"/>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AB6A3ECA-F7B1-48C0-BEC7-05865C27FE00}"/>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10</a:t>
            </a:r>
          </a:p>
        </p:txBody>
      </p:sp>
      <p:sp>
        <p:nvSpPr>
          <p:cNvPr id="8" name="Text 6">
            <a:extLst>
              <a:ext uri="{FF2B5EF4-FFF2-40B4-BE49-F238E27FC236}">
                <a16:creationId xmlns:a16="http://schemas.microsoft.com/office/drawing/2014/main" id="{3E1823B8-8F98-43E5-BF64-614155A53C1D}"/>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lgn="l">
              <a:buNone/>
            </a:pPr>
            <a:r>
              <a:rPr sz="2175" b="1">
                <a:solidFill>
                  <a:srgbClr val="0B1F3A"/>
                </a:solidFill>
                <a:latin typeface="Aptos Display"/>
                <a:ea typeface="Aptos Display"/>
                <a:cs typeface="Aptos Display"/>
              </a:rPr>
              <a:t>AI tools do not share one universal context window. What a system can use depends on the interface, attached files, open workspace, permissions, and current conversation.</a:t>
            </a:r>
          </a:p>
        </p:txBody>
      </p:sp>
      <p:sp>
        <p:nvSpPr>
          <p:cNvPr id="10" name="Text 8">
            <a:extLst>
              <a:ext uri="{FF2B5EF4-FFF2-40B4-BE49-F238E27FC236}">
                <a16:creationId xmlns:a16="http://schemas.microsoft.com/office/drawing/2014/main" id="{D1664438-A86A-43A6-9ADA-F1CE4EB24C97}"/>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lgn="l">
              <a:buNone/>
            </a:pPr>
            <a:r>
              <a:rPr sz="2025">
                <a:solidFill>
                  <a:srgbClr val="4B5563"/>
                </a:solidFill>
                <a:latin typeface="Aptos"/>
                <a:ea typeface="Aptos"/>
                <a:cs typeface="Aptos"/>
              </a:rPr>
              <a:t>• Current prompt and prior conversation.</a:t>
            </a:r>
          </a:p>
          <a:p>
            <a:pPr marL="0" indent="0" algn="l">
              <a:buNone/>
            </a:pPr>
            <a:r>
              <a:rPr sz="2025">
                <a:solidFill>
                  <a:srgbClr val="4B5563"/>
                </a:solidFill>
                <a:latin typeface="Aptos"/>
                <a:ea typeface="Aptos"/>
                <a:cs typeface="Aptos"/>
              </a:rPr>
              <a:t>• Open files, selected code, or active editor context.</a:t>
            </a:r>
          </a:p>
          <a:p>
            <a:pPr marL="0" indent="0" algn="l">
              <a:buNone/>
            </a:pPr>
            <a:r>
              <a:rPr sz="2025">
                <a:solidFill>
                  <a:srgbClr val="4B5563"/>
                </a:solidFill>
                <a:latin typeface="Aptos"/>
                <a:ea typeface="Aptos"/>
                <a:cs typeface="Aptos"/>
              </a:rPr>
              <a:t>• Repository files and project instructions.</a:t>
            </a:r>
          </a:p>
          <a:p>
            <a:pPr marL="0" indent="0" algn="l">
              <a:buNone/>
            </a:pPr>
            <a:r>
              <a:rPr sz="2025">
                <a:solidFill>
                  <a:srgbClr val="4B5563"/>
                </a:solidFill>
                <a:latin typeface="Aptos"/>
                <a:ea typeface="Aptos"/>
                <a:cs typeface="Aptos"/>
              </a:rPr>
              <a:t>• Terminal output, test results, and error messages.</a:t>
            </a:r>
          </a:p>
          <a:p>
            <a:pPr marL="0" indent="0" algn="l">
              <a:buNone/>
            </a:pPr>
            <a:r>
              <a:rPr sz="2025">
                <a:solidFill>
                  <a:srgbClr val="4B5563"/>
                </a:solidFill>
                <a:latin typeface="Aptos"/>
                <a:ea typeface="Aptos"/>
                <a:cs typeface="Aptos"/>
              </a:rPr>
              <a:t>• Attached data dictionaries or documentation.</a:t>
            </a:r>
          </a:p>
          <a:p>
            <a:pPr marL="0" indent="0" algn="l">
              <a:buNone/>
            </a:pPr>
            <a:r>
              <a:rPr sz="2025">
                <a:solidFill>
                  <a:srgbClr val="4B5563"/>
                </a:solidFill>
                <a:latin typeface="Aptos"/>
                <a:ea typeface="Aptos"/>
                <a:cs typeface="Aptos"/>
              </a:rPr>
              <a:t>• Tool-provided reference material and available commands.</a:t>
            </a:r>
          </a:p>
        </p:txBody>
      </p:sp>
    </p:spTree>
    <p:extLst>
      <p:ext uri="{BB962C8B-B14F-4D97-AF65-F5344CB8AC3E}">
        <p14:creationId xmlns:p14="http://schemas.microsoft.com/office/powerpoint/2010/main" val="789696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C4211FB-1917-4162-8220-5753F66CB8A7}"/>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4 | BUILD SHARED CONTEXT</a:t>
            </a:r>
          </a:p>
        </p:txBody>
      </p:sp>
      <p:sp>
        <p:nvSpPr>
          <p:cNvPr id="3" name="Text 1">
            <a:extLst>
              <a:ext uri="{FF2B5EF4-FFF2-40B4-BE49-F238E27FC236}">
                <a16:creationId xmlns:a16="http://schemas.microsoft.com/office/drawing/2014/main" id="{77DB4C48-DBE5-4BB8-A7B1-CF7297E85AC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Shared understanding requires visible context</a:t>
            </a:r>
          </a:p>
        </p:txBody>
      </p:sp>
      <p:sp>
        <p:nvSpPr>
          <p:cNvPr id="4" name="Shape 2">
            <a:extLst>
              <a:ext uri="{FF2B5EF4-FFF2-40B4-BE49-F238E27FC236}">
                <a16:creationId xmlns:a16="http://schemas.microsoft.com/office/drawing/2014/main" id="{45D9E90F-BFCB-4937-9D5A-B673F122A16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EABD00BD-B65A-4A54-9396-F8A1CDEE05C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B47BA403-0925-4706-99A8-1FA5EDDD99AA}"/>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A7454052-E33B-4127-B280-D823EAC4E7ED}"/>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11</a:t>
            </a:r>
          </a:p>
        </p:txBody>
      </p:sp>
      <p:sp>
        <p:nvSpPr>
          <p:cNvPr id="8" name="Text 6">
            <a:extLst>
              <a:ext uri="{FF2B5EF4-FFF2-40B4-BE49-F238E27FC236}">
                <a16:creationId xmlns:a16="http://schemas.microsoft.com/office/drawing/2014/main" id="{CA5A622A-A277-4045-81AA-AA780795B0E6}"/>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lgn="l">
              <a:buNone/>
            </a:pPr>
            <a:r>
              <a:rPr sz="2175" b="1">
                <a:solidFill>
                  <a:srgbClr val="0B1F3A"/>
                </a:solidFill>
                <a:latin typeface="Aptos Display"/>
                <a:ea typeface="Aptos Display"/>
                <a:cs typeface="Aptos Display"/>
              </a:rPr>
              <a:t>Human and AI cannot coordinate from different assumptions. Before asking for analysis or code, confirm that the AI has the correct and current information.</a:t>
            </a:r>
          </a:p>
        </p:txBody>
      </p:sp>
      <p:sp>
        <p:nvSpPr>
          <p:cNvPr id="9" name="Text 7">
            <a:extLst>
              <a:ext uri="{FF2B5EF4-FFF2-40B4-BE49-F238E27FC236}">
                <a16:creationId xmlns:a16="http://schemas.microsoft.com/office/drawing/2014/main" id="{B2856600-C2A9-4DF6-B860-C308B3A13A16}"/>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lgn="l">
              <a:buNone/>
            </a:pPr>
            <a:r>
              <a:rPr sz="2025">
                <a:solidFill>
                  <a:srgbClr val="4B5563"/>
                </a:solidFill>
                <a:latin typeface="Aptos"/>
                <a:ea typeface="Aptos"/>
                <a:cs typeface="Aptos"/>
              </a:rPr>
              <a:t>• Is the correct dataset, file, or code selection available?</a:t>
            </a:r>
          </a:p>
          <a:p>
            <a:pPr marL="0" indent="0" algn="l">
              <a:buNone/>
            </a:pPr>
            <a:r>
              <a:rPr sz="2025">
                <a:solidFill>
                  <a:srgbClr val="4B5563"/>
                </a:solidFill>
                <a:latin typeface="Aptos"/>
                <a:ea typeface="Aptos"/>
                <a:cs typeface="Aptos"/>
              </a:rPr>
              <a:t>• Are the target, unit, and forecast horizon defined?</a:t>
            </a:r>
          </a:p>
          <a:p>
            <a:pPr marL="0" indent="0" algn="l">
              <a:buNone/>
            </a:pPr>
            <a:r>
              <a:rPr sz="2025">
                <a:solidFill>
                  <a:srgbClr val="4B5563"/>
                </a:solidFill>
                <a:latin typeface="Aptos"/>
                <a:ea typeface="Aptos"/>
                <a:cs typeface="Aptos"/>
              </a:rPr>
              <a:t>• Is the data dictionary current?</a:t>
            </a:r>
          </a:p>
          <a:p>
            <a:pPr marL="0" indent="0" algn="l">
              <a:buNone/>
            </a:pPr>
            <a:r>
              <a:rPr sz="2025">
                <a:solidFill>
                  <a:srgbClr val="4B5563"/>
                </a:solidFill>
                <a:latin typeface="Aptos"/>
                <a:ea typeface="Aptos"/>
                <a:cs typeface="Aptos"/>
              </a:rPr>
              <a:t>• Are permitted packages and file boundaries explicit?</a:t>
            </a:r>
          </a:p>
          <a:p>
            <a:pPr marL="0" indent="0" algn="l">
              <a:buNone/>
            </a:pPr>
            <a:r>
              <a:rPr sz="2025">
                <a:solidFill>
                  <a:srgbClr val="4B5563"/>
                </a:solidFill>
                <a:latin typeface="Aptos"/>
                <a:ea typeface="Aptos"/>
                <a:cs typeface="Aptos"/>
              </a:rPr>
              <a:t>• Does the AI know which decisions are settled and which remain open?</a:t>
            </a:r>
          </a:p>
        </p:txBody>
      </p:sp>
      <p:sp>
        <p:nvSpPr>
          <p:cNvPr id="17" name="Text 15">
            <a:extLst>
              <a:ext uri="{FF2B5EF4-FFF2-40B4-BE49-F238E27FC236}">
                <a16:creationId xmlns:a16="http://schemas.microsoft.com/office/drawing/2014/main" id="{C7A8878C-82FB-4409-9CAD-76D20EC0E9D3}"/>
              </a:ext>
            </a:extLst>
          </p:cNvPr>
          <p:cNvSpPr>
            <a:spLocks noGrp="1"/>
          </p:cNvSpPr>
          <p:nvPr/>
        </p:nvSpPr>
        <p:spPr>
          <a:xfrm>
            <a:off x="1000125" y="5429250"/>
            <a:ext cx="10191750" cy="552450"/>
          </a:xfrm>
          <a:prstGeom prst="rect">
            <a:avLst/>
          </a:prstGeom>
          <a:noFill/>
        </p:spPr>
        <p:txBody>
          <a:bodyPr wrap="square" lIns="0" tIns="0" rIns="0" bIns="0" anchor="ctr">
            <a:noAutofit/>
          </a:bodyPr>
          <a:lstStyle/>
          <a:p>
            <a:pPr marL="0" indent="0" algn="ctr">
              <a:buNone/>
            </a:pPr>
            <a:r>
              <a:rPr sz="1875" b="1">
                <a:solidFill>
                  <a:srgbClr val="2563EB"/>
                </a:solidFill>
                <a:latin typeface="Aptos Display"/>
                <a:ea typeface="Aptos Display"/>
                <a:cs typeface="Aptos Display"/>
              </a:rPr>
              <a:t>Missing context becomes hidden uncertainty.</a:t>
            </a:r>
          </a:p>
        </p:txBody>
      </p:sp>
    </p:spTree>
    <p:extLst>
      <p:ext uri="{BB962C8B-B14F-4D97-AF65-F5344CB8AC3E}">
        <p14:creationId xmlns:p14="http://schemas.microsoft.com/office/powerpoint/2010/main" val="457371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F2D4C16-27FF-48D2-BAEA-35BCB510C87D}"/>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4 | BUILD SHARED CONTEXT</a:t>
            </a:r>
          </a:p>
        </p:txBody>
      </p:sp>
      <p:sp>
        <p:nvSpPr>
          <p:cNvPr id="3" name="Text 1">
            <a:extLst>
              <a:ext uri="{FF2B5EF4-FFF2-40B4-BE49-F238E27FC236}">
                <a16:creationId xmlns:a16="http://schemas.microsoft.com/office/drawing/2014/main" id="{02AF822C-F162-48C6-9E23-9D4A66EE0F2D}"/>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Clear instructions reduce ambiguity</a:t>
            </a:r>
          </a:p>
        </p:txBody>
      </p:sp>
      <p:sp>
        <p:nvSpPr>
          <p:cNvPr id="4" name="Shape 2">
            <a:extLst>
              <a:ext uri="{FF2B5EF4-FFF2-40B4-BE49-F238E27FC236}">
                <a16:creationId xmlns:a16="http://schemas.microsoft.com/office/drawing/2014/main" id="{65E5BDA3-E57F-40C9-A623-C54D46D4F66B}"/>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A39EEF24-D1C8-461B-A711-1040ED85CB41}"/>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5CCABDD1-1B70-47AE-B5CF-1FC6372AE6D8}"/>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1AD114A2-8593-4406-A70D-E3F4A444DC0D}"/>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12</a:t>
            </a:r>
          </a:p>
        </p:txBody>
      </p:sp>
      <p:sp>
        <p:nvSpPr>
          <p:cNvPr id="8" name="Text 6">
            <a:extLst>
              <a:ext uri="{FF2B5EF4-FFF2-40B4-BE49-F238E27FC236}">
                <a16:creationId xmlns:a16="http://schemas.microsoft.com/office/drawing/2014/main" id="{428830A0-568B-417F-A3D6-831291370153}"/>
              </a:ext>
            </a:extLst>
          </p:cNvPr>
          <p:cNvSpPr>
            <a:spLocks noGrp="1"/>
          </p:cNvSpPr>
          <p:nvPr/>
        </p:nvSpPr>
        <p:spPr>
          <a:xfrm>
            <a:off x="685800" y="1381125"/>
            <a:ext cx="10572750" cy="7810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AI fills missing details with patterns from training—not necessarily with your intended assumptions.</a:t>
            </a:r>
          </a:p>
        </p:txBody>
      </p:sp>
      <p:sp>
        <p:nvSpPr>
          <p:cNvPr id="9" name="Text 7">
            <a:extLst>
              <a:ext uri="{FF2B5EF4-FFF2-40B4-BE49-F238E27FC236}">
                <a16:creationId xmlns:a16="http://schemas.microsoft.com/office/drawing/2014/main" id="{C356CC28-2D2B-4B41-8F44-B53FF8E9C5ED}"/>
              </a:ext>
            </a:extLst>
          </p:cNvPr>
          <p:cNvSpPr>
            <a:spLocks noGrp="1"/>
          </p:cNvSpPr>
          <p:nvPr/>
        </p:nvSpPr>
        <p:spPr>
          <a:xfrm>
            <a:off x="868680" y="2121408"/>
            <a:ext cx="4480560" cy="320040"/>
          </a:xfrm>
          <a:prstGeom prst="rect">
            <a:avLst/>
          </a:prstGeom>
          <a:noFill/>
        </p:spPr>
        <p:txBody>
          <a:bodyPr wrap="square" lIns="0" tIns="0" rIns="0" bIns="0" anchor="ctr">
            <a:noAutofit/>
          </a:bodyPr>
          <a:lstStyle/>
          <a:p>
            <a:pPr marL="0" indent="0">
              <a:buNone/>
            </a:pPr>
            <a:r>
              <a:rPr sz="1875" b="1">
                <a:solidFill>
                  <a:srgbClr val="0F766E"/>
                </a:solidFill>
                <a:latin typeface="Aptos Display"/>
                <a:ea typeface="Aptos Display"/>
                <a:cs typeface="Aptos Display"/>
              </a:rPr>
              <a:t>Tell the AI</a:t>
            </a:r>
          </a:p>
        </p:txBody>
      </p:sp>
      <p:sp>
        <p:nvSpPr>
          <p:cNvPr id="10" name="Text 8">
            <a:extLst>
              <a:ext uri="{FF2B5EF4-FFF2-40B4-BE49-F238E27FC236}">
                <a16:creationId xmlns:a16="http://schemas.microsoft.com/office/drawing/2014/main" id="{3EC355CB-A2C8-46E7-B872-413BDB05D5D9}"/>
              </a:ext>
            </a:extLst>
          </p:cNvPr>
          <p:cNvSpPr>
            <a:spLocks noGrp="1"/>
          </p:cNvSpPr>
          <p:nvPr/>
        </p:nvSpPr>
        <p:spPr>
          <a:xfrm>
            <a:off x="9144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The problem</a:t>
            </a:r>
          </a:p>
          <a:p>
            <a:pPr marL="0" indent="0">
              <a:buNone/>
            </a:pPr>
            <a:r>
              <a:rPr sz="1950">
                <a:solidFill>
                  <a:srgbClr val="4B5563"/>
                </a:solidFill>
                <a:latin typeface="Aptos"/>
                <a:ea typeface="Aptos"/>
                <a:cs typeface="Aptos"/>
              </a:rPr>
              <a:t>• The relevant inputs</a:t>
            </a:r>
          </a:p>
          <a:p>
            <a:pPr marL="0" indent="0">
              <a:buNone/>
            </a:pPr>
            <a:r>
              <a:rPr sz="1950">
                <a:solidFill>
                  <a:srgbClr val="4B5563"/>
                </a:solidFill>
                <a:latin typeface="Aptos"/>
                <a:ea typeface="Aptos"/>
                <a:cs typeface="Aptos"/>
              </a:rPr>
              <a:t>• What to do now</a:t>
            </a:r>
          </a:p>
          <a:p>
            <a:pPr marL="0" indent="0">
              <a:buNone/>
            </a:pPr>
            <a:r>
              <a:rPr sz="1950">
                <a:solidFill>
                  <a:srgbClr val="4B5563"/>
                </a:solidFill>
                <a:latin typeface="Aptos"/>
                <a:ea typeface="Aptos"/>
                <a:cs typeface="Aptos"/>
              </a:rPr>
              <a:t>• What not to do</a:t>
            </a:r>
          </a:p>
        </p:txBody>
      </p:sp>
      <p:sp>
        <p:nvSpPr>
          <p:cNvPr id="11" name="Shape 9">
            <a:extLst>
              <a:ext uri="{FF2B5EF4-FFF2-40B4-BE49-F238E27FC236}">
                <a16:creationId xmlns:a16="http://schemas.microsoft.com/office/drawing/2014/main" id="{9F45745F-3321-4366-B51A-35E1A7758C97}"/>
              </a:ext>
            </a:extLst>
          </p:cNvPr>
          <p:cNvSpPr>
            <a:spLocks noGrp="1"/>
          </p:cNvSpPr>
          <p:nvPr/>
        </p:nvSpPr>
        <p:spPr>
          <a:xfrm>
            <a:off x="5989320" y="2103120"/>
            <a:ext cx="0" cy="2697480"/>
          </a:xfrm>
          <a:prstGeom prst="line">
            <a:avLst/>
          </a:prstGeom>
          <a:noFill/>
          <a:ln w="19050">
            <a:solidFill>
              <a:srgbClr val="E5E7EB"/>
            </a:solidFill>
            <a:prstDash val="solid"/>
          </a:ln>
        </p:spPr>
        <p:txBody>
          <a:bodyPr/>
          <a:lstStyle/>
          <a:p>
            <a:endParaRPr/>
          </a:p>
        </p:txBody>
      </p:sp>
      <p:sp>
        <p:nvSpPr>
          <p:cNvPr id="12" name="Text 10">
            <a:extLst>
              <a:ext uri="{FF2B5EF4-FFF2-40B4-BE49-F238E27FC236}">
                <a16:creationId xmlns:a16="http://schemas.microsoft.com/office/drawing/2014/main" id="{A77C9C75-169B-48E3-9D35-7364461DDE23}"/>
              </a:ext>
            </a:extLst>
          </p:cNvPr>
          <p:cNvSpPr>
            <a:spLocks noGrp="1"/>
          </p:cNvSpPr>
          <p:nvPr/>
        </p:nvSpPr>
        <p:spPr>
          <a:xfrm>
            <a:off x="6629400" y="2121408"/>
            <a:ext cx="4480560" cy="320040"/>
          </a:xfrm>
          <a:prstGeom prst="rect">
            <a:avLst/>
          </a:prstGeom>
          <a:noFill/>
        </p:spPr>
        <p:txBody>
          <a:bodyPr wrap="square" lIns="0" tIns="0" rIns="0" bIns="0" anchor="ctr">
            <a:noAutofit/>
          </a:bodyPr>
          <a:lstStyle/>
          <a:p>
            <a:pPr marL="0" indent="0">
              <a:buNone/>
            </a:pPr>
            <a:r>
              <a:rPr sz="1875" b="1">
                <a:solidFill>
                  <a:srgbClr val="D97706"/>
                </a:solidFill>
                <a:latin typeface="Aptos Display"/>
                <a:ea typeface="Aptos Display"/>
                <a:cs typeface="Aptos Display"/>
              </a:rPr>
              <a:t>Also define</a:t>
            </a:r>
          </a:p>
        </p:txBody>
      </p:sp>
      <p:sp>
        <p:nvSpPr>
          <p:cNvPr id="13" name="Text 11">
            <a:extLst>
              <a:ext uri="{FF2B5EF4-FFF2-40B4-BE49-F238E27FC236}">
                <a16:creationId xmlns:a16="http://schemas.microsoft.com/office/drawing/2014/main" id="{DAFE9492-3C83-4D30-91E6-91331725D830}"/>
              </a:ext>
            </a:extLst>
          </p:cNvPr>
          <p:cNvSpPr>
            <a:spLocks noGrp="1"/>
          </p:cNvSpPr>
          <p:nvPr/>
        </p:nvSpPr>
        <p:spPr>
          <a:xfrm>
            <a:off x="66675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Desired output</a:t>
            </a:r>
          </a:p>
          <a:p>
            <a:pPr marL="0" indent="0">
              <a:buNone/>
            </a:pPr>
            <a:r>
              <a:rPr sz="1950">
                <a:solidFill>
                  <a:srgbClr val="4B5563"/>
                </a:solidFill>
                <a:latin typeface="Aptos"/>
                <a:ea typeface="Aptos"/>
                <a:cs typeface="Aptos"/>
              </a:rPr>
              <a:t>• Quality criteria</a:t>
            </a:r>
          </a:p>
          <a:p>
            <a:pPr marL="0" indent="0">
              <a:buNone/>
            </a:pPr>
            <a:r>
              <a:rPr sz="1950">
                <a:solidFill>
                  <a:srgbClr val="4B5563"/>
                </a:solidFill>
                <a:latin typeface="Aptos"/>
                <a:ea typeface="Aptos"/>
                <a:cs typeface="Aptos"/>
              </a:rPr>
              <a:t>• Required checks</a:t>
            </a:r>
          </a:p>
          <a:p>
            <a:pPr marL="0" indent="0">
              <a:buNone/>
            </a:pPr>
            <a:r>
              <a:rPr sz="1950">
                <a:solidFill>
                  <a:srgbClr val="4B5563"/>
                </a:solidFill>
                <a:latin typeface="Aptos"/>
                <a:ea typeface="Aptos"/>
                <a:cs typeface="Aptos"/>
              </a:rPr>
              <a:t>• Unresolved questions</a:t>
            </a:r>
          </a:p>
        </p:txBody>
      </p:sp>
    </p:spTree>
    <p:extLst>
      <p:ext uri="{BB962C8B-B14F-4D97-AF65-F5344CB8AC3E}">
        <p14:creationId xmlns:p14="http://schemas.microsoft.com/office/powerpoint/2010/main" val="470032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DA491-FBC8-3C63-4730-644602482661}"/>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3EDB8D3C-24A8-DE19-C558-C942C277349F}"/>
              </a:ext>
            </a:extLst>
          </p:cNvPr>
          <p:cNvSpPr>
            <a:spLocks noGrp="1"/>
          </p:cNvSpPr>
          <p:nvPr/>
        </p:nvSpPr>
        <p:spPr>
          <a:xfrm>
            <a:off x="1098368" y="2504803"/>
            <a:ext cx="9995263" cy="1566454"/>
          </a:xfrm>
          <a:prstGeom prst="rect">
            <a:avLst/>
          </a:prstGeom>
          <a:noFill/>
        </p:spPr>
        <p:txBody>
          <a:bodyPr wrap="square" lIns="0" tIns="0" rIns="0" bIns="0" anchor="ctr">
            <a:normAutofit fontScale="97500"/>
          </a:bodyPr>
          <a:lstStyle/>
          <a:p>
            <a:pPr marL="0" indent="0" algn="ctr">
              <a:buNone/>
            </a:pPr>
            <a:r>
              <a:rPr lang="en-US" sz="4000" b="1" dirty="0">
                <a:solidFill>
                  <a:srgbClr val="102544"/>
                </a:solidFill>
                <a:latin typeface="Aptos Display"/>
                <a:ea typeface="Aptos Display"/>
                <a:cs typeface="Aptos Display"/>
              </a:rPr>
              <a:t>Writing the Actual Prompt</a:t>
            </a:r>
            <a:endParaRPr sz="4000" b="1" dirty="0">
              <a:solidFill>
                <a:srgbClr val="102544"/>
              </a:solidFill>
              <a:latin typeface="Aptos Display"/>
              <a:ea typeface="Aptos Display"/>
              <a:cs typeface="Aptos Display"/>
            </a:endParaRPr>
          </a:p>
        </p:txBody>
      </p:sp>
    </p:spTree>
    <p:extLst>
      <p:ext uri="{BB962C8B-B14F-4D97-AF65-F5344CB8AC3E}">
        <p14:creationId xmlns:p14="http://schemas.microsoft.com/office/powerpoint/2010/main" val="2772458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618DF0C-5BD4-434E-AA46-922ACDFBD529}"/>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5 | WRITE THE PROMPT</a:t>
            </a:r>
          </a:p>
        </p:txBody>
      </p:sp>
      <p:sp>
        <p:nvSpPr>
          <p:cNvPr id="3" name="Text 1">
            <a:extLst>
              <a:ext uri="{FF2B5EF4-FFF2-40B4-BE49-F238E27FC236}">
                <a16:creationId xmlns:a16="http://schemas.microsoft.com/office/drawing/2014/main" id="{5A37C886-51E4-405A-96B9-BCB3B3C1253F}"/>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A strong prompt answers eight questions</a:t>
            </a:r>
          </a:p>
        </p:txBody>
      </p:sp>
      <p:sp>
        <p:nvSpPr>
          <p:cNvPr id="4" name="Shape 2">
            <a:extLst>
              <a:ext uri="{FF2B5EF4-FFF2-40B4-BE49-F238E27FC236}">
                <a16:creationId xmlns:a16="http://schemas.microsoft.com/office/drawing/2014/main" id="{1F08BCB7-DEC0-4767-B305-40FCE6140410}"/>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1E9C699D-0CE8-4778-BB02-D4957FB2C4FD}"/>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816A4A77-28B7-4A43-8C52-EC08816E7565}"/>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5B83AA6E-BDB6-4E92-9F95-31CE6F46DC96}"/>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13</a:t>
            </a:r>
          </a:p>
        </p:txBody>
      </p:sp>
      <p:sp>
        <p:nvSpPr>
          <p:cNvPr id="8" name="Text 6">
            <a:extLst>
              <a:ext uri="{FF2B5EF4-FFF2-40B4-BE49-F238E27FC236}">
                <a16:creationId xmlns:a16="http://schemas.microsoft.com/office/drawing/2014/main" id="{950D5D05-1A41-492C-BC0D-2D90A0967EA7}"/>
              </a:ext>
            </a:extLst>
          </p:cNvPr>
          <p:cNvSpPr>
            <a:spLocks noGrp="1"/>
          </p:cNvSpPr>
          <p:nvPr/>
        </p:nvSpPr>
        <p:spPr>
          <a:xfrm>
            <a:off x="685800" y="1381125"/>
            <a:ext cx="10572750" cy="7429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The components can be brief, but they should be deliberate.</a:t>
            </a:r>
          </a:p>
        </p:txBody>
      </p:sp>
      <p:sp>
        <p:nvSpPr>
          <p:cNvPr id="9" name="Text 7">
            <a:extLst>
              <a:ext uri="{FF2B5EF4-FFF2-40B4-BE49-F238E27FC236}">
                <a16:creationId xmlns:a16="http://schemas.microsoft.com/office/drawing/2014/main" id="{3CEA8992-98A0-4346-B2F0-7C3CDC782F10}"/>
              </a:ext>
            </a:extLst>
          </p:cNvPr>
          <p:cNvSpPr>
            <a:spLocks noGrp="1"/>
          </p:cNvSpPr>
          <p:nvPr/>
        </p:nvSpPr>
        <p:spPr>
          <a:xfrm>
            <a:off x="914400" y="2148840"/>
            <a:ext cx="2971800" cy="502920"/>
          </a:xfrm>
          <a:prstGeom prst="roundRect">
            <a:avLst/>
          </a:prstGeom>
          <a:solidFill>
            <a:srgbClr val="0B1F3A"/>
          </a:solidFill>
          <a:ln w="12700">
            <a:solidFill>
              <a:srgbClr val="0B1F3A"/>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Purpose</a:t>
            </a:r>
          </a:p>
        </p:txBody>
      </p:sp>
      <p:sp>
        <p:nvSpPr>
          <p:cNvPr id="10" name="Text 8">
            <a:extLst>
              <a:ext uri="{FF2B5EF4-FFF2-40B4-BE49-F238E27FC236}">
                <a16:creationId xmlns:a16="http://schemas.microsoft.com/office/drawing/2014/main" id="{7B58754E-EAE0-4C4F-BCE7-5D8F6C7A0F47}"/>
              </a:ext>
            </a:extLst>
          </p:cNvPr>
          <p:cNvSpPr>
            <a:spLocks noGrp="1"/>
          </p:cNvSpPr>
          <p:nvPr/>
        </p:nvSpPr>
        <p:spPr>
          <a:xfrm>
            <a:off x="96012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1. Goal</a:t>
            </a:r>
          </a:p>
          <a:p>
            <a:pPr marL="0" indent="0">
              <a:buNone/>
            </a:pPr>
            <a:r>
              <a:rPr sz="1800">
                <a:solidFill>
                  <a:srgbClr val="4B5563"/>
                </a:solidFill>
                <a:latin typeface="Aptos"/>
                <a:ea typeface="Aptos"/>
                <a:cs typeface="Aptos"/>
              </a:rPr>
              <a:t>2. AI role</a:t>
            </a:r>
          </a:p>
          <a:p>
            <a:pPr marL="0" indent="0">
              <a:buNone/>
            </a:pPr>
            <a:r>
              <a:rPr sz="1800">
                <a:solidFill>
                  <a:srgbClr val="4B5563"/>
                </a:solidFill>
                <a:latin typeface="Aptos"/>
                <a:ea typeface="Aptos"/>
                <a:cs typeface="Aptos"/>
              </a:rPr>
              <a:t>3. Context</a:t>
            </a:r>
          </a:p>
        </p:txBody>
      </p:sp>
      <p:sp>
        <p:nvSpPr>
          <p:cNvPr id="11" name="Text 9">
            <a:extLst>
              <a:ext uri="{FF2B5EF4-FFF2-40B4-BE49-F238E27FC236}">
                <a16:creationId xmlns:a16="http://schemas.microsoft.com/office/drawing/2014/main" id="{D063DB01-4818-4080-8952-CB40BA3BF58E}"/>
              </a:ext>
            </a:extLst>
          </p:cNvPr>
          <p:cNvSpPr>
            <a:spLocks noGrp="1"/>
          </p:cNvSpPr>
          <p:nvPr/>
        </p:nvSpPr>
        <p:spPr>
          <a:xfrm>
            <a:off x="4617720" y="2148840"/>
            <a:ext cx="2971800" cy="502920"/>
          </a:xfrm>
          <a:prstGeom prst="roundRect">
            <a:avLst/>
          </a:prstGeom>
          <a:solidFill>
            <a:srgbClr val="2563EB"/>
          </a:solidFill>
          <a:ln w="12700">
            <a:solidFill>
              <a:srgbClr val="2563EB"/>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Work</a:t>
            </a:r>
          </a:p>
        </p:txBody>
      </p:sp>
      <p:sp>
        <p:nvSpPr>
          <p:cNvPr id="12" name="Text 10">
            <a:extLst>
              <a:ext uri="{FF2B5EF4-FFF2-40B4-BE49-F238E27FC236}">
                <a16:creationId xmlns:a16="http://schemas.microsoft.com/office/drawing/2014/main" id="{783349E2-8962-4B44-B2C3-E2E9C72B162C}"/>
              </a:ext>
            </a:extLst>
          </p:cNvPr>
          <p:cNvSpPr>
            <a:spLocks noGrp="1"/>
          </p:cNvSpPr>
          <p:nvPr/>
        </p:nvSpPr>
        <p:spPr>
          <a:xfrm>
            <a:off x="466344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4. Inputs</a:t>
            </a:r>
          </a:p>
          <a:p>
            <a:pPr marL="0" indent="0">
              <a:buNone/>
            </a:pPr>
            <a:r>
              <a:rPr sz="1800">
                <a:solidFill>
                  <a:srgbClr val="4B5563"/>
                </a:solidFill>
                <a:latin typeface="Aptos"/>
                <a:ea typeface="Aptos"/>
                <a:cs typeface="Aptos"/>
              </a:rPr>
              <a:t>5. Immediate task</a:t>
            </a:r>
          </a:p>
          <a:p>
            <a:pPr marL="0" indent="0">
              <a:buNone/>
            </a:pPr>
            <a:r>
              <a:rPr sz="1800">
                <a:solidFill>
                  <a:srgbClr val="4B5563"/>
                </a:solidFill>
                <a:latin typeface="Aptos"/>
                <a:ea typeface="Aptos"/>
                <a:cs typeface="Aptos"/>
              </a:rPr>
              <a:t>6. Constraints</a:t>
            </a:r>
          </a:p>
        </p:txBody>
      </p:sp>
      <p:sp>
        <p:nvSpPr>
          <p:cNvPr id="13" name="Text 11">
            <a:extLst>
              <a:ext uri="{FF2B5EF4-FFF2-40B4-BE49-F238E27FC236}">
                <a16:creationId xmlns:a16="http://schemas.microsoft.com/office/drawing/2014/main" id="{816DDD33-A1D6-4CA2-B599-F82168A9BCC0}"/>
              </a:ext>
            </a:extLst>
          </p:cNvPr>
          <p:cNvSpPr>
            <a:spLocks noGrp="1"/>
          </p:cNvSpPr>
          <p:nvPr/>
        </p:nvSpPr>
        <p:spPr>
          <a:xfrm>
            <a:off x="8321040" y="2148840"/>
            <a:ext cx="2971800" cy="502920"/>
          </a:xfrm>
          <a:prstGeom prst="roundRect">
            <a:avLst/>
          </a:prstGeom>
          <a:solidFill>
            <a:srgbClr val="0F766E"/>
          </a:solidFill>
          <a:ln w="12700">
            <a:solidFill>
              <a:srgbClr val="0F766E"/>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Evidence</a:t>
            </a:r>
          </a:p>
        </p:txBody>
      </p:sp>
      <p:sp>
        <p:nvSpPr>
          <p:cNvPr id="14" name="Text 12">
            <a:extLst>
              <a:ext uri="{FF2B5EF4-FFF2-40B4-BE49-F238E27FC236}">
                <a16:creationId xmlns:a16="http://schemas.microsoft.com/office/drawing/2014/main" id="{1A8960F0-1618-4017-BBEA-71FC13C0AC62}"/>
              </a:ext>
            </a:extLst>
          </p:cNvPr>
          <p:cNvSpPr>
            <a:spLocks noGrp="1"/>
          </p:cNvSpPr>
          <p:nvPr/>
        </p:nvSpPr>
        <p:spPr>
          <a:xfrm>
            <a:off x="836676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7. Deliverable</a:t>
            </a:r>
          </a:p>
          <a:p>
            <a:pPr marL="0" indent="0">
              <a:buNone/>
            </a:pPr>
            <a:r>
              <a:rPr sz="1800">
                <a:solidFill>
                  <a:srgbClr val="4B5563"/>
                </a:solidFill>
                <a:latin typeface="Aptos"/>
                <a:ea typeface="Aptos"/>
                <a:cs typeface="Aptos"/>
              </a:rPr>
              <a:t>8. Validation</a:t>
            </a:r>
          </a:p>
        </p:txBody>
      </p:sp>
      <p:sp>
        <p:nvSpPr>
          <p:cNvPr id="15" name="Text 13">
            <a:extLst>
              <a:ext uri="{FF2B5EF4-FFF2-40B4-BE49-F238E27FC236}">
                <a16:creationId xmlns:a16="http://schemas.microsoft.com/office/drawing/2014/main" id="{B20A231F-3278-4A3B-8D2B-1B0F1E0D475E}"/>
              </a:ext>
            </a:extLst>
          </p:cNvPr>
          <p:cNvSpPr>
            <a:spLocks noGrp="1"/>
          </p:cNvSpPr>
          <p:nvPr/>
        </p:nvSpPr>
        <p:spPr>
          <a:xfrm>
            <a:off x="914400" y="5257800"/>
            <a:ext cx="10287000" cy="533400"/>
          </a:xfrm>
          <a:prstGeom prst="rect">
            <a:avLst/>
          </a:prstGeom>
          <a:noFill/>
        </p:spPr>
        <p:txBody>
          <a:bodyPr wrap="square" lIns="0" tIns="0" rIns="0" bIns="0" anchor="ctr">
            <a:noAutofit/>
          </a:bodyPr>
          <a:lstStyle/>
          <a:p>
            <a:pPr marL="0" indent="0" algn="ctr">
              <a:buNone/>
            </a:pPr>
            <a:r>
              <a:rPr sz="1800" b="1">
                <a:solidFill>
                  <a:srgbClr val="2563EB"/>
                </a:solidFill>
                <a:latin typeface="Aptos Display"/>
                <a:ea typeface="Aptos Display"/>
                <a:cs typeface="Aptos Display"/>
              </a:rPr>
              <a:t>Prompt structure should match task complexity—not a fixed formula.</a:t>
            </a:r>
          </a:p>
        </p:txBody>
      </p:sp>
    </p:spTree>
    <p:extLst>
      <p:ext uri="{BB962C8B-B14F-4D97-AF65-F5344CB8AC3E}">
        <p14:creationId xmlns:p14="http://schemas.microsoft.com/office/powerpoint/2010/main" val="1569700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CB1B94F-B0DD-48E9-9308-FB0919E984BA}"/>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5 | WRITE THE PROMPT</a:t>
            </a:r>
          </a:p>
        </p:txBody>
      </p:sp>
      <p:sp>
        <p:nvSpPr>
          <p:cNvPr id="3" name="Text 1">
            <a:extLst>
              <a:ext uri="{FF2B5EF4-FFF2-40B4-BE49-F238E27FC236}">
                <a16:creationId xmlns:a16="http://schemas.microsoft.com/office/drawing/2014/main" id="{FE11951C-0A4D-428E-B376-48F1D7259656}"/>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State the desired outcome</a:t>
            </a:r>
          </a:p>
        </p:txBody>
      </p:sp>
      <p:sp>
        <p:nvSpPr>
          <p:cNvPr id="4" name="Shape 2">
            <a:extLst>
              <a:ext uri="{FF2B5EF4-FFF2-40B4-BE49-F238E27FC236}">
                <a16:creationId xmlns:a16="http://schemas.microsoft.com/office/drawing/2014/main" id="{C9B31650-08BB-4672-AC86-E7F7E74A2A6D}"/>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B8E18297-3D77-4103-A23D-3257A558569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4B21029-D08A-4F4A-BAD1-1564AE881A8A}"/>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0898AED7-D0E3-4B73-801B-A58AFE59F01B}"/>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14</a:t>
            </a:r>
          </a:p>
        </p:txBody>
      </p:sp>
      <p:sp>
        <p:nvSpPr>
          <p:cNvPr id="8" name="Text 6">
            <a:extLst>
              <a:ext uri="{FF2B5EF4-FFF2-40B4-BE49-F238E27FC236}">
                <a16:creationId xmlns:a16="http://schemas.microsoft.com/office/drawing/2014/main" id="{B8F73C76-A923-4BF8-A684-21A39477BB63}"/>
              </a:ext>
            </a:extLst>
          </p:cNvPr>
          <p:cNvSpPr>
            <a:spLocks noGrp="1"/>
          </p:cNvSpPr>
          <p:nvPr/>
        </p:nvSpPr>
        <p:spPr>
          <a:xfrm>
            <a:off x="685800" y="1381125"/>
            <a:ext cx="10572750" cy="68580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Describe the decision or state you want to reach—not a vague activity.</a:t>
            </a:r>
          </a:p>
        </p:txBody>
      </p:sp>
      <p:sp>
        <p:nvSpPr>
          <p:cNvPr id="9" name="Text 7">
            <a:extLst>
              <a:ext uri="{FF2B5EF4-FFF2-40B4-BE49-F238E27FC236}">
                <a16:creationId xmlns:a16="http://schemas.microsoft.com/office/drawing/2014/main" id="{A852AD4B-CF81-4997-855F-1E8321C91392}"/>
              </a:ext>
            </a:extLst>
          </p:cNvPr>
          <p:cNvSpPr>
            <a:spLocks noGrp="1"/>
          </p:cNvSpPr>
          <p:nvPr/>
        </p:nvSpPr>
        <p:spPr>
          <a:xfrm>
            <a:off x="819150" y="2143125"/>
            <a:ext cx="4762500" cy="285750"/>
          </a:xfrm>
          <a:prstGeom prst="rect">
            <a:avLst/>
          </a:prstGeom>
          <a:noFill/>
        </p:spPr>
        <p:txBody>
          <a:bodyPr wrap="square" lIns="0" tIns="0" rIns="0" bIns="0" anchor="ctr">
            <a:noAutofit/>
          </a:bodyPr>
          <a:lstStyle/>
          <a:p>
            <a:pPr marL="0" indent="0">
              <a:buNone/>
            </a:pPr>
            <a:r>
              <a:rPr sz="1800" b="1">
                <a:solidFill>
                  <a:srgbClr val="B91C1C"/>
                </a:solidFill>
                <a:latin typeface="Aptos"/>
                <a:ea typeface="Aptos"/>
                <a:cs typeface="Aptos"/>
              </a:rPr>
              <a:t>Weak</a:t>
            </a:r>
          </a:p>
        </p:txBody>
      </p:sp>
      <p:sp>
        <p:nvSpPr>
          <p:cNvPr id="10" name="Text 8">
            <a:extLst>
              <a:ext uri="{FF2B5EF4-FFF2-40B4-BE49-F238E27FC236}">
                <a16:creationId xmlns:a16="http://schemas.microsoft.com/office/drawing/2014/main" id="{612E4FC2-31C0-454F-8896-DA44743AB69D}"/>
              </a:ext>
            </a:extLst>
          </p:cNvPr>
          <p:cNvSpPr>
            <a:spLocks noGrp="1"/>
          </p:cNvSpPr>
          <p:nvPr/>
        </p:nvSpPr>
        <p:spPr>
          <a:xfrm>
            <a:off x="819150" y="2533650"/>
            <a:ext cx="4762500" cy="1047750"/>
          </a:xfrm>
          <a:prstGeom prst="roundRect">
            <a:avLst/>
          </a:prstGeom>
          <a:solidFill>
            <a:srgbClr val="FEF2F2"/>
          </a:solidFill>
          <a:ln w="12700">
            <a:solidFill>
              <a:srgbClr val="FECACA"/>
            </a:solidFill>
          </a:ln>
        </p:spPr>
        <p:txBody>
          <a:bodyPr wrap="square" lIns="1905" tIns="1905" rIns="1905" bIns="1905" anchor="ctr">
            <a:noAutofit/>
          </a:bodyPr>
          <a:lstStyle/>
          <a:p>
            <a:pPr marL="0" indent="0" algn="ctr">
              <a:buNone/>
            </a:pPr>
            <a:r>
              <a:rPr sz="1800" b="1">
                <a:solidFill>
                  <a:srgbClr val="102544"/>
                </a:solidFill>
                <a:latin typeface="Aptos"/>
                <a:ea typeface="Aptos"/>
                <a:cs typeface="Aptos"/>
              </a:rPr>
              <a:t>“Help with this dataset.”</a:t>
            </a:r>
          </a:p>
        </p:txBody>
      </p:sp>
      <p:sp>
        <p:nvSpPr>
          <p:cNvPr id="11" name="Text 9">
            <a:extLst>
              <a:ext uri="{FF2B5EF4-FFF2-40B4-BE49-F238E27FC236}">
                <a16:creationId xmlns:a16="http://schemas.microsoft.com/office/drawing/2014/main" id="{3688C077-7201-4C2D-91E9-EBC2BA5BAAA8}"/>
              </a:ext>
            </a:extLst>
          </p:cNvPr>
          <p:cNvSpPr>
            <a:spLocks noGrp="1"/>
          </p:cNvSpPr>
          <p:nvPr/>
        </p:nvSpPr>
        <p:spPr>
          <a:xfrm>
            <a:off x="6191250" y="2143125"/>
            <a:ext cx="4857750" cy="285750"/>
          </a:xfrm>
          <a:prstGeom prst="rect">
            <a:avLst/>
          </a:prstGeom>
          <a:noFill/>
        </p:spPr>
        <p:txBody>
          <a:bodyPr wrap="square" lIns="0" tIns="0" rIns="0" bIns="0" anchor="ctr">
            <a:noAutofit/>
          </a:bodyPr>
          <a:lstStyle/>
          <a:p>
            <a:pPr marL="0" indent="0">
              <a:buNone/>
            </a:pPr>
            <a:r>
              <a:rPr sz="1800" b="1">
                <a:solidFill>
                  <a:srgbClr val="15803D"/>
                </a:solidFill>
                <a:latin typeface="Aptos"/>
                <a:ea typeface="Aptos"/>
                <a:cs typeface="Aptos"/>
              </a:rPr>
              <a:t>Better</a:t>
            </a:r>
          </a:p>
        </p:txBody>
      </p:sp>
      <p:sp>
        <p:nvSpPr>
          <p:cNvPr id="12" name="Text 10">
            <a:extLst>
              <a:ext uri="{FF2B5EF4-FFF2-40B4-BE49-F238E27FC236}">
                <a16:creationId xmlns:a16="http://schemas.microsoft.com/office/drawing/2014/main" id="{6A19C4FB-8715-498A-A64C-113309930DAB}"/>
              </a:ext>
            </a:extLst>
          </p:cNvPr>
          <p:cNvSpPr>
            <a:spLocks noGrp="1"/>
          </p:cNvSpPr>
          <p:nvPr/>
        </p:nvSpPr>
        <p:spPr>
          <a:xfrm>
            <a:off x="6191250" y="2533650"/>
            <a:ext cx="4857750" cy="1047750"/>
          </a:xfrm>
          <a:prstGeom prst="roundRect">
            <a:avLst/>
          </a:prstGeom>
          <a:solidFill>
            <a:srgbClr val="F0FDFA"/>
          </a:solidFill>
          <a:ln w="12700">
            <a:solidFill>
              <a:srgbClr val="A7F3D0"/>
            </a:solidFill>
          </a:ln>
        </p:spPr>
        <p:txBody>
          <a:bodyPr wrap="square" lIns="2032" tIns="2032" rIns="2032" bIns="2032" anchor="ctr">
            <a:noAutofit/>
          </a:bodyPr>
          <a:lstStyle/>
          <a:p>
            <a:pPr marL="0" indent="0" algn="ctr">
              <a:buNone/>
            </a:pPr>
            <a:r>
              <a:rPr sz="1800">
                <a:solidFill>
                  <a:srgbClr val="102544"/>
                </a:solidFill>
                <a:latin typeface="Aptos"/>
                <a:ea typeface="Aptos"/>
                <a:cs typeface="Aptos"/>
              </a:rPr>
              <a:t>“Determine whether this surveillance dataset is structurally ready for weekly time-series modeling.”</a:t>
            </a:r>
          </a:p>
        </p:txBody>
      </p:sp>
      <p:sp>
        <p:nvSpPr>
          <p:cNvPr id="13" name="Text 11">
            <a:extLst>
              <a:ext uri="{FF2B5EF4-FFF2-40B4-BE49-F238E27FC236}">
                <a16:creationId xmlns:a16="http://schemas.microsoft.com/office/drawing/2014/main" id="{30490A6E-A510-4ED7-8F9D-0DEF45E26F84}"/>
              </a:ext>
            </a:extLst>
          </p:cNvPr>
          <p:cNvSpPr>
            <a:spLocks noGrp="1"/>
          </p:cNvSpPr>
          <p:nvPr/>
        </p:nvSpPr>
        <p:spPr>
          <a:xfrm>
            <a:off x="914400" y="3943350"/>
            <a:ext cx="10287000" cy="323850"/>
          </a:xfrm>
          <a:prstGeom prst="rect">
            <a:avLst/>
          </a:prstGeom>
          <a:noFill/>
        </p:spPr>
        <p:txBody>
          <a:bodyPr wrap="square" lIns="0" tIns="0" rIns="0" bIns="0" anchor="ctr">
            <a:noAutofit/>
          </a:bodyPr>
          <a:lstStyle/>
          <a:p>
            <a:pPr marL="0" indent="0">
              <a:buNone/>
            </a:pPr>
            <a:r>
              <a:rPr sz="1800" b="1">
                <a:solidFill>
                  <a:srgbClr val="102544"/>
                </a:solidFill>
                <a:latin typeface="Aptos Display"/>
                <a:ea typeface="Aptos Display"/>
                <a:cs typeface="Aptos Display"/>
              </a:rPr>
              <a:t>A good goal</a:t>
            </a:r>
          </a:p>
        </p:txBody>
      </p:sp>
      <p:sp>
        <p:nvSpPr>
          <p:cNvPr id="14" name="Text 12">
            <a:extLst>
              <a:ext uri="{FF2B5EF4-FFF2-40B4-BE49-F238E27FC236}">
                <a16:creationId xmlns:a16="http://schemas.microsoft.com/office/drawing/2014/main" id="{B09B3644-909C-44A3-94C8-694EC7BA2B09}"/>
              </a:ext>
            </a:extLst>
          </p:cNvPr>
          <p:cNvSpPr>
            <a:spLocks noGrp="1"/>
          </p:cNvSpPr>
          <p:nvPr/>
        </p:nvSpPr>
        <p:spPr>
          <a:xfrm>
            <a:off x="914400" y="4362450"/>
            <a:ext cx="10287000" cy="495300"/>
          </a:xfrm>
          <a:prstGeom prst="rect">
            <a:avLst/>
          </a:prstGeom>
          <a:noFill/>
        </p:spPr>
        <p:txBody>
          <a:bodyPr wrap="square" lIns="0" tIns="0" rIns="0" bIns="0" anchor="ctr">
            <a:noAutofit/>
          </a:bodyPr>
          <a:lstStyle/>
          <a:p>
            <a:pPr marL="0" indent="0">
              <a:buNone/>
            </a:pPr>
            <a:r>
              <a:rPr sz="1800" b="1">
                <a:solidFill>
                  <a:srgbClr val="4B5563"/>
                </a:solidFill>
                <a:latin typeface="Aptos"/>
                <a:ea typeface="Aptos"/>
                <a:cs typeface="Aptos"/>
              </a:rPr>
              <a:t>Names the decision • narrows the scope • supports evaluation</a:t>
            </a:r>
          </a:p>
        </p:txBody>
      </p:sp>
    </p:spTree>
    <p:extLst>
      <p:ext uri="{BB962C8B-B14F-4D97-AF65-F5344CB8AC3E}">
        <p14:creationId xmlns:p14="http://schemas.microsoft.com/office/powerpoint/2010/main" val="1808381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88E2E6-B5C3-4CD9-A71A-53472264BDB2}"/>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5 | WRITE THE PROMPT</a:t>
            </a:r>
          </a:p>
        </p:txBody>
      </p:sp>
      <p:sp>
        <p:nvSpPr>
          <p:cNvPr id="3" name="Text 1">
            <a:extLst>
              <a:ext uri="{FF2B5EF4-FFF2-40B4-BE49-F238E27FC236}">
                <a16:creationId xmlns:a16="http://schemas.microsoft.com/office/drawing/2014/main" id="{78FF4E60-9290-4945-BDE1-03DC4E0AA57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Give the AI a bounded role</a:t>
            </a:r>
          </a:p>
        </p:txBody>
      </p:sp>
      <p:sp>
        <p:nvSpPr>
          <p:cNvPr id="4" name="Shape 2">
            <a:extLst>
              <a:ext uri="{FF2B5EF4-FFF2-40B4-BE49-F238E27FC236}">
                <a16:creationId xmlns:a16="http://schemas.microsoft.com/office/drawing/2014/main" id="{C4086BC4-09FA-47C0-A875-7F9829171D9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37606ECD-0CB4-4B4E-94EB-12C39735037D}"/>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258BE6DC-78A9-4267-B331-C8EC84C2D87D}"/>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AB6A3ECA-F7B1-48C0-BEC7-05865C27FE00}"/>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15</a:t>
            </a:r>
          </a:p>
        </p:txBody>
      </p:sp>
      <p:sp>
        <p:nvSpPr>
          <p:cNvPr id="8" name="Text 6">
            <a:extLst>
              <a:ext uri="{FF2B5EF4-FFF2-40B4-BE49-F238E27FC236}">
                <a16:creationId xmlns:a16="http://schemas.microsoft.com/office/drawing/2014/main" id="{3E1823B8-8F98-43E5-BF64-614155A53C1D}"/>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lgn="l">
              <a:buNone/>
            </a:pPr>
            <a:r>
              <a:rPr sz="2175" b="1">
                <a:solidFill>
                  <a:srgbClr val="0B1F3A"/>
                </a:solidFill>
                <a:latin typeface="Aptos Display"/>
                <a:ea typeface="Aptos Display"/>
                <a:cs typeface="Aptos Display"/>
              </a:rPr>
              <a:t>A bounded role tells the AI which function to perform in the current step. It focuses the response without pretending the model has credentials, authority, or accountability it does not possess.</a:t>
            </a:r>
          </a:p>
        </p:txBody>
      </p:sp>
      <p:sp>
        <p:nvSpPr>
          <p:cNvPr id="10" name="Text 8">
            <a:extLst>
              <a:ext uri="{FF2B5EF4-FFF2-40B4-BE49-F238E27FC236}">
                <a16:creationId xmlns:a16="http://schemas.microsoft.com/office/drawing/2014/main" id="{D1664438-A86A-43A6-9ADA-F1CE4EB24C97}"/>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lgn="l">
              <a:buNone/>
            </a:pPr>
            <a:r>
              <a:rPr sz="2025">
                <a:solidFill>
                  <a:srgbClr val="4B5563"/>
                </a:solidFill>
                <a:latin typeface="Aptos"/>
                <a:ea typeface="Aptos"/>
                <a:cs typeface="Aptos"/>
              </a:rPr>
              <a:t>Examples:</a:t>
            </a:r>
          </a:p>
          <a:p>
            <a:pPr marL="0" indent="0" algn="l">
              <a:buNone/>
            </a:pPr>
            <a:r>
              <a:rPr sz="2025">
                <a:solidFill>
                  <a:srgbClr val="4B5563"/>
                </a:solidFill>
                <a:latin typeface="Aptos"/>
                <a:ea typeface="Aptos"/>
                <a:cs typeface="Aptos"/>
              </a:rPr>
              <a:t>• Data-quality reviewer: identify issues and propose checks.</a:t>
            </a:r>
          </a:p>
          <a:p>
            <a:pPr marL="0" indent="0" algn="l">
              <a:buNone/>
            </a:pPr>
            <a:r>
              <a:rPr sz="2025">
                <a:solidFill>
                  <a:srgbClr val="4B5563"/>
                </a:solidFill>
                <a:latin typeface="Aptos"/>
                <a:ea typeface="Aptos"/>
                <a:cs typeface="Aptos"/>
              </a:rPr>
              <a:t>• R coding assistant: implement an approved change.</a:t>
            </a:r>
          </a:p>
          <a:p>
            <a:pPr marL="0" indent="0" algn="l">
              <a:buNone/>
            </a:pPr>
            <a:r>
              <a:rPr sz="2025">
                <a:solidFill>
                  <a:srgbClr val="4B5563"/>
                </a:solidFill>
                <a:latin typeface="Aptos"/>
                <a:ea typeface="Aptos"/>
                <a:cs typeface="Aptos"/>
              </a:rPr>
              <a:t>• Statistical critic: challenge assumptions and evaluation design.</a:t>
            </a:r>
          </a:p>
          <a:p>
            <a:pPr marL="0" indent="0" algn="l">
              <a:buNone/>
            </a:pPr>
            <a:r>
              <a:rPr sz="2025">
                <a:solidFill>
                  <a:srgbClr val="4B5563"/>
                </a:solidFill>
                <a:latin typeface="Aptos"/>
                <a:ea typeface="Aptos"/>
                <a:cs typeface="Aptos"/>
              </a:rPr>
              <a:t>• Reproducibility reviewer: inspect dependencies and execution steps.</a:t>
            </a:r>
          </a:p>
          <a:p>
            <a:pPr marL="0" indent="0" algn="l">
              <a:buNone/>
            </a:pPr>
            <a:r>
              <a:rPr sz="2025">
                <a:solidFill>
                  <a:srgbClr val="4B5563"/>
                </a:solidFill>
                <a:latin typeface="Aptos"/>
                <a:ea typeface="Aptos"/>
                <a:cs typeface="Aptos"/>
              </a:rPr>
              <a:t>• Documentation assistant: explain accepted code and decisions.</a:t>
            </a:r>
          </a:p>
        </p:txBody>
      </p:sp>
    </p:spTree>
    <p:extLst>
      <p:ext uri="{BB962C8B-B14F-4D97-AF65-F5344CB8AC3E}">
        <p14:creationId xmlns:p14="http://schemas.microsoft.com/office/powerpoint/2010/main" val="789696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88E2E6-B5C3-4CD9-A71A-53472264BDB2}"/>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5 | WRITE THE PROMPT</a:t>
            </a:r>
          </a:p>
        </p:txBody>
      </p:sp>
      <p:sp>
        <p:nvSpPr>
          <p:cNvPr id="3" name="Text 1">
            <a:extLst>
              <a:ext uri="{FF2B5EF4-FFF2-40B4-BE49-F238E27FC236}">
                <a16:creationId xmlns:a16="http://schemas.microsoft.com/office/drawing/2014/main" id="{78FF4E60-9290-4945-BDE1-03DC4E0AA57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Provide operational definitions</a:t>
            </a:r>
          </a:p>
        </p:txBody>
      </p:sp>
      <p:sp>
        <p:nvSpPr>
          <p:cNvPr id="4" name="Shape 2">
            <a:extLst>
              <a:ext uri="{FF2B5EF4-FFF2-40B4-BE49-F238E27FC236}">
                <a16:creationId xmlns:a16="http://schemas.microsoft.com/office/drawing/2014/main" id="{C4086BC4-09FA-47C0-A875-7F9829171D9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37606ECD-0CB4-4B4E-94EB-12C39735037D}"/>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258BE6DC-78A9-4267-B331-C8EC84C2D87D}"/>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AB6A3ECA-F7B1-48C0-BEC7-05865C27FE00}"/>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16</a:t>
            </a:r>
          </a:p>
        </p:txBody>
      </p:sp>
      <p:sp>
        <p:nvSpPr>
          <p:cNvPr id="8" name="Text 6">
            <a:extLst>
              <a:ext uri="{FF2B5EF4-FFF2-40B4-BE49-F238E27FC236}">
                <a16:creationId xmlns:a16="http://schemas.microsoft.com/office/drawing/2014/main" id="{3E1823B8-8F98-43E5-BF64-614155A53C1D}"/>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lgn="l">
              <a:buNone/>
            </a:pPr>
            <a:r>
              <a:rPr sz="2175" b="1">
                <a:solidFill>
                  <a:srgbClr val="0B1F3A"/>
                </a:solidFill>
                <a:latin typeface="Aptos Display"/>
                <a:ea typeface="Aptos Display"/>
                <a:cs typeface="Aptos Display"/>
              </a:rPr>
              <a:t>Column names rarely communicate the reporting process, scientific meaning, or exceptions that determine how analytical code should behave.</a:t>
            </a:r>
          </a:p>
        </p:txBody>
      </p:sp>
      <p:sp>
        <p:nvSpPr>
          <p:cNvPr id="10" name="Text 8">
            <a:extLst>
              <a:ext uri="{FF2B5EF4-FFF2-40B4-BE49-F238E27FC236}">
                <a16:creationId xmlns:a16="http://schemas.microsoft.com/office/drawing/2014/main" id="{D1664438-A86A-43A6-9ADA-F1CE4EB24C97}"/>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lgn="l">
              <a:buNone/>
            </a:pPr>
            <a:r>
              <a:rPr sz="1875">
                <a:solidFill>
                  <a:srgbClr val="4B5563"/>
                </a:solidFill>
                <a:latin typeface="Aptos"/>
                <a:ea typeface="Aptos"/>
                <a:cs typeface="Aptos"/>
              </a:rPr>
              <a:t>Include:</a:t>
            </a:r>
          </a:p>
          <a:p>
            <a:pPr marL="0" indent="0" algn="l">
              <a:buNone/>
            </a:pPr>
            <a:r>
              <a:rPr sz="1875">
                <a:solidFill>
                  <a:srgbClr val="4B5563"/>
                </a:solidFill>
                <a:latin typeface="Aptos"/>
                <a:ea typeface="Aptos"/>
                <a:cs typeface="Aptos"/>
              </a:rPr>
              <a:t>• What one row represents.</a:t>
            </a:r>
          </a:p>
          <a:p>
            <a:pPr marL="0" indent="0" algn="l">
              <a:buNone/>
            </a:pPr>
            <a:r>
              <a:rPr sz="1875">
                <a:solidFill>
                  <a:srgbClr val="4B5563"/>
                </a:solidFill>
                <a:latin typeface="Aptos"/>
                <a:ea typeface="Aptos"/>
                <a:cs typeface="Aptos"/>
              </a:rPr>
              <a:t>• Date, population, and geographic units.</a:t>
            </a:r>
          </a:p>
          <a:p>
            <a:pPr marL="0" indent="0" algn="l">
              <a:buNone/>
            </a:pPr>
            <a:r>
              <a:rPr sz="1875">
                <a:solidFill>
                  <a:srgbClr val="4B5563"/>
                </a:solidFill>
                <a:latin typeface="Aptos"/>
                <a:ea typeface="Aptos"/>
                <a:cs typeface="Aptos"/>
              </a:rPr>
              <a:t>• Outcome definition and measurement process.</a:t>
            </a:r>
          </a:p>
          <a:p>
            <a:pPr marL="0" indent="0" algn="l">
              <a:buNone/>
            </a:pPr>
            <a:r>
              <a:rPr sz="1875">
                <a:solidFill>
                  <a:srgbClr val="4B5563"/>
                </a:solidFill>
                <a:latin typeface="Aptos"/>
                <a:ea typeface="Aptos"/>
                <a:cs typeface="Aptos"/>
              </a:rPr>
              <a:t>• Missing-value and zero-count conventions.</a:t>
            </a:r>
          </a:p>
          <a:p>
            <a:pPr marL="0" indent="0" algn="l">
              <a:buNone/>
            </a:pPr>
            <a:r>
              <a:rPr sz="1875">
                <a:solidFill>
                  <a:srgbClr val="4B5563"/>
                </a:solidFill>
                <a:latin typeface="Aptos"/>
                <a:ea typeface="Aptos"/>
                <a:cs typeface="Aptos"/>
              </a:rPr>
              <a:t>• Reporting delays, revisions, and backfills.</a:t>
            </a:r>
          </a:p>
          <a:p>
            <a:pPr marL="0" indent="0" algn="l">
              <a:buNone/>
            </a:pPr>
            <a:r>
              <a:rPr sz="1875">
                <a:solidFill>
                  <a:srgbClr val="4B5563"/>
                </a:solidFill>
                <a:latin typeface="Aptos"/>
                <a:ea typeface="Aptos"/>
                <a:cs typeface="Aptos"/>
              </a:rPr>
              <a:t>• Known anomalies or structural changes.</a:t>
            </a:r>
          </a:p>
        </p:txBody>
      </p:sp>
    </p:spTree>
    <p:extLst>
      <p:ext uri="{BB962C8B-B14F-4D97-AF65-F5344CB8AC3E}">
        <p14:creationId xmlns:p14="http://schemas.microsoft.com/office/powerpoint/2010/main" val="789696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88E2E6-B5C3-4CD9-A71A-53472264BDB2}"/>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5 | WRITE THE PROMPT</a:t>
            </a:r>
          </a:p>
        </p:txBody>
      </p:sp>
      <p:sp>
        <p:nvSpPr>
          <p:cNvPr id="3" name="Text 1">
            <a:extLst>
              <a:ext uri="{FF2B5EF4-FFF2-40B4-BE49-F238E27FC236}">
                <a16:creationId xmlns:a16="http://schemas.microsoft.com/office/drawing/2014/main" id="{78FF4E60-9290-4945-BDE1-03DC4E0AA57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Clear next actions coordinate the work</a:t>
            </a:r>
          </a:p>
        </p:txBody>
      </p:sp>
      <p:sp>
        <p:nvSpPr>
          <p:cNvPr id="4" name="Shape 2">
            <a:extLst>
              <a:ext uri="{FF2B5EF4-FFF2-40B4-BE49-F238E27FC236}">
                <a16:creationId xmlns:a16="http://schemas.microsoft.com/office/drawing/2014/main" id="{C4086BC4-09FA-47C0-A875-7F9829171D9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37606ECD-0CB4-4B4E-94EB-12C39735037D}"/>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258BE6DC-78A9-4267-B331-C8EC84C2D87D}"/>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AB6A3ECA-F7B1-48C0-BEC7-05865C27FE00}"/>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17</a:t>
            </a:r>
          </a:p>
        </p:txBody>
      </p:sp>
      <p:sp>
        <p:nvSpPr>
          <p:cNvPr id="8" name="Text 6">
            <a:extLst>
              <a:ext uri="{FF2B5EF4-FFF2-40B4-BE49-F238E27FC236}">
                <a16:creationId xmlns:a16="http://schemas.microsoft.com/office/drawing/2014/main" id="{3E1823B8-8F98-43E5-BF64-614155A53C1D}"/>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lgn="l">
              <a:buNone/>
            </a:pPr>
            <a:r>
              <a:rPr sz="2175" b="1">
                <a:solidFill>
                  <a:srgbClr val="0B1F3A"/>
                </a:solidFill>
                <a:latin typeface="Aptos Display"/>
                <a:ea typeface="Aptos Display"/>
                <a:cs typeface="Aptos Display"/>
              </a:rPr>
              <a:t>A bounded next task is a coordination move: it defines one observable AI contribution and makes the human’s next inspection point clear.</a:t>
            </a:r>
          </a:p>
        </p:txBody>
      </p:sp>
      <p:sp>
        <p:nvSpPr>
          <p:cNvPr id="10" name="Text 8">
            <a:extLst>
              <a:ext uri="{FF2B5EF4-FFF2-40B4-BE49-F238E27FC236}">
                <a16:creationId xmlns:a16="http://schemas.microsoft.com/office/drawing/2014/main" id="{D1664438-A86A-43A6-9ADA-F1CE4EB24C97}"/>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lgn="l">
              <a:buNone/>
            </a:pPr>
            <a:r>
              <a:rPr sz="2025">
                <a:solidFill>
                  <a:srgbClr val="4B5563"/>
                </a:solidFill>
                <a:latin typeface="Aptos"/>
                <a:ea typeface="Aptos"/>
                <a:cs typeface="Aptos"/>
              </a:rPr>
              <a:t>Useful task verbs:</a:t>
            </a:r>
          </a:p>
          <a:p>
            <a:pPr marL="0" indent="0" algn="l">
              <a:buNone/>
            </a:pPr>
            <a:r>
              <a:rPr sz="2025">
                <a:solidFill>
                  <a:srgbClr val="4B5563"/>
                </a:solidFill>
                <a:latin typeface="Aptos"/>
                <a:ea typeface="Aptos"/>
                <a:cs typeface="Aptos"/>
              </a:rPr>
              <a:t>• Inspect or summarize the current state.</a:t>
            </a:r>
          </a:p>
          <a:p>
            <a:pPr marL="0" indent="0" algn="l">
              <a:buNone/>
            </a:pPr>
            <a:r>
              <a:rPr sz="2025">
                <a:solidFill>
                  <a:srgbClr val="4B5563"/>
                </a:solidFill>
                <a:latin typeface="Aptos"/>
                <a:ea typeface="Aptos"/>
                <a:cs typeface="Aptos"/>
              </a:rPr>
              <a:t>• Compare specified alternatives.</a:t>
            </a:r>
          </a:p>
          <a:p>
            <a:pPr marL="0" indent="0" algn="l">
              <a:buNone/>
            </a:pPr>
            <a:r>
              <a:rPr sz="2025">
                <a:solidFill>
                  <a:srgbClr val="4B5563"/>
                </a:solidFill>
                <a:latin typeface="Aptos"/>
                <a:ea typeface="Aptos"/>
                <a:cs typeface="Aptos"/>
              </a:rPr>
              <a:t>• Generate a bounded code change.</a:t>
            </a:r>
          </a:p>
          <a:p>
            <a:pPr marL="0" indent="0" algn="l">
              <a:buNone/>
            </a:pPr>
            <a:r>
              <a:rPr sz="2025">
                <a:solidFill>
                  <a:srgbClr val="4B5563"/>
                </a:solidFill>
                <a:latin typeface="Aptos"/>
                <a:ea typeface="Aptos"/>
                <a:cs typeface="Aptos"/>
              </a:rPr>
              <a:t>• Diagnose a known error or unexpected result.</a:t>
            </a:r>
          </a:p>
          <a:p>
            <a:pPr marL="0" indent="0" algn="l">
              <a:buNone/>
            </a:pPr>
            <a:r>
              <a:rPr sz="2025">
                <a:solidFill>
                  <a:srgbClr val="4B5563"/>
                </a:solidFill>
                <a:latin typeface="Aptos"/>
                <a:ea typeface="Aptos"/>
                <a:cs typeface="Aptos"/>
              </a:rPr>
              <a:t>• Test an assumption with explicit checks.</a:t>
            </a:r>
          </a:p>
          <a:p>
            <a:pPr marL="0" indent="0" algn="l">
              <a:buNone/>
            </a:pPr>
            <a:r>
              <a:rPr sz="2025">
                <a:solidFill>
                  <a:srgbClr val="4B5563"/>
                </a:solidFill>
                <a:latin typeface="Aptos"/>
                <a:ea typeface="Aptos"/>
                <a:cs typeface="Aptos"/>
              </a:rPr>
              <a:t>• Critique or document an existing artifact.</a:t>
            </a:r>
          </a:p>
        </p:txBody>
      </p:sp>
    </p:spTree>
    <p:extLst>
      <p:ext uri="{BB962C8B-B14F-4D97-AF65-F5344CB8AC3E}">
        <p14:creationId xmlns:p14="http://schemas.microsoft.com/office/powerpoint/2010/main" val="789696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F2D4C16-27FF-48D2-BAEA-35BCB510C87D}"/>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5 | WRITE THE PROMPT</a:t>
            </a:r>
          </a:p>
        </p:txBody>
      </p:sp>
      <p:sp>
        <p:nvSpPr>
          <p:cNvPr id="3" name="Text 1">
            <a:extLst>
              <a:ext uri="{FF2B5EF4-FFF2-40B4-BE49-F238E27FC236}">
                <a16:creationId xmlns:a16="http://schemas.microsoft.com/office/drawing/2014/main" id="{02AF822C-F162-48C6-9E23-9D4A66EE0F2D}"/>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Constraints prevent silent divergence</a:t>
            </a:r>
          </a:p>
        </p:txBody>
      </p:sp>
      <p:sp>
        <p:nvSpPr>
          <p:cNvPr id="4" name="Shape 2">
            <a:extLst>
              <a:ext uri="{FF2B5EF4-FFF2-40B4-BE49-F238E27FC236}">
                <a16:creationId xmlns:a16="http://schemas.microsoft.com/office/drawing/2014/main" id="{65E5BDA3-E57F-40C9-A623-C54D46D4F66B}"/>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A39EEF24-D1C8-461B-A711-1040ED85CB41}"/>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5CCABDD1-1B70-47AE-B5CF-1FC6372AE6D8}"/>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1AD114A2-8593-4406-A70D-E3F4A444DC0D}"/>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18</a:t>
            </a:r>
          </a:p>
        </p:txBody>
      </p:sp>
      <p:sp>
        <p:nvSpPr>
          <p:cNvPr id="8" name="Text 6">
            <a:extLst>
              <a:ext uri="{FF2B5EF4-FFF2-40B4-BE49-F238E27FC236}">
                <a16:creationId xmlns:a16="http://schemas.microsoft.com/office/drawing/2014/main" id="{428830A0-568B-417F-A3D6-831291370153}"/>
              </a:ext>
            </a:extLst>
          </p:cNvPr>
          <p:cNvSpPr>
            <a:spLocks noGrp="1"/>
          </p:cNvSpPr>
          <p:nvPr/>
        </p:nvSpPr>
        <p:spPr>
          <a:xfrm>
            <a:off x="685800" y="1381125"/>
            <a:ext cx="10572750" cy="7810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Constraints establish the analytical and operational boundaries of the work.</a:t>
            </a:r>
          </a:p>
        </p:txBody>
      </p:sp>
      <p:sp>
        <p:nvSpPr>
          <p:cNvPr id="9" name="Text 7">
            <a:extLst>
              <a:ext uri="{FF2B5EF4-FFF2-40B4-BE49-F238E27FC236}">
                <a16:creationId xmlns:a16="http://schemas.microsoft.com/office/drawing/2014/main" id="{C356CC28-2D2B-4B41-8F44-B53FF8E9C5ED}"/>
              </a:ext>
            </a:extLst>
          </p:cNvPr>
          <p:cNvSpPr>
            <a:spLocks noGrp="1"/>
          </p:cNvSpPr>
          <p:nvPr/>
        </p:nvSpPr>
        <p:spPr>
          <a:xfrm>
            <a:off x="868680" y="2121408"/>
            <a:ext cx="4480560" cy="320040"/>
          </a:xfrm>
          <a:prstGeom prst="rect">
            <a:avLst/>
          </a:prstGeom>
          <a:noFill/>
        </p:spPr>
        <p:txBody>
          <a:bodyPr wrap="square" lIns="0" tIns="0" rIns="0" bIns="0" anchor="ctr">
            <a:noAutofit/>
          </a:bodyPr>
          <a:lstStyle/>
          <a:p>
            <a:pPr marL="0" indent="0">
              <a:buNone/>
            </a:pPr>
            <a:r>
              <a:rPr sz="1875" b="1">
                <a:solidFill>
                  <a:srgbClr val="0F766E"/>
                </a:solidFill>
                <a:latin typeface="Aptos Display"/>
                <a:ea typeface="Aptos Display"/>
                <a:cs typeface="Aptos Display"/>
              </a:rPr>
              <a:t>Analytical</a:t>
            </a:r>
          </a:p>
        </p:txBody>
      </p:sp>
      <p:sp>
        <p:nvSpPr>
          <p:cNvPr id="10" name="Text 8">
            <a:extLst>
              <a:ext uri="{FF2B5EF4-FFF2-40B4-BE49-F238E27FC236}">
                <a16:creationId xmlns:a16="http://schemas.microsoft.com/office/drawing/2014/main" id="{3EC355CB-A2C8-46E7-B872-413BDB05D5D9}"/>
              </a:ext>
            </a:extLst>
          </p:cNvPr>
          <p:cNvSpPr>
            <a:spLocks noGrp="1"/>
          </p:cNvSpPr>
          <p:nvPr/>
        </p:nvSpPr>
        <p:spPr>
          <a:xfrm>
            <a:off x="9144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Preserve chronological order</a:t>
            </a:r>
          </a:p>
          <a:p>
            <a:pPr marL="0" indent="0">
              <a:buNone/>
            </a:pPr>
            <a:r>
              <a:rPr sz="1950">
                <a:solidFill>
                  <a:srgbClr val="4B5563"/>
                </a:solidFill>
                <a:latin typeface="Aptos"/>
                <a:ea typeface="Aptos"/>
                <a:cs typeface="Aptos"/>
              </a:rPr>
              <a:t>• Do not impute without approval</a:t>
            </a:r>
          </a:p>
          <a:p>
            <a:pPr marL="0" indent="0">
              <a:buNone/>
            </a:pPr>
            <a:r>
              <a:rPr sz="1950">
                <a:solidFill>
                  <a:srgbClr val="4B5563"/>
                </a:solidFill>
                <a:latin typeface="Aptos"/>
                <a:ea typeface="Aptos"/>
                <a:cs typeface="Aptos"/>
              </a:rPr>
              <a:t>• Compare with a baseline</a:t>
            </a:r>
          </a:p>
          <a:p>
            <a:pPr marL="0" indent="0">
              <a:buNone/>
            </a:pPr>
            <a:r>
              <a:rPr sz="1950">
                <a:solidFill>
                  <a:srgbClr val="4B5563"/>
                </a:solidFill>
                <a:latin typeface="Aptos"/>
                <a:ea typeface="Aptos"/>
                <a:cs typeface="Aptos"/>
              </a:rPr>
              <a:t>• Do not change the target</a:t>
            </a:r>
          </a:p>
        </p:txBody>
      </p:sp>
      <p:sp>
        <p:nvSpPr>
          <p:cNvPr id="11" name="Shape 9">
            <a:extLst>
              <a:ext uri="{FF2B5EF4-FFF2-40B4-BE49-F238E27FC236}">
                <a16:creationId xmlns:a16="http://schemas.microsoft.com/office/drawing/2014/main" id="{9F45745F-3321-4366-B51A-35E1A7758C97}"/>
              </a:ext>
            </a:extLst>
          </p:cNvPr>
          <p:cNvSpPr>
            <a:spLocks noGrp="1"/>
          </p:cNvSpPr>
          <p:nvPr/>
        </p:nvSpPr>
        <p:spPr>
          <a:xfrm>
            <a:off x="5989320" y="2103120"/>
            <a:ext cx="0" cy="2697480"/>
          </a:xfrm>
          <a:prstGeom prst="line">
            <a:avLst/>
          </a:prstGeom>
          <a:noFill/>
          <a:ln w="19050">
            <a:solidFill>
              <a:srgbClr val="E5E7EB"/>
            </a:solidFill>
            <a:prstDash val="solid"/>
          </a:ln>
        </p:spPr>
        <p:txBody>
          <a:bodyPr/>
          <a:lstStyle/>
          <a:p>
            <a:endParaRPr/>
          </a:p>
        </p:txBody>
      </p:sp>
      <p:sp>
        <p:nvSpPr>
          <p:cNvPr id="12" name="Text 10">
            <a:extLst>
              <a:ext uri="{FF2B5EF4-FFF2-40B4-BE49-F238E27FC236}">
                <a16:creationId xmlns:a16="http://schemas.microsoft.com/office/drawing/2014/main" id="{A77C9C75-169B-48E3-9D35-7364461DDE23}"/>
              </a:ext>
            </a:extLst>
          </p:cNvPr>
          <p:cNvSpPr>
            <a:spLocks noGrp="1"/>
          </p:cNvSpPr>
          <p:nvPr/>
        </p:nvSpPr>
        <p:spPr>
          <a:xfrm>
            <a:off x="6629400" y="2121408"/>
            <a:ext cx="4480560" cy="320040"/>
          </a:xfrm>
          <a:prstGeom prst="rect">
            <a:avLst/>
          </a:prstGeom>
          <a:noFill/>
        </p:spPr>
        <p:txBody>
          <a:bodyPr wrap="square" lIns="0" tIns="0" rIns="0" bIns="0" anchor="ctr">
            <a:noAutofit/>
          </a:bodyPr>
          <a:lstStyle/>
          <a:p>
            <a:pPr marL="0" indent="0">
              <a:buNone/>
            </a:pPr>
            <a:r>
              <a:rPr sz="1875" b="1">
                <a:solidFill>
                  <a:srgbClr val="D97706"/>
                </a:solidFill>
                <a:latin typeface="Aptos Display"/>
                <a:ea typeface="Aptos Display"/>
                <a:cs typeface="Aptos Display"/>
              </a:rPr>
              <a:t>Operational</a:t>
            </a:r>
          </a:p>
        </p:txBody>
      </p:sp>
      <p:sp>
        <p:nvSpPr>
          <p:cNvPr id="13" name="Text 11">
            <a:extLst>
              <a:ext uri="{FF2B5EF4-FFF2-40B4-BE49-F238E27FC236}">
                <a16:creationId xmlns:a16="http://schemas.microsoft.com/office/drawing/2014/main" id="{DAFE9492-3C83-4D30-91E6-91331725D830}"/>
              </a:ext>
            </a:extLst>
          </p:cNvPr>
          <p:cNvSpPr>
            <a:spLocks noGrp="1"/>
          </p:cNvSpPr>
          <p:nvPr/>
        </p:nvSpPr>
        <p:spPr>
          <a:xfrm>
            <a:off x="66675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Use R only</a:t>
            </a:r>
          </a:p>
          <a:p>
            <a:pPr marL="0" indent="0">
              <a:buNone/>
            </a:pPr>
            <a:r>
              <a:rPr sz="1950">
                <a:solidFill>
                  <a:srgbClr val="4B5563"/>
                </a:solidFill>
                <a:latin typeface="Aptos"/>
                <a:ea typeface="Aptos"/>
                <a:cs typeface="Aptos"/>
              </a:rPr>
              <a:t>• Use approved packages</a:t>
            </a:r>
          </a:p>
          <a:p>
            <a:pPr marL="0" indent="0">
              <a:buNone/>
            </a:pPr>
            <a:r>
              <a:rPr sz="1950">
                <a:solidFill>
                  <a:srgbClr val="4B5563"/>
                </a:solidFill>
                <a:latin typeface="Aptos"/>
                <a:ea typeface="Aptos"/>
                <a:cs typeface="Aptos"/>
              </a:rPr>
              <a:t>• Modify one named file</a:t>
            </a:r>
          </a:p>
          <a:p>
            <a:pPr marL="0" indent="0">
              <a:buNone/>
            </a:pPr>
            <a:r>
              <a:rPr sz="1950">
                <a:solidFill>
                  <a:srgbClr val="4B5563"/>
                </a:solidFill>
                <a:latin typeface="Aptos"/>
                <a:ea typeface="Aptos"/>
                <a:cs typeface="Aptos"/>
              </a:rPr>
              <a:t>• Ask before restructuring</a:t>
            </a:r>
          </a:p>
        </p:txBody>
      </p:sp>
    </p:spTree>
    <p:extLst>
      <p:ext uri="{BB962C8B-B14F-4D97-AF65-F5344CB8AC3E}">
        <p14:creationId xmlns:p14="http://schemas.microsoft.com/office/powerpoint/2010/main" val="4700320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618DF0C-5BD4-434E-AA46-922ACDFBD529}"/>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5 | WRITE THE PROMPT</a:t>
            </a:r>
          </a:p>
        </p:txBody>
      </p:sp>
      <p:sp>
        <p:nvSpPr>
          <p:cNvPr id="3" name="Text 1">
            <a:extLst>
              <a:ext uri="{FF2B5EF4-FFF2-40B4-BE49-F238E27FC236}">
                <a16:creationId xmlns:a16="http://schemas.microsoft.com/office/drawing/2014/main" id="{5A37C886-51E4-405A-96B9-BCB3B3C1253F}"/>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Specify what should come back</a:t>
            </a:r>
          </a:p>
        </p:txBody>
      </p:sp>
      <p:sp>
        <p:nvSpPr>
          <p:cNvPr id="4" name="Shape 2">
            <a:extLst>
              <a:ext uri="{FF2B5EF4-FFF2-40B4-BE49-F238E27FC236}">
                <a16:creationId xmlns:a16="http://schemas.microsoft.com/office/drawing/2014/main" id="{1F08BCB7-DEC0-4767-B305-40FCE6140410}"/>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1E9C699D-0CE8-4778-BB02-D4957FB2C4FD}"/>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816A4A77-28B7-4A43-8C52-EC08816E7565}"/>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5B83AA6E-BDB6-4E92-9F95-31CE6F46DC96}"/>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19</a:t>
            </a:r>
          </a:p>
        </p:txBody>
      </p:sp>
      <p:sp>
        <p:nvSpPr>
          <p:cNvPr id="8" name="Text 6">
            <a:extLst>
              <a:ext uri="{FF2B5EF4-FFF2-40B4-BE49-F238E27FC236}">
                <a16:creationId xmlns:a16="http://schemas.microsoft.com/office/drawing/2014/main" id="{950D5D05-1A41-492C-BC0D-2D90A0967EA7}"/>
              </a:ext>
            </a:extLst>
          </p:cNvPr>
          <p:cNvSpPr>
            <a:spLocks noGrp="1"/>
          </p:cNvSpPr>
          <p:nvPr/>
        </p:nvSpPr>
        <p:spPr>
          <a:xfrm>
            <a:off x="685800" y="1381125"/>
            <a:ext cx="10572750" cy="7429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An output contract makes the result easier to inspect and compare.</a:t>
            </a:r>
          </a:p>
        </p:txBody>
      </p:sp>
      <p:sp>
        <p:nvSpPr>
          <p:cNvPr id="9" name="Text 7">
            <a:extLst>
              <a:ext uri="{FF2B5EF4-FFF2-40B4-BE49-F238E27FC236}">
                <a16:creationId xmlns:a16="http://schemas.microsoft.com/office/drawing/2014/main" id="{3CEA8992-98A0-4346-B2F0-7C3CDC782F10}"/>
              </a:ext>
            </a:extLst>
          </p:cNvPr>
          <p:cNvSpPr>
            <a:spLocks noGrp="1"/>
          </p:cNvSpPr>
          <p:nvPr/>
        </p:nvSpPr>
        <p:spPr>
          <a:xfrm>
            <a:off x="914400" y="2148840"/>
            <a:ext cx="2971800" cy="502920"/>
          </a:xfrm>
          <a:prstGeom prst="roundRect">
            <a:avLst/>
          </a:prstGeom>
          <a:solidFill>
            <a:srgbClr val="0B1F3A"/>
          </a:solidFill>
          <a:ln w="12700">
            <a:solidFill>
              <a:srgbClr val="0B1F3A"/>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Analysis</a:t>
            </a:r>
          </a:p>
        </p:txBody>
      </p:sp>
      <p:sp>
        <p:nvSpPr>
          <p:cNvPr id="10" name="Text 8">
            <a:extLst>
              <a:ext uri="{FF2B5EF4-FFF2-40B4-BE49-F238E27FC236}">
                <a16:creationId xmlns:a16="http://schemas.microsoft.com/office/drawing/2014/main" id="{7B58754E-EAE0-4C4F-BCE7-5D8F6C7A0F47}"/>
              </a:ext>
            </a:extLst>
          </p:cNvPr>
          <p:cNvSpPr>
            <a:spLocks noGrp="1"/>
          </p:cNvSpPr>
          <p:nvPr/>
        </p:nvSpPr>
        <p:spPr>
          <a:xfrm>
            <a:off x="96012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Prioritized issue table</a:t>
            </a:r>
          </a:p>
          <a:p>
            <a:pPr marL="0" indent="0">
              <a:buNone/>
            </a:pPr>
            <a:r>
              <a:rPr sz="1800">
                <a:solidFill>
                  <a:srgbClr val="4B5563"/>
                </a:solidFill>
                <a:latin typeface="Aptos"/>
                <a:ea typeface="Aptos"/>
                <a:cs typeface="Aptos"/>
              </a:rPr>
              <a:t>• Comparison table</a:t>
            </a:r>
          </a:p>
          <a:p>
            <a:pPr marL="0" indent="0">
              <a:buNone/>
            </a:pPr>
            <a:r>
              <a:rPr sz="1800">
                <a:solidFill>
                  <a:srgbClr val="4B5563"/>
                </a:solidFill>
                <a:latin typeface="Aptos"/>
                <a:ea typeface="Aptos"/>
                <a:cs typeface="Aptos"/>
              </a:rPr>
              <a:t>• Diagnostic summary</a:t>
            </a:r>
          </a:p>
        </p:txBody>
      </p:sp>
      <p:sp>
        <p:nvSpPr>
          <p:cNvPr id="11" name="Text 9">
            <a:extLst>
              <a:ext uri="{FF2B5EF4-FFF2-40B4-BE49-F238E27FC236}">
                <a16:creationId xmlns:a16="http://schemas.microsoft.com/office/drawing/2014/main" id="{D063DB01-4818-4080-8952-CB40BA3BF58E}"/>
              </a:ext>
            </a:extLst>
          </p:cNvPr>
          <p:cNvSpPr>
            <a:spLocks noGrp="1"/>
          </p:cNvSpPr>
          <p:nvPr/>
        </p:nvSpPr>
        <p:spPr>
          <a:xfrm>
            <a:off x="4617720" y="2148840"/>
            <a:ext cx="2971800" cy="502920"/>
          </a:xfrm>
          <a:prstGeom prst="roundRect">
            <a:avLst/>
          </a:prstGeom>
          <a:solidFill>
            <a:srgbClr val="2563EB"/>
          </a:solidFill>
          <a:ln w="12700">
            <a:solidFill>
              <a:srgbClr val="2563EB"/>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Code</a:t>
            </a:r>
          </a:p>
        </p:txBody>
      </p:sp>
      <p:sp>
        <p:nvSpPr>
          <p:cNvPr id="12" name="Text 10">
            <a:extLst>
              <a:ext uri="{FF2B5EF4-FFF2-40B4-BE49-F238E27FC236}">
                <a16:creationId xmlns:a16="http://schemas.microsoft.com/office/drawing/2014/main" id="{783349E2-8962-4B44-B2C3-E2E9C72B162C}"/>
              </a:ext>
            </a:extLst>
          </p:cNvPr>
          <p:cNvSpPr>
            <a:spLocks noGrp="1"/>
          </p:cNvSpPr>
          <p:nvPr/>
        </p:nvSpPr>
        <p:spPr>
          <a:xfrm>
            <a:off x="466344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Runnable R script</a:t>
            </a:r>
          </a:p>
          <a:p>
            <a:pPr marL="0" indent="0">
              <a:buNone/>
            </a:pPr>
            <a:r>
              <a:rPr sz="1800">
                <a:solidFill>
                  <a:srgbClr val="4B5563"/>
                </a:solidFill>
                <a:latin typeface="Aptos"/>
                <a:ea typeface="Aptos"/>
                <a:cs typeface="Aptos"/>
              </a:rPr>
              <a:t>• Proposed patch</a:t>
            </a:r>
          </a:p>
          <a:p>
            <a:pPr marL="0" indent="0">
              <a:buNone/>
            </a:pPr>
            <a:r>
              <a:rPr sz="1800">
                <a:solidFill>
                  <a:srgbClr val="4B5563"/>
                </a:solidFill>
                <a:latin typeface="Aptos"/>
                <a:ea typeface="Aptos"/>
                <a:cs typeface="Aptos"/>
              </a:rPr>
              <a:t>• Tests or assertions</a:t>
            </a:r>
          </a:p>
        </p:txBody>
      </p:sp>
      <p:sp>
        <p:nvSpPr>
          <p:cNvPr id="13" name="Text 11">
            <a:extLst>
              <a:ext uri="{FF2B5EF4-FFF2-40B4-BE49-F238E27FC236}">
                <a16:creationId xmlns:a16="http://schemas.microsoft.com/office/drawing/2014/main" id="{816DDD33-A1D6-4CA2-B599-F82168A9BCC0}"/>
              </a:ext>
            </a:extLst>
          </p:cNvPr>
          <p:cNvSpPr>
            <a:spLocks noGrp="1"/>
          </p:cNvSpPr>
          <p:nvPr/>
        </p:nvSpPr>
        <p:spPr>
          <a:xfrm>
            <a:off x="8321040" y="2148840"/>
            <a:ext cx="2971800" cy="502920"/>
          </a:xfrm>
          <a:prstGeom prst="roundRect">
            <a:avLst/>
          </a:prstGeom>
          <a:solidFill>
            <a:srgbClr val="0F766E"/>
          </a:solidFill>
          <a:ln w="12700">
            <a:solidFill>
              <a:srgbClr val="0F766E"/>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Communication</a:t>
            </a:r>
          </a:p>
        </p:txBody>
      </p:sp>
      <p:sp>
        <p:nvSpPr>
          <p:cNvPr id="14" name="Text 12">
            <a:extLst>
              <a:ext uri="{FF2B5EF4-FFF2-40B4-BE49-F238E27FC236}">
                <a16:creationId xmlns:a16="http://schemas.microsoft.com/office/drawing/2014/main" id="{1A8960F0-1618-4017-BBEA-71FC13C0AC62}"/>
              </a:ext>
            </a:extLst>
          </p:cNvPr>
          <p:cNvSpPr>
            <a:spLocks noGrp="1"/>
          </p:cNvSpPr>
          <p:nvPr/>
        </p:nvSpPr>
        <p:spPr>
          <a:xfrm>
            <a:off x="836676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Assumptions</a:t>
            </a:r>
          </a:p>
          <a:p>
            <a:pPr marL="0" indent="0">
              <a:buNone/>
            </a:pPr>
            <a:r>
              <a:rPr sz="1800">
                <a:solidFill>
                  <a:srgbClr val="4B5563"/>
                </a:solidFill>
                <a:latin typeface="Aptos"/>
                <a:ea typeface="Aptos"/>
                <a:cs typeface="Aptos"/>
              </a:rPr>
              <a:t>• Questions</a:t>
            </a:r>
          </a:p>
          <a:p>
            <a:pPr marL="0" indent="0">
              <a:buNone/>
            </a:pPr>
            <a:r>
              <a:rPr sz="1800">
                <a:solidFill>
                  <a:srgbClr val="4B5563"/>
                </a:solidFill>
                <a:latin typeface="Aptos"/>
                <a:ea typeface="Aptos"/>
                <a:cs typeface="Aptos"/>
              </a:rPr>
              <a:t>• Change summary</a:t>
            </a:r>
          </a:p>
        </p:txBody>
      </p:sp>
    </p:spTree>
    <p:extLst>
      <p:ext uri="{BB962C8B-B14F-4D97-AF65-F5344CB8AC3E}">
        <p14:creationId xmlns:p14="http://schemas.microsoft.com/office/powerpoint/2010/main" val="1569700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88E2E6-B5C3-4CD9-A71A-53472264BDB2}"/>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5 | WRITE THE PROMPT</a:t>
            </a:r>
          </a:p>
        </p:txBody>
      </p:sp>
      <p:sp>
        <p:nvSpPr>
          <p:cNvPr id="3" name="Text 1">
            <a:extLst>
              <a:ext uri="{FF2B5EF4-FFF2-40B4-BE49-F238E27FC236}">
                <a16:creationId xmlns:a16="http://schemas.microsoft.com/office/drawing/2014/main" id="{78FF4E60-9290-4945-BDE1-03DC4E0AA57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Build checking into the request</a:t>
            </a:r>
          </a:p>
        </p:txBody>
      </p:sp>
      <p:sp>
        <p:nvSpPr>
          <p:cNvPr id="4" name="Shape 2">
            <a:extLst>
              <a:ext uri="{FF2B5EF4-FFF2-40B4-BE49-F238E27FC236}">
                <a16:creationId xmlns:a16="http://schemas.microsoft.com/office/drawing/2014/main" id="{C4086BC4-09FA-47C0-A875-7F9829171D9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37606ECD-0CB4-4B4E-94EB-12C39735037D}"/>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258BE6DC-78A9-4267-B331-C8EC84C2D87D}"/>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AB6A3ECA-F7B1-48C0-BEC7-05865C27FE00}"/>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20</a:t>
            </a:r>
          </a:p>
        </p:txBody>
      </p:sp>
      <p:sp>
        <p:nvSpPr>
          <p:cNvPr id="8" name="Text 6">
            <a:extLst>
              <a:ext uri="{FF2B5EF4-FFF2-40B4-BE49-F238E27FC236}">
                <a16:creationId xmlns:a16="http://schemas.microsoft.com/office/drawing/2014/main" id="{3E1823B8-8F98-43E5-BF64-614155A53C1D}"/>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lgn="l">
              <a:buNone/>
            </a:pPr>
            <a:r>
              <a:rPr sz="2175" b="1">
                <a:solidFill>
                  <a:srgbClr val="0B1F3A"/>
                </a:solidFill>
                <a:latin typeface="Aptos Display"/>
                <a:ea typeface="Aptos Display"/>
                <a:cs typeface="Aptos Display"/>
              </a:rPr>
              <a:t>Verification should be part of the request, not an afterthought. A useful AI response reveals the assumptions it made and provides evidence a human can independently examine.</a:t>
            </a:r>
          </a:p>
        </p:txBody>
      </p:sp>
      <p:sp>
        <p:nvSpPr>
          <p:cNvPr id="10" name="Text 8">
            <a:extLst>
              <a:ext uri="{FF2B5EF4-FFF2-40B4-BE49-F238E27FC236}">
                <a16:creationId xmlns:a16="http://schemas.microsoft.com/office/drawing/2014/main" id="{D1664438-A86A-43A6-9ADA-F1CE4EB24C97}"/>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lgn="l">
              <a:buNone/>
            </a:pPr>
            <a:r>
              <a:rPr sz="1875">
                <a:solidFill>
                  <a:srgbClr val="4B5563"/>
                </a:solidFill>
                <a:latin typeface="Aptos"/>
                <a:ea typeface="Aptos"/>
                <a:cs typeface="Aptos"/>
              </a:rPr>
              <a:t>Request:</a:t>
            </a:r>
          </a:p>
          <a:p>
            <a:pPr marL="0" indent="0" algn="l">
              <a:buNone/>
            </a:pPr>
            <a:r>
              <a:rPr sz="1875">
                <a:solidFill>
                  <a:srgbClr val="4B5563"/>
                </a:solidFill>
                <a:latin typeface="Aptos"/>
                <a:ea typeface="Aptos"/>
                <a:cs typeface="Aptos"/>
              </a:rPr>
              <a:t>• Assumptions and unresolved questions.</a:t>
            </a:r>
          </a:p>
          <a:p>
            <a:pPr marL="0" indent="0" algn="l">
              <a:buNone/>
            </a:pPr>
            <a:r>
              <a:rPr sz="1875">
                <a:solidFill>
                  <a:srgbClr val="4B5563"/>
                </a:solidFill>
                <a:latin typeface="Aptos"/>
                <a:ea typeface="Aptos"/>
                <a:cs typeface="Aptos"/>
              </a:rPr>
              <a:t>• Tests, assertions, or diagnostic checks.</a:t>
            </a:r>
          </a:p>
          <a:p>
            <a:pPr marL="0" indent="0" algn="l">
              <a:buNone/>
            </a:pPr>
            <a:r>
              <a:rPr sz="1875">
                <a:solidFill>
                  <a:srgbClr val="4B5563"/>
                </a:solidFill>
                <a:latin typeface="Aptos"/>
                <a:ea typeface="Aptos"/>
                <a:cs typeface="Aptos"/>
              </a:rPr>
              <a:t>• Expected outputs or success conditions.</a:t>
            </a:r>
          </a:p>
          <a:p>
            <a:pPr marL="0" indent="0" algn="l">
              <a:buNone/>
            </a:pPr>
            <a:r>
              <a:rPr sz="1875">
                <a:solidFill>
                  <a:srgbClr val="4B5563"/>
                </a:solidFill>
                <a:latin typeface="Aptos"/>
                <a:ea typeface="Aptos"/>
                <a:cs typeface="Aptos"/>
              </a:rPr>
              <a:t>• Potential failure points and edge cases.</a:t>
            </a:r>
          </a:p>
          <a:p>
            <a:pPr marL="0" indent="0" algn="l">
              <a:buNone/>
            </a:pPr>
            <a:r>
              <a:rPr sz="1875">
                <a:solidFill>
                  <a:srgbClr val="4B5563"/>
                </a:solidFill>
                <a:latin typeface="Aptos"/>
                <a:ea typeface="Aptos"/>
                <a:cs typeface="Aptos"/>
              </a:rPr>
              <a:t>• Comparison with a simple baseline.</a:t>
            </a:r>
          </a:p>
          <a:p>
            <a:pPr marL="0" indent="0" algn="l">
              <a:buNone/>
            </a:pPr>
            <a:r>
              <a:rPr sz="1875">
                <a:solidFill>
                  <a:srgbClr val="4B5563"/>
                </a:solidFill>
                <a:latin typeface="Aptos"/>
                <a:ea typeface="Aptos"/>
                <a:cs typeface="Aptos"/>
              </a:rPr>
              <a:t>• A concise change summary tied to the request.</a:t>
            </a:r>
          </a:p>
        </p:txBody>
      </p:sp>
    </p:spTree>
    <p:extLst>
      <p:ext uri="{BB962C8B-B14F-4D97-AF65-F5344CB8AC3E}">
        <p14:creationId xmlns:p14="http://schemas.microsoft.com/office/powerpoint/2010/main" val="789696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DA491-FBC8-3C63-4730-644602482661}"/>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3EDB8D3C-24A8-DE19-C558-C942C277349F}"/>
              </a:ext>
            </a:extLst>
          </p:cNvPr>
          <p:cNvSpPr>
            <a:spLocks noGrp="1"/>
          </p:cNvSpPr>
          <p:nvPr/>
        </p:nvSpPr>
        <p:spPr>
          <a:xfrm>
            <a:off x="1098368" y="2504803"/>
            <a:ext cx="9995263" cy="1566454"/>
          </a:xfrm>
          <a:prstGeom prst="rect">
            <a:avLst/>
          </a:prstGeom>
          <a:noFill/>
        </p:spPr>
        <p:txBody>
          <a:bodyPr wrap="square" lIns="0" tIns="0" rIns="0" bIns="0" anchor="ctr">
            <a:normAutofit fontScale="97500"/>
          </a:bodyPr>
          <a:lstStyle/>
          <a:p>
            <a:pPr marL="0" indent="0" algn="ctr">
              <a:buNone/>
            </a:pPr>
            <a:r>
              <a:rPr lang="en-US" sz="4000" b="1" dirty="0">
                <a:solidFill>
                  <a:srgbClr val="102544"/>
                </a:solidFill>
                <a:latin typeface="Aptos Display"/>
                <a:ea typeface="Aptos Display"/>
                <a:cs typeface="Aptos Display"/>
              </a:rPr>
              <a:t>A Prompt Pipeline</a:t>
            </a:r>
            <a:endParaRPr sz="4000" b="1" dirty="0">
              <a:solidFill>
                <a:srgbClr val="102544"/>
              </a:solidFill>
              <a:latin typeface="Aptos Display"/>
              <a:ea typeface="Aptos Display"/>
              <a:cs typeface="Aptos Display"/>
            </a:endParaRPr>
          </a:p>
        </p:txBody>
      </p:sp>
    </p:spTree>
    <p:extLst>
      <p:ext uri="{BB962C8B-B14F-4D97-AF65-F5344CB8AC3E}">
        <p14:creationId xmlns:p14="http://schemas.microsoft.com/office/powerpoint/2010/main" val="2193374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CB1B94F-B0DD-48E9-9308-FB0919E984BA}"/>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6 | PROMPT THE PIPELINE</a:t>
            </a:r>
          </a:p>
        </p:txBody>
      </p:sp>
      <p:sp>
        <p:nvSpPr>
          <p:cNvPr id="3" name="Text 1">
            <a:extLst>
              <a:ext uri="{FF2B5EF4-FFF2-40B4-BE49-F238E27FC236}">
                <a16:creationId xmlns:a16="http://schemas.microsoft.com/office/drawing/2014/main" id="{FE11951C-0A4D-428E-B376-48F1D7259656}"/>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The mega-prompt hides decisions</a:t>
            </a:r>
          </a:p>
        </p:txBody>
      </p:sp>
      <p:sp>
        <p:nvSpPr>
          <p:cNvPr id="4" name="Shape 2">
            <a:extLst>
              <a:ext uri="{FF2B5EF4-FFF2-40B4-BE49-F238E27FC236}">
                <a16:creationId xmlns:a16="http://schemas.microsoft.com/office/drawing/2014/main" id="{C9B31650-08BB-4672-AC86-E7F7E74A2A6D}"/>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B8E18297-3D77-4103-A23D-3257A558569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4B21029-D08A-4F4A-BAD1-1564AE881A8A}"/>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0898AED7-D0E3-4B73-801B-A58AFE59F01B}"/>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21</a:t>
            </a:r>
          </a:p>
        </p:txBody>
      </p:sp>
      <p:sp>
        <p:nvSpPr>
          <p:cNvPr id="8" name="Text 6">
            <a:extLst>
              <a:ext uri="{FF2B5EF4-FFF2-40B4-BE49-F238E27FC236}">
                <a16:creationId xmlns:a16="http://schemas.microsoft.com/office/drawing/2014/main" id="{B8F73C76-A923-4BF8-A684-21A39477BB63}"/>
              </a:ext>
            </a:extLst>
          </p:cNvPr>
          <p:cNvSpPr>
            <a:spLocks noGrp="1"/>
          </p:cNvSpPr>
          <p:nvPr/>
        </p:nvSpPr>
        <p:spPr>
          <a:xfrm>
            <a:off x="685800" y="1381125"/>
            <a:ext cx="10572750" cy="68580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One request for the entire pipeline gives the AI too much implicit authority.</a:t>
            </a:r>
          </a:p>
        </p:txBody>
      </p:sp>
      <p:sp>
        <p:nvSpPr>
          <p:cNvPr id="9" name="Text 7">
            <a:extLst>
              <a:ext uri="{FF2B5EF4-FFF2-40B4-BE49-F238E27FC236}">
                <a16:creationId xmlns:a16="http://schemas.microsoft.com/office/drawing/2014/main" id="{A852AD4B-CF81-4997-855F-1E8321C91392}"/>
              </a:ext>
            </a:extLst>
          </p:cNvPr>
          <p:cNvSpPr>
            <a:spLocks noGrp="1"/>
          </p:cNvSpPr>
          <p:nvPr/>
        </p:nvSpPr>
        <p:spPr>
          <a:xfrm>
            <a:off x="819150" y="2143125"/>
            <a:ext cx="4762500" cy="285750"/>
          </a:xfrm>
          <a:prstGeom prst="rect">
            <a:avLst/>
          </a:prstGeom>
          <a:noFill/>
        </p:spPr>
        <p:txBody>
          <a:bodyPr wrap="square" lIns="0" tIns="0" rIns="0" bIns="0" anchor="ctr">
            <a:noAutofit/>
          </a:bodyPr>
          <a:lstStyle/>
          <a:p>
            <a:pPr marL="0" indent="0">
              <a:buNone/>
            </a:pPr>
            <a:r>
              <a:rPr sz="1800" b="1">
                <a:solidFill>
                  <a:srgbClr val="B91C1C"/>
                </a:solidFill>
                <a:latin typeface="Aptos"/>
                <a:ea typeface="Aptos"/>
                <a:cs typeface="Aptos"/>
              </a:rPr>
              <a:t>Too broad</a:t>
            </a:r>
          </a:p>
        </p:txBody>
      </p:sp>
      <p:sp>
        <p:nvSpPr>
          <p:cNvPr id="10" name="Text 8">
            <a:extLst>
              <a:ext uri="{FF2B5EF4-FFF2-40B4-BE49-F238E27FC236}">
                <a16:creationId xmlns:a16="http://schemas.microsoft.com/office/drawing/2014/main" id="{612E4FC2-31C0-454F-8896-DA44743AB69D}"/>
              </a:ext>
            </a:extLst>
          </p:cNvPr>
          <p:cNvSpPr>
            <a:spLocks noGrp="1"/>
          </p:cNvSpPr>
          <p:nvPr/>
        </p:nvSpPr>
        <p:spPr>
          <a:xfrm>
            <a:off x="819150" y="2533650"/>
            <a:ext cx="4762500" cy="1047750"/>
          </a:xfrm>
          <a:prstGeom prst="roundRect">
            <a:avLst/>
          </a:prstGeom>
          <a:solidFill>
            <a:srgbClr val="FEF2F2"/>
          </a:solidFill>
          <a:ln w="12700">
            <a:solidFill>
              <a:srgbClr val="FECACA"/>
            </a:solidFill>
          </a:ln>
        </p:spPr>
        <p:txBody>
          <a:bodyPr wrap="square" lIns="1905" tIns="1905" rIns="1905" bIns="1905" anchor="ctr">
            <a:noAutofit/>
          </a:bodyPr>
          <a:lstStyle/>
          <a:p>
            <a:pPr marL="0" indent="0" algn="ctr">
              <a:buNone/>
            </a:pPr>
            <a:r>
              <a:rPr sz="1800" b="1">
                <a:solidFill>
                  <a:srgbClr val="102544"/>
                </a:solidFill>
                <a:latin typeface="Aptos"/>
                <a:ea typeface="Aptos"/>
                <a:cs typeface="Aptos"/>
              </a:rPr>
              <a:t>“Clean the data, choose the best model, forecast the next month, and write the report.”</a:t>
            </a:r>
          </a:p>
        </p:txBody>
      </p:sp>
      <p:sp>
        <p:nvSpPr>
          <p:cNvPr id="11" name="Text 9">
            <a:extLst>
              <a:ext uri="{FF2B5EF4-FFF2-40B4-BE49-F238E27FC236}">
                <a16:creationId xmlns:a16="http://schemas.microsoft.com/office/drawing/2014/main" id="{3688C077-7201-4C2D-91E9-EBC2BA5BAAA8}"/>
              </a:ext>
            </a:extLst>
          </p:cNvPr>
          <p:cNvSpPr>
            <a:spLocks noGrp="1"/>
          </p:cNvSpPr>
          <p:nvPr/>
        </p:nvSpPr>
        <p:spPr>
          <a:xfrm>
            <a:off x="6191250" y="2143125"/>
            <a:ext cx="4857750" cy="285750"/>
          </a:xfrm>
          <a:prstGeom prst="rect">
            <a:avLst/>
          </a:prstGeom>
          <a:noFill/>
        </p:spPr>
        <p:txBody>
          <a:bodyPr wrap="square" lIns="0" tIns="0" rIns="0" bIns="0" anchor="ctr">
            <a:noAutofit/>
          </a:bodyPr>
          <a:lstStyle/>
          <a:p>
            <a:pPr marL="0" indent="0">
              <a:buNone/>
            </a:pPr>
            <a:r>
              <a:rPr sz="1800" b="1">
                <a:solidFill>
                  <a:srgbClr val="15803D"/>
                </a:solidFill>
                <a:latin typeface="Aptos"/>
                <a:ea typeface="Aptos"/>
                <a:cs typeface="Aptos"/>
              </a:rPr>
              <a:t>Better start</a:t>
            </a:r>
          </a:p>
        </p:txBody>
      </p:sp>
      <p:sp>
        <p:nvSpPr>
          <p:cNvPr id="12" name="Text 10">
            <a:extLst>
              <a:ext uri="{FF2B5EF4-FFF2-40B4-BE49-F238E27FC236}">
                <a16:creationId xmlns:a16="http://schemas.microsoft.com/office/drawing/2014/main" id="{6A19C4FB-8715-498A-A64C-113309930DAB}"/>
              </a:ext>
            </a:extLst>
          </p:cNvPr>
          <p:cNvSpPr>
            <a:spLocks noGrp="1"/>
          </p:cNvSpPr>
          <p:nvPr/>
        </p:nvSpPr>
        <p:spPr>
          <a:xfrm>
            <a:off x="6191250" y="2533650"/>
            <a:ext cx="4857750" cy="1047750"/>
          </a:xfrm>
          <a:prstGeom prst="roundRect">
            <a:avLst/>
          </a:prstGeom>
          <a:solidFill>
            <a:srgbClr val="F0FDFA"/>
          </a:solidFill>
          <a:ln w="12700">
            <a:solidFill>
              <a:srgbClr val="A7F3D0"/>
            </a:solidFill>
          </a:ln>
        </p:spPr>
        <p:txBody>
          <a:bodyPr wrap="square" lIns="2032" tIns="2032" rIns="2032" bIns="2032" anchor="ctr">
            <a:noAutofit/>
          </a:bodyPr>
          <a:lstStyle/>
          <a:p>
            <a:pPr marL="0" indent="0" algn="ctr">
              <a:buNone/>
            </a:pPr>
            <a:r>
              <a:rPr sz="1800">
                <a:solidFill>
                  <a:srgbClr val="102544"/>
                </a:solidFill>
                <a:latin typeface="Aptos"/>
                <a:ea typeface="Aptos"/>
                <a:cs typeface="Aptos"/>
              </a:rPr>
              <a:t>“Audit the dataset first. Do not modify data or build a model. Return issues, questions, and R checks.”</a:t>
            </a:r>
          </a:p>
        </p:txBody>
      </p:sp>
      <p:sp>
        <p:nvSpPr>
          <p:cNvPr id="13" name="Text 11">
            <a:extLst>
              <a:ext uri="{FF2B5EF4-FFF2-40B4-BE49-F238E27FC236}">
                <a16:creationId xmlns:a16="http://schemas.microsoft.com/office/drawing/2014/main" id="{30490A6E-A510-4ED7-8F9D-0DEF45E26F84}"/>
              </a:ext>
            </a:extLst>
          </p:cNvPr>
          <p:cNvSpPr>
            <a:spLocks noGrp="1"/>
          </p:cNvSpPr>
          <p:nvPr/>
        </p:nvSpPr>
        <p:spPr>
          <a:xfrm>
            <a:off x="914400" y="3943350"/>
            <a:ext cx="10287000" cy="323850"/>
          </a:xfrm>
          <a:prstGeom prst="rect">
            <a:avLst/>
          </a:prstGeom>
          <a:noFill/>
        </p:spPr>
        <p:txBody>
          <a:bodyPr wrap="square" lIns="0" tIns="0" rIns="0" bIns="0" anchor="ctr">
            <a:noAutofit/>
          </a:bodyPr>
          <a:lstStyle/>
          <a:p>
            <a:pPr marL="0" indent="0">
              <a:buNone/>
            </a:pPr>
            <a:r>
              <a:rPr sz="1800" b="1">
                <a:solidFill>
                  <a:srgbClr val="102544"/>
                </a:solidFill>
                <a:latin typeface="Aptos Display"/>
                <a:ea typeface="Aptos Display"/>
                <a:cs typeface="Aptos Display"/>
              </a:rPr>
              <a:t>Why stage it?</a:t>
            </a:r>
          </a:p>
        </p:txBody>
      </p:sp>
      <p:sp>
        <p:nvSpPr>
          <p:cNvPr id="14" name="Text 12">
            <a:extLst>
              <a:ext uri="{FF2B5EF4-FFF2-40B4-BE49-F238E27FC236}">
                <a16:creationId xmlns:a16="http://schemas.microsoft.com/office/drawing/2014/main" id="{B09B3644-909C-44A3-94C8-694EC7BA2B09}"/>
              </a:ext>
            </a:extLst>
          </p:cNvPr>
          <p:cNvSpPr>
            <a:spLocks noGrp="1"/>
          </p:cNvSpPr>
          <p:nvPr/>
        </p:nvSpPr>
        <p:spPr>
          <a:xfrm>
            <a:off x="914400" y="4362450"/>
            <a:ext cx="10287000" cy="495300"/>
          </a:xfrm>
          <a:prstGeom prst="rect">
            <a:avLst/>
          </a:prstGeom>
          <a:noFill/>
        </p:spPr>
        <p:txBody>
          <a:bodyPr wrap="square" lIns="0" tIns="0" rIns="0" bIns="0" anchor="ctr">
            <a:noAutofit/>
          </a:bodyPr>
          <a:lstStyle/>
          <a:p>
            <a:pPr marL="0" indent="0">
              <a:buNone/>
            </a:pPr>
            <a:r>
              <a:rPr sz="1800" b="1">
                <a:solidFill>
                  <a:srgbClr val="4B5563"/>
                </a:solidFill>
                <a:latin typeface="Aptos"/>
                <a:ea typeface="Aptos"/>
                <a:cs typeface="Aptos"/>
              </a:rPr>
              <a:t>Reviewable outputs • fewer hidden assumptions • easier recovery</a:t>
            </a:r>
          </a:p>
        </p:txBody>
      </p:sp>
      <p:sp>
        <p:nvSpPr>
          <p:cNvPr id="15" name="Text 13">
            <a:extLst>
              <a:ext uri="{FF2B5EF4-FFF2-40B4-BE49-F238E27FC236}">
                <a16:creationId xmlns:a16="http://schemas.microsoft.com/office/drawing/2014/main" id="{1421DEF8-D4FF-41EF-8A30-4E9E434B1655}"/>
              </a:ext>
            </a:extLst>
          </p:cNvPr>
          <p:cNvSpPr>
            <a:spLocks noGrp="1"/>
          </p:cNvSpPr>
          <p:nvPr/>
        </p:nvSpPr>
        <p:spPr>
          <a:xfrm>
            <a:off x="1000125" y="5429250"/>
            <a:ext cx="10191750" cy="552450"/>
          </a:xfrm>
          <a:prstGeom prst="rect">
            <a:avLst/>
          </a:prstGeom>
          <a:noFill/>
        </p:spPr>
        <p:txBody>
          <a:bodyPr wrap="square" lIns="0" tIns="0" rIns="0" bIns="0" anchor="ctr">
            <a:noAutofit/>
          </a:bodyPr>
          <a:lstStyle/>
          <a:p>
            <a:pPr marL="0" indent="0" algn="ctr">
              <a:buNone/>
            </a:pPr>
            <a:r>
              <a:rPr sz="1875" b="1">
                <a:solidFill>
                  <a:srgbClr val="2563EB"/>
                </a:solidFill>
                <a:latin typeface="Aptos"/>
                <a:ea typeface="Aptos"/>
                <a:cs typeface="Aptos"/>
              </a:rPr>
              <a:t>Prompt the pipeline through checkpoints.</a:t>
            </a:r>
          </a:p>
        </p:txBody>
      </p:sp>
    </p:spTree>
    <p:extLst>
      <p:ext uri="{BB962C8B-B14F-4D97-AF65-F5344CB8AC3E}">
        <p14:creationId xmlns:p14="http://schemas.microsoft.com/office/powerpoint/2010/main" val="1808381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88E2E6-B5C3-4CD9-A71A-53472264BDB2}"/>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6 | PROMPT THE PIPELINE</a:t>
            </a:r>
          </a:p>
        </p:txBody>
      </p:sp>
      <p:sp>
        <p:nvSpPr>
          <p:cNvPr id="3" name="Text 1">
            <a:extLst>
              <a:ext uri="{FF2B5EF4-FFF2-40B4-BE49-F238E27FC236}">
                <a16:creationId xmlns:a16="http://schemas.microsoft.com/office/drawing/2014/main" id="{78FF4E60-9290-4945-BDE1-03DC4E0AA57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Inspect before cleaning</a:t>
            </a:r>
          </a:p>
        </p:txBody>
      </p:sp>
      <p:sp>
        <p:nvSpPr>
          <p:cNvPr id="4" name="Shape 2">
            <a:extLst>
              <a:ext uri="{FF2B5EF4-FFF2-40B4-BE49-F238E27FC236}">
                <a16:creationId xmlns:a16="http://schemas.microsoft.com/office/drawing/2014/main" id="{C4086BC4-09FA-47C0-A875-7F9829171D9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37606ECD-0CB4-4B4E-94EB-12C39735037D}"/>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258BE6DC-78A9-4267-B331-C8EC84C2D87D}"/>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AB6A3ECA-F7B1-48C0-BEC7-05865C27FE00}"/>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22</a:t>
            </a:r>
          </a:p>
        </p:txBody>
      </p:sp>
      <p:sp>
        <p:nvSpPr>
          <p:cNvPr id="8" name="Text 6">
            <a:extLst>
              <a:ext uri="{FF2B5EF4-FFF2-40B4-BE49-F238E27FC236}">
                <a16:creationId xmlns:a16="http://schemas.microsoft.com/office/drawing/2014/main" id="{3E1823B8-8F98-43E5-BF64-614155A53C1D}"/>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lgn="l">
              <a:buNone/>
            </a:pPr>
            <a:r>
              <a:rPr sz="2175" b="1">
                <a:solidFill>
                  <a:srgbClr val="0B1F3A"/>
                </a:solidFill>
                <a:latin typeface="Aptos Display"/>
                <a:ea typeface="Aptos Display"/>
                <a:cs typeface="Aptos Display"/>
              </a:rPr>
              <a:t>Begin with diagnosis. Ask the AI to identify possible data problems and generate checks without giving it permission to rewrite the dataset or start modeling.</a:t>
            </a:r>
          </a:p>
        </p:txBody>
      </p:sp>
      <p:sp>
        <p:nvSpPr>
          <p:cNvPr id="10" name="Text 8">
            <a:extLst>
              <a:ext uri="{FF2B5EF4-FFF2-40B4-BE49-F238E27FC236}">
                <a16:creationId xmlns:a16="http://schemas.microsoft.com/office/drawing/2014/main" id="{D1664438-A86A-43A6-9ADA-F1CE4EB24C97}"/>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lgn="l">
              <a:buNone/>
            </a:pPr>
            <a:r>
              <a:rPr sz="1875">
                <a:solidFill>
                  <a:srgbClr val="4B5563"/>
                </a:solidFill>
                <a:latin typeface="Aptos"/>
                <a:ea typeface="Aptos"/>
                <a:cs typeface="Aptos"/>
              </a:rPr>
              <a:t>Ask it to examine missingness, duplicates, gaps in time, inconsistent locations, impossible values, and reporting artifacts. Require:</a:t>
            </a:r>
          </a:p>
          <a:p>
            <a:pPr marL="0" indent="0" algn="l">
              <a:buNone/>
            </a:pPr>
            <a:r>
              <a:rPr sz="1875">
                <a:solidFill>
                  <a:srgbClr val="4B5563"/>
                </a:solidFill>
                <a:latin typeface="Aptos"/>
                <a:ea typeface="Aptos"/>
                <a:cs typeface="Aptos"/>
              </a:rPr>
              <a:t>• A prioritized issue table.</a:t>
            </a:r>
          </a:p>
          <a:p>
            <a:pPr marL="0" indent="0" algn="l">
              <a:buNone/>
            </a:pPr>
            <a:r>
              <a:rPr sz="1875">
                <a:solidFill>
                  <a:srgbClr val="4B5563"/>
                </a:solidFill>
                <a:latin typeface="Aptos"/>
                <a:ea typeface="Aptos"/>
                <a:cs typeface="Aptos"/>
              </a:rPr>
              <a:t>• Questions that require human judgment.</a:t>
            </a:r>
          </a:p>
          <a:p>
            <a:pPr marL="0" indent="0" algn="l">
              <a:buNone/>
            </a:pPr>
            <a:r>
              <a:rPr sz="1875">
                <a:solidFill>
                  <a:srgbClr val="4B5563"/>
                </a:solidFill>
                <a:latin typeface="Aptos"/>
                <a:ea typeface="Aptos"/>
                <a:cs typeface="Aptos"/>
              </a:rPr>
              <a:t>• R code that verifies each suspected issue.</a:t>
            </a:r>
          </a:p>
          <a:p>
            <a:pPr marL="0" indent="0" algn="l">
              <a:buNone/>
            </a:pPr>
            <a:r>
              <a:rPr sz="1875">
                <a:solidFill>
                  <a:srgbClr val="4B5563"/>
                </a:solidFill>
                <a:latin typeface="Aptos"/>
                <a:ea typeface="Aptos"/>
                <a:cs typeface="Aptos"/>
              </a:rPr>
              <a:t>• No data modification and no model fitting.</a:t>
            </a:r>
          </a:p>
        </p:txBody>
      </p:sp>
    </p:spTree>
    <p:extLst>
      <p:ext uri="{BB962C8B-B14F-4D97-AF65-F5344CB8AC3E}">
        <p14:creationId xmlns:p14="http://schemas.microsoft.com/office/powerpoint/2010/main" val="7896968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88E2E6-B5C3-4CD9-A71A-53472264BDB2}"/>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6 | PROMPT THE PIPELINE</a:t>
            </a:r>
          </a:p>
        </p:txBody>
      </p:sp>
      <p:sp>
        <p:nvSpPr>
          <p:cNvPr id="3" name="Text 1">
            <a:extLst>
              <a:ext uri="{FF2B5EF4-FFF2-40B4-BE49-F238E27FC236}">
                <a16:creationId xmlns:a16="http://schemas.microsoft.com/office/drawing/2014/main" id="{78FF4E60-9290-4945-BDE1-03DC4E0AA57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Make cleaning decisions explicit</a:t>
            </a:r>
          </a:p>
        </p:txBody>
      </p:sp>
      <p:sp>
        <p:nvSpPr>
          <p:cNvPr id="4" name="Shape 2">
            <a:extLst>
              <a:ext uri="{FF2B5EF4-FFF2-40B4-BE49-F238E27FC236}">
                <a16:creationId xmlns:a16="http://schemas.microsoft.com/office/drawing/2014/main" id="{C4086BC4-09FA-47C0-A875-7F9829171D9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37606ECD-0CB4-4B4E-94EB-12C39735037D}"/>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258BE6DC-78A9-4267-B331-C8EC84C2D87D}"/>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AB6A3ECA-F7B1-48C0-BEC7-05865C27FE00}"/>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23</a:t>
            </a:r>
          </a:p>
        </p:txBody>
      </p:sp>
      <p:sp>
        <p:nvSpPr>
          <p:cNvPr id="8" name="Text 6">
            <a:extLst>
              <a:ext uri="{FF2B5EF4-FFF2-40B4-BE49-F238E27FC236}">
                <a16:creationId xmlns:a16="http://schemas.microsoft.com/office/drawing/2014/main" id="{3E1823B8-8F98-43E5-BF64-614155A53C1D}"/>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lgn="l">
              <a:buNone/>
            </a:pPr>
            <a:r>
              <a:rPr sz="2175" b="1">
                <a:solidFill>
                  <a:srgbClr val="0B1F3A"/>
                </a:solidFill>
                <a:latin typeface="Aptos Display"/>
                <a:ea typeface="Aptos Display"/>
                <a:cs typeface="Aptos Display"/>
              </a:rPr>
              <a:t>After the analyst approves specific decisions, the AI can implement them in code. The prompt should preserve raw data and make every transformation visible.</a:t>
            </a:r>
          </a:p>
        </p:txBody>
      </p:sp>
      <p:sp>
        <p:nvSpPr>
          <p:cNvPr id="10" name="Text 8">
            <a:extLst>
              <a:ext uri="{FF2B5EF4-FFF2-40B4-BE49-F238E27FC236}">
                <a16:creationId xmlns:a16="http://schemas.microsoft.com/office/drawing/2014/main" id="{D1664438-A86A-43A6-9ADA-F1CE4EB24C97}"/>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lgn="l">
              <a:buNone/>
            </a:pPr>
            <a:r>
              <a:rPr sz="1875">
                <a:solidFill>
                  <a:srgbClr val="4B5563"/>
                </a:solidFill>
                <a:latin typeface="Aptos"/>
                <a:ea typeface="Aptos"/>
                <a:cs typeface="Aptos"/>
              </a:rPr>
              <a:t>Require the code to:</a:t>
            </a:r>
          </a:p>
          <a:p>
            <a:pPr marL="0" indent="0" algn="l">
              <a:buNone/>
            </a:pPr>
            <a:r>
              <a:rPr sz="1875">
                <a:solidFill>
                  <a:srgbClr val="4B5563"/>
                </a:solidFill>
                <a:latin typeface="Aptos"/>
                <a:ea typeface="Aptos"/>
                <a:cs typeface="Aptos"/>
              </a:rPr>
              <a:t>• Implement only approved cleaning steps.</a:t>
            </a:r>
          </a:p>
          <a:p>
            <a:pPr marL="0" indent="0" algn="l">
              <a:buNone/>
            </a:pPr>
            <a:r>
              <a:rPr sz="1875">
                <a:solidFill>
                  <a:srgbClr val="4B5563"/>
                </a:solidFill>
                <a:latin typeface="Aptos"/>
                <a:ea typeface="Aptos"/>
                <a:cs typeface="Aptos"/>
              </a:rPr>
              <a:t>• Record row counts before and after each step.</a:t>
            </a:r>
          </a:p>
          <a:p>
            <a:pPr marL="0" indent="0" algn="l">
              <a:buNone/>
            </a:pPr>
            <a:r>
              <a:rPr sz="1875">
                <a:solidFill>
                  <a:srgbClr val="4B5563"/>
                </a:solidFill>
                <a:latin typeface="Aptos"/>
                <a:ea typeface="Aptos"/>
                <a:cs typeface="Aptos"/>
              </a:rPr>
              <a:t>• Report affected records and unexpected values.</a:t>
            </a:r>
          </a:p>
          <a:p>
            <a:pPr marL="0" indent="0" algn="l">
              <a:buNone/>
            </a:pPr>
            <a:r>
              <a:rPr sz="1875">
                <a:solidFill>
                  <a:srgbClr val="4B5563"/>
                </a:solidFill>
                <a:latin typeface="Aptos"/>
                <a:ea typeface="Aptos"/>
                <a:cs typeface="Aptos"/>
              </a:rPr>
              <a:t>• Flag unexplained observations instead of deleting them.</a:t>
            </a:r>
          </a:p>
          <a:p>
            <a:pPr marL="0" indent="0" algn="l">
              <a:buNone/>
            </a:pPr>
            <a:r>
              <a:rPr sz="1875">
                <a:solidFill>
                  <a:srgbClr val="4B5563"/>
                </a:solidFill>
                <a:latin typeface="Aptos"/>
                <a:ea typeface="Aptos"/>
                <a:cs typeface="Aptos"/>
              </a:rPr>
              <a:t>• Produce a concise transformation log.</a:t>
            </a:r>
          </a:p>
        </p:txBody>
      </p:sp>
    </p:spTree>
    <p:extLst>
      <p:ext uri="{BB962C8B-B14F-4D97-AF65-F5344CB8AC3E}">
        <p14:creationId xmlns:p14="http://schemas.microsoft.com/office/powerpoint/2010/main" val="789696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88E2E6-B5C3-4CD9-A71A-53472264BDB2}"/>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6 | PROMPT THE PIPELINE</a:t>
            </a:r>
          </a:p>
        </p:txBody>
      </p:sp>
      <p:sp>
        <p:nvSpPr>
          <p:cNvPr id="3" name="Text 1">
            <a:extLst>
              <a:ext uri="{FF2B5EF4-FFF2-40B4-BE49-F238E27FC236}">
                <a16:creationId xmlns:a16="http://schemas.microsoft.com/office/drawing/2014/main" id="{78FF4E60-9290-4945-BDE1-03DC4E0AA57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Describe patterns before explaining them</a:t>
            </a:r>
          </a:p>
        </p:txBody>
      </p:sp>
      <p:sp>
        <p:nvSpPr>
          <p:cNvPr id="4" name="Shape 2">
            <a:extLst>
              <a:ext uri="{FF2B5EF4-FFF2-40B4-BE49-F238E27FC236}">
                <a16:creationId xmlns:a16="http://schemas.microsoft.com/office/drawing/2014/main" id="{C4086BC4-09FA-47C0-A875-7F9829171D9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37606ECD-0CB4-4B4E-94EB-12C39735037D}"/>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258BE6DC-78A9-4267-B331-C8EC84C2D87D}"/>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AB6A3ECA-F7B1-48C0-BEC7-05865C27FE00}"/>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24</a:t>
            </a:r>
          </a:p>
        </p:txBody>
      </p:sp>
      <p:sp>
        <p:nvSpPr>
          <p:cNvPr id="8" name="Text 6">
            <a:extLst>
              <a:ext uri="{FF2B5EF4-FFF2-40B4-BE49-F238E27FC236}">
                <a16:creationId xmlns:a16="http://schemas.microsoft.com/office/drawing/2014/main" id="{3E1823B8-8F98-43E5-BF64-614155A53C1D}"/>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lgn="l">
              <a:buNone/>
            </a:pPr>
            <a:r>
              <a:rPr sz="2175" b="1">
                <a:solidFill>
                  <a:srgbClr val="0B1F3A"/>
                </a:solidFill>
                <a:latin typeface="Aptos Display"/>
                <a:ea typeface="Aptos Display"/>
                <a:cs typeface="Aptos Display"/>
              </a:rPr>
              <a:t>Use visualization to describe structure before asking the AI to explain it. Patterns in surveillance data may reflect disease dynamics, reporting processes, or both.</a:t>
            </a:r>
          </a:p>
        </p:txBody>
      </p:sp>
      <p:sp>
        <p:nvSpPr>
          <p:cNvPr id="10" name="Text 8">
            <a:extLst>
              <a:ext uri="{FF2B5EF4-FFF2-40B4-BE49-F238E27FC236}">
                <a16:creationId xmlns:a16="http://schemas.microsoft.com/office/drawing/2014/main" id="{D1664438-A86A-43A6-9ADA-F1CE4EB24C97}"/>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lgn="l">
              <a:buNone/>
            </a:pPr>
            <a:r>
              <a:rPr sz="1875">
                <a:solidFill>
                  <a:srgbClr val="4B5563"/>
                </a:solidFill>
                <a:latin typeface="Aptos"/>
                <a:ea typeface="Aptos"/>
                <a:cs typeface="Aptos"/>
              </a:rPr>
              <a:t>Ask for weekly case-count plots by location that:</a:t>
            </a:r>
          </a:p>
          <a:p>
            <a:pPr marL="0" indent="0" algn="l">
              <a:buNone/>
            </a:pPr>
            <a:r>
              <a:rPr sz="1875">
                <a:solidFill>
                  <a:srgbClr val="4B5563"/>
                </a:solidFill>
                <a:latin typeface="Aptos"/>
                <a:ea typeface="Aptos"/>
                <a:cs typeface="Aptos"/>
              </a:rPr>
              <a:t>• Preserve chronological order.</a:t>
            </a:r>
          </a:p>
          <a:p>
            <a:pPr marL="0" indent="0" algn="l">
              <a:buNone/>
            </a:pPr>
            <a:r>
              <a:rPr sz="1875">
                <a:solidFill>
                  <a:srgbClr val="4B5563"/>
                </a:solidFill>
                <a:latin typeface="Aptos"/>
                <a:ea typeface="Aptos"/>
                <a:cs typeface="Aptos"/>
              </a:rPr>
              <a:t>• Show missing reporting periods.</a:t>
            </a:r>
          </a:p>
          <a:p>
            <a:pPr marL="0" indent="0" algn="l">
              <a:buNone/>
            </a:pPr>
            <a:r>
              <a:rPr sz="1875">
                <a:solidFill>
                  <a:srgbClr val="4B5563"/>
                </a:solidFill>
                <a:latin typeface="Aptos"/>
                <a:ea typeface="Aptos"/>
                <a:cs typeface="Aptos"/>
              </a:rPr>
              <a:t>• Mark flagged or revised observations.</a:t>
            </a:r>
          </a:p>
          <a:p>
            <a:pPr marL="0" indent="0" algn="l">
              <a:buNone/>
            </a:pPr>
            <a:r>
              <a:rPr sz="1875">
                <a:solidFill>
                  <a:srgbClr val="4B5563"/>
                </a:solidFill>
                <a:latin typeface="Aptos"/>
                <a:ea typeface="Aptos"/>
                <a:cs typeface="Aptos"/>
              </a:rPr>
              <a:t>• Use consistent axes when comparison matters.</a:t>
            </a:r>
          </a:p>
          <a:p>
            <a:pPr marL="0" indent="0" algn="l">
              <a:buNone/>
            </a:pPr>
            <a:r>
              <a:rPr sz="1875">
                <a:solidFill>
                  <a:srgbClr val="4B5563"/>
                </a:solidFill>
                <a:latin typeface="Aptos"/>
                <a:ea typeface="Aptos"/>
                <a:cs typeface="Aptos"/>
              </a:rPr>
              <a:t>• Separate descriptive observations from causal interpretations.</a:t>
            </a:r>
          </a:p>
        </p:txBody>
      </p:sp>
    </p:spTree>
    <p:extLst>
      <p:ext uri="{BB962C8B-B14F-4D97-AF65-F5344CB8AC3E}">
        <p14:creationId xmlns:p14="http://schemas.microsoft.com/office/powerpoint/2010/main" val="789696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C4211FB-1917-4162-8220-5753F66CB8A7}"/>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6 | PROMPT THE PIPELINE</a:t>
            </a:r>
          </a:p>
        </p:txBody>
      </p:sp>
      <p:sp>
        <p:nvSpPr>
          <p:cNvPr id="3" name="Text 1">
            <a:extLst>
              <a:ext uri="{FF2B5EF4-FFF2-40B4-BE49-F238E27FC236}">
                <a16:creationId xmlns:a16="http://schemas.microsoft.com/office/drawing/2014/main" id="{77DB4C48-DBE5-4BB8-A7B1-CF7297E85AC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Ask the AI to critique the work</a:t>
            </a:r>
          </a:p>
        </p:txBody>
      </p:sp>
      <p:sp>
        <p:nvSpPr>
          <p:cNvPr id="4" name="Shape 2">
            <a:extLst>
              <a:ext uri="{FF2B5EF4-FFF2-40B4-BE49-F238E27FC236}">
                <a16:creationId xmlns:a16="http://schemas.microsoft.com/office/drawing/2014/main" id="{45D9E90F-BFCB-4937-9D5A-B673F122A16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EABD00BD-B65A-4A54-9396-F8A1CDEE05C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B47BA403-0925-4706-99A8-1FA5EDDD99AA}"/>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A7454052-E33B-4127-B280-D823EAC4E7ED}"/>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27</a:t>
            </a:r>
          </a:p>
        </p:txBody>
      </p:sp>
      <p:sp>
        <p:nvSpPr>
          <p:cNvPr id="8" name="Text 6">
            <a:extLst>
              <a:ext uri="{FF2B5EF4-FFF2-40B4-BE49-F238E27FC236}">
                <a16:creationId xmlns:a16="http://schemas.microsoft.com/office/drawing/2014/main" id="{CA5A622A-A277-4045-81AA-AA780795B0E6}"/>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lgn="l">
              <a:buNone/>
            </a:pPr>
            <a:r>
              <a:rPr sz="2175" b="1">
                <a:solidFill>
                  <a:srgbClr val="0B1F3A"/>
                </a:solidFill>
                <a:latin typeface="Aptos Display"/>
                <a:ea typeface="Aptos Display"/>
                <a:cs typeface="Aptos Display"/>
              </a:rPr>
              <a:t>Generation proposes a result; critique searches for reasons that result may fail. Asking for a separate critique changes the interaction from production to adversarial review.</a:t>
            </a:r>
          </a:p>
        </p:txBody>
      </p:sp>
      <p:sp>
        <p:nvSpPr>
          <p:cNvPr id="9" name="Text 7">
            <a:extLst>
              <a:ext uri="{FF2B5EF4-FFF2-40B4-BE49-F238E27FC236}">
                <a16:creationId xmlns:a16="http://schemas.microsoft.com/office/drawing/2014/main" id="{B2856600-C2A9-4DF6-B860-C308B3A13A16}"/>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lgn="l">
              <a:buNone/>
            </a:pPr>
            <a:r>
              <a:rPr sz="2025">
                <a:solidFill>
                  <a:srgbClr val="4B5563"/>
                </a:solidFill>
                <a:latin typeface="Aptos"/>
                <a:ea typeface="Aptos"/>
                <a:cs typeface="Aptos"/>
              </a:rPr>
              <a:t>• Check for future leakage and invalid time splits.</a:t>
            </a:r>
          </a:p>
          <a:p>
            <a:pPr marL="0" indent="0" algn="l">
              <a:buNone/>
            </a:pPr>
            <a:r>
              <a:rPr sz="2025">
                <a:solidFill>
                  <a:srgbClr val="4B5563"/>
                </a:solidFill>
                <a:latin typeface="Aptos"/>
                <a:ea typeface="Aptos"/>
                <a:cs typeface="Aptos"/>
              </a:rPr>
              <a:t>• Identify unjustified statistical or epidemiological assumptions.</a:t>
            </a:r>
          </a:p>
          <a:p>
            <a:pPr marL="0" indent="0" algn="l">
              <a:buNone/>
            </a:pPr>
            <a:r>
              <a:rPr sz="2025">
                <a:solidFill>
                  <a:srgbClr val="4B5563"/>
                </a:solidFill>
                <a:latin typeface="Aptos"/>
                <a:ea typeface="Aptos"/>
                <a:cs typeface="Aptos"/>
              </a:rPr>
              <a:t>• Flag implausible predictions and unstable behavior.</a:t>
            </a:r>
          </a:p>
          <a:p>
            <a:pPr marL="0" indent="0" algn="l">
              <a:buNone/>
            </a:pPr>
            <a:r>
              <a:rPr sz="2025">
                <a:solidFill>
                  <a:srgbClr val="4B5563"/>
                </a:solidFill>
                <a:latin typeface="Aptos"/>
                <a:ea typeface="Aptos"/>
                <a:cs typeface="Aptos"/>
              </a:rPr>
              <a:t>• Find conclusions that exceed the evidence.</a:t>
            </a:r>
          </a:p>
          <a:p>
            <a:pPr marL="0" indent="0" algn="l">
              <a:buNone/>
            </a:pPr>
            <a:r>
              <a:rPr sz="2025">
                <a:solidFill>
                  <a:srgbClr val="4B5563"/>
                </a:solidFill>
                <a:latin typeface="Aptos"/>
                <a:ea typeface="Aptos"/>
                <a:cs typeface="Aptos"/>
              </a:rPr>
              <a:t>• Prioritize issues by likely impact and propose specific checks.</a:t>
            </a:r>
          </a:p>
        </p:txBody>
      </p:sp>
      <p:sp>
        <p:nvSpPr>
          <p:cNvPr id="17" name="Text 15">
            <a:extLst>
              <a:ext uri="{FF2B5EF4-FFF2-40B4-BE49-F238E27FC236}">
                <a16:creationId xmlns:a16="http://schemas.microsoft.com/office/drawing/2014/main" id="{C7A8878C-82FB-4409-9CAD-76D20EC0E9D3}"/>
              </a:ext>
            </a:extLst>
          </p:cNvPr>
          <p:cNvSpPr>
            <a:spLocks noGrp="1"/>
          </p:cNvSpPr>
          <p:nvPr/>
        </p:nvSpPr>
        <p:spPr>
          <a:xfrm>
            <a:off x="1000125" y="5429250"/>
            <a:ext cx="10191750" cy="552450"/>
          </a:xfrm>
          <a:prstGeom prst="rect">
            <a:avLst/>
          </a:prstGeom>
          <a:noFill/>
        </p:spPr>
        <p:txBody>
          <a:bodyPr wrap="square" lIns="0" tIns="0" rIns="0" bIns="0" anchor="ctr">
            <a:noAutofit/>
          </a:bodyPr>
          <a:lstStyle/>
          <a:p>
            <a:pPr marL="0" indent="0" algn="ctr">
              <a:buNone/>
            </a:pPr>
            <a:r>
              <a:rPr sz="1875" b="1">
                <a:solidFill>
                  <a:srgbClr val="2563EB"/>
                </a:solidFill>
                <a:latin typeface="Aptos Display"/>
                <a:ea typeface="Aptos Display"/>
                <a:cs typeface="Aptos Display"/>
              </a:rPr>
              <a:t>A critique is evidence for the next human review—not proof that the work is wrong.</a:t>
            </a:r>
          </a:p>
        </p:txBody>
      </p:sp>
    </p:spTree>
    <p:extLst>
      <p:ext uri="{BB962C8B-B14F-4D97-AF65-F5344CB8AC3E}">
        <p14:creationId xmlns:p14="http://schemas.microsoft.com/office/powerpoint/2010/main" val="457371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231B83F-542A-4833-BB6D-00E7D31179CB}"/>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TAKEAWAY</a:t>
            </a:r>
          </a:p>
        </p:txBody>
      </p:sp>
      <p:sp>
        <p:nvSpPr>
          <p:cNvPr id="3" name="Text 1">
            <a:extLst>
              <a:ext uri="{FF2B5EF4-FFF2-40B4-BE49-F238E27FC236}">
                <a16:creationId xmlns:a16="http://schemas.microsoft.com/office/drawing/2014/main" id="{662419A2-9142-4BD5-B1E5-DB9FD4505C96}"/>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Before you send a prompt</a:t>
            </a:r>
          </a:p>
        </p:txBody>
      </p:sp>
      <p:sp>
        <p:nvSpPr>
          <p:cNvPr id="4" name="Shape 2">
            <a:extLst>
              <a:ext uri="{FF2B5EF4-FFF2-40B4-BE49-F238E27FC236}">
                <a16:creationId xmlns:a16="http://schemas.microsoft.com/office/drawing/2014/main" id="{810DDF12-4300-46B8-9CBD-FD87555DDAB8}"/>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1C32BF2B-5C3E-444D-8C33-735A8AE727CE}"/>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60AC152C-CB97-45A3-94CB-9C1588DFB07C}"/>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Prompting for AI-Assisted Analysis • Nathan J. McNeese</a:t>
            </a:r>
          </a:p>
        </p:txBody>
      </p:sp>
      <p:sp>
        <p:nvSpPr>
          <p:cNvPr id="7" name="Text 5">
            <a:extLst>
              <a:ext uri="{FF2B5EF4-FFF2-40B4-BE49-F238E27FC236}">
                <a16:creationId xmlns:a16="http://schemas.microsoft.com/office/drawing/2014/main" id="{77752B30-DC4C-45DF-AF7C-878689C210A1}"/>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28</a:t>
            </a:r>
          </a:p>
        </p:txBody>
      </p:sp>
      <p:sp>
        <p:nvSpPr>
          <p:cNvPr id="8" name="Text 6">
            <a:extLst>
              <a:ext uri="{FF2B5EF4-FFF2-40B4-BE49-F238E27FC236}">
                <a16:creationId xmlns:a16="http://schemas.microsoft.com/office/drawing/2014/main" id="{89152ABF-8799-4FC7-A6D6-E64EA88E6DFB}"/>
              </a:ext>
            </a:extLst>
          </p:cNvPr>
          <p:cNvSpPr>
            <a:spLocks noGrp="1"/>
          </p:cNvSpPr>
          <p:nvPr/>
        </p:nvSpPr>
        <p:spPr>
          <a:xfrm>
            <a:off x="752475" y="1381125"/>
            <a:ext cx="10287000" cy="857250"/>
          </a:xfrm>
          <a:prstGeom prst="rect">
            <a:avLst/>
          </a:prstGeom>
          <a:noFill/>
        </p:spPr>
        <p:txBody>
          <a:bodyPr wrap="square" lIns="0" tIns="0" rIns="0" bIns="0" anchor="ctr">
            <a:noAutofit/>
          </a:bodyPr>
          <a:lstStyle/>
          <a:p>
            <a:pPr marL="0" indent="0" algn="ctr">
              <a:buNone/>
            </a:pPr>
            <a:r>
              <a:rPr sz="2175" b="1">
                <a:solidFill>
                  <a:srgbClr val="0B1F3A"/>
                </a:solidFill>
                <a:latin typeface="Aptos Display"/>
                <a:ea typeface="Aptos Display"/>
                <a:cs typeface="Aptos Display"/>
              </a:rPr>
              <a:t>Clear prompts create bounded outputs that humans can run, inspect, and improve.</a:t>
            </a:r>
          </a:p>
        </p:txBody>
      </p:sp>
      <p:sp>
        <p:nvSpPr>
          <p:cNvPr id="9" name="Shape 7">
            <a:extLst>
              <a:ext uri="{FF2B5EF4-FFF2-40B4-BE49-F238E27FC236}">
                <a16:creationId xmlns:a16="http://schemas.microsoft.com/office/drawing/2014/main" id="{73B7F666-6B8F-4653-9360-0C284541E1D7}"/>
              </a:ext>
            </a:extLst>
          </p:cNvPr>
          <p:cNvSpPr>
            <a:spLocks noGrp="1"/>
          </p:cNvSpPr>
          <p:nvPr/>
        </p:nvSpPr>
        <p:spPr>
          <a:xfrm>
            <a:off x="2852928" y="3054096"/>
            <a:ext cx="713232" cy="0"/>
          </a:xfrm>
          <a:prstGeom prst="line">
            <a:avLst/>
          </a:prstGeom>
          <a:noFill/>
          <a:ln w="31750">
            <a:solidFill>
              <a:srgbClr val="2563EB"/>
            </a:solidFill>
            <a:prstDash val="solid"/>
            <a:headEnd type="none"/>
            <a:tailEnd type="triangle"/>
          </a:ln>
        </p:spPr>
        <p:txBody>
          <a:bodyPr/>
          <a:lstStyle/>
          <a:p>
            <a:endParaRPr/>
          </a:p>
        </p:txBody>
      </p:sp>
      <p:sp>
        <p:nvSpPr>
          <p:cNvPr id="10" name="Shape 8">
            <a:extLst>
              <a:ext uri="{FF2B5EF4-FFF2-40B4-BE49-F238E27FC236}">
                <a16:creationId xmlns:a16="http://schemas.microsoft.com/office/drawing/2014/main" id="{9A4F4289-F5AC-48D1-85A7-2F619A4C026E}"/>
              </a:ext>
            </a:extLst>
          </p:cNvPr>
          <p:cNvSpPr>
            <a:spLocks noGrp="1"/>
          </p:cNvSpPr>
          <p:nvPr/>
        </p:nvSpPr>
        <p:spPr>
          <a:xfrm>
            <a:off x="5074920" y="3054096"/>
            <a:ext cx="713232" cy="0"/>
          </a:xfrm>
          <a:prstGeom prst="line">
            <a:avLst/>
          </a:prstGeom>
          <a:noFill/>
          <a:ln w="31750">
            <a:solidFill>
              <a:srgbClr val="2563EB"/>
            </a:solidFill>
            <a:prstDash val="solid"/>
            <a:headEnd type="none"/>
            <a:tailEnd type="triangle"/>
          </a:ln>
        </p:spPr>
        <p:txBody>
          <a:bodyPr/>
          <a:lstStyle/>
          <a:p>
            <a:endParaRPr/>
          </a:p>
        </p:txBody>
      </p:sp>
      <p:sp>
        <p:nvSpPr>
          <p:cNvPr id="11" name="Shape 9">
            <a:extLst>
              <a:ext uri="{FF2B5EF4-FFF2-40B4-BE49-F238E27FC236}">
                <a16:creationId xmlns:a16="http://schemas.microsoft.com/office/drawing/2014/main" id="{83B71F56-5161-4715-983C-ECEE72DBDB6C}"/>
              </a:ext>
            </a:extLst>
          </p:cNvPr>
          <p:cNvSpPr>
            <a:spLocks noGrp="1"/>
          </p:cNvSpPr>
          <p:nvPr/>
        </p:nvSpPr>
        <p:spPr>
          <a:xfrm>
            <a:off x="7296912" y="3054096"/>
            <a:ext cx="713232" cy="0"/>
          </a:xfrm>
          <a:prstGeom prst="line">
            <a:avLst/>
          </a:prstGeom>
          <a:noFill/>
          <a:ln w="31750">
            <a:solidFill>
              <a:srgbClr val="2563EB"/>
            </a:solidFill>
            <a:prstDash val="solid"/>
            <a:headEnd type="none"/>
            <a:tailEnd type="triangle"/>
          </a:ln>
        </p:spPr>
        <p:txBody>
          <a:bodyPr/>
          <a:lstStyle/>
          <a:p>
            <a:endParaRPr/>
          </a:p>
        </p:txBody>
      </p:sp>
      <p:sp>
        <p:nvSpPr>
          <p:cNvPr id="12" name="Text 10">
            <a:extLst>
              <a:ext uri="{FF2B5EF4-FFF2-40B4-BE49-F238E27FC236}">
                <a16:creationId xmlns:a16="http://schemas.microsoft.com/office/drawing/2014/main" id="{933AA9A9-9BDB-41AC-B313-832EAFF6D678}"/>
              </a:ext>
            </a:extLst>
          </p:cNvPr>
          <p:cNvSpPr>
            <a:spLocks noGrp="1"/>
          </p:cNvSpPr>
          <p:nvPr/>
        </p:nvSpPr>
        <p:spPr>
          <a:xfrm>
            <a:off x="1143000" y="2587752"/>
            <a:ext cx="1600200" cy="914400"/>
          </a:xfrm>
          <a:prstGeom prst="roundRect">
            <a:avLst/>
          </a:prstGeom>
          <a:solidFill>
            <a:srgbClr val="0B1F3A"/>
          </a:solidFill>
          <a:ln w="12700">
            <a:solidFill>
              <a:srgbClr val="0B1F3A"/>
            </a:solidFill>
          </a:ln>
        </p:spPr>
        <p:txBody>
          <a:bodyPr wrap="square" lIns="1905" tIns="1905" rIns="1905" bIns="1905" anchor="ctr">
            <a:normAutofit/>
          </a:bodyPr>
          <a:lstStyle/>
          <a:p>
            <a:pPr marL="0" indent="0" algn="ctr">
              <a:buNone/>
            </a:pPr>
            <a:r>
              <a:rPr sz="2600" b="1">
                <a:solidFill>
                  <a:srgbClr val="FFFFFF"/>
                </a:solidFill>
                <a:latin typeface="Aptos"/>
                <a:ea typeface="Aptos"/>
                <a:cs typeface="Aptos"/>
              </a:rPr>
              <a:t>Goal</a:t>
            </a:r>
          </a:p>
        </p:txBody>
      </p:sp>
      <p:sp>
        <p:nvSpPr>
          <p:cNvPr id="13" name="Text 11">
            <a:extLst>
              <a:ext uri="{FF2B5EF4-FFF2-40B4-BE49-F238E27FC236}">
                <a16:creationId xmlns:a16="http://schemas.microsoft.com/office/drawing/2014/main" id="{B42DEF6E-E81C-4F0B-B54F-2CB0CFCF4B10}"/>
              </a:ext>
            </a:extLst>
          </p:cNvPr>
          <p:cNvSpPr>
            <a:spLocks noGrp="1"/>
          </p:cNvSpPr>
          <p:nvPr/>
        </p:nvSpPr>
        <p:spPr>
          <a:xfrm>
            <a:off x="3611880" y="2587752"/>
            <a:ext cx="1600200" cy="914400"/>
          </a:xfrm>
          <a:prstGeom prst="roundRect">
            <a:avLst/>
          </a:prstGeom>
          <a:solidFill>
            <a:srgbClr val="2563EB"/>
          </a:solidFill>
          <a:ln w="12700">
            <a:solidFill>
              <a:srgbClr val="2563EB"/>
            </a:solidFill>
          </a:ln>
        </p:spPr>
        <p:txBody>
          <a:bodyPr wrap="square" lIns="1905" tIns="1905" rIns="1905" bIns="1905" anchor="ctr">
            <a:normAutofit/>
          </a:bodyPr>
          <a:lstStyle/>
          <a:p>
            <a:pPr marL="0" indent="0" algn="ctr">
              <a:buNone/>
            </a:pPr>
            <a:r>
              <a:rPr sz="2600" b="1">
                <a:solidFill>
                  <a:srgbClr val="FFFFFF"/>
                </a:solidFill>
                <a:latin typeface="Aptos"/>
                <a:ea typeface="Aptos"/>
                <a:cs typeface="Aptos"/>
              </a:rPr>
              <a:t>Context</a:t>
            </a:r>
          </a:p>
        </p:txBody>
      </p:sp>
      <p:sp>
        <p:nvSpPr>
          <p:cNvPr id="14" name="Text 12">
            <a:extLst>
              <a:ext uri="{FF2B5EF4-FFF2-40B4-BE49-F238E27FC236}">
                <a16:creationId xmlns:a16="http://schemas.microsoft.com/office/drawing/2014/main" id="{BBFFEC81-FC26-4167-8A9D-2301775D1F8D}"/>
              </a:ext>
            </a:extLst>
          </p:cNvPr>
          <p:cNvSpPr>
            <a:spLocks noGrp="1"/>
          </p:cNvSpPr>
          <p:nvPr/>
        </p:nvSpPr>
        <p:spPr>
          <a:xfrm>
            <a:off x="6080760" y="2587752"/>
            <a:ext cx="1600200" cy="914400"/>
          </a:xfrm>
          <a:prstGeom prst="roundRect">
            <a:avLst/>
          </a:prstGeom>
          <a:solidFill>
            <a:srgbClr val="D97706"/>
          </a:solidFill>
          <a:ln w="12700">
            <a:solidFill>
              <a:srgbClr val="D97706"/>
            </a:solidFill>
          </a:ln>
        </p:spPr>
        <p:txBody>
          <a:bodyPr wrap="square" lIns="1905" tIns="1905" rIns="1905" bIns="1905" anchor="ctr">
            <a:normAutofit/>
          </a:bodyPr>
          <a:lstStyle/>
          <a:p>
            <a:pPr marL="0" indent="0" algn="ctr">
              <a:buNone/>
            </a:pPr>
            <a:r>
              <a:rPr sz="2600" b="1">
                <a:solidFill>
                  <a:srgbClr val="FFFFFF"/>
                </a:solidFill>
                <a:latin typeface="Aptos"/>
                <a:ea typeface="Aptos"/>
                <a:cs typeface="Aptos"/>
              </a:rPr>
              <a:t>Task</a:t>
            </a:r>
          </a:p>
        </p:txBody>
      </p:sp>
      <p:sp>
        <p:nvSpPr>
          <p:cNvPr id="15" name="Text 13">
            <a:extLst>
              <a:ext uri="{FF2B5EF4-FFF2-40B4-BE49-F238E27FC236}">
                <a16:creationId xmlns:a16="http://schemas.microsoft.com/office/drawing/2014/main" id="{9A59432C-0E59-4DBC-87F9-E5CFFC8EEF63}"/>
              </a:ext>
            </a:extLst>
          </p:cNvPr>
          <p:cNvSpPr>
            <a:spLocks noGrp="1"/>
          </p:cNvSpPr>
          <p:nvPr/>
        </p:nvSpPr>
        <p:spPr>
          <a:xfrm>
            <a:off x="8549640" y="2587752"/>
            <a:ext cx="1600200" cy="914400"/>
          </a:xfrm>
          <a:prstGeom prst="roundRect">
            <a:avLst/>
          </a:prstGeom>
          <a:solidFill>
            <a:srgbClr val="0F766E"/>
          </a:solidFill>
          <a:ln w="12700">
            <a:solidFill>
              <a:srgbClr val="0F766E"/>
            </a:solidFill>
          </a:ln>
        </p:spPr>
        <p:txBody>
          <a:bodyPr wrap="square" lIns="1905" tIns="1905" rIns="1905" bIns="1905" anchor="ctr">
            <a:normAutofit/>
          </a:bodyPr>
          <a:lstStyle/>
          <a:p>
            <a:pPr marL="0" indent="0" algn="ctr">
              <a:buNone/>
            </a:pPr>
            <a:r>
              <a:rPr sz="2600" b="1">
                <a:solidFill>
                  <a:srgbClr val="FFFFFF"/>
                </a:solidFill>
                <a:latin typeface="Aptos"/>
                <a:ea typeface="Aptos"/>
                <a:cs typeface="Aptos"/>
              </a:rPr>
              <a:t>Check</a:t>
            </a:r>
          </a:p>
        </p:txBody>
      </p:sp>
      <p:sp>
        <p:nvSpPr>
          <p:cNvPr id="16" name="Text 14">
            <a:extLst>
              <a:ext uri="{FF2B5EF4-FFF2-40B4-BE49-F238E27FC236}">
                <a16:creationId xmlns:a16="http://schemas.microsoft.com/office/drawing/2014/main" id="{45BFC762-50F0-4384-86AE-FC52D076C77F}"/>
              </a:ext>
            </a:extLst>
          </p:cNvPr>
          <p:cNvSpPr>
            <a:spLocks noGrp="1"/>
          </p:cNvSpPr>
          <p:nvPr/>
        </p:nvSpPr>
        <p:spPr>
          <a:xfrm>
            <a:off x="1114425" y="3810000"/>
            <a:ext cx="9925050" cy="876300"/>
          </a:xfrm>
          <a:prstGeom prst="rect">
            <a:avLst/>
          </a:prstGeom>
          <a:noFill/>
        </p:spPr>
        <p:txBody>
          <a:bodyPr wrap="square" lIns="0" tIns="0" rIns="0" bIns="0" anchor="ctr">
            <a:noAutofit/>
          </a:bodyPr>
          <a:lstStyle/>
          <a:p>
            <a:pPr marL="0" indent="0" algn="ctr">
              <a:buNone/>
            </a:pPr>
            <a:r>
              <a:rPr sz="2100" b="1">
                <a:solidFill>
                  <a:srgbClr val="2563EB"/>
                </a:solidFill>
                <a:latin typeface="Aptos Display"/>
                <a:ea typeface="Aptos Display"/>
                <a:cs typeface="Aptos Display"/>
              </a:rPr>
              <a:t>A prompt is a coordination move: ask for the next piece of work—not an unreviewed final analysis.</a:t>
            </a:r>
          </a:p>
        </p:txBody>
      </p:sp>
    </p:spTree>
    <p:extLst>
      <p:ext uri="{BB962C8B-B14F-4D97-AF65-F5344CB8AC3E}">
        <p14:creationId xmlns:p14="http://schemas.microsoft.com/office/powerpoint/2010/main" val="1240388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2278</Words>
  <Application>Microsoft Office PowerPoint</Application>
  <DocSecurity>0</DocSecurity>
  <PresentationFormat>Widescreen</PresentationFormat>
  <Paragraphs>325</Paragraphs>
  <Slides>30</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Amanda Marie Bleichrodt</cp:lastModifiedBy>
  <cp:revision>3</cp:revision>
  <dcterms:created xsi:type="dcterms:W3CDTF">2026-07-20T18:04:08Z</dcterms:created>
  <dcterms:modified xsi:type="dcterms:W3CDTF">2026-07-23T11:20:57Z</dcterms:modified>
</cp:coreProperties>
</file>