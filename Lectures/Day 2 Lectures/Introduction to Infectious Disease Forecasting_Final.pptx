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9"/>
  </p:notesMasterIdLst>
  <p:sldIdLst>
    <p:sldId id="322" r:id="rId2"/>
    <p:sldId id="379" r:id="rId3"/>
    <p:sldId id="417" r:id="rId4"/>
    <p:sldId id="438" r:id="rId5"/>
    <p:sldId id="454" r:id="rId6"/>
    <p:sldId id="327" r:id="rId7"/>
    <p:sldId id="332" r:id="rId8"/>
    <p:sldId id="330" r:id="rId9"/>
    <p:sldId id="408" r:id="rId10"/>
    <p:sldId id="407" r:id="rId11"/>
    <p:sldId id="308" r:id="rId12"/>
    <p:sldId id="283" r:id="rId13"/>
    <p:sldId id="282" r:id="rId14"/>
    <p:sldId id="284" r:id="rId15"/>
    <p:sldId id="306" r:id="rId16"/>
    <p:sldId id="290" r:id="rId17"/>
    <p:sldId id="273" r:id="rId18"/>
    <p:sldId id="286" r:id="rId19"/>
    <p:sldId id="292" r:id="rId20"/>
    <p:sldId id="287" r:id="rId21"/>
    <p:sldId id="291" r:id="rId22"/>
    <p:sldId id="416" r:id="rId23"/>
    <p:sldId id="460" r:id="rId24"/>
    <p:sldId id="385" r:id="rId25"/>
    <p:sldId id="288" r:id="rId26"/>
    <p:sldId id="366" r:id="rId27"/>
    <p:sldId id="367" r:id="rId28"/>
    <p:sldId id="289" r:id="rId29"/>
    <p:sldId id="368" r:id="rId30"/>
    <p:sldId id="298" r:id="rId31"/>
    <p:sldId id="371" r:id="rId32"/>
    <p:sldId id="386" r:id="rId33"/>
    <p:sldId id="393" r:id="rId34"/>
    <p:sldId id="399" r:id="rId35"/>
    <p:sldId id="397" r:id="rId36"/>
    <p:sldId id="411" r:id="rId37"/>
    <p:sldId id="389" r:id="rId38"/>
    <p:sldId id="387" r:id="rId39"/>
    <p:sldId id="359" r:id="rId40"/>
    <p:sldId id="360" r:id="rId41"/>
    <p:sldId id="455" r:id="rId42"/>
    <p:sldId id="257" r:id="rId43"/>
    <p:sldId id="258" r:id="rId44"/>
    <p:sldId id="260" r:id="rId45"/>
    <p:sldId id="259" r:id="rId46"/>
    <p:sldId id="261" r:id="rId47"/>
    <p:sldId id="456" r:id="rId48"/>
    <p:sldId id="262" r:id="rId49"/>
    <p:sldId id="264" r:id="rId50"/>
    <p:sldId id="265" r:id="rId51"/>
    <p:sldId id="266" r:id="rId52"/>
    <p:sldId id="267" r:id="rId53"/>
    <p:sldId id="268" r:id="rId54"/>
    <p:sldId id="269" r:id="rId55"/>
    <p:sldId id="270" r:id="rId56"/>
    <p:sldId id="271" r:id="rId57"/>
    <p:sldId id="272" r:id="rId58"/>
    <p:sldId id="457" r:id="rId59"/>
    <p:sldId id="274" r:id="rId60"/>
    <p:sldId id="275" r:id="rId61"/>
    <p:sldId id="276" r:id="rId62"/>
    <p:sldId id="277" r:id="rId63"/>
    <p:sldId id="503" r:id="rId64"/>
    <p:sldId id="388" r:id="rId65"/>
    <p:sldId id="256" r:id="rId66"/>
    <p:sldId id="413" r:id="rId67"/>
    <p:sldId id="426" r:id="rId68"/>
    <p:sldId id="427" r:id="rId69"/>
    <p:sldId id="446" r:id="rId70"/>
    <p:sldId id="447" r:id="rId71"/>
    <p:sldId id="443" r:id="rId72"/>
    <p:sldId id="441" r:id="rId73"/>
    <p:sldId id="439" r:id="rId74"/>
    <p:sldId id="501" r:id="rId75"/>
    <p:sldId id="369" r:id="rId76"/>
    <p:sldId id="342" r:id="rId77"/>
    <p:sldId id="343" r:id="rId78"/>
    <p:sldId id="347" r:id="rId79"/>
    <p:sldId id="506" r:id="rId80"/>
    <p:sldId id="344" r:id="rId81"/>
    <p:sldId id="453" r:id="rId82"/>
    <p:sldId id="451" r:id="rId83"/>
    <p:sldId id="452" r:id="rId84"/>
    <p:sldId id="263" r:id="rId85"/>
    <p:sldId id="394" r:id="rId86"/>
    <p:sldId id="431" r:id="rId87"/>
    <p:sldId id="374" r:id="rId88"/>
    <p:sldId id="433" r:id="rId89"/>
    <p:sldId id="384" r:id="rId90"/>
    <p:sldId id="432" r:id="rId91"/>
    <p:sldId id="296" r:id="rId92"/>
    <p:sldId id="434" r:id="rId93"/>
    <p:sldId id="400" r:id="rId94"/>
    <p:sldId id="442" r:id="rId95"/>
    <p:sldId id="496" r:id="rId96"/>
    <p:sldId id="500" r:id="rId97"/>
    <p:sldId id="498" r:id="rId98"/>
  </p:sldIdLst>
  <p:sldSz cx="12192000" cy="6858000"/>
  <p:notesSz cx="6858000" cy="9144000"/>
  <p:custDataLst>
    <p:tags r:id="rId10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AA0743-5379-4AE7-BE0D-8C344EA01FB6}">
          <p14:sldIdLst>
            <p14:sldId id="322"/>
            <p14:sldId id="379"/>
            <p14:sldId id="417"/>
            <p14:sldId id="438"/>
            <p14:sldId id="454"/>
            <p14:sldId id="327"/>
            <p14:sldId id="332"/>
            <p14:sldId id="330"/>
            <p14:sldId id="408"/>
            <p14:sldId id="407"/>
            <p14:sldId id="308"/>
            <p14:sldId id="283"/>
            <p14:sldId id="282"/>
            <p14:sldId id="284"/>
            <p14:sldId id="306"/>
            <p14:sldId id="290"/>
            <p14:sldId id="273"/>
            <p14:sldId id="286"/>
            <p14:sldId id="292"/>
            <p14:sldId id="287"/>
            <p14:sldId id="291"/>
            <p14:sldId id="416"/>
            <p14:sldId id="460"/>
            <p14:sldId id="385"/>
            <p14:sldId id="288"/>
            <p14:sldId id="366"/>
            <p14:sldId id="367"/>
            <p14:sldId id="289"/>
            <p14:sldId id="368"/>
            <p14:sldId id="298"/>
            <p14:sldId id="371"/>
            <p14:sldId id="386"/>
            <p14:sldId id="393"/>
            <p14:sldId id="399"/>
            <p14:sldId id="397"/>
            <p14:sldId id="411"/>
            <p14:sldId id="389"/>
            <p14:sldId id="387"/>
            <p14:sldId id="359"/>
            <p14:sldId id="360"/>
            <p14:sldId id="455"/>
            <p14:sldId id="257"/>
            <p14:sldId id="258"/>
            <p14:sldId id="260"/>
            <p14:sldId id="259"/>
            <p14:sldId id="261"/>
            <p14:sldId id="456"/>
            <p14:sldId id="262"/>
            <p14:sldId id="264"/>
            <p14:sldId id="265"/>
            <p14:sldId id="266"/>
            <p14:sldId id="267"/>
            <p14:sldId id="268"/>
            <p14:sldId id="269"/>
            <p14:sldId id="270"/>
            <p14:sldId id="271"/>
            <p14:sldId id="272"/>
            <p14:sldId id="457"/>
            <p14:sldId id="274"/>
            <p14:sldId id="275"/>
            <p14:sldId id="276"/>
            <p14:sldId id="277"/>
            <p14:sldId id="503"/>
            <p14:sldId id="388"/>
            <p14:sldId id="256"/>
            <p14:sldId id="413"/>
            <p14:sldId id="426"/>
            <p14:sldId id="427"/>
            <p14:sldId id="446"/>
            <p14:sldId id="447"/>
            <p14:sldId id="443"/>
            <p14:sldId id="441"/>
            <p14:sldId id="439"/>
            <p14:sldId id="501"/>
            <p14:sldId id="369"/>
            <p14:sldId id="342"/>
            <p14:sldId id="343"/>
            <p14:sldId id="347"/>
            <p14:sldId id="506"/>
            <p14:sldId id="344"/>
            <p14:sldId id="453"/>
            <p14:sldId id="451"/>
            <p14:sldId id="452"/>
            <p14:sldId id="263"/>
            <p14:sldId id="394"/>
            <p14:sldId id="431"/>
            <p14:sldId id="374"/>
            <p14:sldId id="433"/>
            <p14:sldId id="384"/>
            <p14:sldId id="432"/>
            <p14:sldId id="296"/>
            <p14:sldId id="434"/>
            <p14:sldId id="400"/>
            <p14:sldId id="442"/>
            <p14:sldId id="496"/>
            <p14:sldId id="500"/>
            <p14:sldId id="49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6C4015D-EE80-06D2-95E5-7825F31D5675}" name="ambleic@clemson.edu" initials="a" userId="ambleic@clemson.edu" providerId="None"/>
  <p188:author id="{8F4D9EE3-5BA7-BCCF-2EB5-008D195D4C9E}" name="Amanda Marie Bleichrodt" initials="AB" userId="S::ambleic@clemson.edu::10970ca1-4de1-4e93-809d-2ecd43a52f50" providerId="AD"/>
  <p188:author id="{A20629F7-5A47-5B8E-9C4B-3A9098474FDE}" name="Lior Rennert" initials="LR" userId="Lior Rennert"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0ED"/>
    <a:srgbClr val="FEEFE5"/>
    <a:srgbClr val="F56600"/>
    <a:srgbClr val="341C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05941B-F019-4E9D-9096-D12707373BD9}" v="96" dt="2026-07-21T15:36:04.454"/>
    <p1510:client id="{7841BD59-AAD8-4FE7-B5D6-FAD9C48861A7}" v="2" dt="2026-07-21T00:37:19.856"/>
    <p1510:client id="{835FF0D5-EAD7-42A5-9439-3F647B1989D1}" v="553" dt="2026-07-20T17:28:44.083"/>
    <p1510:client id="{D3972984-F507-4035-9511-8A26405E64A8}" v="264" dt="2026-07-21T14:55:50.9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77482" autoAdjust="0"/>
  </p:normalViewPr>
  <p:slideViewPr>
    <p:cSldViewPr snapToGrid="0">
      <p:cViewPr varScale="1">
        <p:scale>
          <a:sx n="60" d="100"/>
          <a:sy n="60" d="100"/>
        </p:scale>
        <p:origin x="178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8/10/relationships/authors" Target="author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gs" Target="tags/tag1.xml"/><Relationship Id="rId105"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5F4B9ABB-DEB5-4DC3-A8F9-1752A2D02C85}"/>
    <pc:docChg chg="undo custSel addSld delSld modSld sldOrd modSection">
      <pc:chgData name="ambleic@clemson.edu" userId="43615028507_tp_box_2" providerId="OAuth2" clId="{5F4B9ABB-DEB5-4DC3-A8F9-1752A2D02C85}" dt="2026-07-21T15:36:04.453" v="2124" actId="20577"/>
      <pc:docMkLst>
        <pc:docMk/>
      </pc:docMkLst>
      <pc:sldChg chg="modSp mod">
        <pc:chgData name="ambleic@clemson.edu" userId="43615028507_tp_box_2" providerId="OAuth2" clId="{5F4B9ABB-DEB5-4DC3-A8F9-1752A2D02C85}" dt="2026-07-21T15:18:12.977" v="2101" actId="20577"/>
        <pc:sldMkLst>
          <pc:docMk/>
          <pc:sldMk cId="0" sldId="258"/>
        </pc:sldMkLst>
        <pc:spChg chg="mod">
          <ac:chgData name="ambleic@clemson.edu" userId="43615028507_tp_box_2" providerId="OAuth2" clId="{5F4B9ABB-DEB5-4DC3-A8F9-1752A2D02C85}" dt="2026-07-21T15:18:12.977" v="2101" actId="20577"/>
          <ac:spMkLst>
            <pc:docMk/>
            <pc:sldMk cId="0" sldId="258"/>
            <ac:spMk id="17" creationId="{00000000-0000-0000-0000-000000000000}"/>
          </ac:spMkLst>
        </pc:spChg>
      </pc:sldChg>
      <pc:sldChg chg="modSp mod">
        <pc:chgData name="ambleic@clemson.edu" userId="43615028507_tp_box_2" providerId="OAuth2" clId="{5F4B9ABB-DEB5-4DC3-A8F9-1752A2D02C85}" dt="2026-07-21T15:17:34.178" v="2099" actId="20577"/>
        <pc:sldMkLst>
          <pc:docMk/>
          <pc:sldMk cId="554237080" sldId="288"/>
        </pc:sldMkLst>
        <pc:spChg chg="mod">
          <ac:chgData name="ambleic@clemson.edu" userId="43615028507_tp_box_2" providerId="OAuth2" clId="{5F4B9ABB-DEB5-4DC3-A8F9-1752A2D02C85}" dt="2026-07-21T15:17:34.178" v="2099" actId="20577"/>
          <ac:spMkLst>
            <pc:docMk/>
            <pc:sldMk cId="554237080" sldId="288"/>
            <ac:spMk id="2" creationId="{E4A2BA0A-56BD-0723-4B79-7511193D39F3}"/>
          </ac:spMkLst>
        </pc:spChg>
      </pc:sldChg>
      <pc:sldChg chg="modSp mod">
        <pc:chgData name="ambleic@clemson.edu" userId="43615028507_tp_box_2" providerId="OAuth2" clId="{5F4B9ABB-DEB5-4DC3-A8F9-1752A2D02C85}" dt="2026-07-21T15:12:27.465" v="2006" actId="20577"/>
        <pc:sldMkLst>
          <pc:docMk/>
          <pc:sldMk cId="3253996616" sldId="296"/>
        </pc:sldMkLst>
        <pc:graphicFrameChg chg="modGraphic">
          <ac:chgData name="ambleic@clemson.edu" userId="43615028507_tp_box_2" providerId="OAuth2" clId="{5F4B9ABB-DEB5-4DC3-A8F9-1752A2D02C85}" dt="2026-07-21T15:12:27.465" v="2006" actId="20577"/>
          <ac:graphicFrameMkLst>
            <pc:docMk/>
            <pc:sldMk cId="3253996616" sldId="296"/>
            <ac:graphicFrameMk id="2" creationId="{5E13C1FA-2BC1-AD91-BA33-739149CF3CC8}"/>
          </ac:graphicFrameMkLst>
        </pc:graphicFrameChg>
      </pc:sldChg>
      <pc:sldChg chg="delSp modSp mod">
        <pc:chgData name="ambleic@clemson.edu" userId="43615028507_tp_box_2" providerId="OAuth2" clId="{5F4B9ABB-DEB5-4DC3-A8F9-1752A2D02C85}" dt="2026-07-21T15:14:26.051" v="2080" actId="20577"/>
        <pc:sldMkLst>
          <pc:docMk/>
          <pc:sldMk cId="1903396107" sldId="330"/>
        </pc:sldMkLst>
        <pc:spChg chg="mod">
          <ac:chgData name="ambleic@clemson.edu" userId="43615028507_tp_box_2" providerId="OAuth2" clId="{5F4B9ABB-DEB5-4DC3-A8F9-1752A2D02C85}" dt="2026-07-20T23:38:06.250" v="104" actId="1035"/>
          <ac:spMkLst>
            <pc:docMk/>
            <pc:sldMk cId="1903396107" sldId="330"/>
            <ac:spMk id="2" creationId="{1BA5CC68-18A6-6F25-7344-79FCC1B4B138}"/>
          </ac:spMkLst>
        </pc:spChg>
        <pc:spChg chg="mod">
          <ac:chgData name="ambleic@clemson.edu" userId="43615028507_tp_box_2" providerId="OAuth2" clId="{5F4B9ABB-DEB5-4DC3-A8F9-1752A2D02C85}" dt="2026-07-21T15:14:26.051" v="2080" actId="20577"/>
          <ac:spMkLst>
            <pc:docMk/>
            <pc:sldMk cId="1903396107" sldId="330"/>
            <ac:spMk id="3" creationId="{514EA8F7-B2F2-3E28-53CA-506461120204}"/>
          </ac:spMkLst>
        </pc:spChg>
        <pc:spChg chg="del">
          <ac:chgData name="ambleic@clemson.edu" userId="43615028507_tp_box_2" providerId="OAuth2" clId="{5F4B9ABB-DEB5-4DC3-A8F9-1752A2D02C85}" dt="2026-07-20T23:34:57.142" v="59" actId="478"/>
          <ac:spMkLst>
            <pc:docMk/>
            <pc:sldMk cId="1903396107" sldId="330"/>
            <ac:spMk id="4" creationId="{B2D51489-C137-4D9A-80A1-E04491F50CAB}"/>
          </ac:spMkLst>
        </pc:spChg>
      </pc:sldChg>
      <pc:sldChg chg="delSp modSp mod">
        <pc:chgData name="ambleic@clemson.edu" userId="43615028507_tp_box_2" providerId="OAuth2" clId="{5F4B9ABB-DEB5-4DC3-A8F9-1752A2D02C85}" dt="2026-07-21T15:16:00.711" v="2090" actId="20577"/>
        <pc:sldMkLst>
          <pc:docMk/>
          <pc:sldMk cId="3778907503" sldId="332"/>
        </pc:sldMkLst>
        <pc:spChg chg="mod">
          <ac:chgData name="ambleic@clemson.edu" userId="43615028507_tp_box_2" providerId="OAuth2" clId="{5F4B9ABB-DEB5-4DC3-A8F9-1752A2D02C85}" dt="2026-07-20T23:34:31.506" v="58" actId="1036"/>
          <ac:spMkLst>
            <pc:docMk/>
            <pc:sldMk cId="3778907503" sldId="332"/>
            <ac:spMk id="2" creationId="{EB19A9A4-EFCD-B9BC-9BBC-33FC10194206}"/>
          </ac:spMkLst>
        </pc:spChg>
        <pc:spChg chg="mod ord">
          <ac:chgData name="ambleic@clemson.edu" userId="43615028507_tp_box_2" providerId="OAuth2" clId="{5F4B9ABB-DEB5-4DC3-A8F9-1752A2D02C85}" dt="2026-07-20T23:34:15.346" v="48" actId="1036"/>
          <ac:spMkLst>
            <pc:docMk/>
            <pc:sldMk cId="3778907503" sldId="332"/>
            <ac:spMk id="3" creationId="{E7C3B20A-3946-A573-8C45-A09425EF8DE1}"/>
          </ac:spMkLst>
        </pc:spChg>
        <pc:spChg chg="del">
          <ac:chgData name="ambleic@clemson.edu" userId="43615028507_tp_box_2" providerId="OAuth2" clId="{5F4B9ABB-DEB5-4DC3-A8F9-1752A2D02C85}" dt="2026-07-20T23:34:05.933" v="33" actId="478"/>
          <ac:spMkLst>
            <pc:docMk/>
            <pc:sldMk cId="3778907503" sldId="332"/>
            <ac:spMk id="4" creationId="{A8F8CA47-1EDA-45DA-A5D4-544B9044D4DC}"/>
          </ac:spMkLst>
        </pc:spChg>
        <pc:spChg chg="mod">
          <ac:chgData name="ambleic@clemson.edu" userId="43615028507_tp_box_2" providerId="OAuth2" clId="{5F4B9ABB-DEB5-4DC3-A8F9-1752A2D02C85}" dt="2026-07-20T23:34:15.346" v="48" actId="1036"/>
          <ac:spMkLst>
            <pc:docMk/>
            <pc:sldMk cId="3778907503" sldId="332"/>
            <ac:spMk id="5" creationId="{630B9CC4-9269-4A8A-8D6D-75DEB9C72A41}"/>
          </ac:spMkLst>
        </pc:spChg>
        <pc:spChg chg="mod">
          <ac:chgData name="ambleic@clemson.edu" userId="43615028507_tp_box_2" providerId="OAuth2" clId="{5F4B9ABB-DEB5-4DC3-A8F9-1752A2D02C85}" dt="2026-07-20T23:34:15.346" v="48" actId="1036"/>
          <ac:spMkLst>
            <pc:docMk/>
            <pc:sldMk cId="3778907503" sldId="332"/>
            <ac:spMk id="6" creationId="{3DEC222C-0B47-47BD-BEA3-8364BBBF9977}"/>
          </ac:spMkLst>
        </pc:spChg>
        <pc:spChg chg="mod">
          <ac:chgData name="ambleic@clemson.edu" userId="43615028507_tp_box_2" providerId="OAuth2" clId="{5F4B9ABB-DEB5-4DC3-A8F9-1752A2D02C85}" dt="2026-07-21T15:16:00.711" v="2090" actId="20577"/>
          <ac:spMkLst>
            <pc:docMk/>
            <pc:sldMk cId="3778907503" sldId="332"/>
            <ac:spMk id="7" creationId="{9D664F50-2749-4A04-B653-7B6E5117316C}"/>
          </ac:spMkLst>
        </pc:spChg>
      </pc:sldChg>
      <pc:sldChg chg="modSp mod">
        <pc:chgData name="ambleic@clemson.edu" userId="43615028507_tp_box_2" providerId="OAuth2" clId="{5F4B9ABB-DEB5-4DC3-A8F9-1752A2D02C85}" dt="2026-07-21T15:16:49.277" v="2092" actId="20577"/>
        <pc:sldMkLst>
          <pc:docMk/>
          <pc:sldMk cId="1603142617" sldId="344"/>
        </pc:sldMkLst>
        <pc:spChg chg="mod">
          <ac:chgData name="ambleic@clemson.edu" userId="43615028507_tp_box_2" providerId="OAuth2" clId="{5F4B9ABB-DEB5-4DC3-A8F9-1752A2D02C85}" dt="2026-07-21T15:16:49.277" v="2092" actId="20577"/>
          <ac:spMkLst>
            <pc:docMk/>
            <pc:sldMk cId="1603142617" sldId="344"/>
            <ac:spMk id="2" creationId="{25719309-7AFB-F4AD-6839-6F0C4A16718C}"/>
          </ac:spMkLst>
        </pc:spChg>
      </pc:sldChg>
      <pc:sldChg chg="modSp">
        <pc:chgData name="ambleic@clemson.edu" userId="43615028507_tp_box_2" providerId="OAuth2" clId="{5F4B9ABB-DEB5-4DC3-A8F9-1752A2D02C85}" dt="2026-07-21T15:13:59.178" v="2074" actId="20577"/>
        <pc:sldMkLst>
          <pc:docMk/>
          <pc:sldMk cId="2220851800" sldId="366"/>
        </pc:sldMkLst>
        <pc:spChg chg="mod">
          <ac:chgData name="ambleic@clemson.edu" userId="43615028507_tp_box_2" providerId="OAuth2" clId="{5F4B9ABB-DEB5-4DC3-A8F9-1752A2D02C85}" dt="2026-07-21T15:13:59.178" v="2074" actId="20577"/>
          <ac:spMkLst>
            <pc:docMk/>
            <pc:sldMk cId="2220851800" sldId="366"/>
            <ac:spMk id="3" creationId="{F3F491EF-359C-A270-C6E8-76841039311F}"/>
          </ac:spMkLst>
        </pc:spChg>
      </pc:sldChg>
      <pc:sldChg chg="modSp mod">
        <pc:chgData name="ambleic@clemson.edu" userId="43615028507_tp_box_2" providerId="OAuth2" clId="{5F4B9ABB-DEB5-4DC3-A8F9-1752A2D02C85}" dt="2026-07-21T15:17:42.612" v="2100" actId="20577"/>
        <pc:sldMkLst>
          <pc:docMk/>
          <pc:sldMk cId="2566674157" sldId="367"/>
        </pc:sldMkLst>
        <pc:spChg chg="mod">
          <ac:chgData name="ambleic@clemson.edu" userId="43615028507_tp_box_2" providerId="OAuth2" clId="{5F4B9ABB-DEB5-4DC3-A8F9-1752A2D02C85}" dt="2026-07-21T15:17:42.612" v="2100" actId="20577"/>
          <ac:spMkLst>
            <pc:docMk/>
            <pc:sldMk cId="2566674157" sldId="367"/>
            <ac:spMk id="2" creationId="{0B1DAB1A-BF02-E5B7-A263-73FC68811480}"/>
          </ac:spMkLst>
        </pc:spChg>
      </pc:sldChg>
      <pc:sldChg chg="modAnim">
        <pc:chgData name="ambleic@clemson.edu" userId="43615028507_tp_box_2" providerId="OAuth2" clId="{5F4B9ABB-DEB5-4DC3-A8F9-1752A2D02C85}" dt="2026-07-21T02:46:55.221" v="652"/>
        <pc:sldMkLst>
          <pc:docMk/>
          <pc:sldMk cId="1827740136" sldId="368"/>
        </pc:sldMkLst>
      </pc:sldChg>
      <pc:sldChg chg="modSp mod">
        <pc:chgData name="ambleic@clemson.edu" userId="43615028507_tp_box_2" providerId="OAuth2" clId="{5F4B9ABB-DEB5-4DC3-A8F9-1752A2D02C85}" dt="2026-07-21T15:16:54.559" v="2093" actId="20577"/>
        <pc:sldMkLst>
          <pc:docMk/>
          <pc:sldMk cId="721680125" sldId="370"/>
        </pc:sldMkLst>
        <pc:spChg chg="mod">
          <ac:chgData name="ambleic@clemson.edu" userId="43615028507_tp_box_2" providerId="OAuth2" clId="{5F4B9ABB-DEB5-4DC3-A8F9-1752A2D02C85}" dt="2026-07-21T15:16:54.559" v="2093" actId="20577"/>
          <ac:spMkLst>
            <pc:docMk/>
            <pc:sldMk cId="721680125" sldId="370"/>
            <ac:spMk id="2" creationId="{B69C7AE5-82A9-AC85-29AB-1B209CA0E233}"/>
          </ac:spMkLst>
        </pc:spChg>
      </pc:sldChg>
      <pc:sldChg chg="modSp mod">
        <pc:chgData name="ambleic@clemson.edu" userId="43615028507_tp_box_2" providerId="OAuth2" clId="{5F4B9ABB-DEB5-4DC3-A8F9-1752A2D02C85}" dt="2026-07-21T15:16:12.386" v="2091" actId="20577"/>
        <pc:sldMkLst>
          <pc:docMk/>
          <pc:sldMk cId="2551368141" sldId="379"/>
        </pc:sldMkLst>
        <pc:spChg chg="mod">
          <ac:chgData name="ambleic@clemson.edu" userId="43615028507_tp_box_2" providerId="OAuth2" clId="{5F4B9ABB-DEB5-4DC3-A8F9-1752A2D02C85}" dt="2026-07-21T15:16:12.386" v="2091" actId="20577"/>
          <ac:spMkLst>
            <pc:docMk/>
            <pc:sldMk cId="2551368141" sldId="379"/>
            <ac:spMk id="15" creationId="{D137CCB1-E7E8-C3E8-2BEC-8A466E920205}"/>
          </ac:spMkLst>
        </pc:spChg>
      </pc:sldChg>
      <pc:sldChg chg="del">
        <pc:chgData name="ambleic@clemson.edu" userId="43615028507_tp_box_2" providerId="OAuth2" clId="{5F4B9ABB-DEB5-4DC3-A8F9-1752A2D02C85}" dt="2026-07-21T00:36:02.038" v="146" actId="47"/>
        <pc:sldMkLst>
          <pc:docMk/>
          <pc:sldMk cId="3317855579" sldId="381"/>
        </pc:sldMkLst>
      </pc:sldChg>
      <pc:sldChg chg="del">
        <pc:chgData name="ambleic@clemson.edu" userId="43615028507_tp_box_2" providerId="OAuth2" clId="{5F4B9ABB-DEB5-4DC3-A8F9-1752A2D02C85}" dt="2026-07-21T12:18:12.541" v="1759" actId="47"/>
        <pc:sldMkLst>
          <pc:docMk/>
          <pc:sldMk cId="1984801128" sldId="383"/>
        </pc:sldMkLst>
      </pc:sldChg>
      <pc:sldChg chg="modSp">
        <pc:chgData name="ambleic@clemson.edu" userId="43615028507_tp_box_2" providerId="OAuth2" clId="{5F4B9ABB-DEB5-4DC3-A8F9-1752A2D02C85}" dt="2026-07-21T15:17:07.165" v="2098" actId="20577"/>
        <pc:sldMkLst>
          <pc:docMk/>
          <pc:sldMk cId="2933158092" sldId="394"/>
        </pc:sldMkLst>
        <pc:spChg chg="mod">
          <ac:chgData name="ambleic@clemson.edu" userId="43615028507_tp_box_2" providerId="OAuth2" clId="{5F4B9ABB-DEB5-4DC3-A8F9-1752A2D02C85}" dt="2026-07-21T15:17:07.165" v="2098" actId="20577"/>
          <ac:spMkLst>
            <pc:docMk/>
            <pc:sldMk cId="2933158092" sldId="394"/>
            <ac:spMk id="3" creationId="{1CE3AE27-4D35-4BC7-FB4A-4DDBD780FE8B}"/>
          </ac:spMkLst>
        </pc:spChg>
      </pc:sldChg>
      <pc:sldChg chg="del">
        <pc:chgData name="ambleic@clemson.edu" userId="43615028507_tp_box_2" providerId="OAuth2" clId="{5F4B9ABB-DEB5-4DC3-A8F9-1752A2D02C85}" dt="2026-07-21T03:20:17.337" v="827" actId="47"/>
        <pc:sldMkLst>
          <pc:docMk/>
          <pc:sldMk cId="535015635" sldId="403"/>
        </pc:sldMkLst>
      </pc:sldChg>
      <pc:sldChg chg="modSp mod">
        <pc:chgData name="ambleic@clemson.edu" userId="43615028507_tp_box_2" providerId="OAuth2" clId="{5F4B9ABB-DEB5-4DC3-A8F9-1752A2D02C85}" dt="2026-07-20T23:40:18.245" v="141" actId="207"/>
        <pc:sldMkLst>
          <pc:docMk/>
          <pc:sldMk cId="1330870144" sldId="407"/>
        </pc:sldMkLst>
        <pc:spChg chg="mod">
          <ac:chgData name="ambleic@clemson.edu" userId="43615028507_tp_box_2" providerId="OAuth2" clId="{5F4B9ABB-DEB5-4DC3-A8F9-1752A2D02C85}" dt="2026-07-20T23:40:18.245" v="141" actId="207"/>
          <ac:spMkLst>
            <pc:docMk/>
            <pc:sldMk cId="1330870144" sldId="407"/>
            <ac:spMk id="2" creationId="{E6884C14-C171-1178-495A-5ED78666C4ED}"/>
          </ac:spMkLst>
        </pc:spChg>
      </pc:sldChg>
      <pc:sldChg chg="modSp mod">
        <pc:chgData name="ambleic@clemson.edu" userId="43615028507_tp_box_2" providerId="OAuth2" clId="{5F4B9ABB-DEB5-4DC3-A8F9-1752A2D02C85}" dt="2026-07-20T23:40:58.425" v="144" actId="12789"/>
        <pc:sldMkLst>
          <pc:docMk/>
          <pc:sldMk cId="937620391" sldId="416"/>
        </pc:sldMkLst>
        <pc:spChg chg="mod">
          <ac:chgData name="ambleic@clemson.edu" userId="43615028507_tp_box_2" providerId="OAuth2" clId="{5F4B9ABB-DEB5-4DC3-A8F9-1752A2D02C85}" dt="2026-07-20T23:40:58.425" v="144" actId="12789"/>
          <ac:spMkLst>
            <pc:docMk/>
            <pc:sldMk cId="937620391" sldId="416"/>
            <ac:spMk id="2" creationId="{90C902FA-91AE-BE02-8CEA-362608506979}"/>
          </ac:spMkLst>
        </pc:spChg>
      </pc:sldChg>
      <pc:sldChg chg="modSp mod">
        <pc:chgData name="ambleic@clemson.edu" userId="43615028507_tp_box_2" providerId="OAuth2" clId="{5F4B9ABB-DEB5-4DC3-A8F9-1752A2D02C85}" dt="2026-07-21T11:36:46.521" v="1468" actId="1036"/>
        <pc:sldMkLst>
          <pc:docMk/>
          <pc:sldMk cId="0" sldId="431"/>
        </pc:sldMkLst>
        <pc:spChg chg="mod">
          <ac:chgData name="ambleic@clemson.edu" userId="43615028507_tp_box_2" providerId="OAuth2" clId="{5F4B9ABB-DEB5-4DC3-A8F9-1752A2D02C85}" dt="2026-07-21T11:36:46.521" v="1468" actId="1036"/>
          <ac:spMkLst>
            <pc:docMk/>
            <pc:sldMk cId="0" sldId="431"/>
            <ac:spMk id="7" creationId="{00000000-0000-0000-0000-000000000000}"/>
          </ac:spMkLst>
        </pc:spChg>
        <pc:spChg chg="mod">
          <ac:chgData name="ambleic@clemson.edu" userId="43615028507_tp_box_2" providerId="OAuth2" clId="{5F4B9ABB-DEB5-4DC3-A8F9-1752A2D02C85}" dt="2026-07-21T11:36:46.521" v="1468" actId="1036"/>
          <ac:spMkLst>
            <pc:docMk/>
            <pc:sldMk cId="0" sldId="431"/>
            <ac:spMk id="8" creationId="{00000000-0000-0000-0000-000000000000}"/>
          </ac:spMkLst>
        </pc:spChg>
        <pc:spChg chg="mod">
          <ac:chgData name="ambleic@clemson.edu" userId="43615028507_tp_box_2" providerId="OAuth2" clId="{5F4B9ABB-DEB5-4DC3-A8F9-1752A2D02C85}" dt="2026-07-21T11:36:40.203" v="1458" actId="255"/>
          <ac:spMkLst>
            <pc:docMk/>
            <pc:sldMk cId="0" sldId="431"/>
            <ac:spMk id="9" creationId="{00000000-0000-0000-0000-000000000000}"/>
          </ac:spMkLst>
        </pc:spChg>
      </pc:sldChg>
      <pc:sldChg chg="modAnim">
        <pc:chgData name="ambleic@clemson.edu" userId="43615028507_tp_box_2" providerId="OAuth2" clId="{5F4B9ABB-DEB5-4DC3-A8F9-1752A2D02C85}" dt="2026-07-21T15:35:09.863" v="2105"/>
        <pc:sldMkLst>
          <pc:docMk/>
          <pc:sldMk cId="0" sldId="433"/>
        </pc:sldMkLst>
      </pc:sldChg>
      <pc:sldChg chg="modSp modAnim">
        <pc:chgData name="ambleic@clemson.edu" userId="43615028507_tp_box_2" providerId="OAuth2" clId="{5F4B9ABB-DEB5-4DC3-A8F9-1752A2D02C85}" dt="2026-07-21T15:33:04.052" v="2104"/>
        <pc:sldMkLst>
          <pc:docMk/>
          <pc:sldMk cId="601341565" sldId="438"/>
        </pc:sldMkLst>
        <pc:spChg chg="mod">
          <ac:chgData name="ambleic@clemson.edu" userId="43615028507_tp_box_2" providerId="OAuth2" clId="{5F4B9ABB-DEB5-4DC3-A8F9-1752A2D02C85}" dt="2026-07-21T15:32:38.536" v="2102" actId="122"/>
          <ac:spMkLst>
            <pc:docMk/>
            <pc:sldMk cId="601341565" sldId="438"/>
            <ac:spMk id="3" creationId="{D7BCDE08-8898-3F17-0635-30FECCF33E3F}"/>
          </ac:spMkLst>
        </pc:spChg>
      </pc:sldChg>
      <pc:sldChg chg="modSp mod">
        <pc:chgData name="ambleic@clemson.edu" userId="43615028507_tp_box_2" providerId="OAuth2" clId="{5F4B9ABB-DEB5-4DC3-A8F9-1752A2D02C85}" dt="2026-07-21T03:12:08.803" v="825" actId="2062"/>
        <pc:sldMkLst>
          <pc:docMk/>
          <pc:sldMk cId="396566178" sldId="442"/>
        </pc:sldMkLst>
        <pc:graphicFrameChg chg="modGraphic">
          <ac:chgData name="ambleic@clemson.edu" userId="43615028507_tp_box_2" providerId="OAuth2" clId="{5F4B9ABB-DEB5-4DC3-A8F9-1752A2D02C85}" dt="2026-07-21T03:12:08.803" v="825" actId="2062"/>
          <ac:graphicFrameMkLst>
            <pc:docMk/>
            <pc:sldMk cId="396566178" sldId="442"/>
            <ac:graphicFrameMk id="4" creationId="{E2784FC2-B74F-26B2-6D65-4E3A8200CF23}"/>
          </ac:graphicFrameMkLst>
        </pc:graphicFrameChg>
      </pc:sldChg>
      <pc:sldChg chg="delSp modSp mod">
        <pc:chgData name="ambleic@clemson.edu" userId="43615028507_tp_box_2" providerId="OAuth2" clId="{5F4B9ABB-DEB5-4DC3-A8F9-1752A2D02C85}" dt="2026-07-21T11:16:07.864" v="1023" actId="1036"/>
        <pc:sldMkLst>
          <pc:docMk/>
          <pc:sldMk cId="1211984611" sldId="443"/>
        </pc:sldMkLst>
        <pc:spChg chg="mod">
          <ac:chgData name="ambleic@clemson.edu" userId="43615028507_tp_box_2" providerId="OAuth2" clId="{5F4B9ABB-DEB5-4DC3-A8F9-1752A2D02C85}" dt="2026-07-21T11:16:07.864" v="1023" actId="1036"/>
          <ac:spMkLst>
            <pc:docMk/>
            <pc:sldMk cId="1211984611" sldId="443"/>
            <ac:spMk id="7" creationId="{FB72976A-8413-4247-9973-5C52020A3DFD}"/>
          </ac:spMkLst>
        </pc:spChg>
        <pc:spChg chg="del">
          <ac:chgData name="ambleic@clemson.edu" userId="43615028507_tp_box_2" providerId="OAuth2" clId="{5F4B9ABB-DEB5-4DC3-A8F9-1752A2D02C85}" dt="2026-07-21T11:15:15.086" v="1005" actId="478"/>
          <ac:spMkLst>
            <pc:docMk/>
            <pc:sldMk cId="1211984611" sldId="443"/>
            <ac:spMk id="8" creationId="{F55A4A9E-52B2-49D7-9080-E5437E6B8D7F}"/>
          </ac:spMkLst>
        </pc:spChg>
        <pc:picChg chg="mod modCrop">
          <ac:chgData name="ambleic@clemson.edu" userId="43615028507_tp_box_2" providerId="OAuth2" clId="{5F4B9ABB-DEB5-4DC3-A8F9-1752A2D02C85}" dt="2026-07-21T11:16:03.351" v="1014" actId="1076"/>
          <ac:picMkLst>
            <pc:docMk/>
            <pc:sldMk cId="1211984611" sldId="443"/>
            <ac:picMk id="6" creationId="{CAF26F47-0F6F-5B58-DC2E-0DAF86BDA91D}"/>
          </ac:picMkLst>
        </pc:picChg>
      </pc:sldChg>
      <pc:sldChg chg="delSp modSp mod modAnim">
        <pc:chgData name="ambleic@clemson.edu" userId="43615028507_tp_box_2" providerId="OAuth2" clId="{5F4B9ABB-DEB5-4DC3-A8F9-1752A2D02C85}" dt="2026-07-21T11:14:29.206" v="1004"/>
        <pc:sldMkLst>
          <pc:docMk/>
          <pc:sldMk cId="2668579058" sldId="446"/>
        </pc:sldMkLst>
        <pc:spChg chg="mod">
          <ac:chgData name="ambleic@clemson.edu" userId="43615028507_tp_box_2" providerId="OAuth2" clId="{5F4B9ABB-DEB5-4DC3-A8F9-1752A2D02C85}" dt="2026-07-21T03:05:59.004" v="660" actId="1036"/>
          <ac:spMkLst>
            <pc:docMk/>
            <pc:sldMk cId="2668579058" sldId="446"/>
            <ac:spMk id="2" creationId="{318319DC-A763-5948-AD6B-E60742D326DE}"/>
          </ac:spMkLst>
        </pc:spChg>
        <pc:spChg chg="mod">
          <ac:chgData name="ambleic@clemson.edu" userId="43615028507_tp_box_2" providerId="OAuth2" clId="{5F4B9ABB-DEB5-4DC3-A8F9-1752A2D02C85}" dt="2026-07-21T11:13:56.292" v="997" actId="255"/>
          <ac:spMkLst>
            <pc:docMk/>
            <pc:sldMk cId="2668579058" sldId="446"/>
            <ac:spMk id="3" creationId="{2D0A9F0A-4005-C2BD-9305-33B28D6EB0EC}"/>
          </ac:spMkLst>
        </pc:spChg>
        <pc:spChg chg="del">
          <ac:chgData name="ambleic@clemson.edu" userId="43615028507_tp_box_2" providerId="OAuth2" clId="{5F4B9ABB-DEB5-4DC3-A8F9-1752A2D02C85}" dt="2026-07-21T03:01:50.144" v="653" actId="478"/>
          <ac:spMkLst>
            <pc:docMk/>
            <pc:sldMk cId="2668579058" sldId="446"/>
            <ac:spMk id="4" creationId="{6F521FF7-EC86-4809-8077-9DBC58D55EE7}"/>
          </ac:spMkLst>
        </pc:spChg>
      </pc:sldChg>
      <pc:sldChg chg="addSp delSp modSp mod modAnim">
        <pc:chgData name="ambleic@clemson.edu" userId="43615028507_tp_box_2" providerId="OAuth2" clId="{5F4B9ABB-DEB5-4DC3-A8F9-1752A2D02C85}" dt="2026-07-21T11:28:51.225" v="1455"/>
        <pc:sldMkLst>
          <pc:docMk/>
          <pc:sldMk cId="156862688" sldId="447"/>
        </pc:sldMkLst>
        <pc:spChg chg="mod">
          <ac:chgData name="ambleic@clemson.edu" userId="43615028507_tp_box_2" providerId="OAuth2" clId="{5F4B9ABB-DEB5-4DC3-A8F9-1752A2D02C85}" dt="2026-07-21T11:25:45.520" v="1219" actId="1035"/>
          <ac:spMkLst>
            <pc:docMk/>
            <pc:sldMk cId="156862688" sldId="447"/>
            <ac:spMk id="2" creationId="{61CD3A62-0EB3-517B-FFA7-165D6E578C77}"/>
          </ac:spMkLst>
        </pc:spChg>
        <pc:spChg chg="del">
          <ac:chgData name="ambleic@clemson.edu" userId="43615028507_tp_box_2" providerId="OAuth2" clId="{5F4B9ABB-DEB5-4DC3-A8F9-1752A2D02C85}" dt="2026-07-21T11:17:17.169" v="1024" actId="478"/>
          <ac:spMkLst>
            <pc:docMk/>
            <pc:sldMk cId="156862688" sldId="447"/>
            <ac:spMk id="3" creationId="{B0451F49-B0F9-488F-80DF-7F945EDEC06A}"/>
          </ac:spMkLst>
        </pc:spChg>
        <pc:spChg chg="add mod">
          <ac:chgData name="ambleic@clemson.edu" userId="43615028507_tp_box_2" providerId="OAuth2" clId="{5F4B9ABB-DEB5-4DC3-A8F9-1752A2D02C85}" dt="2026-07-21T11:27:54.500" v="1424" actId="1035"/>
          <ac:spMkLst>
            <pc:docMk/>
            <pc:sldMk cId="156862688" sldId="447"/>
            <ac:spMk id="4" creationId="{CC2278F6-D1D0-E034-CEC6-71D050171FA2}"/>
          </ac:spMkLst>
        </pc:spChg>
        <pc:spChg chg="mod">
          <ac:chgData name="ambleic@clemson.edu" userId="43615028507_tp_box_2" providerId="OAuth2" clId="{5F4B9ABB-DEB5-4DC3-A8F9-1752A2D02C85}" dt="2026-07-21T11:28:42.328" v="1454" actId="113"/>
          <ac:spMkLst>
            <pc:docMk/>
            <pc:sldMk cId="156862688" sldId="447"/>
            <ac:spMk id="6" creationId="{EF4198EF-7D7F-B6FC-6493-B5962407FEDF}"/>
          </ac:spMkLst>
        </pc:spChg>
        <pc:spChg chg="add mod">
          <ac:chgData name="ambleic@clemson.edu" userId="43615028507_tp_box_2" providerId="OAuth2" clId="{5F4B9ABB-DEB5-4DC3-A8F9-1752A2D02C85}" dt="2026-07-21T11:27:51.752" v="1420" actId="1035"/>
          <ac:spMkLst>
            <pc:docMk/>
            <pc:sldMk cId="156862688" sldId="447"/>
            <ac:spMk id="7" creationId="{185B9F92-8B2B-6B0B-16B6-8047C8ABD771}"/>
          </ac:spMkLst>
        </pc:spChg>
        <pc:graphicFrameChg chg="add mod modGraphic">
          <ac:chgData name="ambleic@clemson.edu" userId="43615028507_tp_box_2" providerId="OAuth2" clId="{5F4B9ABB-DEB5-4DC3-A8F9-1752A2D02C85}" dt="2026-07-21T11:27:58.441" v="1435" actId="1035"/>
          <ac:graphicFrameMkLst>
            <pc:docMk/>
            <pc:sldMk cId="156862688" sldId="447"/>
            <ac:graphicFrameMk id="8" creationId="{053977FD-1CE6-F770-966F-E5255C1F1DD3}"/>
          </ac:graphicFrameMkLst>
        </pc:graphicFrameChg>
        <pc:picChg chg="del mod">
          <ac:chgData name="ambleic@clemson.edu" userId="43615028507_tp_box_2" providerId="OAuth2" clId="{5F4B9ABB-DEB5-4DC3-A8F9-1752A2D02C85}" dt="2026-07-21T11:23:57.924" v="1140" actId="478"/>
          <ac:picMkLst>
            <pc:docMk/>
            <pc:sldMk cId="156862688" sldId="447"/>
            <ac:picMk id="5" creationId="{FFA169DA-E8D3-32A9-03AA-7FF17B205070}"/>
          </ac:picMkLst>
        </pc:picChg>
      </pc:sldChg>
      <pc:sldChg chg="delSp modSp mod modAnim">
        <pc:chgData name="ambleic@clemson.edu" userId="43615028507_tp_box_2" providerId="OAuth2" clId="{5F4B9ABB-DEB5-4DC3-A8F9-1752A2D02C85}" dt="2026-07-21T14:50:32.608" v="1982"/>
        <pc:sldMkLst>
          <pc:docMk/>
          <pc:sldMk cId="3191162541" sldId="451"/>
        </pc:sldMkLst>
        <pc:spChg chg="mod">
          <ac:chgData name="ambleic@clemson.edu" userId="43615028507_tp_box_2" providerId="OAuth2" clId="{5F4B9ABB-DEB5-4DC3-A8F9-1752A2D02C85}" dt="2026-07-21T14:50:01.047" v="1954" actId="1035"/>
          <ac:spMkLst>
            <pc:docMk/>
            <pc:sldMk cId="3191162541" sldId="451"/>
            <ac:spMk id="2" creationId="{0A8B7DE9-E9E4-769E-B1C2-9F919E44810D}"/>
          </ac:spMkLst>
        </pc:spChg>
        <pc:spChg chg="mod">
          <ac:chgData name="ambleic@clemson.edu" userId="43615028507_tp_box_2" providerId="OAuth2" clId="{5F4B9ABB-DEB5-4DC3-A8F9-1752A2D02C85}" dt="2026-07-21T14:50:07.145" v="1975" actId="1035"/>
          <ac:spMkLst>
            <pc:docMk/>
            <pc:sldMk cId="3191162541" sldId="451"/>
            <ac:spMk id="3" creationId="{5197CA60-3571-CA33-3D6C-5D2CBD24B018}"/>
          </ac:spMkLst>
        </pc:spChg>
        <pc:spChg chg="del">
          <ac:chgData name="ambleic@clemson.edu" userId="43615028507_tp_box_2" providerId="OAuth2" clId="{5F4B9ABB-DEB5-4DC3-A8F9-1752A2D02C85}" dt="2026-07-21T14:49:12.333" v="1913" actId="478"/>
          <ac:spMkLst>
            <pc:docMk/>
            <pc:sldMk cId="3191162541" sldId="451"/>
            <ac:spMk id="4" creationId="{6246AB7C-98CE-4619-9F89-A3E41CAA8038}"/>
          </ac:spMkLst>
        </pc:spChg>
      </pc:sldChg>
      <pc:sldChg chg="delSp modSp mod modAnim">
        <pc:chgData name="ambleic@clemson.edu" userId="43615028507_tp_box_2" providerId="OAuth2" clId="{5F4B9ABB-DEB5-4DC3-A8F9-1752A2D02C85}" dt="2026-07-21T14:55:50.987" v="1997"/>
        <pc:sldMkLst>
          <pc:docMk/>
          <pc:sldMk cId="8664673" sldId="452"/>
        </pc:sldMkLst>
        <pc:spChg chg="mod">
          <ac:chgData name="ambleic@clemson.edu" userId="43615028507_tp_box_2" providerId="OAuth2" clId="{5F4B9ABB-DEB5-4DC3-A8F9-1752A2D02C85}" dt="2026-07-21T14:51:01.591" v="1988" actId="1076"/>
          <ac:spMkLst>
            <pc:docMk/>
            <pc:sldMk cId="8664673" sldId="452"/>
            <ac:spMk id="2" creationId="{44DFF021-9DFC-BCCE-77EB-0A943B4DA255}"/>
          </ac:spMkLst>
        </pc:spChg>
        <pc:spChg chg="mod">
          <ac:chgData name="ambleic@clemson.edu" userId="43615028507_tp_box_2" providerId="OAuth2" clId="{5F4B9ABB-DEB5-4DC3-A8F9-1752A2D02C85}" dt="2026-07-21T14:51:08.660" v="1990" actId="1076"/>
          <ac:spMkLst>
            <pc:docMk/>
            <pc:sldMk cId="8664673" sldId="452"/>
            <ac:spMk id="3" creationId="{2F6248B4-FAB9-BE77-0E07-8972B59D9DE4}"/>
          </ac:spMkLst>
        </pc:spChg>
        <pc:spChg chg="del">
          <ac:chgData name="ambleic@clemson.edu" userId="43615028507_tp_box_2" providerId="OAuth2" clId="{5F4B9ABB-DEB5-4DC3-A8F9-1752A2D02C85}" dt="2026-07-21T14:50:38.645" v="1983" actId="478"/>
          <ac:spMkLst>
            <pc:docMk/>
            <pc:sldMk cId="8664673" sldId="452"/>
            <ac:spMk id="4" creationId="{C7C1AE11-A650-4A0B-8B02-151A70D1C437}"/>
          </ac:spMkLst>
        </pc:spChg>
      </pc:sldChg>
      <pc:sldChg chg="addSp delSp modSp mod">
        <pc:chgData name="ambleic@clemson.edu" userId="43615028507_tp_box_2" providerId="OAuth2" clId="{5F4B9ABB-DEB5-4DC3-A8F9-1752A2D02C85}" dt="2026-07-21T14:48:53.089" v="1912" actId="167"/>
        <pc:sldMkLst>
          <pc:docMk/>
          <pc:sldMk cId="999826928" sldId="453"/>
        </pc:sldMkLst>
        <pc:spChg chg="mod">
          <ac:chgData name="ambleic@clemson.edu" userId="43615028507_tp_box_2" providerId="OAuth2" clId="{5F4B9ABB-DEB5-4DC3-A8F9-1752A2D02C85}" dt="2026-07-21T14:48:12.479" v="1907" actId="12788"/>
          <ac:spMkLst>
            <pc:docMk/>
            <pc:sldMk cId="999826928" sldId="453"/>
            <ac:spMk id="2" creationId="{B1EDE452-3F83-4C4D-8D71-6C1F5F868BCF}"/>
          </ac:spMkLst>
        </pc:spChg>
        <pc:spChg chg="add mod ord">
          <ac:chgData name="ambleic@clemson.edu" userId="43615028507_tp_box_2" providerId="OAuth2" clId="{5F4B9ABB-DEB5-4DC3-A8F9-1752A2D02C85}" dt="2026-07-21T14:48:53.089" v="1912" actId="167"/>
          <ac:spMkLst>
            <pc:docMk/>
            <pc:sldMk cId="999826928" sldId="453"/>
            <ac:spMk id="3" creationId="{218A49FA-254A-31ED-A686-9F282ED842CE}"/>
          </ac:spMkLst>
        </pc:spChg>
        <pc:spChg chg="del">
          <ac:chgData name="ambleic@clemson.edu" userId="43615028507_tp_box_2" providerId="OAuth2" clId="{5F4B9ABB-DEB5-4DC3-A8F9-1752A2D02C85}" dt="2026-07-21T12:45:44.365" v="1885" actId="478"/>
          <ac:spMkLst>
            <pc:docMk/>
            <pc:sldMk cId="999826928" sldId="453"/>
            <ac:spMk id="4" creationId="{53B6E851-E606-4F64-9798-C4B1359F8231}"/>
          </ac:spMkLst>
        </pc:spChg>
        <pc:spChg chg="mod">
          <ac:chgData name="ambleic@clemson.edu" userId="43615028507_tp_box_2" providerId="OAuth2" clId="{5F4B9ABB-DEB5-4DC3-A8F9-1752A2D02C85}" dt="2026-07-21T14:48:02.855" v="1906" actId="14"/>
          <ac:spMkLst>
            <pc:docMk/>
            <pc:sldMk cId="999826928" sldId="453"/>
            <ac:spMk id="29" creationId="{E48D7D54-4172-4D44-9272-08227A49D678}"/>
          </ac:spMkLst>
        </pc:spChg>
      </pc:sldChg>
      <pc:sldChg chg="addSp delSp modSp add del mod setBg">
        <pc:chgData name="ambleic@clemson.edu" userId="43615028507_tp_box_2" providerId="OAuth2" clId="{5F4B9ABB-DEB5-4DC3-A8F9-1752A2D02C85}" dt="2026-07-21T01:19:00.310" v="468" actId="47"/>
        <pc:sldMkLst>
          <pc:docMk/>
          <pc:sldMk cId="0" sldId="458"/>
        </pc:sldMkLst>
        <pc:spChg chg="mod">
          <ac:chgData name="ambleic@clemson.edu" userId="43615028507_tp_box_2" providerId="OAuth2" clId="{5F4B9ABB-DEB5-4DC3-A8F9-1752A2D02C85}" dt="2026-07-21T00:36:30.381" v="181" actId="1036"/>
          <ac:spMkLst>
            <pc:docMk/>
            <pc:sldMk cId="0" sldId="458"/>
            <ac:spMk id="2" creationId="{00000000-0000-0000-0000-000000000000}"/>
          </ac:spMkLst>
        </pc:spChg>
        <pc:spChg chg="mod">
          <ac:chgData name="ambleic@clemson.edu" userId="43615028507_tp_box_2" providerId="OAuth2" clId="{5F4B9ABB-DEB5-4DC3-A8F9-1752A2D02C85}" dt="2026-07-21T00:36:24.453" v="169" actId="255"/>
          <ac:spMkLst>
            <pc:docMk/>
            <pc:sldMk cId="0" sldId="458"/>
            <ac:spMk id="3" creationId="{00000000-0000-0000-0000-000000000000}"/>
          </ac:spMkLst>
        </pc:spChg>
        <pc:spChg chg="del">
          <ac:chgData name="ambleic@clemson.edu" userId="43615028507_tp_box_2" providerId="OAuth2" clId="{5F4B9ABB-DEB5-4DC3-A8F9-1752A2D02C85}" dt="2026-07-21T00:36:55.537" v="205" actId="478"/>
          <ac:spMkLst>
            <pc:docMk/>
            <pc:sldMk cId="0" sldId="458"/>
            <ac:spMk id="4" creationId="{00000000-0000-0000-0000-000000000000}"/>
          </ac:spMkLst>
        </pc:spChg>
        <pc:spChg chg="del">
          <ac:chgData name="ambleic@clemson.edu" userId="43615028507_tp_box_2" providerId="OAuth2" clId="{5F4B9ABB-DEB5-4DC3-A8F9-1752A2D02C85}" dt="2026-07-21T00:36:55.537" v="205" actId="478"/>
          <ac:spMkLst>
            <pc:docMk/>
            <pc:sldMk cId="0" sldId="458"/>
            <ac:spMk id="5" creationId="{00000000-0000-0000-0000-000000000000}"/>
          </ac:spMkLst>
        </pc:spChg>
        <pc:spChg chg="del">
          <ac:chgData name="ambleic@clemson.edu" userId="43615028507_tp_box_2" providerId="OAuth2" clId="{5F4B9ABB-DEB5-4DC3-A8F9-1752A2D02C85}" dt="2026-07-21T00:36:55.537" v="205" actId="478"/>
          <ac:spMkLst>
            <pc:docMk/>
            <pc:sldMk cId="0" sldId="458"/>
            <ac:spMk id="7" creationId="{00000000-0000-0000-0000-000000000000}"/>
          </ac:spMkLst>
        </pc:spChg>
        <pc:spChg chg="del">
          <ac:chgData name="ambleic@clemson.edu" userId="43615028507_tp_box_2" providerId="OAuth2" clId="{5F4B9ABB-DEB5-4DC3-A8F9-1752A2D02C85}" dt="2026-07-21T00:36:55.537" v="205" actId="478"/>
          <ac:spMkLst>
            <pc:docMk/>
            <pc:sldMk cId="0" sldId="458"/>
            <ac:spMk id="8" creationId="{00000000-0000-0000-0000-000000000000}"/>
          </ac:spMkLst>
        </pc:spChg>
        <pc:spChg chg="del">
          <ac:chgData name="ambleic@clemson.edu" userId="43615028507_tp_box_2" providerId="OAuth2" clId="{5F4B9ABB-DEB5-4DC3-A8F9-1752A2D02C85}" dt="2026-07-21T00:36:55.537" v="205" actId="478"/>
          <ac:spMkLst>
            <pc:docMk/>
            <pc:sldMk cId="0" sldId="458"/>
            <ac:spMk id="9" creationId="{00000000-0000-0000-0000-000000000000}"/>
          </ac:spMkLst>
        </pc:spChg>
        <pc:spChg chg="del">
          <ac:chgData name="ambleic@clemson.edu" userId="43615028507_tp_box_2" providerId="OAuth2" clId="{5F4B9ABB-DEB5-4DC3-A8F9-1752A2D02C85}" dt="2026-07-21T00:36:55.537" v="205" actId="478"/>
          <ac:spMkLst>
            <pc:docMk/>
            <pc:sldMk cId="0" sldId="458"/>
            <ac:spMk id="10" creationId="{00000000-0000-0000-0000-000000000000}"/>
          </ac:spMkLst>
        </pc:spChg>
        <pc:spChg chg="del">
          <ac:chgData name="ambleic@clemson.edu" userId="43615028507_tp_box_2" providerId="OAuth2" clId="{5F4B9ABB-DEB5-4DC3-A8F9-1752A2D02C85}" dt="2026-07-21T00:36:55.537" v="205" actId="478"/>
          <ac:spMkLst>
            <pc:docMk/>
            <pc:sldMk cId="0" sldId="458"/>
            <ac:spMk id="11" creationId="{00000000-0000-0000-0000-000000000000}"/>
          </ac:spMkLst>
        </pc:spChg>
        <pc:spChg chg="del">
          <ac:chgData name="ambleic@clemson.edu" userId="43615028507_tp_box_2" providerId="OAuth2" clId="{5F4B9ABB-DEB5-4DC3-A8F9-1752A2D02C85}" dt="2026-07-21T00:36:55.537" v="205" actId="478"/>
          <ac:spMkLst>
            <pc:docMk/>
            <pc:sldMk cId="0" sldId="458"/>
            <ac:spMk id="12" creationId="{00000000-0000-0000-0000-000000000000}"/>
          </ac:spMkLst>
        </pc:spChg>
        <pc:spChg chg="del">
          <ac:chgData name="ambleic@clemson.edu" userId="43615028507_tp_box_2" providerId="OAuth2" clId="{5F4B9ABB-DEB5-4DC3-A8F9-1752A2D02C85}" dt="2026-07-21T00:36:55.537" v="205" actId="478"/>
          <ac:spMkLst>
            <pc:docMk/>
            <pc:sldMk cId="0" sldId="458"/>
            <ac:spMk id="16" creationId="{00000000-0000-0000-0000-000000000000}"/>
          </ac:spMkLst>
        </pc:spChg>
        <pc:spChg chg="del">
          <ac:chgData name="ambleic@clemson.edu" userId="43615028507_tp_box_2" providerId="OAuth2" clId="{5F4B9ABB-DEB5-4DC3-A8F9-1752A2D02C85}" dt="2026-07-21T00:36:55.537" v="205" actId="478"/>
          <ac:spMkLst>
            <pc:docMk/>
            <pc:sldMk cId="0" sldId="458"/>
            <ac:spMk id="17" creationId="{00000000-0000-0000-0000-000000000000}"/>
          </ac:spMkLst>
        </pc:spChg>
        <pc:spChg chg="mod">
          <ac:chgData name="ambleic@clemson.edu" userId="43615028507_tp_box_2" providerId="OAuth2" clId="{5F4B9ABB-DEB5-4DC3-A8F9-1752A2D02C85}" dt="2026-07-21T00:36:43.439" v="204" actId="1076"/>
          <ac:spMkLst>
            <pc:docMk/>
            <pc:sldMk cId="0" sldId="458"/>
            <ac:spMk id="18" creationId="{00000000-0000-0000-0000-000000000000}"/>
          </ac:spMkLst>
        </pc:spChg>
        <pc:spChg chg="mod">
          <ac:chgData name="ambleic@clemson.edu" userId="43615028507_tp_box_2" providerId="OAuth2" clId="{5F4B9ABB-DEB5-4DC3-A8F9-1752A2D02C85}" dt="2026-07-21T00:36:39.822" v="203" actId="1036"/>
          <ac:spMkLst>
            <pc:docMk/>
            <pc:sldMk cId="0" sldId="458"/>
            <ac:spMk id="21" creationId="{00000000-0000-0000-0000-000000000000}"/>
          </ac:spMkLst>
        </pc:spChg>
        <pc:spChg chg="add mod">
          <ac:chgData name="ambleic@clemson.edu" userId="43615028507_tp_box_2" providerId="OAuth2" clId="{5F4B9ABB-DEB5-4DC3-A8F9-1752A2D02C85}" dt="2026-07-21T00:37:02.125" v="208" actId="14100"/>
          <ac:spMkLst>
            <pc:docMk/>
            <pc:sldMk cId="0" sldId="458"/>
            <ac:spMk id="23" creationId="{B2FCCFDD-A93D-B8E1-0197-3DBF75B26958}"/>
          </ac:spMkLst>
        </pc:spChg>
        <pc:spChg chg="add mod">
          <ac:chgData name="ambleic@clemson.edu" userId="43615028507_tp_box_2" providerId="OAuth2" clId="{5F4B9ABB-DEB5-4DC3-A8F9-1752A2D02C85}" dt="2026-07-21T00:36:59.081" v="207" actId="20577"/>
          <ac:spMkLst>
            <pc:docMk/>
            <pc:sldMk cId="0" sldId="458"/>
            <ac:spMk id="25" creationId="{1AB10163-1158-A10A-180C-63010152DBBF}"/>
          </ac:spMkLst>
        </pc:spChg>
        <pc:spChg chg="add">
          <ac:chgData name="ambleic@clemson.edu" userId="43615028507_tp_box_2" providerId="OAuth2" clId="{5F4B9ABB-DEB5-4DC3-A8F9-1752A2D02C85}" dt="2026-07-21T00:36:55.988" v="206" actId="22"/>
          <ac:spMkLst>
            <pc:docMk/>
            <pc:sldMk cId="0" sldId="458"/>
            <ac:spMk id="27" creationId="{37B35A49-C2BE-4C75-860B-2C8DC7DFB5E5}"/>
          </ac:spMkLst>
        </pc:spChg>
        <pc:spChg chg="add">
          <ac:chgData name="ambleic@clemson.edu" userId="43615028507_tp_box_2" providerId="OAuth2" clId="{5F4B9ABB-DEB5-4DC3-A8F9-1752A2D02C85}" dt="2026-07-21T00:36:55.988" v="206" actId="22"/>
          <ac:spMkLst>
            <pc:docMk/>
            <pc:sldMk cId="0" sldId="458"/>
            <ac:spMk id="29" creationId="{285B059C-DB63-1472-86C6-385D8E7EE9BF}"/>
          </ac:spMkLst>
        </pc:spChg>
      </pc:sldChg>
      <pc:sldChg chg="modSp add del mod">
        <pc:chgData name="ambleic@clemson.edu" userId="43615028507_tp_box_2" providerId="OAuth2" clId="{5F4B9ABB-DEB5-4DC3-A8F9-1752A2D02C85}" dt="2026-07-21T00:39:32.516" v="275"/>
        <pc:sldMkLst>
          <pc:docMk/>
          <pc:sldMk cId="3079888531" sldId="459"/>
        </pc:sldMkLst>
        <pc:spChg chg="mod">
          <ac:chgData name="ambleic@clemson.edu" userId="43615028507_tp_box_2" providerId="OAuth2" clId="{5F4B9ABB-DEB5-4DC3-A8F9-1752A2D02C85}" dt="2026-07-21T00:39:15.750" v="213"/>
          <ac:spMkLst>
            <pc:docMk/>
            <pc:sldMk cId="3079888531" sldId="459"/>
            <ac:spMk id="5" creationId="{BD0C6FE0-250F-4244-ED99-CD5ADB2C3493}"/>
          </ac:spMkLst>
        </pc:spChg>
        <pc:spChg chg="mod">
          <ac:chgData name="ambleic@clemson.edu" userId="43615028507_tp_box_2" providerId="OAuth2" clId="{5F4B9ABB-DEB5-4DC3-A8F9-1752A2D02C85}" dt="2026-07-21T00:39:15.778" v="217"/>
          <ac:spMkLst>
            <pc:docMk/>
            <pc:sldMk cId="3079888531" sldId="459"/>
            <ac:spMk id="7" creationId="{470588EC-4189-2770-D761-AF45DCD01CD0}"/>
          </ac:spMkLst>
        </pc:spChg>
        <pc:spChg chg="mod">
          <ac:chgData name="ambleic@clemson.edu" userId="43615028507_tp_box_2" providerId="OAuth2" clId="{5F4B9ABB-DEB5-4DC3-A8F9-1752A2D02C85}" dt="2026-07-21T00:39:15.810" v="221"/>
          <ac:spMkLst>
            <pc:docMk/>
            <pc:sldMk cId="3079888531" sldId="459"/>
            <ac:spMk id="9" creationId="{1E25FE66-00D3-965C-FA85-64129947D909}"/>
          </ac:spMkLst>
        </pc:spChg>
        <pc:spChg chg="mod">
          <ac:chgData name="ambleic@clemson.edu" userId="43615028507_tp_box_2" providerId="OAuth2" clId="{5F4B9ABB-DEB5-4DC3-A8F9-1752A2D02C85}" dt="2026-07-21T00:39:15.836" v="225"/>
          <ac:spMkLst>
            <pc:docMk/>
            <pc:sldMk cId="3079888531" sldId="459"/>
            <ac:spMk id="11" creationId="{985F5E23-C509-0251-36C6-BF5A15031C0D}"/>
          </ac:spMkLst>
        </pc:spChg>
        <pc:spChg chg="mod">
          <ac:chgData name="ambleic@clemson.edu" userId="43615028507_tp_box_2" providerId="OAuth2" clId="{5F4B9ABB-DEB5-4DC3-A8F9-1752A2D02C85}" dt="2026-07-21T00:39:15.865" v="229"/>
          <ac:spMkLst>
            <pc:docMk/>
            <pc:sldMk cId="3079888531" sldId="459"/>
            <ac:spMk id="13" creationId="{A10E3BB3-22D7-9729-A893-6D1FDF5B7BF9}"/>
          </ac:spMkLst>
        </pc:spChg>
        <pc:spChg chg="mod">
          <ac:chgData name="ambleic@clemson.edu" userId="43615028507_tp_box_2" providerId="OAuth2" clId="{5F4B9ABB-DEB5-4DC3-A8F9-1752A2D02C85}" dt="2026-07-21T00:39:15.886" v="233"/>
          <ac:spMkLst>
            <pc:docMk/>
            <pc:sldMk cId="3079888531" sldId="459"/>
            <ac:spMk id="15" creationId="{3EDA366C-1112-3DF8-A59E-5A037285238E}"/>
          </ac:spMkLst>
        </pc:spChg>
        <pc:spChg chg="mod">
          <ac:chgData name="ambleic@clemson.edu" userId="43615028507_tp_box_2" providerId="OAuth2" clId="{5F4B9ABB-DEB5-4DC3-A8F9-1752A2D02C85}" dt="2026-07-21T00:39:15.907" v="237"/>
          <ac:spMkLst>
            <pc:docMk/>
            <pc:sldMk cId="3079888531" sldId="459"/>
            <ac:spMk id="17" creationId="{2AA635B8-89C3-D046-0BAF-A1E822526399}"/>
          </ac:spMkLst>
        </pc:spChg>
        <pc:spChg chg="mod">
          <ac:chgData name="ambleic@clemson.edu" userId="43615028507_tp_box_2" providerId="OAuth2" clId="{5F4B9ABB-DEB5-4DC3-A8F9-1752A2D02C85}" dt="2026-07-21T00:39:15.926" v="241"/>
          <ac:spMkLst>
            <pc:docMk/>
            <pc:sldMk cId="3079888531" sldId="459"/>
            <ac:spMk id="19" creationId="{8C548A33-1A8E-A0CE-4C29-2538C13226E9}"/>
          </ac:spMkLst>
        </pc:spChg>
        <pc:spChg chg="mod">
          <ac:chgData name="ambleic@clemson.edu" userId="43615028507_tp_box_2" providerId="OAuth2" clId="{5F4B9ABB-DEB5-4DC3-A8F9-1752A2D02C85}" dt="2026-07-21T00:39:15.956" v="245"/>
          <ac:spMkLst>
            <pc:docMk/>
            <pc:sldMk cId="3079888531" sldId="459"/>
            <ac:spMk id="21" creationId="{F2EF6E10-BBF9-4A4E-8B85-62855FACC3CF}"/>
          </ac:spMkLst>
        </pc:spChg>
        <pc:spChg chg="mod">
          <ac:chgData name="ambleic@clemson.edu" userId="43615028507_tp_box_2" providerId="OAuth2" clId="{5F4B9ABB-DEB5-4DC3-A8F9-1752A2D02C85}" dt="2026-07-21T00:39:15.975" v="249"/>
          <ac:spMkLst>
            <pc:docMk/>
            <pc:sldMk cId="3079888531" sldId="459"/>
            <ac:spMk id="23" creationId="{B0C1043A-2562-40CF-C1D0-9B5B04593512}"/>
          </ac:spMkLst>
        </pc:spChg>
        <pc:spChg chg="mod">
          <ac:chgData name="ambleic@clemson.edu" userId="43615028507_tp_box_2" providerId="OAuth2" clId="{5F4B9ABB-DEB5-4DC3-A8F9-1752A2D02C85}" dt="2026-07-21T00:39:15.996" v="253"/>
          <ac:spMkLst>
            <pc:docMk/>
            <pc:sldMk cId="3079888531" sldId="459"/>
            <ac:spMk id="25" creationId="{DD691DDA-AB44-4447-186F-CE0C67A116A2}"/>
          </ac:spMkLst>
        </pc:spChg>
        <pc:spChg chg="mod">
          <ac:chgData name="ambleic@clemson.edu" userId="43615028507_tp_box_2" providerId="OAuth2" clId="{5F4B9ABB-DEB5-4DC3-A8F9-1752A2D02C85}" dt="2026-07-21T00:39:16.027" v="257"/>
          <ac:spMkLst>
            <pc:docMk/>
            <pc:sldMk cId="3079888531" sldId="459"/>
            <ac:spMk id="27" creationId="{012FACAA-3A58-365C-5D40-1DE97EDAE0C0}"/>
          </ac:spMkLst>
        </pc:spChg>
        <pc:spChg chg="mod">
          <ac:chgData name="ambleic@clemson.edu" userId="43615028507_tp_box_2" providerId="OAuth2" clId="{5F4B9ABB-DEB5-4DC3-A8F9-1752A2D02C85}" dt="2026-07-21T00:39:16.047" v="261"/>
          <ac:spMkLst>
            <pc:docMk/>
            <pc:sldMk cId="3079888531" sldId="459"/>
            <ac:spMk id="29" creationId="{F628EDE5-D899-0F0E-75D9-1705622735B2}"/>
          </ac:spMkLst>
        </pc:spChg>
        <pc:spChg chg="mod">
          <ac:chgData name="ambleic@clemson.edu" userId="43615028507_tp_box_2" providerId="OAuth2" clId="{5F4B9ABB-DEB5-4DC3-A8F9-1752A2D02C85}" dt="2026-07-21T00:39:16.065" v="265"/>
          <ac:spMkLst>
            <pc:docMk/>
            <pc:sldMk cId="3079888531" sldId="459"/>
            <ac:spMk id="31" creationId="{59472340-BB25-FC2C-AAF0-A5BCA900869D}"/>
          </ac:spMkLst>
        </pc:spChg>
        <pc:spChg chg="mod">
          <ac:chgData name="ambleic@clemson.edu" userId="43615028507_tp_box_2" providerId="OAuth2" clId="{5F4B9ABB-DEB5-4DC3-A8F9-1752A2D02C85}" dt="2026-07-21T00:39:16.091" v="269"/>
          <ac:spMkLst>
            <pc:docMk/>
            <pc:sldMk cId="3079888531" sldId="459"/>
            <ac:spMk id="33" creationId="{DB9BBA51-B7FF-D1D6-D33B-2E4D00F8D469}"/>
          </ac:spMkLst>
        </pc:spChg>
        <pc:spChg chg="mod">
          <ac:chgData name="ambleic@clemson.edu" userId="43615028507_tp_box_2" providerId="OAuth2" clId="{5F4B9ABB-DEB5-4DC3-A8F9-1752A2D02C85}" dt="2026-07-21T00:39:16.107" v="273"/>
          <ac:spMkLst>
            <pc:docMk/>
            <pc:sldMk cId="3079888531" sldId="459"/>
            <ac:spMk id="35" creationId="{4B5F3680-6DFB-060C-6C3E-8AF9C5EDA2F5}"/>
          </ac:spMkLst>
        </pc:spChg>
      </pc:sldChg>
      <pc:sldChg chg="addSp modSp add mod ord modAnim">
        <pc:chgData name="ambleic@clemson.edu" userId="43615028507_tp_box_2" providerId="OAuth2" clId="{5F4B9ABB-DEB5-4DC3-A8F9-1752A2D02C85}" dt="2026-07-21T02:46:23.834" v="651"/>
        <pc:sldMkLst>
          <pc:docMk/>
          <pc:sldMk cId="2620077864" sldId="460"/>
        </pc:sldMkLst>
        <pc:spChg chg="mod">
          <ac:chgData name="ambleic@clemson.edu" userId="43615028507_tp_box_2" providerId="OAuth2" clId="{5F4B9ABB-DEB5-4DC3-A8F9-1752A2D02C85}" dt="2026-07-21T02:46:14.275" v="650" actId="1036"/>
          <ac:spMkLst>
            <pc:docMk/>
            <pc:sldMk cId="2620077864" sldId="460"/>
            <ac:spMk id="2" creationId="{40682515-8170-6647-76C7-D095456710D9}"/>
          </ac:spMkLst>
        </pc:spChg>
        <pc:spChg chg="add mod">
          <ac:chgData name="ambleic@clemson.edu" userId="43615028507_tp_box_2" providerId="OAuth2" clId="{5F4B9ABB-DEB5-4DC3-A8F9-1752A2D02C85}" dt="2026-07-21T02:46:01.496" v="640" actId="1036"/>
          <ac:spMkLst>
            <pc:docMk/>
            <pc:sldMk cId="2620077864" sldId="460"/>
            <ac:spMk id="4" creationId="{5C64ECAA-8668-CEAA-DE83-49FDA91F6E92}"/>
          </ac:spMkLst>
        </pc:spChg>
        <pc:spChg chg="mod">
          <ac:chgData name="ambleic@clemson.edu" userId="43615028507_tp_box_2" providerId="OAuth2" clId="{5F4B9ABB-DEB5-4DC3-A8F9-1752A2D02C85}" dt="2026-07-21T02:46:01.496" v="640" actId="1036"/>
          <ac:spMkLst>
            <pc:docMk/>
            <pc:sldMk cId="2620077864" sldId="460"/>
            <ac:spMk id="5" creationId="{BD0C6FE0-250F-4244-ED99-CD5ADB2C3493}"/>
          </ac:spMkLst>
        </pc:spChg>
        <pc:spChg chg="add mod">
          <ac:chgData name="ambleic@clemson.edu" userId="43615028507_tp_box_2" providerId="OAuth2" clId="{5F4B9ABB-DEB5-4DC3-A8F9-1752A2D02C85}" dt="2026-07-21T02:45:56.180" v="633" actId="255"/>
          <ac:spMkLst>
            <pc:docMk/>
            <pc:sldMk cId="2620077864" sldId="460"/>
            <ac:spMk id="6" creationId="{0C3C9788-29BF-0290-8816-C0CD90DA6243}"/>
          </ac:spMkLst>
        </pc:spChg>
        <pc:spChg chg="mod">
          <ac:chgData name="ambleic@clemson.edu" userId="43615028507_tp_box_2" providerId="OAuth2" clId="{5F4B9ABB-DEB5-4DC3-A8F9-1752A2D02C85}" dt="2026-07-21T02:46:01.496" v="640" actId="1036"/>
          <ac:spMkLst>
            <pc:docMk/>
            <pc:sldMk cId="2620077864" sldId="460"/>
            <ac:spMk id="7" creationId="{470588EC-4189-2770-D761-AF45DCD01CD0}"/>
          </ac:spMkLst>
        </pc:spChg>
        <pc:spChg chg="add mod">
          <ac:chgData name="ambleic@clemson.edu" userId="43615028507_tp_box_2" providerId="OAuth2" clId="{5F4B9ABB-DEB5-4DC3-A8F9-1752A2D02C85}" dt="2026-07-21T02:45:56.180" v="633" actId="255"/>
          <ac:spMkLst>
            <pc:docMk/>
            <pc:sldMk cId="2620077864" sldId="460"/>
            <ac:spMk id="8" creationId="{ACCA27AC-7E43-D19A-12BD-67EE73ACB7E6}"/>
          </ac:spMkLst>
        </pc:spChg>
        <pc:spChg chg="mod">
          <ac:chgData name="ambleic@clemson.edu" userId="43615028507_tp_box_2" providerId="OAuth2" clId="{5F4B9ABB-DEB5-4DC3-A8F9-1752A2D02C85}" dt="2026-07-21T02:45:15.009" v="612" actId="1035"/>
          <ac:spMkLst>
            <pc:docMk/>
            <pc:sldMk cId="2620077864" sldId="460"/>
            <ac:spMk id="9" creationId="{1E25FE66-00D3-965C-FA85-64129947D909}"/>
          </ac:spMkLst>
        </pc:spChg>
        <pc:spChg chg="add mod ord">
          <ac:chgData name="ambleic@clemson.edu" userId="43615028507_tp_box_2" providerId="OAuth2" clId="{5F4B9ABB-DEB5-4DC3-A8F9-1752A2D02C85}" dt="2026-07-21T02:46:01.496" v="640" actId="1036"/>
          <ac:spMkLst>
            <pc:docMk/>
            <pc:sldMk cId="2620077864" sldId="460"/>
            <ac:spMk id="10" creationId="{F0B87654-D377-C55A-F400-E71BE0C22E17}"/>
          </ac:spMkLst>
        </pc:spChg>
        <pc:spChg chg="mod">
          <ac:chgData name="ambleic@clemson.edu" userId="43615028507_tp_box_2" providerId="OAuth2" clId="{5F4B9ABB-DEB5-4DC3-A8F9-1752A2D02C85}" dt="2026-07-21T02:46:01.496" v="640" actId="1036"/>
          <ac:spMkLst>
            <pc:docMk/>
            <pc:sldMk cId="2620077864" sldId="460"/>
            <ac:spMk id="11" creationId="{985F5E23-C509-0251-36C6-BF5A15031C0D}"/>
          </ac:spMkLst>
        </pc:spChg>
        <pc:spChg chg="add mod">
          <ac:chgData name="ambleic@clemson.edu" userId="43615028507_tp_box_2" providerId="OAuth2" clId="{5F4B9ABB-DEB5-4DC3-A8F9-1752A2D02C85}" dt="2026-07-21T02:46:08.653" v="641" actId="255"/>
          <ac:spMkLst>
            <pc:docMk/>
            <pc:sldMk cId="2620077864" sldId="460"/>
            <ac:spMk id="12" creationId="{9619B16D-D300-B4BD-DC76-D70C1FE971A4}"/>
          </ac:spMkLst>
        </pc:spChg>
        <pc:spChg chg="mod">
          <ac:chgData name="ambleic@clemson.edu" userId="43615028507_tp_box_2" providerId="OAuth2" clId="{5F4B9ABB-DEB5-4DC3-A8F9-1752A2D02C85}" dt="2026-07-21T00:53:10.455" v="375" actId="1035"/>
          <ac:spMkLst>
            <pc:docMk/>
            <pc:sldMk cId="2620077864" sldId="460"/>
            <ac:spMk id="13" creationId="{A10E3BB3-22D7-9729-A893-6D1FDF5B7BF9}"/>
          </ac:spMkLst>
        </pc:spChg>
        <pc:spChg chg="mod">
          <ac:chgData name="ambleic@clemson.edu" userId="43615028507_tp_box_2" providerId="OAuth2" clId="{5F4B9ABB-DEB5-4DC3-A8F9-1752A2D02C85}" dt="2026-07-21T02:46:01.496" v="640" actId="1036"/>
          <ac:spMkLst>
            <pc:docMk/>
            <pc:sldMk cId="2620077864" sldId="460"/>
            <ac:spMk id="15" creationId="{3EDA366C-1112-3DF8-A59E-5A037285238E}"/>
          </ac:spMkLst>
        </pc:spChg>
        <pc:spChg chg="add mod">
          <ac:chgData name="ambleic@clemson.edu" userId="43615028507_tp_box_2" providerId="OAuth2" clId="{5F4B9ABB-DEB5-4DC3-A8F9-1752A2D02C85}" dt="2026-07-21T02:45:56.180" v="633" actId="255"/>
          <ac:spMkLst>
            <pc:docMk/>
            <pc:sldMk cId="2620077864" sldId="460"/>
            <ac:spMk id="16" creationId="{9548C768-9C6C-913C-12C9-4693D49A13C7}"/>
          </ac:spMkLst>
        </pc:spChg>
        <pc:spChg chg="mod">
          <ac:chgData name="ambleic@clemson.edu" userId="43615028507_tp_box_2" providerId="OAuth2" clId="{5F4B9ABB-DEB5-4DC3-A8F9-1752A2D02C85}" dt="2026-07-21T02:46:01.496" v="640" actId="1036"/>
          <ac:spMkLst>
            <pc:docMk/>
            <pc:sldMk cId="2620077864" sldId="460"/>
            <ac:spMk id="17" creationId="{2AA635B8-89C3-D046-0BAF-A1E822526399}"/>
          </ac:spMkLst>
        </pc:spChg>
        <pc:spChg chg="mod">
          <ac:chgData name="ambleic@clemson.edu" userId="43615028507_tp_box_2" providerId="OAuth2" clId="{5F4B9ABB-DEB5-4DC3-A8F9-1752A2D02C85}" dt="2026-07-21T02:46:01.496" v="640" actId="1036"/>
          <ac:spMkLst>
            <pc:docMk/>
            <pc:sldMk cId="2620077864" sldId="460"/>
            <ac:spMk id="19" creationId="{8C548A33-1A8E-A0CE-4C29-2538C13226E9}"/>
          </ac:spMkLst>
        </pc:spChg>
        <pc:spChg chg="mod">
          <ac:chgData name="ambleic@clemson.edu" userId="43615028507_tp_box_2" providerId="OAuth2" clId="{5F4B9ABB-DEB5-4DC3-A8F9-1752A2D02C85}" dt="2026-07-21T00:53:10.455" v="375" actId="1035"/>
          <ac:spMkLst>
            <pc:docMk/>
            <pc:sldMk cId="2620077864" sldId="460"/>
            <ac:spMk id="21" creationId="{F2EF6E10-BBF9-4A4E-8B85-62855FACC3CF}"/>
          </ac:spMkLst>
        </pc:spChg>
        <pc:spChg chg="mod">
          <ac:chgData name="ambleic@clemson.edu" userId="43615028507_tp_box_2" providerId="OAuth2" clId="{5F4B9ABB-DEB5-4DC3-A8F9-1752A2D02C85}" dt="2026-07-21T02:46:01.496" v="640" actId="1036"/>
          <ac:spMkLst>
            <pc:docMk/>
            <pc:sldMk cId="2620077864" sldId="460"/>
            <ac:spMk id="23" creationId="{B0C1043A-2562-40CF-C1D0-9B5B04593512}"/>
          </ac:spMkLst>
        </pc:spChg>
        <pc:spChg chg="mod">
          <ac:chgData name="ambleic@clemson.edu" userId="43615028507_tp_box_2" providerId="OAuth2" clId="{5F4B9ABB-DEB5-4DC3-A8F9-1752A2D02C85}" dt="2026-07-21T02:46:01.496" v="640" actId="1036"/>
          <ac:spMkLst>
            <pc:docMk/>
            <pc:sldMk cId="2620077864" sldId="460"/>
            <ac:spMk id="25" creationId="{DD691DDA-AB44-4447-186F-CE0C67A116A2}"/>
          </ac:spMkLst>
        </pc:spChg>
        <pc:spChg chg="mod">
          <ac:chgData name="ambleic@clemson.edu" userId="43615028507_tp_box_2" providerId="OAuth2" clId="{5F4B9ABB-DEB5-4DC3-A8F9-1752A2D02C85}" dt="2026-07-21T00:53:20.266" v="387" actId="1035"/>
          <ac:spMkLst>
            <pc:docMk/>
            <pc:sldMk cId="2620077864" sldId="460"/>
            <ac:spMk id="27" creationId="{012FACAA-3A58-365C-5D40-1DE97EDAE0C0}"/>
          </ac:spMkLst>
        </pc:spChg>
        <pc:spChg chg="mod">
          <ac:chgData name="ambleic@clemson.edu" userId="43615028507_tp_box_2" providerId="OAuth2" clId="{5F4B9ABB-DEB5-4DC3-A8F9-1752A2D02C85}" dt="2026-07-21T00:53:20.266" v="387" actId="1035"/>
          <ac:spMkLst>
            <pc:docMk/>
            <pc:sldMk cId="2620077864" sldId="460"/>
            <ac:spMk id="29" creationId="{F628EDE5-D899-0F0E-75D9-1705622735B2}"/>
          </ac:spMkLst>
        </pc:spChg>
        <pc:spChg chg="mod">
          <ac:chgData name="ambleic@clemson.edu" userId="43615028507_tp_box_2" providerId="OAuth2" clId="{5F4B9ABB-DEB5-4DC3-A8F9-1752A2D02C85}" dt="2026-07-21T00:53:20.266" v="387" actId="1035"/>
          <ac:spMkLst>
            <pc:docMk/>
            <pc:sldMk cId="2620077864" sldId="460"/>
            <ac:spMk id="33" creationId="{DB9BBA51-B7FF-D1D6-D33B-2E4D00F8D469}"/>
          </ac:spMkLst>
        </pc:spChg>
        <pc:spChg chg="mod">
          <ac:chgData name="ambleic@clemson.edu" userId="43615028507_tp_box_2" providerId="OAuth2" clId="{5F4B9ABB-DEB5-4DC3-A8F9-1752A2D02C85}" dt="2026-07-21T02:42:28.731" v="469"/>
          <ac:spMkLst>
            <pc:docMk/>
            <pc:sldMk cId="2620077864" sldId="460"/>
            <ac:spMk id="35" creationId="{4B5F3680-6DFB-060C-6C3E-8AF9C5EDA2F5}"/>
          </ac:spMkLst>
        </pc:spChg>
      </pc:sldChg>
      <pc:sldChg chg="addSp modSp add mod modClrScheme chgLayout">
        <pc:chgData name="ambleic@clemson.edu" userId="43615028507_tp_box_2" providerId="OAuth2" clId="{5F4B9ABB-DEB5-4DC3-A8F9-1752A2D02C85}" dt="2026-07-21T03:30:51.056" v="939" actId="12788"/>
        <pc:sldMkLst>
          <pc:docMk/>
          <pc:sldMk cId="2400950074" sldId="496"/>
        </pc:sldMkLst>
        <pc:spChg chg="add mod ord">
          <ac:chgData name="ambleic@clemson.edu" userId="43615028507_tp_box_2" providerId="OAuth2" clId="{5F4B9ABB-DEB5-4DC3-A8F9-1752A2D02C85}" dt="2026-07-21T03:30:43.984" v="936" actId="1076"/>
          <ac:spMkLst>
            <pc:docMk/>
            <pc:sldMk cId="2400950074" sldId="496"/>
            <ac:spMk id="2" creationId="{E92598E5-74F7-F594-3111-625416529AAB}"/>
          </ac:spMkLst>
        </pc:spChg>
        <pc:picChg chg="mod">
          <ac:chgData name="ambleic@clemson.edu" userId="43615028507_tp_box_2" providerId="OAuth2" clId="{5F4B9ABB-DEB5-4DC3-A8F9-1752A2D02C85}" dt="2026-07-21T03:30:51.056" v="939" actId="12788"/>
          <ac:picMkLst>
            <pc:docMk/>
            <pc:sldMk cId="2400950074" sldId="496"/>
            <ac:picMk id="5" creationId="{1AA74AB5-8E2B-8C0B-D179-65A9C7E0C7E7}"/>
          </ac:picMkLst>
        </pc:picChg>
      </pc:sldChg>
      <pc:sldChg chg="modSp add">
        <pc:chgData name="ambleic@clemson.edu" userId="43615028507_tp_box_2" providerId="OAuth2" clId="{5F4B9ABB-DEB5-4DC3-A8F9-1752A2D02C85}" dt="2026-07-21T15:36:04.453" v="2124" actId="20577"/>
        <pc:sldMkLst>
          <pc:docMk/>
          <pc:sldMk cId="1729462783" sldId="498"/>
        </pc:sldMkLst>
        <pc:spChg chg="mod">
          <ac:chgData name="ambleic@clemson.edu" userId="43615028507_tp_box_2" providerId="OAuth2" clId="{5F4B9ABB-DEB5-4DC3-A8F9-1752A2D02C85}" dt="2026-07-21T15:36:04.453" v="2124" actId="20577"/>
          <ac:spMkLst>
            <pc:docMk/>
            <pc:sldMk cId="1729462783" sldId="498"/>
            <ac:spMk id="2" creationId="{72F3AF4F-D7AC-62B9-8F73-9D965127372C}"/>
          </ac:spMkLst>
        </pc:spChg>
      </pc:sldChg>
      <pc:sldChg chg="add del">
        <pc:chgData name="ambleic@clemson.edu" userId="43615028507_tp_box_2" providerId="OAuth2" clId="{5F4B9ABB-DEB5-4DC3-A8F9-1752A2D02C85}" dt="2026-07-21T03:31:29.687" v="979" actId="47"/>
        <pc:sldMkLst>
          <pc:docMk/>
          <pc:sldMk cId="1013641087" sldId="499"/>
        </pc:sldMkLst>
      </pc:sldChg>
      <pc:sldChg chg="addSp delSp modSp add mod">
        <pc:chgData name="ambleic@clemson.edu" userId="43615028507_tp_box_2" providerId="OAuth2" clId="{5F4B9ABB-DEB5-4DC3-A8F9-1752A2D02C85}" dt="2026-07-21T03:31:26.034" v="978" actId="12788"/>
        <pc:sldMkLst>
          <pc:docMk/>
          <pc:sldMk cId="3660965703" sldId="500"/>
        </pc:sldMkLst>
        <pc:spChg chg="mod">
          <ac:chgData name="ambleic@clemson.edu" userId="43615028507_tp_box_2" providerId="OAuth2" clId="{5F4B9ABB-DEB5-4DC3-A8F9-1752A2D02C85}" dt="2026-07-21T03:31:18.354" v="975" actId="1035"/>
          <ac:spMkLst>
            <pc:docMk/>
            <pc:sldMk cId="3660965703" sldId="500"/>
            <ac:spMk id="2" creationId="{E7A10A7A-77F9-86F0-C67C-A00C44DC0ACB}"/>
          </ac:spMkLst>
        </pc:spChg>
        <pc:picChg chg="add mod">
          <ac:chgData name="ambleic@clemson.edu" userId="43615028507_tp_box_2" providerId="OAuth2" clId="{5F4B9ABB-DEB5-4DC3-A8F9-1752A2D02C85}" dt="2026-07-21T03:31:26.034" v="978" actId="12788"/>
          <ac:picMkLst>
            <pc:docMk/>
            <pc:sldMk cId="3660965703" sldId="500"/>
            <ac:picMk id="4" creationId="{638CC9CD-073C-69DB-556E-D270B2E95D6A}"/>
          </ac:picMkLst>
        </pc:picChg>
        <pc:picChg chg="del">
          <ac:chgData name="ambleic@clemson.edu" userId="43615028507_tp_box_2" providerId="OAuth2" clId="{5F4B9ABB-DEB5-4DC3-A8F9-1752A2D02C85}" dt="2026-07-21T03:22:20.840" v="919" actId="478"/>
          <ac:picMkLst>
            <pc:docMk/>
            <pc:sldMk cId="3660965703" sldId="500"/>
            <ac:picMk id="5" creationId="{90B351C7-3F1C-EAB8-0CB2-B68841A187F4}"/>
          </ac:picMkLst>
        </pc:picChg>
      </pc:sldChg>
      <pc:sldChg chg="modSp add mod setBg modAnim">
        <pc:chgData name="ambleic@clemson.edu" userId="43615028507_tp_box_2" providerId="OAuth2" clId="{5F4B9ABB-DEB5-4DC3-A8F9-1752A2D02C85}" dt="2026-07-21T12:30:27.695" v="1884" actId="20577"/>
        <pc:sldMkLst>
          <pc:docMk/>
          <pc:sldMk cId="0" sldId="501"/>
        </pc:sldMkLst>
        <pc:spChg chg="mod">
          <ac:chgData name="ambleic@clemson.edu" userId="43615028507_tp_box_2" providerId="OAuth2" clId="{5F4B9ABB-DEB5-4DC3-A8F9-1752A2D02C85}" dt="2026-07-21T12:00:29.744" v="1476" actId="1035"/>
          <ac:spMkLst>
            <pc:docMk/>
            <pc:sldMk cId="0" sldId="501"/>
            <ac:spMk id="2" creationId="{00000000-0000-0000-0000-000000000000}"/>
          </ac:spMkLst>
        </pc:spChg>
        <pc:spChg chg="mod">
          <ac:chgData name="ambleic@clemson.edu" userId="43615028507_tp_box_2" providerId="OAuth2" clId="{5F4B9ABB-DEB5-4DC3-A8F9-1752A2D02C85}" dt="2026-07-21T12:30:27.695" v="1884" actId="20577"/>
          <ac:spMkLst>
            <pc:docMk/>
            <pc:sldMk cId="0" sldId="501"/>
            <ac:spMk id="3" creationId="{00000000-0000-0000-0000-000000000000}"/>
          </ac:spMkLst>
        </pc:spChg>
        <pc:spChg chg="mod">
          <ac:chgData name="ambleic@clemson.edu" userId="43615028507_tp_box_2" providerId="OAuth2" clId="{5F4B9ABB-DEB5-4DC3-A8F9-1752A2D02C85}" dt="2026-07-21T12:17:18.346" v="1744" actId="1036"/>
          <ac:spMkLst>
            <pc:docMk/>
            <pc:sldMk cId="0" sldId="501"/>
            <ac:spMk id="4" creationId="{00000000-0000-0000-0000-000000000000}"/>
          </ac:spMkLst>
        </pc:spChg>
        <pc:spChg chg="mod">
          <ac:chgData name="ambleic@clemson.edu" userId="43615028507_tp_box_2" providerId="OAuth2" clId="{5F4B9ABB-DEB5-4DC3-A8F9-1752A2D02C85}" dt="2026-07-21T12:16:45.026" v="1728" actId="122"/>
          <ac:spMkLst>
            <pc:docMk/>
            <pc:sldMk cId="0" sldId="501"/>
            <ac:spMk id="5" creationId="{00000000-0000-0000-0000-000000000000}"/>
          </ac:spMkLst>
        </pc:spChg>
        <pc:spChg chg="mod">
          <ac:chgData name="ambleic@clemson.edu" userId="43615028507_tp_box_2" providerId="OAuth2" clId="{5F4B9ABB-DEB5-4DC3-A8F9-1752A2D02C85}" dt="2026-07-21T12:17:18.346" v="1744" actId="1036"/>
          <ac:spMkLst>
            <pc:docMk/>
            <pc:sldMk cId="0" sldId="501"/>
            <ac:spMk id="6" creationId="{00000000-0000-0000-0000-000000000000}"/>
          </ac:spMkLst>
        </pc:spChg>
        <pc:spChg chg="mod">
          <ac:chgData name="ambleic@clemson.edu" userId="43615028507_tp_box_2" providerId="OAuth2" clId="{5F4B9ABB-DEB5-4DC3-A8F9-1752A2D02C85}" dt="2026-07-21T12:17:18.346" v="1744" actId="1036"/>
          <ac:spMkLst>
            <pc:docMk/>
            <pc:sldMk cId="0" sldId="501"/>
            <ac:spMk id="7" creationId="{00000000-0000-0000-0000-000000000000}"/>
          </ac:spMkLst>
        </pc:spChg>
        <pc:spChg chg="mod">
          <ac:chgData name="ambleic@clemson.edu" userId="43615028507_tp_box_2" providerId="OAuth2" clId="{5F4B9ABB-DEB5-4DC3-A8F9-1752A2D02C85}" dt="2026-07-21T12:17:18.346" v="1744" actId="1036"/>
          <ac:spMkLst>
            <pc:docMk/>
            <pc:sldMk cId="0" sldId="501"/>
            <ac:spMk id="8" creationId="{00000000-0000-0000-0000-000000000000}"/>
          </ac:spMkLst>
        </pc:spChg>
        <pc:spChg chg="mod">
          <ac:chgData name="ambleic@clemson.edu" userId="43615028507_tp_box_2" providerId="OAuth2" clId="{5F4B9ABB-DEB5-4DC3-A8F9-1752A2D02C85}" dt="2026-07-21T12:17:18.346" v="1744" actId="1036"/>
          <ac:spMkLst>
            <pc:docMk/>
            <pc:sldMk cId="0" sldId="501"/>
            <ac:spMk id="9" creationId="{00000000-0000-0000-0000-000000000000}"/>
          </ac:spMkLst>
        </pc:spChg>
        <pc:spChg chg="mod">
          <ac:chgData name="ambleic@clemson.edu" userId="43615028507_tp_box_2" providerId="OAuth2" clId="{5F4B9ABB-DEB5-4DC3-A8F9-1752A2D02C85}" dt="2026-07-21T12:17:18.346" v="1744" actId="1036"/>
          <ac:spMkLst>
            <pc:docMk/>
            <pc:sldMk cId="0" sldId="501"/>
            <ac:spMk id="10" creationId="{00000000-0000-0000-0000-000000000000}"/>
          </ac:spMkLst>
        </pc:spChg>
        <pc:spChg chg="mod">
          <ac:chgData name="ambleic@clemson.edu" userId="43615028507_tp_box_2" providerId="OAuth2" clId="{5F4B9ABB-DEB5-4DC3-A8F9-1752A2D02C85}" dt="2026-07-21T12:17:18.346" v="1744" actId="1036"/>
          <ac:spMkLst>
            <pc:docMk/>
            <pc:sldMk cId="0" sldId="501"/>
            <ac:spMk id="11" creationId="{00000000-0000-0000-0000-000000000000}"/>
          </ac:spMkLst>
        </pc:spChg>
        <pc:spChg chg="mod">
          <ac:chgData name="ambleic@clemson.edu" userId="43615028507_tp_box_2" providerId="OAuth2" clId="{5F4B9ABB-DEB5-4DC3-A8F9-1752A2D02C85}" dt="2026-07-21T12:22:51.446" v="1761" actId="122"/>
          <ac:spMkLst>
            <pc:docMk/>
            <pc:sldMk cId="0" sldId="501"/>
            <ac:spMk id="13" creationId="{00000000-0000-0000-0000-000000000000}"/>
          </ac:spMkLst>
        </pc:spChg>
        <pc:spChg chg="mod">
          <ac:chgData name="ambleic@clemson.edu" userId="43615028507_tp_box_2" providerId="OAuth2" clId="{5F4B9ABB-DEB5-4DC3-A8F9-1752A2D02C85}" dt="2026-07-21T12:17:18.346" v="1744" actId="1036"/>
          <ac:spMkLst>
            <pc:docMk/>
            <pc:sldMk cId="0" sldId="501"/>
            <ac:spMk id="14" creationId="{00000000-0000-0000-0000-000000000000}"/>
          </ac:spMkLst>
        </pc:spChg>
        <pc:spChg chg="mod">
          <ac:chgData name="ambleic@clemson.edu" userId="43615028507_tp_box_2" providerId="OAuth2" clId="{5F4B9ABB-DEB5-4DC3-A8F9-1752A2D02C85}" dt="2026-07-21T12:17:18.346" v="1744" actId="1036"/>
          <ac:spMkLst>
            <pc:docMk/>
            <pc:sldMk cId="0" sldId="501"/>
            <ac:spMk id="15" creationId="{00000000-0000-0000-0000-000000000000}"/>
          </ac:spMkLst>
        </pc:spChg>
        <pc:spChg chg="mod">
          <ac:chgData name="ambleic@clemson.edu" userId="43615028507_tp_box_2" providerId="OAuth2" clId="{5F4B9ABB-DEB5-4DC3-A8F9-1752A2D02C85}" dt="2026-07-21T12:17:32.197" v="1746" actId="14100"/>
          <ac:spMkLst>
            <pc:docMk/>
            <pc:sldMk cId="0" sldId="501"/>
            <ac:spMk id="16" creationId="{00000000-0000-0000-0000-000000000000}"/>
          </ac:spMkLst>
        </pc:spChg>
        <pc:spChg chg="mod">
          <ac:chgData name="ambleic@clemson.edu" userId="43615028507_tp_box_2" providerId="OAuth2" clId="{5F4B9ABB-DEB5-4DC3-A8F9-1752A2D02C85}" dt="2026-07-21T12:03:20.171" v="1605" actId="1036"/>
          <ac:spMkLst>
            <pc:docMk/>
            <pc:sldMk cId="0" sldId="501"/>
            <ac:spMk id="17" creationId="{00000000-0000-0000-0000-000000000000}"/>
          </ac:spMkLst>
        </pc:spChg>
        <pc:spChg chg="mod">
          <ac:chgData name="ambleic@clemson.edu" userId="43615028507_tp_box_2" providerId="OAuth2" clId="{5F4B9ABB-DEB5-4DC3-A8F9-1752A2D02C85}" dt="2026-07-21T12:05:59.325" v="1613" actId="255"/>
          <ac:spMkLst>
            <pc:docMk/>
            <pc:sldMk cId="0" sldId="501"/>
            <ac:spMk id="18" creationId="{00000000-0000-0000-0000-000000000000}"/>
          </ac:spMkLst>
        </pc:spChg>
        <pc:spChg chg="mod">
          <ac:chgData name="ambleic@clemson.edu" userId="43615028507_tp_box_2" providerId="OAuth2" clId="{5F4B9ABB-DEB5-4DC3-A8F9-1752A2D02C85}" dt="2026-07-21T12:30:03.582" v="1830" actId="20577"/>
          <ac:spMkLst>
            <pc:docMk/>
            <pc:sldMk cId="0" sldId="501"/>
            <ac:spMk id="19" creationId="{00000000-0000-0000-0000-000000000000}"/>
          </ac:spMkLst>
        </pc:spChg>
      </pc:sldChg>
      <pc:sldChg chg="addSp new del mod">
        <pc:chgData name="ambleic@clemson.edu" userId="43615028507_tp_box_2" providerId="OAuth2" clId="{5F4B9ABB-DEB5-4DC3-A8F9-1752A2D02C85}" dt="2026-07-21T11:28:55.167" v="1456" actId="47"/>
        <pc:sldMkLst>
          <pc:docMk/>
          <pc:sldMk cId="3952220132" sldId="501"/>
        </pc:sldMkLst>
        <pc:picChg chg="add">
          <ac:chgData name="ambleic@clemson.edu" userId="43615028507_tp_box_2" providerId="OAuth2" clId="{5F4B9ABB-DEB5-4DC3-A8F9-1752A2D02C85}" dt="2026-07-21T11:18:59.806" v="1031" actId="22"/>
          <ac:picMkLst>
            <pc:docMk/>
            <pc:sldMk cId="3952220132" sldId="501"/>
            <ac:picMk id="5" creationId="{343266B7-935C-B40D-9B48-06147DDA8A0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9803D5-4F08-42F6-883A-987F6CECEED6}"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C97378-0737-4EFF-8472-F1391AE3C220}" type="slidenum">
              <a:rPr lang="en-US" smtClean="0"/>
              <a:t>‹#›</a:t>
            </a:fld>
            <a:endParaRPr lang="en-US"/>
          </a:p>
        </p:txBody>
      </p:sp>
    </p:spTree>
    <p:extLst>
      <p:ext uri="{BB962C8B-B14F-4D97-AF65-F5344CB8AC3E}">
        <p14:creationId xmlns:p14="http://schemas.microsoft.com/office/powerpoint/2010/main" val="4125538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2</a:t>
            </a:fld>
            <a:endParaRPr lang="en-US"/>
          </a:p>
        </p:txBody>
      </p:sp>
    </p:spTree>
    <p:extLst>
      <p:ext uri="{BB962C8B-B14F-4D97-AF65-F5344CB8AC3E}">
        <p14:creationId xmlns:p14="http://schemas.microsoft.com/office/powerpoint/2010/main" val="4125552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3</a:t>
            </a:fld>
            <a:endParaRPr lang="en-US"/>
          </a:p>
        </p:txBody>
      </p:sp>
    </p:spTree>
    <p:extLst>
      <p:ext uri="{BB962C8B-B14F-4D97-AF65-F5344CB8AC3E}">
        <p14:creationId xmlns:p14="http://schemas.microsoft.com/office/powerpoint/2010/main" val="4086208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4</a:t>
            </a:fld>
            <a:endParaRPr lang="en-US"/>
          </a:p>
        </p:txBody>
      </p:sp>
    </p:spTree>
    <p:extLst>
      <p:ext uri="{BB962C8B-B14F-4D97-AF65-F5344CB8AC3E}">
        <p14:creationId xmlns:p14="http://schemas.microsoft.com/office/powerpoint/2010/main" val="3952070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5</a:t>
            </a:fld>
            <a:endParaRPr lang="en-US"/>
          </a:p>
        </p:txBody>
      </p:sp>
    </p:spTree>
    <p:extLst>
      <p:ext uri="{BB962C8B-B14F-4D97-AF65-F5344CB8AC3E}">
        <p14:creationId xmlns:p14="http://schemas.microsoft.com/office/powerpoint/2010/main" val="2552426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7</a:t>
            </a:fld>
            <a:endParaRPr lang="en-US"/>
          </a:p>
        </p:txBody>
      </p:sp>
    </p:spTree>
    <p:extLst>
      <p:ext uri="{BB962C8B-B14F-4D97-AF65-F5344CB8AC3E}">
        <p14:creationId xmlns:p14="http://schemas.microsoft.com/office/powerpoint/2010/main" val="1754367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8</a:t>
            </a:fld>
            <a:endParaRPr lang="en-US"/>
          </a:p>
        </p:txBody>
      </p:sp>
    </p:spTree>
    <p:extLst>
      <p:ext uri="{BB962C8B-B14F-4D97-AF65-F5344CB8AC3E}">
        <p14:creationId xmlns:p14="http://schemas.microsoft.com/office/powerpoint/2010/main" val="554700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3446E-B149-2862-7C20-DBFB8BB05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E64350-7462-63E7-BC31-778E06EE19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D0B28-99CA-B669-8A4C-84666212E2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2EDDAF-BD99-FD5C-7772-945FA2327B68}"/>
              </a:ext>
            </a:extLst>
          </p:cNvPr>
          <p:cNvSpPr>
            <a:spLocks noGrp="1"/>
          </p:cNvSpPr>
          <p:nvPr>
            <p:ph type="sldNum" sz="quarter" idx="5"/>
          </p:nvPr>
        </p:nvSpPr>
        <p:spPr/>
        <p:txBody>
          <a:bodyPr/>
          <a:lstStyle/>
          <a:p>
            <a:fld id="{22C97378-0737-4EFF-8472-F1391AE3C220}" type="slidenum">
              <a:rPr lang="en-US" smtClean="0"/>
              <a:t>11</a:t>
            </a:fld>
            <a:endParaRPr lang="en-US"/>
          </a:p>
        </p:txBody>
      </p:sp>
    </p:spTree>
    <p:extLst>
      <p:ext uri="{BB962C8B-B14F-4D97-AF65-F5344CB8AC3E}">
        <p14:creationId xmlns:p14="http://schemas.microsoft.com/office/powerpoint/2010/main" val="3431021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12</a:t>
            </a:fld>
            <a:endParaRPr lang="en-US"/>
          </a:p>
        </p:txBody>
      </p:sp>
    </p:spTree>
    <p:extLst>
      <p:ext uri="{BB962C8B-B14F-4D97-AF65-F5344CB8AC3E}">
        <p14:creationId xmlns:p14="http://schemas.microsoft.com/office/powerpoint/2010/main" val="4149172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13</a:t>
            </a:fld>
            <a:endParaRPr lang="en-US"/>
          </a:p>
        </p:txBody>
      </p:sp>
    </p:spTree>
    <p:extLst>
      <p:ext uri="{BB962C8B-B14F-4D97-AF65-F5344CB8AC3E}">
        <p14:creationId xmlns:p14="http://schemas.microsoft.com/office/powerpoint/2010/main" val="2055788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14</a:t>
            </a:fld>
            <a:endParaRPr lang="en-US"/>
          </a:p>
        </p:txBody>
      </p:sp>
    </p:spTree>
    <p:extLst>
      <p:ext uri="{BB962C8B-B14F-4D97-AF65-F5344CB8AC3E}">
        <p14:creationId xmlns:p14="http://schemas.microsoft.com/office/powerpoint/2010/main" val="2442662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0CBFE-09C2-E5A2-C44B-7865B0723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049A2-C9A0-9409-DEA9-FBFF43745B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2A2F9-54C2-7A50-DBDC-C5E5226810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A60A7B-6501-7870-A14B-4CB327CD5978}"/>
              </a:ext>
            </a:extLst>
          </p:cNvPr>
          <p:cNvSpPr>
            <a:spLocks noGrp="1"/>
          </p:cNvSpPr>
          <p:nvPr>
            <p:ph type="sldNum" sz="quarter" idx="5"/>
          </p:nvPr>
        </p:nvSpPr>
        <p:spPr/>
        <p:txBody>
          <a:bodyPr/>
          <a:lstStyle/>
          <a:p>
            <a:fld id="{22C97378-0737-4EFF-8472-F1391AE3C220}" type="slidenum">
              <a:rPr lang="en-US" smtClean="0"/>
              <a:t>15</a:t>
            </a:fld>
            <a:endParaRPr lang="en-US"/>
          </a:p>
        </p:txBody>
      </p:sp>
    </p:spTree>
    <p:extLst>
      <p:ext uri="{BB962C8B-B14F-4D97-AF65-F5344CB8AC3E}">
        <p14:creationId xmlns:p14="http://schemas.microsoft.com/office/powerpoint/2010/main" val="720469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16</a:t>
            </a:fld>
            <a:endParaRPr lang="en-US"/>
          </a:p>
        </p:txBody>
      </p:sp>
    </p:spTree>
    <p:extLst>
      <p:ext uri="{BB962C8B-B14F-4D97-AF65-F5344CB8AC3E}">
        <p14:creationId xmlns:p14="http://schemas.microsoft.com/office/powerpoint/2010/main" val="2637586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17</a:t>
            </a:fld>
            <a:endParaRPr lang="en-US"/>
          </a:p>
        </p:txBody>
      </p:sp>
    </p:spTree>
    <p:extLst>
      <p:ext uri="{BB962C8B-B14F-4D97-AF65-F5344CB8AC3E}">
        <p14:creationId xmlns:p14="http://schemas.microsoft.com/office/powerpoint/2010/main" val="1349328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18</a:t>
            </a:fld>
            <a:endParaRPr lang="en-US"/>
          </a:p>
        </p:txBody>
      </p:sp>
    </p:spTree>
    <p:extLst>
      <p:ext uri="{BB962C8B-B14F-4D97-AF65-F5344CB8AC3E}">
        <p14:creationId xmlns:p14="http://schemas.microsoft.com/office/powerpoint/2010/main" val="2270991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19</a:t>
            </a:fld>
            <a:endParaRPr lang="en-US"/>
          </a:p>
        </p:txBody>
      </p:sp>
    </p:spTree>
    <p:extLst>
      <p:ext uri="{BB962C8B-B14F-4D97-AF65-F5344CB8AC3E}">
        <p14:creationId xmlns:p14="http://schemas.microsoft.com/office/powerpoint/2010/main" val="4058317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20</a:t>
            </a:fld>
            <a:endParaRPr lang="en-US"/>
          </a:p>
        </p:txBody>
      </p:sp>
    </p:spTree>
    <p:extLst>
      <p:ext uri="{BB962C8B-B14F-4D97-AF65-F5344CB8AC3E}">
        <p14:creationId xmlns:p14="http://schemas.microsoft.com/office/powerpoint/2010/main" val="3265732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23</a:t>
            </a:fld>
            <a:endParaRPr lang="en-US"/>
          </a:p>
        </p:txBody>
      </p:sp>
    </p:spTree>
    <p:extLst>
      <p:ext uri="{BB962C8B-B14F-4D97-AF65-F5344CB8AC3E}">
        <p14:creationId xmlns:p14="http://schemas.microsoft.com/office/powerpoint/2010/main" val="943469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24</a:t>
            </a:fld>
            <a:endParaRPr lang="en-US"/>
          </a:p>
        </p:txBody>
      </p:sp>
    </p:spTree>
    <p:extLst>
      <p:ext uri="{BB962C8B-B14F-4D97-AF65-F5344CB8AC3E}">
        <p14:creationId xmlns:p14="http://schemas.microsoft.com/office/powerpoint/2010/main" val="35196347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B75FD-7E5C-72B1-0CD9-258A1D5DC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37A14-E9EE-F28E-8EEA-E4E9C87732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F98E96-449B-886E-94AE-4A7845CC3FBE}"/>
              </a:ext>
            </a:extLst>
          </p:cNvPr>
          <p:cNvSpPr>
            <a:spLocks noGrp="1"/>
          </p:cNvSpPr>
          <p:nvPr>
            <p:ph type="body" idx="1"/>
          </p:nvPr>
        </p:nvSpPr>
        <p:spPr/>
        <p:txBody>
          <a:bodyPr/>
          <a:lstStyle/>
          <a:p>
            <a:pPr marL="91440" marR="0" lvl="0" indent="-9144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Char char="o"/>
              <a:tabLst/>
              <a:defRPr/>
            </a:pPr>
            <a:endParaRPr lang="en-US"/>
          </a:p>
        </p:txBody>
      </p:sp>
      <p:sp>
        <p:nvSpPr>
          <p:cNvPr id="4" name="Slide Number Placeholder 3">
            <a:extLst>
              <a:ext uri="{FF2B5EF4-FFF2-40B4-BE49-F238E27FC236}">
                <a16:creationId xmlns:a16="http://schemas.microsoft.com/office/drawing/2014/main" id="{21F04B8D-4B2D-6C41-6B02-06D81B524879}"/>
              </a:ext>
            </a:extLst>
          </p:cNvPr>
          <p:cNvSpPr>
            <a:spLocks noGrp="1"/>
          </p:cNvSpPr>
          <p:nvPr>
            <p:ph type="sldNum" sz="quarter" idx="5"/>
          </p:nvPr>
        </p:nvSpPr>
        <p:spPr/>
        <p:txBody>
          <a:bodyPr/>
          <a:lstStyle/>
          <a:p>
            <a:fld id="{714AA50D-1954-4E07-B31A-F11C899FC54D}" type="slidenum">
              <a:rPr lang="en-US" smtClean="0"/>
              <a:t>25</a:t>
            </a:fld>
            <a:endParaRPr lang="en-US"/>
          </a:p>
        </p:txBody>
      </p:sp>
    </p:spTree>
    <p:extLst>
      <p:ext uri="{BB962C8B-B14F-4D97-AF65-F5344CB8AC3E}">
        <p14:creationId xmlns:p14="http://schemas.microsoft.com/office/powerpoint/2010/main" val="18275539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707CA-5164-F7BA-2215-E99367C17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8DC94-1AA8-FA1B-1C63-46910BA47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F8C1EF-FF42-FFB9-BAC7-BADF323994C8}"/>
              </a:ext>
            </a:extLst>
          </p:cNvPr>
          <p:cNvSpPr>
            <a:spLocks noGrp="1"/>
          </p:cNvSpPr>
          <p:nvPr>
            <p:ph type="body" idx="1"/>
          </p:nvPr>
        </p:nvSpPr>
        <p:spPr/>
        <p:txBody>
          <a:bodyPr/>
          <a:lstStyle/>
          <a:p>
            <a:pPr marL="91440" marR="0" lvl="0" indent="-9144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Char char="o"/>
              <a:tabLst/>
              <a:defRPr/>
            </a:pPr>
            <a:endParaRPr lang="en-US" dirty="0"/>
          </a:p>
        </p:txBody>
      </p:sp>
      <p:sp>
        <p:nvSpPr>
          <p:cNvPr id="4" name="Slide Number Placeholder 3">
            <a:extLst>
              <a:ext uri="{FF2B5EF4-FFF2-40B4-BE49-F238E27FC236}">
                <a16:creationId xmlns:a16="http://schemas.microsoft.com/office/drawing/2014/main" id="{F4A78534-7C48-77AD-F34C-8B2C4B5D2675}"/>
              </a:ext>
            </a:extLst>
          </p:cNvPr>
          <p:cNvSpPr>
            <a:spLocks noGrp="1"/>
          </p:cNvSpPr>
          <p:nvPr>
            <p:ph type="sldNum" sz="quarter" idx="5"/>
          </p:nvPr>
        </p:nvSpPr>
        <p:spPr/>
        <p:txBody>
          <a:bodyPr/>
          <a:lstStyle/>
          <a:p>
            <a:fld id="{714AA50D-1954-4E07-B31A-F11C899FC54D}" type="slidenum">
              <a:rPr lang="en-US" smtClean="0"/>
              <a:t>26</a:t>
            </a:fld>
            <a:endParaRPr lang="en-US"/>
          </a:p>
        </p:txBody>
      </p:sp>
    </p:spTree>
    <p:extLst>
      <p:ext uri="{BB962C8B-B14F-4D97-AF65-F5344CB8AC3E}">
        <p14:creationId xmlns:p14="http://schemas.microsoft.com/office/powerpoint/2010/main" val="26172813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https://blogs.cisco.com/analytics-automation/arima2</a:t>
            </a:r>
          </a:p>
        </p:txBody>
      </p:sp>
      <p:sp>
        <p:nvSpPr>
          <p:cNvPr id="4" name="Slide Number Placeholder 3"/>
          <p:cNvSpPr>
            <a:spLocks noGrp="1"/>
          </p:cNvSpPr>
          <p:nvPr>
            <p:ph type="sldNum" sz="quarter" idx="5"/>
          </p:nvPr>
        </p:nvSpPr>
        <p:spPr/>
        <p:txBody>
          <a:bodyPr/>
          <a:lstStyle/>
          <a:p>
            <a:fld id="{714AA50D-1954-4E07-B31A-F11C899FC54D}" type="slidenum">
              <a:rPr lang="en-US" smtClean="0"/>
              <a:t>27</a:t>
            </a:fld>
            <a:endParaRPr lang="en-US"/>
          </a:p>
        </p:txBody>
      </p:sp>
    </p:spTree>
    <p:extLst>
      <p:ext uri="{BB962C8B-B14F-4D97-AF65-F5344CB8AC3E}">
        <p14:creationId xmlns:p14="http://schemas.microsoft.com/office/powerpoint/2010/main" val="3622399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751C5-00A8-1C03-ED32-0C14AB4546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44CF2-EBE4-4135-9D08-BAA3CF8B1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591366-D218-B20F-3D3A-C499EB70CCCF}"/>
              </a:ext>
            </a:extLst>
          </p:cNvPr>
          <p:cNvSpPr>
            <a:spLocks noGrp="1"/>
          </p:cNvSpPr>
          <p:nvPr>
            <p:ph type="body" idx="1"/>
          </p:nvPr>
        </p:nvSpPr>
        <p:spPr/>
        <p:txBody>
          <a:bodyPr/>
          <a:lstStyle/>
          <a:p>
            <a:pPr marL="91440" marR="0" lvl="0" indent="-9144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Char char="o"/>
              <a:tabLst/>
              <a:defRPr/>
            </a:pPr>
            <a:endParaRPr lang="en-US"/>
          </a:p>
        </p:txBody>
      </p:sp>
      <p:sp>
        <p:nvSpPr>
          <p:cNvPr id="4" name="Slide Number Placeholder 3">
            <a:extLst>
              <a:ext uri="{FF2B5EF4-FFF2-40B4-BE49-F238E27FC236}">
                <a16:creationId xmlns:a16="http://schemas.microsoft.com/office/drawing/2014/main" id="{EE260BBA-27EA-06D4-946A-A226E198FA87}"/>
              </a:ext>
            </a:extLst>
          </p:cNvPr>
          <p:cNvSpPr>
            <a:spLocks noGrp="1"/>
          </p:cNvSpPr>
          <p:nvPr>
            <p:ph type="sldNum" sz="quarter" idx="5"/>
          </p:nvPr>
        </p:nvSpPr>
        <p:spPr/>
        <p:txBody>
          <a:bodyPr/>
          <a:lstStyle/>
          <a:p>
            <a:fld id="{714AA50D-1954-4E07-B31A-F11C899FC54D}" type="slidenum">
              <a:rPr lang="en-US" smtClean="0"/>
              <a:t>28</a:t>
            </a:fld>
            <a:endParaRPr lang="en-US"/>
          </a:p>
        </p:txBody>
      </p:sp>
    </p:spTree>
    <p:extLst>
      <p:ext uri="{BB962C8B-B14F-4D97-AF65-F5344CB8AC3E}">
        <p14:creationId xmlns:p14="http://schemas.microsoft.com/office/powerpoint/2010/main" val="5911256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4B945-BEEC-9A05-C029-1E6CB9C196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EE0B2-6908-D1DB-24D2-701C4BEB4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092068-56A9-50F4-1DBB-B25DE783CAC3}"/>
              </a:ext>
            </a:extLst>
          </p:cNvPr>
          <p:cNvSpPr>
            <a:spLocks noGrp="1"/>
          </p:cNvSpPr>
          <p:nvPr>
            <p:ph type="body" idx="1"/>
          </p:nvPr>
        </p:nvSpPr>
        <p:spPr/>
        <p:txBody>
          <a:bodyPr/>
          <a:lstStyle/>
          <a:p>
            <a:pPr marL="91440" marR="0" lvl="0" indent="-9144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Char char="o"/>
              <a:tabLst/>
              <a:defRPr/>
            </a:pPr>
            <a:endParaRPr lang="en-US" dirty="0"/>
          </a:p>
        </p:txBody>
      </p:sp>
      <p:sp>
        <p:nvSpPr>
          <p:cNvPr id="4" name="Slide Number Placeholder 3">
            <a:extLst>
              <a:ext uri="{FF2B5EF4-FFF2-40B4-BE49-F238E27FC236}">
                <a16:creationId xmlns:a16="http://schemas.microsoft.com/office/drawing/2014/main" id="{8B4C2438-210F-5876-E776-5443CB30B6A5}"/>
              </a:ext>
            </a:extLst>
          </p:cNvPr>
          <p:cNvSpPr>
            <a:spLocks noGrp="1"/>
          </p:cNvSpPr>
          <p:nvPr>
            <p:ph type="sldNum" sz="quarter" idx="5"/>
          </p:nvPr>
        </p:nvSpPr>
        <p:spPr/>
        <p:txBody>
          <a:bodyPr/>
          <a:lstStyle/>
          <a:p>
            <a:fld id="{714AA50D-1954-4E07-B31A-F11C899FC54D}" type="slidenum">
              <a:rPr lang="en-US" smtClean="0"/>
              <a:t>29</a:t>
            </a:fld>
            <a:endParaRPr lang="en-US"/>
          </a:p>
        </p:txBody>
      </p:sp>
    </p:spTree>
    <p:extLst>
      <p:ext uri="{BB962C8B-B14F-4D97-AF65-F5344CB8AC3E}">
        <p14:creationId xmlns:p14="http://schemas.microsoft.com/office/powerpoint/2010/main" val="4751589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CBDDB-6BF7-45DA-3B87-D5B029A19A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0B613-876E-67D8-25CF-894E2F4B89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F0FA0-A167-9FA2-D3F9-AE2EC542AF1A}"/>
              </a:ext>
            </a:extLst>
          </p:cNvPr>
          <p:cNvSpPr>
            <a:spLocks noGrp="1"/>
          </p:cNvSpPr>
          <p:nvPr>
            <p:ph type="body" idx="1"/>
          </p:nvPr>
        </p:nvSpPr>
        <p:spPr/>
        <p:txBody>
          <a:bodyPr/>
          <a:lstStyle/>
          <a:p>
            <a:pPr marL="91440" marR="0" lvl="0" indent="-9144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Char char="o"/>
              <a:tabLst/>
              <a:defRPr/>
            </a:pPr>
            <a:endParaRPr lang="en-US" dirty="0"/>
          </a:p>
        </p:txBody>
      </p:sp>
      <p:sp>
        <p:nvSpPr>
          <p:cNvPr id="4" name="Slide Number Placeholder 3">
            <a:extLst>
              <a:ext uri="{FF2B5EF4-FFF2-40B4-BE49-F238E27FC236}">
                <a16:creationId xmlns:a16="http://schemas.microsoft.com/office/drawing/2014/main" id="{22757B44-B4B3-9FC3-CCE2-5904D74F3C35}"/>
              </a:ext>
            </a:extLst>
          </p:cNvPr>
          <p:cNvSpPr>
            <a:spLocks noGrp="1"/>
          </p:cNvSpPr>
          <p:nvPr>
            <p:ph type="sldNum" sz="quarter" idx="5"/>
          </p:nvPr>
        </p:nvSpPr>
        <p:spPr/>
        <p:txBody>
          <a:bodyPr/>
          <a:lstStyle/>
          <a:p>
            <a:fld id="{714AA50D-1954-4E07-B31A-F11C899FC54D}" type="slidenum">
              <a:rPr lang="en-US" smtClean="0"/>
              <a:t>30</a:t>
            </a:fld>
            <a:endParaRPr lang="en-US"/>
          </a:p>
        </p:txBody>
      </p:sp>
    </p:spTree>
    <p:extLst>
      <p:ext uri="{BB962C8B-B14F-4D97-AF65-F5344CB8AC3E}">
        <p14:creationId xmlns:p14="http://schemas.microsoft.com/office/powerpoint/2010/main" val="197510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4AA50D-1954-4E07-B31A-F11C899FC54D}" type="slidenum">
              <a:rPr lang="en-US" smtClean="0"/>
              <a:t>31</a:t>
            </a:fld>
            <a:endParaRPr lang="en-US"/>
          </a:p>
        </p:txBody>
      </p:sp>
    </p:spTree>
    <p:extLst>
      <p:ext uri="{BB962C8B-B14F-4D97-AF65-F5344CB8AC3E}">
        <p14:creationId xmlns:p14="http://schemas.microsoft.com/office/powerpoint/2010/main" val="18461749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33</a:t>
            </a:fld>
            <a:endParaRPr lang="en-US"/>
          </a:p>
        </p:txBody>
      </p:sp>
    </p:spTree>
    <p:extLst>
      <p:ext uri="{BB962C8B-B14F-4D97-AF65-F5344CB8AC3E}">
        <p14:creationId xmlns:p14="http://schemas.microsoft.com/office/powerpoint/2010/main" val="522750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https://www.lancaster.ac.uk/stor-i-stu</a:t>
            </a:r>
          </a:p>
          <a:p>
            <a:r>
              <a:rPr lang="en-US" dirty="0"/>
              <a:t>https://en.wikipedia.org/wiki/Flat_splinedent-sites/tamas-papp/2020/02/10/splines/</a:t>
            </a:r>
          </a:p>
        </p:txBody>
      </p:sp>
      <p:sp>
        <p:nvSpPr>
          <p:cNvPr id="4" name="Slide Number Placeholder 3"/>
          <p:cNvSpPr>
            <a:spLocks noGrp="1"/>
          </p:cNvSpPr>
          <p:nvPr>
            <p:ph type="sldNum" sz="quarter" idx="5"/>
          </p:nvPr>
        </p:nvSpPr>
        <p:spPr/>
        <p:txBody>
          <a:bodyPr/>
          <a:lstStyle/>
          <a:p>
            <a:fld id="{22C97378-0737-4EFF-8472-F1391AE3C220}" type="slidenum">
              <a:rPr lang="en-US" smtClean="0"/>
              <a:t>35</a:t>
            </a:fld>
            <a:endParaRPr lang="en-US"/>
          </a:p>
        </p:txBody>
      </p:sp>
    </p:spTree>
    <p:extLst>
      <p:ext uri="{BB962C8B-B14F-4D97-AF65-F5344CB8AC3E}">
        <p14:creationId xmlns:p14="http://schemas.microsoft.com/office/powerpoint/2010/main" val="40712896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37</a:t>
            </a:fld>
            <a:endParaRPr lang="en-US"/>
          </a:p>
        </p:txBody>
      </p:sp>
    </p:spTree>
    <p:extLst>
      <p:ext uri="{BB962C8B-B14F-4D97-AF65-F5344CB8AC3E}">
        <p14:creationId xmlns:p14="http://schemas.microsoft.com/office/powerpoint/2010/main" val="21161726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39</a:t>
            </a:fld>
            <a:endParaRPr lang="en-US"/>
          </a:p>
        </p:txBody>
      </p:sp>
    </p:spTree>
    <p:extLst>
      <p:ext uri="{BB962C8B-B14F-4D97-AF65-F5344CB8AC3E}">
        <p14:creationId xmlns:p14="http://schemas.microsoft.com/office/powerpoint/2010/main" val="34957552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70</a:t>
            </a:fld>
            <a:endParaRPr lang="en-US"/>
          </a:p>
        </p:txBody>
      </p:sp>
    </p:spTree>
    <p:extLst>
      <p:ext uri="{BB962C8B-B14F-4D97-AF65-F5344CB8AC3E}">
        <p14:creationId xmlns:p14="http://schemas.microsoft.com/office/powerpoint/2010/main" val="9590088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71</a:t>
            </a:fld>
            <a:endParaRPr lang="en-US"/>
          </a:p>
        </p:txBody>
      </p:sp>
    </p:spTree>
    <p:extLst>
      <p:ext uri="{BB962C8B-B14F-4D97-AF65-F5344CB8AC3E}">
        <p14:creationId xmlns:p14="http://schemas.microsoft.com/office/powerpoint/2010/main" val="15542412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B75FD-7E5C-72B1-0CD9-258A1D5DC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37A14-E9EE-F28E-8EEA-E4E9C87732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F98E96-449B-886E-94AE-4A7845CC3FBE}"/>
              </a:ext>
            </a:extLst>
          </p:cNvPr>
          <p:cNvSpPr>
            <a:spLocks noGrp="1"/>
          </p:cNvSpPr>
          <p:nvPr>
            <p:ph type="body" idx="1"/>
          </p:nvPr>
        </p:nvSpPr>
        <p:spPr/>
        <p:txBody>
          <a:bodyPr/>
          <a:lstStyle/>
          <a:p>
            <a:pPr marL="0" marR="0" lvl="0" indent="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None/>
              <a:tabLst/>
              <a:defRPr/>
            </a:pPr>
            <a:endParaRPr lang="en-US"/>
          </a:p>
        </p:txBody>
      </p:sp>
      <p:sp>
        <p:nvSpPr>
          <p:cNvPr id="4" name="Slide Number Placeholder 3">
            <a:extLst>
              <a:ext uri="{FF2B5EF4-FFF2-40B4-BE49-F238E27FC236}">
                <a16:creationId xmlns:a16="http://schemas.microsoft.com/office/drawing/2014/main" id="{21F04B8D-4B2D-6C41-6B02-06D81B524879}"/>
              </a:ext>
            </a:extLst>
          </p:cNvPr>
          <p:cNvSpPr>
            <a:spLocks noGrp="1"/>
          </p:cNvSpPr>
          <p:nvPr>
            <p:ph type="sldNum" sz="quarter" idx="5"/>
          </p:nvPr>
        </p:nvSpPr>
        <p:spPr/>
        <p:txBody>
          <a:bodyPr/>
          <a:lstStyle/>
          <a:p>
            <a:fld id="{714AA50D-1954-4E07-B31A-F11C899FC54D}" type="slidenum">
              <a:rPr lang="en-US" smtClean="0"/>
              <a:t>75</a:t>
            </a:fld>
            <a:endParaRPr lang="en-US"/>
          </a:p>
        </p:txBody>
      </p:sp>
    </p:spTree>
    <p:extLst>
      <p:ext uri="{BB962C8B-B14F-4D97-AF65-F5344CB8AC3E}">
        <p14:creationId xmlns:p14="http://schemas.microsoft.com/office/powerpoint/2010/main" val="182755392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D2A19-D3D7-0E4C-13FB-93BB501A1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86FB6C-CEC5-BF7E-B45D-77991414B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BA0F5-A497-7C5E-93EB-FC6F072989BE}"/>
              </a:ext>
            </a:extLst>
          </p:cNvPr>
          <p:cNvSpPr>
            <a:spLocks noGrp="1"/>
          </p:cNvSpPr>
          <p:nvPr>
            <p:ph type="body" idx="1"/>
          </p:nvPr>
        </p:nvSpPr>
        <p:spPr/>
        <p:txBody>
          <a:bodyPr/>
          <a:lstStyle/>
          <a:p>
            <a:pPr marL="0" marR="0" lvl="0" indent="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None/>
              <a:tabLst/>
              <a:defRPr/>
            </a:pPr>
            <a:endParaRPr lang="en-US"/>
          </a:p>
        </p:txBody>
      </p:sp>
      <p:sp>
        <p:nvSpPr>
          <p:cNvPr id="4" name="Slide Number Placeholder 3">
            <a:extLst>
              <a:ext uri="{FF2B5EF4-FFF2-40B4-BE49-F238E27FC236}">
                <a16:creationId xmlns:a16="http://schemas.microsoft.com/office/drawing/2014/main" id="{D3089ADD-0667-1BB1-28F9-219F2D859156}"/>
              </a:ext>
            </a:extLst>
          </p:cNvPr>
          <p:cNvSpPr>
            <a:spLocks noGrp="1"/>
          </p:cNvSpPr>
          <p:nvPr>
            <p:ph type="sldNum" sz="quarter" idx="5"/>
          </p:nvPr>
        </p:nvSpPr>
        <p:spPr/>
        <p:txBody>
          <a:bodyPr/>
          <a:lstStyle/>
          <a:p>
            <a:fld id="{714AA50D-1954-4E07-B31A-F11C899FC54D}" type="slidenum">
              <a:rPr lang="en-US" smtClean="0"/>
              <a:t>77</a:t>
            </a:fld>
            <a:endParaRPr lang="en-US"/>
          </a:p>
        </p:txBody>
      </p:sp>
    </p:spTree>
    <p:extLst>
      <p:ext uri="{BB962C8B-B14F-4D97-AF65-F5344CB8AC3E}">
        <p14:creationId xmlns:p14="http://schemas.microsoft.com/office/powerpoint/2010/main" val="234100149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20AEF1-C001-4424-A118-FA9FF27CDD9F}" type="slidenum">
              <a:rPr lang="en-US" smtClean="0"/>
              <a:t>78</a:t>
            </a:fld>
            <a:endParaRPr lang="en-US"/>
          </a:p>
        </p:txBody>
      </p:sp>
    </p:spTree>
    <p:extLst>
      <p:ext uri="{BB962C8B-B14F-4D97-AF65-F5344CB8AC3E}">
        <p14:creationId xmlns:p14="http://schemas.microsoft.com/office/powerpoint/2010/main" val="260486561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52E32-A0DA-3931-30FD-00ECDD52A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41FAB-E44E-1FCF-06D3-BBC1E31E61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6E015-4D6C-89EF-B427-D9382BFFD061}"/>
              </a:ext>
            </a:extLst>
          </p:cNvPr>
          <p:cNvSpPr>
            <a:spLocks noGrp="1"/>
          </p:cNvSpPr>
          <p:nvPr>
            <p:ph type="body" idx="1"/>
          </p:nvPr>
        </p:nvSpPr>
        <p:spPr/>
        <p:txBody>
          <a:bodyPr/>
          <a:lstStyle/>
          <a:p>
            <a:pPr marL="0" marR="0" lvl="0" indent="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None/>
              <a:tabLst/>
              <a:defRPr/>
            </a:pPr>
            <a:endParaRPr lang="en-US" dirty="0"/>
          </a:p>
        </p:txBody>
      </p:sp>
      <p:sp>
        <p:nvSpPr>
          <p:cNvPr id="4" name="Slide Number Placeholder 3">
            <a:extLst>
              <a:ext uri="{FF2B5EF4-FFF2-40B4-BE49-F238E27FC236}">
                <a16:creationId xmlns:a16="http://schemas.microsoft.com/office/drawing/2014/main" id="{A638BEAA-5693-C281-1AEC-5FB238D27673}"/>
              </a:ext>
            </a:extLst>
          </p:cNvPr>
          <p:cNvSpPr>
            <a:spLocks noGrp="1"/>
          </p:cNvSpPr>
          <p:nvPr>
            <p:ph type="sldNum" sz="quarter" idx="5"/>
          </p:nvPr>
        </p:nvSpPr>
        <p:spPr/>
        <p:txBody>
          <a:bodyPr/>
          <a:lstStyle/>
          <a:p>
            <a:fld id="{714AA50D-1954-4E07-B31A-F11C899FC54D}" type="slidenum">
              <a:rPr lang="en-US" smtClean="0"/>
              <a:t>79</a:t>
            </a:fld>
            <a:endParaRPr lang="en-US"/>
          </a:p>
        </p:txBody>
      </p:sp>
    </p:spTree>
    <p:extLst>
      <p:ext uri="{BB962C8B-B14F-4D97-AF65-F5344CB8AC3E}">
        <p14:creationId xmlns:p14="http://schemas.microsoft.com/office/powerpoint/2010/main" val="59978392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DFB2B-88A4-DF6A-3AE6-EE7629AA8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F0FF9-43A0-5403-472A-0F8254FF25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9904D-3E80-5204-6D21-589968595A43}"/>
              </a:ext>
            </a:extLst>
          </p:cNvPr>
          <p:cNvSpPr>
            <a:spLocks noGrp="1"/>
          </p:cNvSpPr>
          <p:nvPr>
            <p:ph type="body" idx="1"/>
          </p:nvPr>
        </p:nvSpPr>
        <p:spPr/>
        <p:txBody>
          <a:bodyPr/>
          <a:lstStyle/>
          <a:p>
            <a:pPr marL="0" marR="0" lvl="0" indent="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None/>
              <a:tabLst/>
              <a:defRPr/>
            </a:pPr>
            <a:endParaRPr lang="en-US" dirty="0"/>
          </a:p>
        </p:txBody>
      </p:sp>
      <p:sp>
        <p:nvSpPr>
          <p:cNvPr id="4" name="Slide Number Placeholder 3">
            <a:extLst>
              <a:ext uri="{FF2B5EF4-FFF2-40B4-BE49-F238E27FC236}">
                <a16:creationId xmlns:a16="http://schemas.microsoft.com/office/drawing/2014/main" id="{2FE41243-4C06-DE5A-DB84-8A7B4F8424FB}"/>
              </a:ext>
            </a:extLst>
          </p:cNvPr>
          <p:cNvSpPr>
            <a:spLocks noGrp="1"/>
          </p:cNvSpPr>
          <p:nvPr>
            <p:ph type="sldNum" sz="quarter" idx="5"/>
          </p:nvPr>
        </p:nvSpPr>
        <p:spPr/>
        <p:txBody>
          <a:bodyPr/>
          <a:lstStyle/>
          <a:p>
            <a:fld id="{714AA50D-1954-4E07-B31A-F11C899FC54D}" type="slidenum">
              <a:rPr lang="en-US" smtClean="0"/>
              <a:t>80</a:t>
            </a:fld>
            <a:endParaRPr lang="en-US"/>
          </a:p>
        </p:txBody>
      </p:sp>
    </p:spTree>
    <p:extLst>
      <p:ext uri="{BB962C8B-B14F-4D97-AF65-F5344CB8AC3E}">
        <p14:creationId xmlns:p14="http://schemas.microsoft.com/office/powerpoint/2010/main" val="324892427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81</a:t>
            </a:fld>
            <a:endParaRPr lang="en-US"/>
          </a:p>
        </p:txBody>
      </p:sp>
    </p:spTree>
    <p:extLst>
      <p:ext uri="{BB962C8B-B14F-4D97-AF65-F5344CB8AC3E}">
        <p14:creationId xmlns:p14="http://schemas.microsoft.com/office/powerpoint/2010/main" val="25298510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p>
          <a:p>
            <a:endParaRPr lang="en-US" dirty="0"/>
          </a:p>
          <a:p>
            <a:r>
              <a:rPr lang="en-US" dirty="0"/>
              <a:t>1. https://arxiv.org/abs/2006.00073</a:t>
            </a:r>
          </a:p>
          <a:p>
            <a:r>
              <a:rPr lang="en-US" dirty="0"/>
              <a:t>2. https://journals.plos.org/ploscompbiol/article?id=10.1371%2Fjournal.pcbi.1008618</a:t>
            </a:r>
          </a:p>
        </p:txBody>
      </p:sp>
      <p:sp>
        <p:nvSpPr>
          <p:cNvPr id="4" name="Slide Number Placeholder 3"/>
          <p:cNvSpPr>
            <a:spLocks noGrp="1"/>
          </p:cNvSpPr>
          <p:nvPr>
            <p:ph type="sldNum" sz="quarter" idx="5"/>
          </p:nvPr>
        </p:nvSpPr>
        <p:spPr/>
        <p:txBody>
          <a:bodyPr/>
          <a:lstStyle/>
          <a:p>
            <a:fld id="{22C97378-0737-4EFF-8472-F1391AE3C220}" type="slidenum">
              <a:rPr lang="en-US" smtClean="0"/>
              <a:t>82</a:t>
            </a:fld>
            <a:endParaRPr lang="en-US"/>
          </a:p>
        </p:txBody>
      </p:sp>
    </p:spTree>
    <p:extLst>
      <p:ext uri="{BB962C8B-B14F-4D97-AF65-F5344CB8AC3E}">
        <p14:creationId xmlns:p14="http://schemas.microsoft.com/office/powerpoint/2010/main" val="354530817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2C97378-0737-4EFF-8472-F1391AE3C220}" type="slidenum">
              <a:rPr lang="en-US" smtClean="0"/>
              <a:t>87</a:t>
            </a:fld>
            <a:endParaRPr lang="en-US"/>
          </a:p>
        </p:txBody>
      </p:sp>
    </p:spTree>
    <p:extLst>
      <p:ext uri="{BB962C8B-B14F-4D97-AF65-F5344CB8AC3E}">
        <p14:creationId xmlns:p14="http://schemas.microsoft.com/office/powerpoint/2010/main" val="171623488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93</a:t>
            </a:fld>
            <a:endParaRPr lang="en-US"/>
          </a:p>
        </p:txBody>
      </p:sp>
    </p:spTree>
    <p:extLst>
      <p:ext uri="{BB962C8B-B14F-4D97-AF65-F5344CB8AC3E}">
        <p14:creationId xmlns:p14="http://schemas.microsoft.com/office/powerpoint/2010/main" val="420340647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95</a:t>
            </a:fld>
            <a:endParaRPr lang="en-US"/>
          </a:p>
        </p:txBody>
      </p:sp>
    </p:spTree>
    <p:extLst>
      <p:ext uri="{BB962C8B-B14F-4D97-AF65-F5344CB8AC3E}">
        <p14:creationId xmlns:p14="http://schemas.microsoft.com/office/powerpoint/2010/main" val="30930390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C97378-0737-4EFF-8472-F1391AE3C220}" type="slidenum">
              <a:rPr lang="en-US" smtClean="0"/>
              <a:t>96</a:t>
            </a:fld>
            <a:endParaRPr lang="en-US"/>
          </a:p>
        </p:txBody>
      </p:sp>
    </p:spTree>
    <p:extLst>
      <p:ext uri="{BB962C8B-B14F-4D97-AF65-F5344CB8AC3E}">
        <p14:creationId xmlns:p14="http://schemas.microsoft.com/office/powerpoint/2010/main" val="4965794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C5CFA-2550-B0C4-D984-B1DE7C446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C80D2-11C8-13CE-81A5-696B6422C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34B8D-67B1-5749-B74B-791B21E4EB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E678BC-FAAF-F00A-85FE-227C6A10C09C}"/>
              </a:ext>
            </a:extLst>
          </p:cNvPr>
          <p:cNvSpPr>
            <a:spLocks noGrp="1"/>
          </p:cNvSpPr>
          <p:nvPr>
            <p:ph type="sldNum" sz="quarter" idx="5"/>
          </p:nvPr>
        </p:nvSpPr>
        <p:spPr/>
        <p:txBody>
          <a:bodyPr/>
          <a:lstStyle/>
          <a:p>
            <a:fld id="{7F78DD41-F848-49B0-AB94-02DC129C0237}" type="slidenum">
              <a:rPr lang="en-US" smtClean="0"/>
              <a:t>97</a:t>
            </a:fld>
            <a:endParaRPr lang="en-US"/>
          </a:p>
        </p:txBody>
      </p:sp>
    </p:spTree>
    <p:extLst>
      <p:ext uri="{BB962C8B-B14F-4D97-AF65-F5344CB8AC3E}">
        <p14:creationId xmlns:p14="http://schemas.microsoft.com/office/powerpoint/2010/main" val="252801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424E8-BF66-8ED0-B4C4-AA0399ABC6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F2CAE3-9084-5352-EF37-7A4C349253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C945B4-2913-05D3-4C91-9DC6F61FF86B}"/>
              </a:ext>
            </a:extLst>
          </p:cNvPr>
          <p:cNvSpPr>
            <a:spLocks noGrp="1"/>
          </p:cNvSpPr>
          <p:nvPr>
            <p:ph type="dt" sz="half" idx="10"/>
          </p:nvPr>
        </p:nvSpPr>
        <p:spPr/>
        <p:txBody>
          <a:bodyPr/>
          <a:lstStyle/>
          <a:p>
            <a:fld id="{167C4427-C88D-4887-B54C-892C0397D86F}" type="datetimeFigureOut">
              <a:rPr lang="en-US" smtClean="0"/>
              <a:t>7/22/2026</a:t>
            </a:fld>
            <a:endParaRPr lang="en-US"/>
          </a:p>
        </p:txBody>
      </p:sp>
      <p:sp>
        <p:nvSpPr>
          <p:cNvPr id="5" name="Footer Placeholder 4">
            <a:extLst>
              <a:ext uri="{FF2B5EF4-FFF2-40B4-BE49-F238E27FC236}">
                <a16:creationId xmlns:a16="http://schemas.microsoft.com/office/drawing/2014/main" id="{D6A4D443-8DE2-C69C-C406-21AE98395B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38BD56-03ED-A227-C340-89320B694C88}"/>
              </a:ext>
            </a:extLst>
          </p:cNvPr>
          <p:cNvSpPr>
            <a:spLocks noGrp="1"/>
          </p:cNvSpPr>
          <p:nvPr>
            <p:ph type="sldNum" sz="quarter" idx="12"/>
          </p:nvPr>
        </p:nvSpPr>
        <p:spPr/>
        <p:txBody>
          <a:bodyPr/>
          <a:lstStyle/>
          <a:p>
            <a:fld id="{1A241D22-0EBA-4D8F-8018-564E032EEE01}" type="slidenum">
              <a:rPr lang="en-US" smtClean="0"/>
              <a:t>‹#›</a:t>
            </a:fld>
            <a:endParaRPr lang="en-US"/>
          </a:p>
        </p:txBody>
      </p:sp>
    </p:spTree>
    <p:extLst>
      <p:ext uri="{BB962C8B-B14F-4D97-AF65-F5344CB8AC3E}">
        <p14:creationId xmlns:p14="http://schemas.microsoft.com/office/powerpoint/2010/main" val="1943852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1CF38-7474-608E-6030-3D08AB918D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995FCE-6613-8818-8A70-EEC70A9FD3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C4E95C-73BF-48EC-39DD-E4071C153788}"/>
              </a:ext>
            </a:extLst>
          </p:cNvPr>
          <p:cNvSpPr>
            <a:spLocks noGrp="1"/>
          </p:cNvSpPr>
          <p:nvPr>
            <p:ph type="dt" sz="half" idx="10"/>
          </p:nvPr>
        </p:nvSpPr>
        <p:spPr/>
        <p:txBody>
          <a:bodyPr/>
          <a:lstStyle/>
          <a:p>
            <a:fld id="{167C4427-C88D-4887-B54C-892C0397D86F}" type="datetimeFigureOut">
              <a:rPr lang="en-US" smtClean="0"/>
              <a:t>7/22/2026</a:t>
            </a:fld>
            <a:endParaRPr lang="en-US"/>
          </a:p>
        </p:txBody>
      </p:sp>
      <p:sp>
        <p:nvSpPr>
          <p:cNvPr id="5" name="Footer Placeholder 4">
            <a:extLst>
              <a:ext uri="{FF2B5EF4-FFF2-40B4-BE49-F238E27FC236}">
                <a16:creationId xmlns:a16="http://schemas.microsoft.com/office/drawing/2014/main" id="{28E671A3-746C-59A9-A4D7-8B244137B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EAB880-BBEE-3803-B72B-3C95D2BD857B}"/>
              </a:ext>
            </a:extLst>
          </p:cNvPr>
          <p:cNvSpPr>
            <a:spLocks noGrp="1"/>
          </p:cNvSpPr>
          <p:nvPr>
            <p:ph type="sldNum" sz="quarter" idx="12"/>
          </p:nvPr>
        </p:nvSpPr>
        <p:spPr/>
        <p:txBody>
          <a:bodyPr/>
          <a:lstStyle/>
          <a:p>
            <a:fld id="{1A241D22-0EBA-4D8F-8018-564E032EEE01}" type="slidenum">
              <a:rPr lang="en-US" smtClean="0"/>
              <a:t>‹#›</a:t>
            </a:fld>
            <a:endParaRPr lang="en-US"/>
          </a:p>
        </p:txBody>
      </p:sp>
    </p:spTree>
    <p:extLst>
      <p:ext uri="{BB962C8B-B14F-4D97-AF65-F5344CB8AC3E}">
        <p14:creationId xmlns:p14="http://schemas.microsoft.com/office/powerpoint/2010/main" val="3596633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34A4C-CC79-F399-57B4-833F353115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979794-2B73-469F-FBC0-EC249A69AC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0B4903-479B-69BB-B42B-314BFF05B21D}"/>
              </a:ext>
            </a:extLst>
          </p:cNvPr>
          <p:cNvSpPr>
            <a:spLocks noGrp="1"/>
          </p:cNvSpPr>
          <p:nvPr>
            <p:ph type="dt" sz="half" idx="10"/>
          </p:nvPr>
        </p:nvSpPr>
        <p:spPr/>
        <p:txBody>
          <a:bodyPr/>
          <a:lstStyle/>
          <a:p>
            <a:fld id="{167C4427-C88D-4887-B54C-892C0397D86F}" type="datetimeFigureOut">
              <a:rPr lang="en-US" smtClean="0"/>
              <a:t>7/22/2026</a:t>
            </a:fld>
            <a:endParaRPr lang="en-US"/>
          </a:p>
        </p:txBody>
      </p:sp>
      <p:sp>
        <p:nvSpPr>
          <p:cNvPr id="5" name="Footer Placeholder 4">
            <a:extLst>
              <a:ext uri="{FF2B5EF4-FFF2-40B4-BE49-F238E27FC236}">
                <a16:creationId xmlns:a16="http://schemas.microsoft.com/office/drawing/2014/main" id="{96E30F57-BCB7-E850-FFDD-CDAAD3C6F8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16E9A6-B200-D458-31A2-19E91B7C5DC4}"/>
              </a:ext>
            </a:extLst>
          </p:cNvPr>
          <p:cNvSpPr>
            <a:spLocks noGrp="1"/>
          </p:cNvSpPr>
          <p:nvPr>
            <p:ph type="sldNum" sz="quarter" idx="12"/>
          </p:nvPr>
        </p:nvSpPr>
        <p:spPr/>
        <p:txBody>
          <a:bodyPr/>
          <a:lstStyle/>
          <a:p>
            <a:fld id="{1A241D22-0EBA-4D8F-8018-564E032EEE01}" type="slidenum">
              <a:rPr lang="en-US" smtClean="0"/>
              <a:t>‹#›</a:t>
            </a:fld>
            <a:endParaRPr lang="en-US"/>
          </a:p>
        </p:txBody>
      </p:sp>
    </p:spTree>
    <p:extLst>
      <p:ext uri="{BB962C8B-B14F-4D97-AF65-F5344CB8AC3E}">
        <p14:creationId xmlns:p14="http://schemas.microsoft.com/office/powerpoint/2010/main" val="1084054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9F8FD-05A5-7F7A-8CF1-D36535AC31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874943-10BF-0E61-F550-7854AB5CFC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312F03-F946-744E-151F-C86648046A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FEAE12-4CB8-91E0-3E77-32A01C39F985}"/>
              </a:ext>
            </a:extLst>
          </p:cNvPr>
          <p:cNvSpPr>
            <a:spLocks noGrp="1"/>
          </p:cNvSpPr>
          <p:nvPr>
            <p:ph type="dt" sz="half" idx="10"/>
          </p:nvPr>
        </p:nvSpPr>
        <p:spPr/>
        <p:txBody>
          <a:bodyPr/>
          <a:lstStyle/>
          <a:p>
            <a:fld id="{167C4427-C88D-4887-B54C-892C0397D86F}" type="datetimeFigureOut">
              <a:rPr lang="en-US" smtClean="0"/>
              <a:t>7/22/2026</a:t>
            </a:fld>
            <a:endParaRPr lang="en-US"/>
          </a:p>
        </p:txBody>
      </p:sp>
      <p:sp>
        <p:nvSpPr>
          <p:cNvPr id="6" name="Footer Placeholder 5">
            <a:extLst>
              <a:ext uri="{FF2B5EF4-FFF2-40B4-BE49-F238E27FC236}">
                <a16:creationId xmlns:a16="http://schemas.microsoft.com/office/drawing/2014/main" id="{F0D58E29-ED48-694C-2A44-B290E0BC26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EE469-A08F-7735-002C-60CC7515A785}"/>
              </a:ext>
            </a:extLst>
          </p:cNvPr>
          <p:cNvSpPr>
            <a:spLocks noGrp="1"/>
          </p:cNvSpPr>
          <p:nvPr>
            <p:ph type="sldNum" sz="quarter" idx="12"/>
          </p:nvPr>
        </p:nvSpPr>
        <p:spPr/>
        <p:txBody>
          <a:bodyPr/>
          <a:lstStyle/>
          <a:p>
            <a:fld id="{1A241D22-0EBA-4D8F-8018-564E032EEE01}" type="slidenum">
              <a:rPr lang="en-US" smtClean="0"/>
              <a:t>‹#›</a:t>
            </a:fld>
            <a:endParaRPr lang="en-US"/>
          </a:p>
        </p:txBody>
      </p:sp>
    </p:spTree>
    <p:extLst>
      <p:ext uri="{BB962C8B-B14F-4D97-AF65-F5344CB8AC3E}">
        <p14:creationId xmlns:p14="http://schemas.microsoft.com/office/powerpoint/2010/main" val="1821117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31D4-87A4-DEC4-5847-DCDBFAE3AE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8D9209-8143-67DB-8CF5-047D862479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1A0F2D-C187-002B-269C-A32C452075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483134-5F61-978B-BDFB-C8626DCFA4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587DED-5831-67C3-698D-D30F2D4821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0A0354-BB2A-E050-EA6C-1266441C6E39}"/>
              </a:ext>
            </a:extLst>
          </p:cNvPr>
          <p:cNvSpPr>
            <a:spLocks noGrp="1"/>
          </p:cNvSpPr>
          <p:nvPr>
            <p:ph type="dt" sz="half" idx="10"/>
          </p:nvPr>
        </p:nvSpPr>
        <p:spPr/>
        <p:txBody>
          <a:bodyPr/>
          <a:lstStyle/>
          <a:p>
            <a:fld id="{167C4427-C88D-4887-B54C-892C0397D86F}" type="datetimeFigureOut">
              <a:rPr lang="en-US" smtClean="0"/>
              <a:t>7/22/2026</a:t>
            </a:fld>
            <a:endParaRPr lang="en-US"/>
          </a:p>
        </p:txBody>
      </p:sp>
      <p:sp>
        <p:nvSpPr>
          <p:cNvPr id="8" name="Footer Placeholder 7">
            <a:extLst>
              <a:ext uri="{FF2B5EF4-FFF2-40B4-BE49-F238E27FC236}">
                <a16:creationId xmlns:a16="http://schemas.microsoft.com/office/drawing/2014/main" id="{BFC21FAB-2CDE-C365-A5B4-E9EFA56F34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D9A5FE-2AD3-9A6C-1F03-27F1E38DC833}"/>
              </a:ext>
            </a:extLst>
          </p:cNvPr>
          <p:cNvSpPr>
            <a:spLocks noGrp="1"/>
          </p:cNvSpPr>
          <p:nvPr>
            <p:ph type="sldNum" sz="quarter" idx="12"/>
          </p:nvPr>
        </p:nvSpPr>
        <p:spPr/>
        <p:txBody>
          <a:bodyPr/>
          <a:lstStyle/>
          <a:p>
            <a:fld id="{1A241D22-0EBA-4D8F-8018-564E032EEE01}" type="slidenum">
              <a:rPr lang="en-US" smtClean="0"/>
              <a:t>‹#›</a:t>
            </a:fld>
            <a:endParaRPr lang="en-US"/>
          </a:p>
        </p:txBody>
      </p:sp>
    </p:spTree>
    <p:extLst>
      <p:ext uri="{BB962C8B-B14F-4D97-AF65-F5344CB8AC3E}">
        <p14:creationId xmlns:p14="http://schemas.microsoft.com/office/powerpoint/2010/main" val="2475041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741B4-3754-C9A6-61BB-7F44702236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7C66A3-01E5-E648-53EF-37A86E477018}"/>
              </a:ext>
            </a:extLst>
          </p:cNvPr>
          <p:cNvSpPr>
            <a:spLocks noGrp="1"/>
          </p:cNvSpPr>
          <p:nvPr>
            <p:ph type="dt" sz="half" idx="10"/>
          </p:nvPr>
        </p:nvSpPr>
        <p:spPr/>
        <p:txBody>
          <a:bodyPr/>
          <a:lstStyle/>
          <a:p>
            <a:fld id="{167C4427-C88D-4887-B54C-892C0397D86F}" type="datetimeFigureOut">
              <a:rPr lang="en-US" smtClean="0"/>
              <a:t>7/22/2026</a:t>
            </a:fld>
            <a:endParaRPr lang="en-US"/>
          </a:p>
        </p:txBody>
      </p:sp>
      <p:sp>
        <p:nvSpPr>
          <p:cNvPr id="4" name="Footer Placeholder 3">
            <a:extLst>
              <a:ext uri="{FF2B5EF4-FFF2-40B4-BE49-F238E27FC236}">
                <a16:creationId xmlns:a16="http://schemas.microsoft.com/office/drawing/2014/main" id="{84072387-50AA-720E-EF5E-4557F3975D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46C1B0-E6E2-6C97-BFDF-2A4DCB7E36B1}"/>
              </a:ext>
            </a:extLst>
          </p:cNvPr>
          <p:cNvSpPr>
            <a:spLocks noGrp="1"/>
          </p:cNvSpPr>
          <p:nvPr>
            <p:ph type="sldNum" sz="quarter" idx="12"/>
          </p:nvPr>
        </p:nvSpPr>
        <p:spPr/>
        <p:txBody>
          <a:bodyPr/>
          <a:lstStyle/>
          <a:p>
            <a:fld id="{1A241D22-0EBA-4D8F-8018-564E032EEE01}" type="slidenum">
              <a:rPr lang="en-US" smtClean="0"/>
              <a:t>‹#›</a:t>
            </a:fld>
            <a:endParaRPr lang="en-US"/>
          </a:p>
        </p:txBody>
      </p:sp>
    </p:spTree>
    <p:extLst>
      <p:ext uri="{BB962C8B-B14F-4D97-AF65-F5344CB8AC3E}">
        <p14:creationId xmlns:p14="http://schemas.microsoft.com/office/powerpoint/2010/main" val="1801459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0248FA-DECF-B750-2F73-E7C1FFEBB17A}"/>
              </a:ext>
            </a:extLst>
          </p:cNvPr>
          <p:cNvSpPr>
            <a:spLocks noGrp="1"/>
          </p:cNvSpPr>
          <p:nvPr>
            <p:ph type="dt" sz="half" idx="10"/>
          </p:nvPr>
        </p:nvSpPr>
        <p:spPr/>
        <p:txBody>
          <a:bodyPr/>
          <a:lstStyle/>
          <a:p>
            <a:fld id="{167C4427-C88D-4887-B54C-892C0397D86F}" type="datetimeFigureOut">
              <a:rPr lang="en-US" smtClean="0"/>
              <a:t>7/22/2026</a:t>
            </a:fld>
            <a:endParaRPr lang="en-US"/>
          </a:p>
        </p:txBody>
      </p:sp>
      <p:sp>
        <p:nvSpPr>
          <p:cNvPr id="3" name="Footer Placeholder 2">
            <a:extLst>
              <a:ext uri="{FF2B5EF4-FFF2-40B4-BE49-F238E27FC236}">
                <a16:creationId xmlns:a16="http://schemas.microsoft.com/office/drawing/2014/main" id="{E65A92D1-A8D0-73BE-0C1E-088F23D6C5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77371E-C8E0-4B9B-6AF2-730172919EDC}"/>
              </a:ext>
            </a:extLst>
          </p:cNvPr>
          <p:cNvSpPr>
            <a:spLocks noGrp="1"/>
          </p:cNvSpPr>
          <p:nvPr>
            <p:ph type="sldNum" sz="quarter" idx="12"/>
          </p:nvPr>
        </p:nvSpPr>
        <p:spPr/>
        <p:txBody>
          <a:bodyPr/>
          <a:lstStyle/>
          <a:p>
            <a:fld id="{1A241D22-0EBA-4D8F-8018-564E032EEE01}" type="slidenum">
              <a:rPr lang="en-US" smtClean="0"/>
              <a:t>‹#›</a:t>
            </a:fld>
            <a:endParaRPr lang="en-US"/>
          </a:p>
        </p:txBody>
      </p:sp>
    </p:spTree>
    <p:extLst>
      <p:ext uri="{BB962C8B-B14F-4D97-AF65-F5344CB8AC3E}">
        <p14:creationId xmlns:p14="http://schemas.microsoft.com/office/powerpoint/2010/main" val="2984848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A50F-34A1-0BCF-8DB8-64E542DA3A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3D6567-9F76-8E8A-2F4C-F07DF395DD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632150-2DF0-22B8-CB78-B15909089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E51478-8418-7F37-6702-33A82FE47D4F}"/>
              </a:ext>
            </a:extLst>
          </p:cNvPr>
          <p:cNvSpPr>
            <a:spLocks noGrp="1"/>
          </p:cNvSpPr>
          <p:nvPr>
            <p:ph type="dt" sz="half" idx="10"/>
          </p:nvPr>
        </p:nvSpPr>
        <p:spPr/>
        <p:txBody>
          <a:bodyPr/>
          <a:lstStyle/>
          <a:p>
            <a:fld id="{167C4427-C88D-4887-B54C-892C0397D86F}" type="datetimeFigureOut">
              <a:rPr lang="en-US" smtClean="0"/>
              <a:t>7/22/2026</a:t>
            </a:fld>
            <a:endParaRPr lang="en-US"/>
          </a:p>
        </p:txBody>
      </p:sp>
      <p:sp>
        <p:nvSpPr>
          <p:cNvPr id="6" name="Footer Placeholder 5">
            <a:extLst>
              <a:ext uri="{FF2B5EF4-FFF2-40B4-BE49-F238E27FC236}">
                <a16:creationId xmlns:a16="http://schemas.microsoft.com/office/drawing/2014/main" id="{AD7B4DB9-FFCE-3EE8-79BA-234E447EAB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9EA2BF-36EF-33DF-8E80-1B64048D8939}"/>
              </a:ext>
            </a:extLst>
          </p:cNvPr>
          <p:cNvSpPr>
            <a:spLocks noGrp="1"/>
          </p:cNvSpPr>
          <p:nvPr>
            <p:ph type="sldNum" sz="quarter" idx="12"/>
          </p:nvPr>
        </p:nvSpPr>
        <p:spPr/>
        <p:txBody>
          <a:bodyPr/>
          <a:lstStyle/>
          <a:p>
            <a:fld id="{1A241D22-0EBA-4D8F-8018-564E032EEE01}" type="slidenum">
              <a:rPr lang="en-US" smtClean="0"/>
              <a:t>‹#›</a:t>
            </a:fld>
            <a:endParaRPr lang="en-US"/>
          </a:p>
        </p:txBody>
      </p:sp>
    </p:spTree>
    <p:extLst>
      <p:ext uri="{BB962C8B-B14F-4D97-AF65-F5344CB8AC3E}">
        <p14:creationId xmlns:p14="http://schemas.microsoft.com/office/powerpoint/2010/main" val="3118173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F56C9-8761-9ABC-FC22-4F221421E6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9700AF-A5A7-F6E8-3C7F-0AE5A5C076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B0F7A0-B34F-1C73-DE53-7EE5E56901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A0589D-A3E3-7D02-5CF7-BA61DECF07A3}"/>
              </a:ext>
            </a:extLst>
          </p:cNvPr>
          <p:cNvSpPr>
            <a:spLocks noGrp="1"/>
          </p:cNvSpPr>
          <p:nvPr>
            <p:ph type="dt" sz="half" idx="10"/>
          </p:nvPr>
        </p:nvSpPr>
        <p:spPr/>
        <p:txBody>
          <a:bodyPr/>
          <a:lstStyle/>
          <a:p>
            <a:fld id="{167C4427-C88D-4887-B54C-892C0397D86F}" type="datetimeFigureOut">
              <a:rPr lang="en-US" smtClean="0"/>
              <a:t>7/22/2026</a:t>
            </a:fld>
            <a:endParaRPr lang="en-US"/>
          </a:p>
        </p:txBody>
      </p:sp>
      <p:sp>
        <p:nvSpPr>
          <p:cNvPr id="6" name="Footer Placeholder 5">
            <a:extLst>
              <a:ext uri="{FF2B5EF4-FFF2-40B4-BE49-F238E27FC236}">
                <a16:creationId xmlns:a16="http://schemas.microsoft.com/office/drawing/2014/main" id="{27C20757-CFE9-8C71-3645-300F70128A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833D61-7755-4097-92D5-07085C2606F1}"/>
              </a:ext>
            </a:extLst>
          </p:cNvPr>
          <p:cNvSpPr>
            <a:spLocks noGrp="1"/>
          </p:cNvSpPr>
          <p:nvPr>
            <p:ph type="sldNum" sz="quarter" idx="12"/>
          </p:nvPr>
        </p:nvSpPr>
        <p:spPr/>
        <p:txBody>
          <a:bodyPr/>
          <a:lstStyle/>
          <a:p>
            <a:fld id="{1A241D22-0EBA-4D8F-8018-564E032EEE01}" type="slidenum">
              <a:rPr lang="en-US" smtClean="0"/>
              <a:t>‹#›</a:t>
            </a:fld>
            <a:endParaRPr lang="en-US"/>
          </a:p>
        </p:txBody>
      </p:sp>
    </p:spTree>
    <p:extLst>
      <p:ext uri="{BB962C8B-B14F-4D97-AF65-F5344CB8AC3E}">
        <p14:creationId xmlns:p14="http://schemas.microsoft.com/office/powerpoint/2010/main" val="3645107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B7193-6C6B-4E02-5854-D5323CCE12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21A834-3774-65F4-6288-0FCA0E4C6F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767454-FA5B-B6D8-7608-E0E14FCD5D80}"/>
              </a:ext>
            </a:extLst>
          </p:cNvPr>
          <p:cNvSpPr>
            <a:spLocks noGrp="1"/>
          </p:cNvSpPr>
          <p:nvPr>
            <p:ph type="dt" sz="half" idx="10"/>
          </p:nvPr>
        </p:nvSpPr>
        <p:spPr/>
        <p:txBody>
          <a:bodyPr/>
          <a:lstStyle/>
          <a:p>
            <a:fld id="{167C4427-C88D-4887-B54C-892C0397D86F}" type="datetimeFigureOut">
              <a:rPr lang="en-US" smtClean="0"/>
              <a:t>7/22/2026</a:t>
            </a:fld>
            <a:endParaRPr lang="en-US"/>
          </a:p>
        </p:txBody>
      </p:sp>
      <p:sp>
        <p:nvSpPr>
          <p:cNvPr id="5" name="Footer Placeholder 4">
            <a:extLst>
              <a:ext uri="{FF2B5EF4-FFF2-40B4-BE49-F238E27FC236}">
                <a16:creationId xmlns:a16="http://schemas.microsoft.com/office/drawing/2014/main" id="{759C305E-0E3D-8F09-D1B7-85C6A0543D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86214A-76DC-2410-9137-E305898AA031}"/>
              </a:ext>
            </a:extLst>
          </p:cNvPr>
          <p:cNvSpPr>
            <a:spLocks noGrp="1"/>
          </p:cNvSpPr>
          <p:nvPr>
            <p:ph type="sldNum" sz="quarter" idx="12"/>
          </p:nvPr>
        </p:nvSpPr>
        <p:spPr/>
        <p:txBody>
          <a:bodyPr/>
          <a:lstStyle/>
          <a:p>
            <a:fld id="{1A241D22-0EBA-4D8F-8018-564E032EEE01}" type="slidenum">
              <a:rPr lang="en-US" smtClean="0"/>
              <a:t>‹#›</a:t>
            </a:fld>
            <a:endParaRPr lang="en-US"/>
          </a:p>
        </p:txBody>
      </p:sp>
    </p:spTree>
    <p:extLst>
      <p:ext uri="{BB962C8B-B14F-4D97-AF65-F5344CB8AC3E}">
        <p14:creationId xmlns:p14="http://schemas.microsoft.com/office/powerpoint/2010/main" val="287807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1EEA66-B23A-4416-69DF-60A3C34DE2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4FC559-9482-DADA-ECE7-72C4894AE1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8EB3AF-DCB1-FCDC-BF39-16AF35CD5DC8}"/>
              </a:ext>
            </a:extLst>
          </p:cNvPr>
          <p:cNvSpPr>
            <a:spLocks noGrp="1"/>
          </p:cNvSpPr>
          <p:nvPr>
            <p:ph type="dt" sz="half" idx="10"/>
          </p:nvPr>
        </p:nvSpPr>
        <p:spPr/>
        <p:txBody>
          <a:bodyPr/>
          <a:lstStyle/>
          <a:p>
            <a:fld id="{167C4427-C88D-4887-B54C-892C0397D86F}" type="datetimeFigureOut">
              <a:rPr lang="en-US" smtClean="0"/>
              <a:t>7/22/2026</a:t>
            </a:fld>
            <a:endParaRPr lang="en-US"/>
          </a:p>
        </p:txBody>
      </p:sp>
      <p:sp>
        <p:nvSpPr>
          <p:cNvPr id="5" name="Footer Placeholder 4">
            <a:extLst>
              <a:ext uri="{FF2B5EF4-FFF2-40B4-BE49-F238E27FC236}">
                <a16:creationId xmlns:a16="http://schemas.microsoft.com/office/drawing/2014/main" id="{ABE8D6C3-46CD-199F-565E-4E11D94BF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930624-24BC-B48D-F8E5-0DCA79FBD38D}"/>
              </a:ext>
            </a:extLst>
          </p:cNvPr>
          <p:cNvSpPr>
            <a:spLocks noGrp="1"/>
          </p:cNvSpPr>
          <p:nvPr>
            <p:ph type="sldNum" sz="quarter" idx="12"/>
          </p:nvPr>
        </p:nvSpPr>
        <p:spPr/>
        <p:txBody>
          <a:bodyPr/>
          <a:lstStyle/>
          <a:p>
            <a:fld id="{1A241D22-0EBA-4D8F-8018-564E032EEE01}" type="slidenum">
              <a:rPr lang="en-US" smtClean="0"/>
              <a:t>‹#›</a:t>
            </a:fld>
            <a:endParaRPr lang="en-US"/>
          </a:p>
        </p:txBody>
      </p:sp>
    </p:spTree>
    <p:extLst>
      <p:ext uri="{BB962C8B-B14F-4D97-AF65-F5344CB8AC3E}">
        <p14:creationId xmlns:p14="http://schemas.microsoft.com/office/powerpoint/2010/main" val="28174347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8116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C49AA9-E182-824C-5106-EE5A75C210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ED0327-F511-CC07-3AE9-B49D084FD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926CAD-B8E0-D427-82AA-660E369295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7C4427-C88D-4887-B54C-892C0397D86F}" type="datetimeFigureOut">
              <a:rPr lang="en-US" smtClean="0"/>
              <a:t>7/22/2026</a:t>
            </a:fld>
            <a:endParaRPr lang="en-US"/>
          </a:p>
        </p:txBody>
      </p:sp>
      <p:sp>
        <p:nvSpPr>
          <p:cNvPr id="5" name="Footer Placeholder 4">
            <a:extLst>
              <a:ext uri="{FF2B5EF4-FFF2-40B4-BE49-F238E27FC236}">
                <a16:creationId xmlns:a16="http://schemas.microsoft.com/office/drawing/2014/main" id="{E467A261-51BE-F0F3-1C54-0C497E589E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76F687-DFE9-3643-C3D2-F914751B23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241D22-0EBA-4D8F-8018-564E032EEE01}" type="slidenum">
              <a:rPr lang="en-US" smtClean="0"/>
              <a:t>‹#›</a:t>
            </a:fld>
            <a:endParaRPr lang="en-US"/>
          </a:p>
        </p:txBody>
      </p:sp>
    </p:spTree>
    <p:extLst>
      <p:ext uri="{BB962C8B-B14F-4D97-AF65-F5344CB8AC3E}">
        <p14:creationId xmlns:p14="http://schemas.microsoft.com/office/powerpoint/2010/main" val="252322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40.png"/></Relationships>
</file>

<file path=ppt/slides/_rels/slide30.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0.png"/></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47.png"/><Relationship Id="rId4" Type="http://schemas.openxmlformats.org/officeDocument/2006/relationships/image" Target="../media/image46.png"/></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37.png"/><Relationship Id="rId4" Type="http://schemas.openxmlformats.org/officeDocument/2006/relationships/image" Target="../media/image49.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5.xml"/><Relationship Id="rId1" Type="http://schemas.openxmlformats.org/officeDocument/2006/relationships/slideLayout" Target="../slideLayouts/slideLayout12.xml"/><Relationship Id="rId5" Type="http://schemas.openxmlformats.org/officeDocument/2006/relationships/image" Target="../media/image48.png"/><Relationship Id="rId4" Type="http://schemas.openxmlformats.org/officeDocument/2006/relationships/image" Target="../media/image40.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49.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48.png"/><Relationship Id="rId5" Type="http://schemas.openxmlformats.org/officeDocument/2006/relationships/image" Target="../media/image45.png"/><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2.png"/><Relationship Id="rId2" Type="http://schemas.openxmlformats.org/officeDocument/2006/relationships/notesSlide" Target="../notesSlides/notesSlide52.xml"/><Relationship Id="rId1" Type="http://schemas.openxmlformats.org/officeDocument/2006/relationships/slideLayout" Target="../slideLayouts/slideLayout1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4.svg"/><Relationship Id="rId2" Type="http://schemas.openxmlformats.org/officeDocument/2006/relationships/notesSlide" Target="../notesSlides/notesSlide53.xml"/><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5.png"/><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55.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0.png"/></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8.xml"/><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73.xml.rels><?xml version="1.0" encoding="UTF-8" standalone="yes"?>
<Relationships xmlns="http://schemas.openxmlformats.org/package/2006/relationships"><Relationship Id="rId2" Type="http://schemas.openxmlformats.org/officeDocument/2006/relationships/image" Target="../media/image62.gi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210.png"/></Relationships>
</file>

<file path=ppt/slides/_rels/slide7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240.png"/></Relationships>
</file>

<file path=ppt/slides/_rels/slide78.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8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290.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69.gi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ecorPanel">
            <a:extLst>
              <a:ext uri="{FF2B5EF4-FFF2-40B4-BE49-F238E27FC236}">
                <a16:creationId xmlns:a16="http://schemas.microsoft.com/office/drawing/2014/main" id="{EB163FB5-37FD-4EA7-93F6-8DBCA0B60E01}"/>
              </a:ext>
            </a:extLst>
          </p:cNvPr>
          <p:cNvSpPr/>
          <p:nvPr/>
        </p:nvSpPr>
        <p:spPr>
          <a:xfrm>
            <a:off x="9144000" y="0"/>
            <a:ext cx="3048000" cy="68580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BD57182C-E699-4AEB-C461-6EE0DBDD8EE6}"/>
              </a:ext>
            </a:extLst>
          </p:cNvPr>
          <p:cNvSpPr>
            <a:spLocks noGrp="1"/>
          </p:cNvSpPr>
          <p:nvPr>
            <p:ph type="ctrTitle"/>
          </p:nvPr>
        </p:nvSpPr>
        <p:spPr>
          <a:xfrm>
            <a:off x="1219200" y="2489200"/>
            <a:ext cx="7467600" cy="2133600"/>
          </a:xfrm>
          <a:noFill/>
          <a:ln>
            <a:noFill/>
          </a:ln>
        </p:spPr>
        <p:txBody>
          <a:bodyPr>
            <a:normAutofit/>
          </a:bodyPr>
          <a:lstStyle/>
          <a:p>
            <a:pPr algn="l"/>
            <a:r>
              <a:rPr lang="en-US" sz="4000" b="1">
                <a:solidFill>
                  <a:srgbClr val="1A1A2E"/>
                </a:solidFill>
                <a:latin typeface="Arial"/>
                <a:cs typeface="Arial"/>
              </a:rPr>
              <a:t>Human–AI Teaming Approach to Infectious Disease Modeling</a:t>
            </a:r>
          </a:p>
        </p:txBody>
      </p:sp>
      <p:sp>
        <p:nvSpPr>
          <p:cNvPr id="3" name="Subtitle 2">
            <a:extLst>
              <a:ext uri="{FF2B5EF4-FFF2-40B4-BE49-F238E27FC236}">
                <a16:creationId xmlns:a16="http://schemas.microsoft.com/office/drawing/2014/main" id="{7C0B5641-3478-336E-0972-E813587A62B4}"/>
              </a:ext>
            </a:extLst>
          </p:cNvPr>
          <p:cNvSpPr>
            <a:spLocks noGrp="1"/>
          </p:cNvSpPr>
          <p:nvPr>
            <p:ph type="subTitle" idx="1"/>
          </p:nvPr>
        </p:nvSpPr>
        <p:spPr>
          <a:xfrm>
            <a:off x="1219200" y="4800600"/>
            <a:ext cx="7467600" cy="1651000"/>
          </a:xfrm>
        </p:spPr>
        <p:txBody>
          <a:bodyPr>
            <a:normAutofit/>
          </a:bodyPr>
          <a:lstStyle/>
          <a:p>
            <a:pPr algn="l"/>
            <a:r>
              <a:rPr lang="en-US" sz="1400" b="1" spc="200">
                <a:solidFill>
                  <a:srgbClr val="F56600"/>
                </a:solidFill>
                <a:latin typeface="Arial"/>
                <a:cs typeface="Arial"/>
              </a:rPr>
              <a:t>INSTRUCTORS</a:t>
            </a:r>
          </a:p>
          <a:p>
            <a:pPr algn="l">
              <a:spcBef>
                <a:spcPts val="300"/>
              </a:spcBef>
            </a:pPr>
            <a:r>
              <a:rPr lang="en-US" sz="1800">
                <a:solidFill>
                  <a:srgbClr val="333333"/>
                </a:solidFill>
                <a:latin typeface="Arial"/>
                <a:cs typeface="Arial"/>
              </a:rPr>
              <a:t>Lior Rennert, PhD</a:t>
            </a:r>
          </a:p>
          <a:p>
            <a:pPr algn="l">
              <a:spcBef>
                <a:spcPts val="300"/>
              </a:spcBef>
            </a:pPr>
            <a:r>
              <a:rPr lang="en-US" sz="1800">
                <a:solidFill>
                  <a:srgbClr val="333333"/>
                </a:solidFill>
                <a:latin typeface="Arial"/>
                <a:cs typeface="Arial"/>
              </a:rPr>
              <a:t>Nathan McNeese, PhD</a:t>
            </a:r>
          </a:p>
          <a:p>
            <a:pPr algn="l">
              <a:spcBef>
                <a:spcPts val="300"/>
              </a:spcBef>
            </a:pPr>
            <a:r>
              <a:rPr lang="en-US" sz="1800">
                <a:solidFill>
                  <a:srgbClr val="333333"/>
                </a:solidFill>
                <a:latin typeface="Arial"/>
                <a:cs typeface="Arial"/>
              </a:rPr>
              <a:t>Amanda Bleichrodt, PhD</a:t>
            </a:r>
          </a:p>
        </p:txBody>
      </p:sp>
      <p:sp>
        <p:nvSpPr>
          <p:cNvPr id="5" name="DecorStripe">
            <a:extLst>
              <a:ext uri="{FF2B5EF4-FFF2-40B4-BE49-F238E27FC236}">
                <a16:creationId xmlns:a16="http://schemas.microsoft.com/office/drawing/2014/main" id="{CC516EB4-45AB-4A1A-8C33-BD086FE8C819}"/>
              </a:ext>
            </a:extLst>
          </p:cNvPr>
          <p:cNvSpPr/>
          <p:nvPr/>
        </p:nvSpPr>
        <p:spPr>
          <a:xfrm>
            <a:off x="9042400" y="0"/>
            <a:ext cx="101600" cy="68580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DecorBar">
            <a:extLst>
              <a:ext uri="{FF2B5EF4-FFF2-40B4-BE49-F238E27FC236}">
                <a16:creationId xmlns:a16="http://schemas.microsoft.com/office/drawing/2014/main" id="{854F9A82-B381-414C-A943-4C2CEDF6AF1B}"/>
              </a:ext>
            </a:extLst>
          </p:cNvPr>
          <p:cNvSpPr/>
          <p:nvPr/>
        </p:nvSpPr>
        <p:spPr>
          <a:xfrm>
            <a:off x="914400" y="1905000"/>
            <a:ext cx="101600" cy="4381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7" name="Graphic 7" descr="Virus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185400" y="1397000"/>
            <a:ext cx="965200" cy="965200"/>
          </a:xfrm>
          <a:prstGeom prst="rect">
            <a:avLst/>
          </a:prstGeom>
        </p:spPr>
      </p:pic>
      <p:pic>
        <p:nvPicPr>
          <p:cNvPr id="8" name="Graphic 8" descr="AI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85400" y="2946400"/>
            <a:ext cx="965200" cy="965200"/>
          </a:xfrm>
          <a:prstGeom prst="rect">
            <a:avLst/>
          </a:prstGeom>
        </p:spPr>
      </p:pic>
      <p:pic>
        <p:nvPicPr>
          <p:cNvPr id="9" name="Graphic 9" descr="Forecast curve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185400" y="4495800"/>
            <a:ext cx="965200" cy="965200"/>
          </a:xfrm>
          <a:prstGeom prst="rect">
            <a:avLst/>
          </a:prstGeom>
        </p:spPr>
      </p:pic>
      <p:sp>
        <p:nvSpPr>
          <p:cNvPr id="10" name="Eyebrow">
            <a:extLst>
              <a:ext uri="{FF2B5EF4-FFF2-40B4-BE49-F238E27FC236}">
                <a16:creationId xmlns:a16="http://schemas.microsoft.com/office/drawing/2014/main" id="{7BFFC716-0B30-494C-931F-A52BE166ABAC}"/>
              </a:ext>
            </a:extLst>
          </p:cNvPr>
          <p:cNvSpPr/>
          <p:nvPr/>
        </p:nvSpPr>
        <p:spPr>
          <a:xfrm>
            <a:off x="1219200" y="1778000"/>
            <a:ext cx="2159000" cy="482600"/>
          </a:xfrm>
          <a:prstGeom prst="round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Arial"/>
                <a:cs typeface="Arial"/>
              </a:rPr>
              <a:t>SISMID 2026</a:t>
            </a:r>
          </a:p>
        </p:txBody>
      </p:sp>
    </p:spTree>
    <p:extLst>
      <p:ext uri="{BB962C8B-B14F-4D97-AF65-F5344CB8AC3E}">
        <p14:creationId xmlns:p14="http://schemas.microsoft.com/office/powerpoint/2010/main" val="1011523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9C548-E51B-C7D0-A763-0744E975FEBC}"/>
              </a:ext>
            </a:extLst>
          </p:cNvPr>
          <p:cNvSpPr>
            <a:spLocks noGrp="1"/>
          </p:cNvSpPr>
          <p:nvPr>
            <p:ph type="title"/>
          </p:nvPr>
        </p:nvSpPr>
        <p:spPr>
          <a:xfrm>
            <a:off x="838200" y="154733"/>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Introductions</a:t>
            </a:r>
          </a:p>
        </p:txBody>
      </p:sp>
      <p:pic>
        <p:nvPicPr>
          <p:cNvPr id="4" name="Picture 3" descr="Lior Rennert">
            <a:extLst>
              <a:ext uri="{FF2B5EF4-FFF2-40B4-BE49-F238E27FC236}">
                <a16:creationId xmlns:a16="http://schemas.microsoft.com/office/drawing/2014/main" id="{4C6DBB4D-A61D-F485-2FEC-F5DAC528939E}"/>
              </a:ext>
            </a:extLst>
          </p:cNvPr>
          <p:cNvPicPr>
            <a:picLocks noChangeAspect="1"/>
          </p:cNvPicPr>
          <p:nvPr/>
        </p:nvPicPr>
        <p:blipFill>
          <a:blip r:embed="rId3"/>
          <a:stretch>
            <a:fillRect/>
          </a:stretch>
        </p:blipFill>
        <p:spPr>
          <a:xfrm>
            <a:off x="606188" y="2025660"/>
            <a:ext cx="2704318" cy="2704318"/>
          </a:xfrm>
          <a:prstGeom prst="rect">
            <a:avLst/>
          </a:prstGeom>
        </p:spPr>
      </p:pic>
      <p:pic>
        <p:nvPicPr>
          <p:cNvPr id="5" name="Picture 4" descr="Nathan McNeese">
            <a:extLst>
              <a:ext uri="{FF2B5EF4-FFF2-40B4-BE49-F238E27FC236}">
                <a16:creationId xmlns:a16="http://schemas.microsoft.com/office/drawing/2014/main" id="{94684478-4E43-741F-2069-889C73CF7B04}"/>
              </a:ext>
            </a:extLst>
          </p:cNvPr>
          <p:cNvPicPr>
            <a:picLocks noChangeAspect="1"/>
          </p:cNvPicPr>
          <p:nvPr/>
        </p:nvPicPr>
        <p:blipFill>
          <a:blip r:embed="rId4"/>
          <a:stretch>
            <a:fillRect/>
          </a:stretch>
        </p:blipFill>
        <p:spPr>
          <a:xfrm>
            <a:off x="4743841" y="2025661"/>
            <a:ext cx="2704317" cy="2704317"/>
          </a:xfrm>
          <a:prstGeom prst="rect">
            <a:avLst/>
          </a:prstGeom>
        </p:spPr>
      </p:pic>
      <p:pic>
        <p:nvPicPr>
          <p:cNvPr id="6" name="Picture 5" descr="Dr. Amanda Bleichrodt, Postdoctoral Fellow, Data Science and Forecasting">
            <a:extLst>
              <a:ext uri="{FF2B5EF4-FFF2-40B4-BE49-F238E27FC236}">
                <a16:creationId xmlns:a16="http://schemas.microsoft.com/office/drawing/2014/main" id="{50A480AE-3A23-F8DB-804D-A46E25586B28}"/>
              </a:ext>
            </a:extLst>
          </p:cNvPr>
          <p:cNvPicPr>
            <a:picLocks noChangeAspect="1"/>
          </p:cNvPicPr>
          <p:nvPr/>
        </p:nvPicPr>
        <p:blipFill>
          <a:blip r:embed="rId5"/>
          <a:stretch>
            <a:fillRect/>
          </a:stretch>
        </p:blipFill>
        <p:spPr>
          <a:xfrm>
            <a:off x="8879188" y="2009706"/>
            <a:ext cx="2706624" cy="2706624"/>
          </a:xfrm>
          <a:prstGeom prst="rect">
            <a:avLst/>
          </a:prstGeom>
        </p:spPr>
      </p:pic>
      <p:sp>
        <p:nvSpPr>
          <p:cNvPr id="7" name="TextBox 6">
            <a:extLst>
              <a:ext uri="{FF2B5EF4-FFF2-40B4-BE49-F238E27FC236}">
                <a16:creationId xmlns:a16="http://schemas.microsoft.com/office/drawing/2014/main" id="{BA62C322-9E23-CE06-55BF-9EA4DCC59269}"/>
              </a:ext>
            </a:extLst>
          </p:cNvPr>
          <p:cNvSpPr txBox="1"/>
          <p:nvPr/>
        </p:nvSpPr>
        <p:spPr>
          <a:xfrm>
            <a:off x="641191" y="4911511"/>
            <a:ext cx="2634311"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Dr. Lior Rennert, PhD</a:t>
            </a:r>
          </a:p>
        </p:txBody>
      </p:sp>
      <p:sp>
        <p:nvSpPr>
          <p:cNvPr id="9" name="TextBox 8">
            <a:extLst>
              <a:ext uri="{FF2B5EF4-FFF2-40B4-BE49-F238E27FC236}">
                <a16:creationId xmlns:a16="http://schemas.microsoft.com/office/drawing/2014/main" id="{231B55F6-0F82-FBE0-2B30-887E2FE07D22}"/>
              </a:ext>
            </a:extLst>
          </p:cNvPr>
          <p:cNvSpPr txBox="1"/>
          <p:nvPr/>
        </p:nvSpPr>
        <p:spPr>
          <a:xfrm>
            <a:off x="1297748" y="5311621"/>
            <a:ext cx="1321196"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Instructor </a:t>
            </a:r>
          </a:p>
        </p:txBody>
      </p:sp>
      <p:sp>
        <p:nvSpPr>
          <p:cNvPr id="11" name="TextBox 10">
            <a:extLst>
              <a:ext uri="{FF2B5EF4-FFF2-40B4-BE49-F238E27FC236}">
                <a16:creationId xmlns:a16="http://schemas.microsoft.com/office/drawing/2014/main" id="{4088A34C-6C55-FA7D-6896-A66DF584B636}"/>
              </a:ext>
            </a:extLst>
          </p:cNvPr>
          <p:cNvSpPr txBox="1"/>
          <p:nvPr/>
        </p:nvSpPr>
        <p:spPr>
          <a:xfrm>
            <a:off x="4493509" y="4911511"/>
            <a:ext cx="3204980"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Dr. Nathan McNeese, PhD</a:t>
            </a:r>
          </a:p>
        </p:txBody>
      </p:sp>
      <p:sp>
        <p:nvSpPr>
          <p:cNvPr id="13" name="TextBox 12">
            <a:extLst>
              <a:ext uri="{FF2B5EF4-FFF2-40B4-BE49-F238E27FC236}">
                <a16:creationId xmlns:a16="http://schemas.microsoft.com/office/drawing/2014/main" id="{0A75D0D3-D790-B20F-ABF6-F456E13AFEF8}"/>
              </a:ext>
            </a:extLst>
          </p:cNvPr>
          <p:cNvSpPr txBox="1"/>
          <p:nvPr/>
        </p:nvSpPr>
        <p:spPr>
          <a:xfrm>
            <a:off x="5435401" y="5311621"/>
            <a:ext cx="1321196"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Instructor </a:t>
            </a:r>
          </a:p>
        </p:txBody>
      </p:sp>
      <p:sp>
        <p:nvSpPr>
          <p:cNvPr id="15" name="TextBox 14">
            <a:extLst>
              <a:ext uri="{FF2B5EF4-FFF2-40B4-BE49-F238E27FC236}">
                <a16:creationId xmlns:a16="http://schemas.microsoft.com/office/drawing/2014/main" id="{D137CCB1-E7E8-C3E8-2BEC-8A466E920205}"/>
              </a:ext>
            </a:extLst>
          </p:cNvPr>
          <p:cNvSpPr txBox="1"/>
          <p:nvPr/>
        </p:nvSpPr>
        <p:spPr>
          <a:xfrm>
            <a:off x="8508855" y="4911511"/>
            <a:ext cx="3447290"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Dr. Amanda Bleichrodt, PhD</a:t>
            </a:r>
          </a:p>
        </p:txBody>
      </p:sp>
      <p:sp>
        <p:nvSpPr>
          <p:cNvPr id="17" name="TextBox 16">
            <a:extLst>
              <a:ext uri="{FF2B5EF4-FFF2-40B4-BE49-F238E27FC236}">
                <a16:creationId xmlns:a16="http://schemas.microsoft.com/office/drawing/2014/main" id="{6BFF46FF-2109-2604-32B7-D606B571E536}"/>
              </a:ext>
            </a:extLst>
          </p:cNvPr>
          <p:cNvSpPr txBox="1"/>
          <p:nvPr/>
        </p:nvSpPr>
        <p:spPr>
          <a:xfrm>
            <a:off x="9573056" y="5311621"/>
            <a:ext cx="1321196" cy="400110"/>
          </a:xfrm>
          <a:prstGeom prst="rect">
            <a:avLst/>
          </a:prstGeom>
          <a:noFill/>
        </p:spPr>
        <p:txBody>
          <a:bodyPr wrap="none" rtlCol="0">
            <a:spAutoFit/>
          </a:bodyPr>
          <a:lstStyle/>
          <a:p>
            <a:r>
              <a:rPr lang="en-US" sz="2000" dirty="0">
                <a:latin typeface="Arial" panose="020B0604020202020204" pitchFamily="34" charset="0"/>
                <a:cs typeface="Arial" panose="020B0604020202020204" pitchFamily="34" charset="0"/>
              </a:rPr>
              <a:t>Instructor </a:t>
            </a:r>
          </a:p>
        </p:txBody>
      </p:sp>
    </p:spTree>
    <p:extLst>
      <p:ext uri="{BB962C8B-B14F-4D97-AF65-F5344CB8AC3E}">
        <p14:creationId xmlns:p14="http://schemas.microsoft.com/office/powerpoint/2010/main" val="2551368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76706-AC1E-B3AF-A9BF-5FD2055DA681}"/>
              </a:ext>
            </a:extLst>
          </p:cNvPr>
          <p:cNvSpPr>
            <a:spLocks noGrp="1"/>
          </p:cNvSpPr>
          <p:nvPr>
            <p:ph type="title"/>
          </p:nvPr>
        </p:nvSpPr>
        <p:spPr>
          <a:xfrm>
            <a:off x="838200" y="88106"/>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Course Outline</a:t>
            </a:r>
          </a:p>
        </p:txBody>
      </p:sp>
      <p:sp>
        <p:nvSpPr>
          <p:cNvPr id="5" name="Card0">
            <a:extLst>
              <a:ext uri="{FF2B5EF4-FFF2-40B4-BE49-F238E27FC236}">
                <a16:creationId xmlns:a16="http://schemas.microsoft.com/office/drawing/2014/main" id="{7F69D174-F5A6-A5BB-30F6-9B1D7D52477F}"/>
              </a:ext>
            </a:extLst>
          </p:cNvPr>
          <p:cNvSpPr/>
          <p:nvPr/>
        </p:nvSpPr>
        <p:spPr>
          <a:xfrm>
            <a:off x="635000" y="2006600"/>
            <a:ext cx="3403600" cy="4419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7" name="Head0">
            <a:extLst>
              <a:ext uri="{FF2B5EF4-FFF2-40B4-BE49-F238E27FC236}">
                <a16:creationId xmlns:a16="http://schemas.microsoft.com/office/drawing/2014/main" id="{B011FC43-327E-F22A-57F9-9C73BCF44E8B}"/>
              </a:ext>
            </a:extLst>
          </p:cNvPr>
          <p:cNvSpPr/>
          <p:nvPr/>
        </p:nvSpPr>
        <p:spPr>
          <a:xfrm>
            <a:off x="635000" y="2006600"/>
            <a:ext cx="3403600" cy="9144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2000" b="1" spc="200" dirty="0">
                <a:solidFill>
                  <a:srgbClr val="FFFFFF"/>
                </a:solidFill>
                <a:latin typeface="Arial" panose="020B0604020202020204" pitchFamily="34" charset="0"/>
                <a:cs typeface="Arial" panose="020B0604020202020204" pitchFamily="34" charset="0"/>
              </a:rPr>
              <a:t>DAY 1</a:t>
            </a:r>
          </a:p>
          <a:p>
            <a:pPr algn="ctr">
              <a:spcBef>
                <a:spcPts val="200"/>
              </a:spcBef>
            </a:pPr>
            <a:r>
              <a:rPr lang="en-US" sz="2000" b="1" dirty="0">
                <a:solidFill>
                  <a:srgbClr val="FFFFFF"/>
                </a:solidFill>
                <a:latin typeface="Arial" panose="020B0604020202020204" pitchFamily="34" charset="0"/>
                <a:cs typeface="Arial" panose="020B0604020202020204" pitchFamily="34" charset="0"/>
              </a:rPr>
              <a:t>Foundations &amp; Setup</a:t>
            </a:r>
          </a:p>
        </p:txBody>
      </p:sp>
      <p:sp>
        <p:nvSpPr>
          <p:cNvPr id="9" name="Acc0">
            <a:extLst>
              <a:ext uri="{FF2B5EF4-FFF2-40B4-BE49-F238E27FC236}">
                <a16:creationId xmlns:a16="http://schemas.microsoft.com/office/drawing/2014/main" id="{E3727BA4-FC69-D97A-1F4B-F9621A3A54B1}"/>
              </a:ext>
            </a:extLst>
          </p:cNvPr>
          <p:cNvSpPr/>
          <p:nvPr/>
        </p:nvSpPr>
        <p:spPr>
          <a:xfrm>
            <a:off x="635000" y="2006600"/>
            <a:ext cx="34036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11" name="Body0">
            <a:extLst>
              <a:ext uri="{FF2B5EF4-FFF2-40B4-BE49-F238E27FC236}">
                <a16:creationId xmlns:a16="http://schemas.microsoft.com/office/drawing/2014/main" id="{2FED5633-BDF9-5686-05A3-B98107CF755A}"/>
              </a:ext>
            </a:extLst>
          </p:cNvPr>
          <p:cNvSpPr txBox="1"/>
          <p:nvPr/>
        </p:nvSpPr>
        <p:spPr>
          <a:xfrm>
            <a:off x="838200" y="2975592"/>
            <a:ext cx="2997200" cy="3352800"/>
          </a:xfrm>
          <a:prstGeom prst="rect">
            <a:avLst/>
          </a:prstGeom>
          <a:noFill/>
        </p:spPr>
        <p:txBody>
          <a:bodyPr wrap="square" rtlCol="0" anchor="t">
            <a:normAutofit/>
          </a:bodyPr>
          <a:lstStyle/>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Overview of forecasting</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Intro to AI &amp; human–AI teaming</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GitHub &amp; VS Code setup</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Data cleaning (Lab 1) + GitHub Commits</a:t>
            </a:r>
          </a:p>
        </p:txBody>
      </p:sp>
      <p:sp>
        <p:nvSpPr>
          <p:cNvPr id="13" name="Card1">
            <a:extLst>
              <a:ext uri="{FF2B5EF4-FFF2-40B4-BE49-F238E27FC236}">
                <a16:creationId xmlns:a16="http://schemas.microsoft.com/office/drawing/2014/main" id="{1EDC6901-5FC2-D4E8-69CC-49229E6FCB02}"/>
              </a:ext>
            </a:extLst>
          </p:cNvPr>
          <p:cNvSpPr/>
          <p:nvPr/>
        </p:nvSpPr>
        <p:spPr>
          <a:xfrm>
            <a:off x="4394200" y="2006600"/>
            <a:ext cx="3403600" cy="4419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15" name="Head1">
            <a:extLst>
              <a:ext uri="{FF2B5EF4-FFF2-40B4-BE49-F238E27FC236}">
                <a16:creationId xmlns:a16="http://schemas.microsoft.com/office/drawing/2014/main" id="{AC98F134-3E73-D54C-6BC9-03FD206AAF3D}"/>
              </a:ext>
            </a:extLst>
          </p:cNvPr>
          <p:cNvSpPr/>
          <p:nvPr/>
        </p:nvSpPr>
        <p:spPr>
          <a:xfrm>
            <a:off x="4394200" y="2006600"/>
            <a:ext cx="3403600" cy="9144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2000" b="1" spc="200" dirty="0">
                <a:solidFill>
                  <a:srgbClr val="FFFFFF"/>
                </a:solidFill>
                <a:latin typeface="Arial" panose="020B0604020202020204" pitchFamily="34" charset="0"/>
                <a:cs typeface="Arial" panose="020B0604020202020204" pitchFamily="34" charset="0"/>
              </a:rPr>
              <a:t>DAY 2</a:t>
            </a:r>
          </a:p>
          <a:p>
            <a:pPr algn="ctr">
              <a:spcBef>
                <a:spcPts val="200"/>
              </a:spcBef>
            </a:pPr>
            <a:r>
              <a:rPr lang="en-US" sz="2000" b="1" dirty="0">
                <a:solidFill>
                  <a:srgbClr val="FFFFFF"/>
                </a:solidFill>
                <a:latin typeface="Arial" panose="020B0604020202020204" pitchFamily="34" charset="0"/>
                <a:cs typeface="Arial" panose="020B0604020202020204" pitchFamily="34" charset="0"/>
              </a:rPr>
              <a:t>Prompting &amp; Forecasting</a:t>
            </a:r>
          </a:p>
        </p:txBody>
      </p:sp>
      <p:sp>
        <p:nvSpPr>
          <p:cNvPr id="17" name="Acc1">
            <a:extLst>
              <a:ext uri="{FF2B5EF4-FFF2-40B4-BE49-F238E27FC236}">
                <a16:creationId xmlns:a16="http://schemas.microsoft.com/office/drawing/2014/main" id="{D9C5F6B4-DB20-C439-62A2-18C2E2FF04A8}"/>
              </a:ext>
            </a:extLst>
          </p:cNvPr>
          <p:cNvSpPr/>
          <p:nvPr/>
        </p:nvSpPr>
        <p:spPr>
          <a:xfrm>
            <a:off x="4394200" y="2006600"/>
            <a:ext cx="34036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19" name="Body1">
            <a:extLst>
              <a:ext uri="{FF2B5EF4-FFF2-40B4-BE49-F238E27FC236}">
                <a16:creationId xmlns:a16="http://schemas.microsoft.com/office/drawing/2014/main" id="{36DB1C60-FE9B-A718-3847-8C89292DF0A2}"/>
              </a:ext>
            </a:extLst>
          </p:cNvPr>
          <p:cNvSpPr txBox="1"/>
          <p:nvPr/>
        </p:nvSpPr>
        <p:spPr>
          <a:xfrm>
            <a:off x="4597400" y="2975592"/>
            <a:ext cx="2997200" cy="3352800"/>
          </a:xfrm>
          <a:prstGeom prst="rect">
            <a:avLst/>
          </a:prstGeom>
          <a:noFill/>
        </p:spPr>
        <p:txBody>
          <a:bodyPr wrap="square" rtlCol="0" anchor="t">
            <a:noAutofit/>
          </a:bodyPr>
          <a:lstStyle/>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AI prompting strategies</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Working with rules.md files</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Data visualization (Lab 2)</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Building the forecasting pipeline</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Forecasting (Lab 3)</a:t>
            </a:r>
          </a:p>
        </p:txBody>
      </p:sp>
      <p:sp>
        <p:nvSpPr>
          <p:cNvPr id="21" name="Card2">
            <a:extLst>
              <a:ext uri="{FF2B5EF4-FFF2-40B4-BE49-F238E27FC236}">
                <a16:creationId xmlns:a16="http://schemas.microsoft.com/office/drawing/2014/main" id="{7D3625EE-76B5-7402-DD13-AFB94E0F4EB7}"/>
              </a:ext>
            </a:extLst>
          </p:cNvPr>
          <p:cNvSpPr/>
          <p:nvPr/>
        </p:nvSpPr>
        <p:spPr>
          <a:xfrm>
            <a:off x="8153400" y="2006600"/>
            <a:ext cx="3403600" cy="4419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23" name="Head2">
            <a:extLst>
              <a:ext uri="{FF2B5EF4-FFF2-40B4-BE49-F238E27FC236}">
                <a16:creationId xmlns:a16="http://schemas.microsoft.com/office/drawing/2014/main" id="{C77C150F-1B11-72B1-43DD-39378BFC276B}"/>
              </a:ext>
            </a:extLst>
          </p:cNvPr>
          <p:cNvSpPr/>
          <p:nvPr/>
        </p:nvSpPr>
        <p:spPr>
          <a:xfrm>
            <a:off x="8153400" y="2006600"/>
            <a:ext cx="3403600" cy="9144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2000" b="1" spc="200" dirty="0">
                <a:solidFill>
                  <a:srgbClr val="FFFFFF"/>
                </a:solidFill>
                <a:latin typeface="Arial" panose="020B0604020202020204" pitchFamily="34" charset="0"/>
                <a:cs typeface="Arial" panose="020B0604020202020204" pitchFamily="34" charset="0"/>
              </a:rPr>
              <a:t>DAY 3</a:t>
            </a:r>
          </a:p>
          <a:p>
            <a:pPr algn="ctr">
              <a:spcBef>
                <a:spcPts val="200"/>
              </a:spcBef>
            </a:pPr>
            <a:r>
              <a:rPr lang="en-US" sz="2000" b="1" dirty="0">
                <a:solidFill>
                  <a:srgbClr val="FFFFFF"/>
                </a:solidFill>
                <a:latin typeface="Arial" panose="020B0604020202020204" pitchFamily="34" charset="0"/>
                <a:cs typeface="Arial" panose="020B0604020202020204" pitchFamily="34" charset="0"/>
              </a:rPr>
              <a:t>Evaluation &amp; Refinement</a:t>
            </a:r>
          </a:p>
        </p:txBody>
      </p:sp>
      <p:sp>
        <p:nvSpPr>
          <p:cNvPr id="25" name="Acc2">
            <a:extLst>
              <a:ext uri="{FF2B5EF4-FFF2-40B4-BE49-F238E27FC236}">
                <a16:creationId xmlns:a16="http://schemas.microsoft.com/office/drawing/2014/main" id="{B7EF6AC1-4E56-E8A6-AA74-673EEF9F4D7D}"/>
              </a:ext>
            </a:extLst>
          </p:cNvPr>
          <p:cNvSpPr/>
          <p:nvPr/>
        </p:nvSpPr>
        <p:spPr>
          <a:xfrm>
            <a:off x="8153400" y="2006600"/>
            <a:ext cx="34036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27" name="Body2">
            <a:extLst>
              <a:ext uri="{FF2B5EF4-FFF2-40B4-BE49-F238E27FC236}">
                <a16:creationId xmlns:a16="http://schemas.microsoft.com/office/drawing/2014/main" id="{05354E2B-4A4B-C03C-E240-381DBA8FCA1B}"/>
              </a:ext>
            </a:extLst>
          </p:cNvPr>
          <p:cNvSpPr txBox="1"/>
          <p:nvPr/>
        </p:nvSpPr>
        <p:spPr>
          <a:xfrm>
            <a:off x="8356600" y="2975592"/>
            <a:ext cx="2997200" cy="3352800"/>
          </a:xfrm>
          <a:prstGeom prst="rect">
            <a:avLst/>
          </a:prstGeom>
          <a:noFill/>
        </p:spPr>
        <p:txBody>
          <a:bodyPr wrap="square" rtlCol="0" anchor="t">
            <a:noAutofit/>
          </a:bodyPr>
          <a:lstStyle/>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Overview of model evaluation</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Model evaluation (Lab 4)</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AI/HAT evaluation</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Working with AI for refinement</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Model refinement (Lab 5)</a:t>
            </a:r>
          </a:p>
          <a:p>
            <a:pPr marL="200000" indent="-200000" algn="l">
              <a:lnSpc>
                <a:spcPct val="104000"/>
              </a:lnSpc>
              <a:spcBef>
                <a:spcPts val="900"/>
              </a:spcBef>
              <a:buClr>
                <a:srgbClr val="F56600"/>
              </a:buClr>
              <a:buSzPct val="110000"/>
              <a:buFont typeface="Arial"/>
              <a:buChar char="•"/>
            </a:pPr>
            <a:r>
              <a:rPr lang="en-US" dirty="0">
                <a:solidFill>
                  <a:srgbClr val="333333"/>
                </a:solidFill>
                <a:latin typeface="Arial" panose="020B0604020202020204" pitchFamily="34" charset="0"/>
                <a:cs typeface="Arial" panose="020B0604020202020204" pitchFamily="34" charset="0"/>
              </a:rPr>
              <a:t>Questions &amp; free coding</a:t>
            </a:r>
          </a:p>
        </p:txBody>
      </p:sp>
      <p:sp>
        <p:nvSpPr>
          <p:cNvPr id="28" name="Subtitle 2">
            <a:extLst>
              <a:ext uri="{FF2B5EF4-FFF2-40B4-BE49-F238E27FC236}">
                <a16:creationId xmlns:a16="http://schemas.microsoft.com/office/drawing/2014/main" id="{49804057-E82C-CBAA-1405-7D0A991172E5}"/>
              </a:ext>
            </a:extLst>
          </p:cNvPr>
          <p:cNvSpPr txBox="1">
            <a:spLocks/>
          </p:cNvSpPr>
          <p:nvPr/>
        </p:nvSpPr>
        <p:spPr>
          <a:xfrm>
            <a:off x="635000" y="1308100"/>
            <a:ext cx="10922000" cy="508000"/>
          </a:xfrm>
          <a:prstGeom prst="rect">
            <a:avLst/>
          </a:prstGeom>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Arial"/>
                <a:cs typeface="Arial"/>
              </a:rPr>
              <a:t>A three-day, hands-on path from forecasting foundations to AI-refined models.</a:t>
            </a:r>
          </a:p>
        </p:txBody>
      </p:sp>
    </p:spTree>
    <p:extLst>
      <p:ext uri="{BB962C8B-B14F-4D97-AF65-F5344CB8AC3E}">
        <p14:creationId xmlns:p14="http://schemas.microsoft.com/office/powerpoint/2010/main" val="278102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0553059D-A990-46AB-B034-C50B3167506C}"/>
              </a:ext>
            </a:extLst>
          </p:cNvPr>
          <p:cNvSpPr/>
          <p:nvPr/>
        </p:nvSpPr>
        <p:spPr>
          <a:xfrm>
            <a:off x="8128000" y="1397000"/>
            <a:ext cx="3556000" cy="4546600"/>
          </a:xfrm>
          <a:prstGeom prst="roundRect">
            <a:avLst/>
          </a:prstGeom>
          <a:solidFill>
            <a:schemeClr val="bg1"/>
          </a:solidFill>
          <a:ln w="19050" cap="flat" cmpd="sng" algn="ctr">
            <a:solidFill>
              <a:schemeClr val="accent2">
                <a:lumMod val="20000"/>
                <a:lumOff val="8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Rounded Corners 8">
            <a:extLst>
              <a:ext uri="{FF2B5EF4-FFF2-40B4-BE49-F238E27FC236}">
                <a16:creationId xmlns:a16="http://schemas.microsoft.com/office/drawing/2014/main" id="{1F03CBF2-7952-4F22-A098-07DEA2BC7047}"/>
              </a:ext>
            </a:extLst>
          </p:cNvPr>
          <p:cNvSpPr/>
          <p:nvPr/>
        </p:nvSpPr>
        <p:spPr>
          <a:xfrm>
            <a:off x="4318000" y="1397000"/>
            <a:ext cx="3556000" cy="4546600"/>
          </a:xfrm>
          <a:prstGeom prst="roundRect">
            <a:avLst/>
          </a:prstGeom>
          <a:solidFill>
            <a:schemeClr val="bg1"/>
          </a:solidFill>
          <a:ln w="19050" cap="flat" cmpd="sng" algn="ctr">
            <a:solidFill>
              <a:schemeClr val="accent2">
                <a:lumMod val="20000"/>
                <a:lumOff val="8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Rounded Corners 4">
            <a:extLst>
              <a:ext uri="{FF2B5EF4-FFF2-40B4-BE49-F238E27FC236}">
                <a16:creationId xmlns:a16="http://schemas.microsoft.com/office/drawing/2014/main" id="{F3CF4895-065B-467B-AB5F-7842D7371279}"/>
              </a:ext>
            </a:extLst>
          </p:cNvPr>
          <p:cNvSpPr/>
          <p:nvPr/>
        </p:nvSpPr>
        <p:spPr>
          <a:xfrm>
            <a:off x="508000" y="1397000"/>
            <a:ext cx="3556000" cy="4546600"/>
          </a:xfrm>
          <a:prstGeom prst="roundRect">
            <a:avLst/>
          </a:prstGeom>
          <a:solidFill>
            <a:schemeClr val="bg1"/>
          </a:solidFill>
          <a:ln w="19050" cap="flat" cmpd="sng" algn="ctr">
            <a:solidFill>
              <a:schemeClr val="accent2">
                <a:lumMod val="20000"/>
                <a:lumOff val="8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2BAF8A77-2949-E92F-136E-6BF94B7E4B79}"/>
              </a:ext>
            </a:extLst>
          </p:cNvPr>
          <p:cNvSpPr>
            <a:spLocks noGrp="1"/>
          </p:cNvSpPr>
          <p:nvPr>
            <p:ph type="title"/>
          </p:nvPr>
        </p:nvSpPr>
        <p:spPr>
          <a:xfrm>
            <a:off x="838200" y="104727"/>
            <a:ext cx="10515600" cy="1149382"/>
          </a:xfrm>
        </p:spPr>
        <p:txBody>
          <a:bodyPr>
            <a:normAutofit/>
          </a:bodyPr>
          <a:lstStyle/>
          <a:p>
            <a:pPr algn="ctr"/>
            <a:r>
              <a:rPr lang="en-US" b="1" dirty="0">
                <a:solidFill>
                  <a:srgbClr val="7030A0"/>
                </a:solidFill>
                <a:latin typeface="Arial"/>
                <a:cs typeface="Arial"/>
              </a:rPr>
              <a:t>Goals of the Course</a:t>
            </a:r>
          </a:p>
        </p:txBody>
      </p:sp>
      <p:sp>
        <p:nvSpPr>
          <p:cNvPr id="6" name="TextBox 5">
            <a:extLst>
              <a:ext uri="{FF2B5EF4-FFF2-40B4-BE49-F238E27FC236}">
                <a16:creationId xmlns:a16="http://schemas.microsoft.com/office/drawing/2014/main" id="{1C80CB7F-4DA6-40E0-8FCF-262FA8ACC919}"/>
              </a:ext>
            </a:extLst>
          </p:cNvPr>
          <p:cNvSpPr txBox="1"/>
          <p:nvPr/>
        </p:nvSpPr>
        <p:spPr>
          <a:xfrm>
            <a:off x="636875" y="2260600"/>
            <a:ext cx="3302000" cy="406400"/>
          </a:xfrm>
          <a:prstGeom prst="rect">
            <a:avLst/>
          </a:prstGeom>
          <a:noFill/>
        </p:spPr>
        <p:txBody>
          <a:bodyPr vertOverflow="overflow" vert="horz" wrap="square" rtlCol="0" anchor="ctr" anchorCtr="0">
            <a:noAutofit/>
          </a:bodyPr>
          <a:lstStyle/>
          <a:p>
            <a:pPr algn="l"/>
            <a:r>
              <a:rPr lang="en-US" sz="2400" b="1" dirty="0">
                <a:solidFill>
                  <a:srgbClr val="522D80"/>
                </a:solidFill>
                <a:latin typeface="Arial"/>
                <a:cs typeface="Arial"/>
              </a:rPr>
              <a:t>What it is, and isn't</a:t>
            </a:r>
          </a:p>
        </p:txBody>
      </p:sp>
      <p:sp>
        <p:nvSpPr>
          <p:cNvPr id="7" name="Rectangle 6">
            <a:extLst>
              <a:ext uri="{FF2B5EF4-FFF2-40B4-BE49-F238E27FC236}">
                <a16:creationId xmlns:a16="http://schemas.microsoft.com/office/drawing/2014/main" id="{D659D6EF-C47F-430E-8700-7397936BBEC7}"/>
              </a:ext>
            </a:extLst>
          </p:cNvPr>
          <p:cNvSpPr/>
          <p:nvPr/>
        </p:nvSpPr>
        <p:spPr>
          <a:xfrm>
            <a:off x="762000" y="2730500"/>
            <a:ext cx="762000" cy="381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9754003F-14F0-4FA2-8B82-761A32633BC0}"/>
              </a:ext>
            </a:extLst>
          </p:cNvPr>
          <p:cNvSpPr txBox="1"/>
          <p:nvPr/>
        </p:nvSpPr>
        <p:spPr>
          <a:xfrm>
            <a:off x="636875" y="2908300"/>
            <a:ext cx="3173125" cy="3365500"/>
          </a:xfrm>
          <a:prstGeom prst="rect">
            <a:avLst/>
          </a:prstGeom>
          <a:noFill/>
        </p:spPr>
        <p:txBody>
          <a:bodyPr vertOverflow="overflow" vert="horz" wrap="square" rtlCol="0" anchor="t">
            <a:noAutofit/>
          </a:bodyPr>
          <a:lstStyle/>
          <a:p>
            <a:pPr marL="228600" lvl="0" indent="-228600">
              <a:buClr>
                <a:srgbClr val="F56600"/>
              </a:buClr>
              <a:buSzPct val="110000"/>
              <a:buFont typeface="Arial"/>
              <a:buChar char="•"/>
            </a:pPr>
            <a:r>
              <a:rPr lang="en-US" sz="1700" dirty="0">
                <a:solidFill>
                  <a:srgbClr val="333333"/>
                </a:solidFill>
                <a:latin typeface="Arial" panose="020B0604020202020204" pitchFamily="34" charset="0"/>
                <a:cs typeface="Arial" panose="020B0604020202020204" pitchFamily="34" charset="0"/>
              </a:rPr>
              <a:t>Get comfortable with AI-supported modeling and Human–AI Teaming (HAT)</a:t>
            </a:r>
            <a:endParaRPr lang="en-US" sz="1700" dirty="0">
              <a:latin typeface="Arial" panose="020B0604020202020204" pitchFamily="34" charset="0"/>
              <a:cs typeface="Arial" panose="020B0604020202020204" pitchFamily="34" charset="0"/>
            </a:endParaRPr>
          </a:p>
          <a:p>
            <a:pPr marL="228600" lvl="0" indent="-228600">
              <a:buClr>
                <a:srgbClr val="F56600"/>
              </a:buClr>
              <a:buSzPct val="110000"/>
              <a:buFont typeface="Arial"/>
              <a:buChar char="•"/>
            </a:pPr>
            <a:r>
              <a:rPr lang="en-US" sz="1700" dirty="0">
                <a:solidFill>
                  <a:srgbClr val="333333"/>
                </a:solidFill>
                <a:latin typeface="Arial" panose="020B0604020202020204" pitchFamily="34" charset="0"/>
                <a:cs typeface="Arial" panose="020B0604020202020204" pitchFamily="34" charset="0"/>
              </a:rPr>
              <a:t>Infectious disease forecasting is our case study, not the end goal</a:t>
            </a:r>
          </a:p>
          <a:p>
            <a:pPr marL="228600" lvl="0" indent="-228600">
              <a:buClr>
                <a:srgbClr val="F56600"/>
              </a:buClr>
              <a:buSzPct val="110000"/>
              <a:buFont typeface="Arial"/>
              <a:buChar char="•"/>
            </a:pPr>
            <a:r>
              <a:rPr lang="en-US" sz="1700" dirty="0">
                <a:solidFill>
                  <a:srgbClr val="333333"/>
                </a:solidFill>
                <a:latin typeface="Arial" panose="020B0604020202020204" pitchFamily="34" charset="0"/>
                <a:cs typeface="Arial" panose="020B0604020202020204" pitchFamily="34" charset="0"/>
              </a:rPr>
              <a:t>Focus is critical thinking and best practices, not definitive implementation guidelines</a:t>
            </a:r>
            <a:endParaRPr lang="en-US" sz="1700" b="1" dirty="0">
              <a:solidFill>
                <a:srgbClr val="522D80"/>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829DAD2B-EF19-4222-BB31-2A298B070826}"/>
              </a:ext>
            </a:extLst>
          </p:cNvPr>
          <p:cNvSpPr txBox="1"/>
          <p:nvPr/>
        </p:nvSpPr>
        <p:spPr>
          <a:xfrm>
            <a:off x="4485375" y="2260600"/>
            <a:ext cx="3302000" cy="406400"/>
          </a:xfrm>
          <a:prstGeom prst="rect">
            <a:avLst/>
          </a:prstGeom>
          <a:noFill/>
        </p:spPr>
        <p:txBody>
          <a:bodyPr vertOverflow="overflow" vert="horz" wrap="square" rtlCol="0" anchor="ctr" anchorCtr="0">
            <a:noAutofit/>
          </a:bodyPr>
          <a:lstStyle/>
          <a:p>
            <a:pPr algn="l"/>
            <a:r>
              <a:rPr lang="en-US" sz="2400" b="1" dirty="0">
                <a:solidFill>
                  <a:srgbClr val="522D80"/>
                </a:solidFill>
                <a:latin typeface="Arial"/>
                <a:cs typeface="Arial"/>
              </a:rPr>
              <a:t>Expectations with AI</a:t>
            </a:r>
          </a:p>
        </p:txBody>
      </p:sp>
      <p:sp>
        <p:nvSpPr>
          <p:cNvPr id="11" name="Rectangle 10">
            <a:extLst>
              <a:ext uri="{FF2B5EF4-FFF2-40B4-BE49-F238E27FC236}">
                <a16:creationId xmlns:a16="http://schemas.microsoft.com/office/drawing/2014/main" id="{926BD819-BF4F-4958-8F02-BCDC297DA766}"/>
              </a:ext>
            </a:extLst>
          </p:cNvPr>
          <p:cNvSpPr/>
          <p:nvPr/>
        </p:nvSpPr>
        <p:spPr>
          <a:xfrm>
            <a:off x="4572000" y="2730500"/>
            <a:ext cx="762000" cy="381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422A89BF-095D-4840-9717-1F2D21FCE79A}"/>
              </a:ext>
            </a:extLst>
          </p:cNvPr>
          <p:cNvSpPr txBox="1"/>
          <p:nvPr/>
        </p:nvSpPr>
        <p:spPr>
          <a:xfrm>
            <a:off x="4485375" y="2908300"/>
            <a:ext cx="3134625" cy="3365500"/>
          </a:xfrm>
          <a:prstGeom prst="rect">
            <a:avLst/>
          </a:prstGeom>
          <a:noFill/>
        </p:spPr>
        <p:txBody>
          <a:bodyPr vertOverflow="overflow" vert="horz" wrap="square" rtlCol="0" anchor="t">
            <a:noAutofit/>
          </a:bodyPr>
          <a:lstStyle/>
          <a:p>
            <a:pPr marL="228600" lvl="0" indent="-228600">
              <a:buClr>
                <a:srgbClr val="F56600"/>
              </a:buClr>
              <a:buSzPct val="110000"/>
              <a:buFont typeface="Arial"/>
              <a:buChar char="•"/>
            </a:pPr>
            <a:r>
              <a:rPr lang="en-US" sz="1700" dirty="0">
                <a:solidFill>
                  <a:srgbClr val="333333"/>
                </a:solidFill>
                <a:latin typeface="Arial" panose="020B0604020202020204" pitchFamily="34" charset="0"/>
                <a:cs typeface="Arial" panose="020B0604020202020204" pitchFamily="34" charset="0"/>
              </a:rPr>
              <a:t>AI isn’t perfect, and there’s no single “right” approach</a:t>
            </a:r>
            <a:endParaRPr lang="en-US" sz="1700" dirty="0">
              <a:latin typeface="Arial" panose="020B0604020202020204" pitchFamily="34" charset="0"/>
              <a:cs typeface="Arial" panose="020B0604020202020204" pitchFamily="34" charset="0"/>
            </a:endParaRPr>
          </a:p>
          <a:p>
            <a:pPr marL="228600" lvl="0" indent="-228600">
              <a:buClr>
                <a:srgbClr val="F56600"/>
              </a:buClr>
              <a:buSzPct val="110000"/>
              <a:buFont typeface="Arial"/>
              <a:buChar char="•"/>
            </a:pPr>
            <a:r>
              <a:rPr lang="en-US" sz="1700" dirty="0">
                <a:solidFill>
                  <a:srgbClr val="333333"/>
                </a:solidFill>
                <a:latin typeface="Arial" panose="020B0604020202020204" pitchFamily="34" charset="0"/>
                <a:cs typeface="Arial" panose="020B0604020202020204" pitchFamily="34" charset="0"/>
              </a:rPr>
              <a:t>A human expert is essential for validation, </a:t>
            </a:r>
            <a:r>
              <a:rPr lang="en-US" sz="1700" i="1" dirty="0">
                <a:solidFill>
                  <a:srgbClr val="333333"/>
                </a:solidFill>
                <a:latin typeface="Arial" panose="020B0604020202020204" pitchFamily="34" charset="0"/>
                <a:cs typeface="Arial" panose="020B0604020202020204" pitchFamily="34" charset="0"/>
              </a:rPr>
              <a:t>how do we know the output is correct?</a:t>
            </a:r>
          </a:p>
          <a:p>
            <a:pPr marL="228600" lvl="0" indent="-228600">
              <a:buClr>
                <a:srgbClr val="F56600"/>
              </a:buClr>
              <a:buSzPct val="110000"/>
              <a:buFont typeface="Arial"/>
              <a:buChar char="•"/>
            </a:pPr>
            <a:r>
              <a:rPr lang="en-US" sz="1700" dirty="0">
                <a:solidFill>
                  <a:srgbClr val="333333"/>
                </a:solidFill>
                <a:latin typeface="Arial" panose="020B0604020202020204" pitchFamily="34" charset="0"/>
                <a:cs typeface="Arial" panose="020B0604020202020204" pitchFamily="34" charset="0"/>
              </a:rPr>
              <a:t>AI will keep improving; the aim is experience you can adapt to your own work</a:t>
            </a:r>
          </a:p>
          <a:p>
            <a:pPr marL="228600" lvl="0" indent="-228600">
              <a:buClr>
                <a:srgbClr val="F56600"/>
              </a:buClr>
              <a:buSzPct val="110000"/>
              <a:buFont typeface="Arial"/>
              <a:buChar char="•"/>
            </a:pPr>
            <a:r>
              <a:rPr lang="en-US" sz="1700" dirty="0">
                <a:solidFill>
                  <a:srgbClr val="333333"/>
                </a:solidFill>
                <a:latin typeface="Arial" panose="020B0604020202020204" pitchFamily="34" charset="0"/>
                <a:cs typeface="Arial" panose="020B0604020202020204" pitchFamily="34" charset="0"/>
              </a:rPr>
              <a:t>Practical note: managing tokens (and what to do if you run out)</a:t>
            </a:r>
            <a:endParaRPr lang="en-US" sz="1700" b="1" dirty="0">
              <a:solidFill>
                <a:srgbClr val="522D8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C4D59667-E7F1-4D89-96E3-86343F2852B4}"/>
              </a:ext>
            </a:extLst>
          </p:cNvPr>
          <p:cNvSpPr txBox="1"/>
          <p:nvPr/>
        </p:nvSpPr>
        <p:spPr>
          <a:xfrm>
            <a:off x="8285750" y="2260600"/>
            <a:ext cx="3302000" cy="406400"/>
          </a:xfrm>
          <a:prstGeom prst="rect">
            <a:avLst/>
          </a:prstGeom>
          <a:noFill/>
        </p:spPr>
        <p:txBody>
          <a:bodyPr vertOverflow="overflow" vert="horz" wrap="square" rtlCol="0" anchor="ctr" anchorCtr="0">
            <a:noAutofit/>
          </a:bodyPr>
          <a:lstStyle/>
          <a:p>
            <a:pPr algn="l"/>
            <a:r>
              <a:rPr lang="en-US" sz="2400" b="1" dirty="0">
                <a:solidFill>
                  <a:srgbClr val="522D80"/>
                </a:solidFill>
                <a:latin typeface="Arial"/>
                <a:cs typeface="Arial"/>
              </a:rPr>
              <a:t>How we'll work</a:t>
            </a:r>
          </a:p>
        </p:txBody>
      </p:sp>
      <p:sp>
        <p:nvSpPr>
          <p:cNvPr id="15" name="Rectangle 14">
            <a:extLst>
              <a:ext uri="{FF2B5EF4-FFF2-40B4-BE49-F238E27FC236}">
                <a16:creationId xmlns:a16="http://schemas.microsoft.com/office/drawing/2014/main" id="{6C4FDAFF-7A54-4D94-B9D1-93D82CC82398}"/>
              </a:ext>
            </a:extLst>
          </p:cNvPr>
          <p:cNvSpPr/>
          <p:nvPr/>
        </p:nvSpPr>
        <p:spPr>
          <a:xfrm>
            <a:off x="8382000" y="2730500"/>
            <a:ext cx="762000" cy="381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5A9CCD5E-294D-4A7D-A6C6-A4D6CDAC1B6B}"/>
              </a:ext>
            </a:extLst>
          </p:cNvPr>
          <p:cNvSpPr txBox="1"/>
          <p:nvPr/>
        </p:nvSpPr>
        <p:spPr>
          <a:xfrm>
            <a:off x="8285750" y="2908300"/>
            <a:ext cx="3302000" cy="3365500"/>
          </a:xfrm>
          <a:prstGeom prst="rect">
            <a:avLst/>
          </a:prstGeom>
          <a:noFill/>
        </p:spPr>
        <p:txBody>
          <a:bodyPr vertOverflow="overflow" vert="horz" wrap="square" rtlCol="0" anchor="t">
            <a:noAutofit/>
          </a:bodyPr>
          <a:lstStyle/>
          <a:p>
            <a:pPr marL="228600" lvl="0" indent="-228600">
              <a:buClr>
                <a:srgbClr val="F56600"/>
              </a:buClr>
              <a:buSzPct val="110000"/>
              <a:buFont typeface="Arial"/>
              <a:buChar char="•"/>
            </a:pPr>
            <a:r>
              <a:rPr lang="en-US" sz="1700" dirty="0">
                <a:solidFill>
                  <a:srgbClr val="333333"/>
                </a:solidFill>
                <a:latin typeface="Arial"/>
                <a:cs typeface="Arial"/>
              </a:rPr>
              <a:t>Most of our time will be spent in hands-on labs, where we will show you multiple ways of doing things </a:t>
            </a:r>
          </a:p>
          <a:p>
            <a:pPr marL="228600" lvl="0" indent="-228600">
              <a:buClr>
                <a:srgbClr val="F56600"/>
              </a:buClr>
              <a:buSzPct val="110000"/>
              <a:buFont typeface="Arial"/>
              <a:buChar char="•"/>
            </a:pPr>
            <a:r>
              <a:rPr lang="en-US" sz="1700" dirty="0">
                <a:solidFill>
                  <a:srgbClr val="333333"/>
                </a:solidFill>
                <a:latin typeface="Arial"/>
                <a:cs typeface="Arial"/>
              </a:rPr>
              <a:t>Mix of class-led walkthroughs, guided solo exercises, and free-flow coding</a:t>
            </a:r>
          </a:p>
          <a:p>
            <a:pPr marL="228600" lvl="0" indent="-228600">
              <a:buClr>
                <a:srgbClr val="F56600"/>
              </a:buClr>
              <a:buSzPct val="110000"/>
              <a:buFont typeface="Arial"/>
              <a:buChar char="•"/>
            </a:pPr>
            <a:r>
              <a:rPr lang="en-US" sz="1700" dirty="0">
                <a:solidFill>
                  <a:srgbClr val="333333"/>
                </a:solidFill>
                <a:latin typeface="Arial"/>
                <a:cs typeface="Arial"/>
              </a:rPr>
              <a:t>Don’t be discouraged if something breaks or is unclear, you can always ask</a:t>
            </a:r>
          </a:p>
        </p:txBody>
      </p:sp>
      <p:pic>
        <p:nvPicPr>
          <p:cNvPr id="17" name="Graphic 17" descr="Course goals target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2000" y="1625600"/>
            <a:ext cx="558800" cy="558800"/>
          </a:xfrm>
          <a:prstGeom prst="rect">
            <a:avLst/>
          </a:prstGeom>
        </p:spPr>
      </p:pic>
      <p:pic>
        <p:nvPicPr>
          <p:cNvPr id="18" name="Graphic 18" descr="AI expectations lightbulb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1625600"/>
            <a:ext cx="558800" cy="558800"/>
          </a:xfrm>
          <a:prstGeom prst="rect">
            <a:avLst/>
          </a:prstGeom>
        </p:spPr>
      </p:pic>
      <p:pic>
        <p:nvPicPr>
          <p:cNvPr id="19" name="Graphic 19" descr="Hands-on labs laptop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82000" y="1625600"/>
            <a:ext cx="558800" cy="558800"/>
          </a:xfrm>
          <a:prstGeom prst="rect">
            <a:avLst/>
          </a:prstGeom>
        </p:spPr>
      </p:pic>
      <p:sp>
        <p:nvSpPr>
          <p:cNvPr id="3" name="TextBox 2">
            <a:extLst>
              <a:ext uri="{FF2B5EF4-FFF2-40B4-BE49-F238E27FC236}">
                <a16:creationId xmlns:a16="http://schemas.microsoft.com/office/drawing/2014/main" id="{D7BCDE08-8898-3F17-0635-30FECCF33E3F}"/>
              </a:ext>
            </a:extLst>
          </p:cNvPr>
          <p:cNvSpPr txBox="1"/>
          <p:nvPr/>
        </p:nvSpPr>
        <p:spPr>
          <a:xfrm>
            <a:off x="507999" y="6152995"/>
            <a:ext cx="11501863" cy="515434"/>
          </a:xfrm>
          <a:prstGeom prst="rect">
            <a:avLst/>
          </a:prstGeom>
          <a:noFill/>
        </p:spPr>
        <p:txBody>
          <a:bodyPr vertOverflow="overflow" vert="horz" wrap="square" rtlCol="0" anchor="ctr" anchorCtr="0">
            <a:noAutofit/>
          </a:bodyPr>
          <a:lstStyle/>
          <a:p>
            <a:pPr algn="ctr"/>
            <a:r>
              <a:rPr lang="en-US" sz="2000" dirty="0">
                <a:solidFill>
                  <a:srgbClr val="522D80"/>
                </a:solidFill>
                <a:latin typeface="Arial"/>
                <a:cs typeface="Arial"/>
              </a:rPr>
              <a:t>HAT-based approach for this course: Instructors will create structure for AI-based implementation, class will help refine approach through collaboration with each other, instructors and AI</a:t>
            </a:r>
          </a:p>
        </p:txBody>
      </p:sp>
    </p:spTree>
    <p:extLst>
      <p:ext uri="{BB962C8B-B14F-4D97-AF65-F5344CB8AC3E}">
        <p14:creationId xmlns:p14="http://schemas.microsoft.com/office/powerpoint/2010/main" val="60134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 grpId="0" animBg="1"/>
      <p:bldP spid="5" grpId="0" animBg="1"/>
      <p:bldP spid="6" grpId="0"/>
      <p:bldP spid="7" grpId="0" animBg="1"/>
      <p:bldP spid="8" grpId="0"/>
      <p:bldP spid="10" grpId="0"/>
      <p:bldP spid="11" grpId="0" animBg="1"/>
      <p:bldP spid="12" grpId="0"/>
      <p:bldP spid="14" grpId="0"/>
      <p:bldP spid="15" grpId="0" animBg="1"/>
      <p:bldP spid="16"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A69AAE0-49D5-4C8B-8BA2-55898C00E0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eam Teaching Is the Best Use of ESSER Funds to Boost Student Learning  after COVID – The 74">
            <a:extLst>
              <a:ext uri="{FF2B5EF4-FFF2-40B4-BE49-F238E27FC236}">
                <a16:creationId xmlns:a16="http://schemas.microsoft.com/office/drawing/2014/main" id="{4F7028B6-36B7-2267-A5E6-32CAA6462756}"/>
              </a:ext>
            </a:extLst>
          </p:cNvPr>
          <p:cNvPicPr>
            <a:picLocks noChangeAspect="1"/>
          </p:cNvPicPr>
          <p:nvPr/>
        </p:nvPicPr>
        <p:blipFill>
          <a:blip r:embed="rId3"/>
          <a:srcRect l="9108" r="24972"/>
          <a:stretch>
            <a:fillRect/>
          </a:stretch>
        </p:blipFill>
        <p:spPr>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p:spPr>
      </p:pic>
      <p:sp>
        <p:nvSpPr>
          <p:cNvPr id="5" name="Title 4">
            <a:extLst>
              <a:ext uri="{FF2B5EF4-FFF2-40B4-BE49-F238E27FC236}">
                <a16:creationId xmlns:a16="http://schemas.microsoft.com/office/drawing/2014/main" id="{F54B6616-B100-C4BA-D44B-51A964035232}"/>
              </a:ext>
            </a:extLst>
          </p:cNvPr>
          <p:cNvSpPr txBox="1">
            <a:spLocks noGrp="1"/>
          </p:cNvSpPr>
          <p:nvPr>
            <p:ph type="title"/>
          </p:nvPr>
        </p:nvSpPr>
        <p:spPr>
          <a:xfrm>
            <a:off x="6343650" y="3962400"/>
            <a:ext cx="5505814" cy="1690409"/>
          </a:xfrm>
          <a:prstGeom prst="rect">
            <a:avLst/>
          </a:prstGeom>
        </p:spPr>
        <p:txBody>
          <a:bodyPr vert="horz" lIns="91440" tIns="45720" rIns="91440" bIns="45720" rtlCol="0" anchor="b">
            <a:normAutofit/>
          </a:bodyPr>
          <a:lstStyle/>
          <a:p>
            <a:r>
              <a:rPr lang="en-US" sz="3700" kern="1200" dirty="0">
                <a:solidFill>
                  <a:schemeClr val="tx1"/>
                </a:solidFill>
                <a:latin typeface="+mj-lt"/>
                <a:ea typeface="+mj-ea"/>
                <a:cs typeface="+mj-cs"/>
              </a:rPr>
              <a:t>Life Secret: Instructors don’t know everything</a:t>
            </a:r>
          </a:p>
        </p:txBody>
      </p:sp>
      <p:pic>
        <p:nvPicPr>
          <p:cNvPr id="6" name="Picture 5" descr="Duh Emoji Stock Illustrations – 9 Duh Emoji Stock ...">
            <a:extLst>
              <a:ext uri="{FF2B5EF4-FFF2-40B4-BE49-F238E27FC236}">
                <a16:creationId xmlns:a16="http://schemas.microsoft.com/office/drawing/2014/main" id="{A58BAB14-0D92-D5AB-E32F-73726641EFBD}"/>
              </a:ext>
            </a:extLst>
          </p:cNvPr>
          <p:cNvPicPr>
            <a:picLocks noChangeAspect="1"/>
          </p:cNvPicPr>
          <p:nvPr/>
        </p:nvPicPr>
        <p:blipFill>
          <a:blip r:embed="rId4"/>
          <a:srcRect t="3836" r="-1" b="2540"/>
          <a:stretch>
            <a:fillRect/>
          </a:stretch>
        </p:blipFill>
        <p:spPr>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p:spPr>
      </p:pic>
    </p:spTree>
    <p:extLst>
      <p:ext uri="{BB962C8B-B14F-4D97-AF65-F5344CB8AC3E}">
        <p14:creationId xmlns:p14="http://schemas.microsoft.com/office/powerpoint/2010/main" val="273747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4C26E-9BFD-22F1-10F2-70735CA72D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0BB12-E10B-B897-731A-554BB92C87AC}"/>
              </a:ext>
            </a:extLst>
          </p:cNvPr>
          <p:cNvSpPr>
            <a:spLocks noGrp="1"/>
          </p:cNvSpPr>
          <p:nvPr>
            <p:ph type="ctrTitle"/>
          </p:nvPr>
        </p:nvSpPr>
        <p:spPr>
          <a:xfrm>
            <a:off x="1219200" y="2540000"/>
            <a:ext cx="7874000" cy="1778000"/>
          </a:xfrm>
          <a:noFill/>
          <a:ln>
            <a:noFill/>
          </a:ln>
        </p:spPr>
        <p:txBody>
          <a:bodyPr>
            <a:normAutofit/>
          </a:bodyPr>
          <a:lstStyle/>
          <a:p>
            <a:pPr algn="l"/>
            <a:r>
              <a:rPr lang="en-US" sz="4400" b="1">
                <a:solidFill>
                  <a:srgbClr val="522D80"/>
                </a:solidFill>
                <a:latin typeface="Arial"/>
                <a:cs typeface="Arial"/>
              </a:rPr>
              <a:t>Infectious Disease Forecasting</a:t>
            </a:r>
          </a:p>
        </p:txBody>
      </p:sp>
      <p:sp>
        <p:nvSpPr>
          <p:cNvPr id="3" name="Subtitle 2">
            <a:extLst>
              <a:ext uri="{FF2B5EF4-FFF2-40B4-BE49-F238E27FC236}">
                <a16:creationId xmlns:a16="http://schemas.microsoft.com/office/drawing/2014/main" id="{0727D9AD-6F77-810A-72B5-C937456625AE}"/>
              </a:ext>
            </a:extLst>
          </p:cNvPr>
          <p:cNvSpPr>
            <a:spLocks noGrp="1"/>
          </p:cNvSpPr>
          <p:nvPr>
            <p:ph type="subTitle" idx="1"/>
          </p:nvPr>
        </p:nvSpPr>
        <p:spPr>
          <a:xfrm>
            <a:off x="1244600" y="4368800"/>
            <a:ext cx="7874000" cy="584200"/>
          </a:xfrm>
        </p:spPr>
        <p:txBody>
          <a:bodyPr>
            <a:normAutofit/>
          </a:bodyPr>
          <a:lstStyle/>
          <a:p>
            <a:pPr algn="l"/>
            <a:r>
              <a:rPr lang="en-US" sz="2000" b="1" spc="200">
                <a:solidFill>
                  <a:srgbClr val="F56600"/>
                </a:solidFill>
                <a:latin typeface="Arial"/>
                <a:cs typeface="Arial"/>
              </a:rPr>
              <a:t>July 22, 2026</a:t>
            </a:r>
          </a:p>
        </p:txBody>
      </p:sp>
      <p:sp>
        <p:nvSpPr>
          <p:cNvPr id="4" name="TitleBar">
            <a:extLst>
              <a:ext uri="{FF2B5EF4-FFF2-40B4-BE49-F238E27FC236}">
                <a16:creationId xmlns:a16="http://schemas.microsoft.com/office/drawing/2014/main" id="{8FBB3C75-39AD-457B-A11A-7A5E7713A8BD}"/>
              </a:ext>
            </a:extLst>
          </p:cNvPr>
          <p:cNvSpPr/>
          <p:nvPr/>
        </p:nvSpPr>
        <p:spPr>
          <a:xfrm>
            <a:off x="914400" y="2616200"/>
            <a:ext cx="101600" cy="21844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5" name="Graphic 5" descr="Decorative forecast curv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763000" y="2286000"/>
            <a:ext cx="2667000" cy="2667000"/>
          </a:xfrm>
          <a:prstGeom prst="rect">
            <a:avLst/>
          </a:prstGeom>
        </p:spPr>
      </p:pic>
    </p:spTree>
    <p:extLst>
      <p:ext uri="{BB962C8B-B14F-4D97-AF65-F5344CB8AC3E}">
        <p14:creationId xmlns:p14="http://schemas.microsoft.com/office/powerpoint/2010/main" val="2192716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9A9A4-EFCD-B9BC-9BBC-33FC10194206}"/>
              </a:ext>
            </a:extLst>
          </p:cNvPr>
          <p:cNvSpPr>
            <a:spLocks noGrp="1"/>
          </p:cNvSpPr>
          <p:nvPr>
            <p:ph type="title"/>
          </p:nvPr>
        </p:nvSpPr>
        <p:spPr>
          <a:xfrm>
            <a:off x="838200" y="377157"/>
            <a:ext cx="10515600" cy="1325563"/>
          </a:xfrm>
        </p:spPr>
        <p:txBody>
          <a:bodyPr>
            <a:normAutofit/>
          </a:bodyPr>
          <a:lstStyle/>
          <a:p>
            <a:pPr algn="ctr"/>
            <a:r>
              <a:rPr lang="en-US" b="1" dirty="0">
                <a:solidFill>
                  <a:srgbClr val="7030A0"/>
                </a:solidFill>
                <a:latin typeface="Arial"/>
                <a:cs typeface="Arial"/>
              </a:rPr>
              <a:t>Infectious Disease Forecasting: Outline</a:t>
            </a:r>
          </a:p>
        </p:txBody>
      </p:sp>
      <p:sp>
        <p:nvSpPr>
          <p:cNvPr id="3" name="Content Placeholder 2">
            <a:extLst>
              <a:ext uri="{FF2B5EF4-FFF2-40B4-BE49-F238E27FC236}">
                <a16:creationId xmlns:a16="http://schemas.microsoft.com/office/drawing/2014/main" id="{E7C3B20A-3946-A573-8C45-A09425EF8DE1}"/>
              </a:ext>
            </a:extLst>
          </p:cNvPr>
          <p:cNvSpPr>
            <a:spLocks noGrp="1"/>
          </p:cNvSpPr>
          <p:nvPr>
            <p:ph idx="1"/>
          </p:nvPr>
        </p:nvSpPr>
        <p:spPr>
          <a:xfrm>
            <a:off x="910392" y="2232986"/>
            <a:ext cx="5130800" cy="4089400"/>
          </a:xfrm>
        </p:spPr>
        <p:txBody>
          <a:bodyPr>
            <a:normAutofit/>
          </a:bodyPr>
          <a:lstStyle/>
          <a:p>
            <a:pPr marL="0" indent="0" algn="l">
              <a:spcBef>
                <a:spcPts val="1200"/>
              </a:spcBef>
              <a:spcAft>
                <a:spcPts val="1200"/>
              </a:spcAft>
              <a:buNone/>
            </a:pPr>
            <a:r>
              <a:rPr lang="en-US" sz="2500" b="1" dirty="0">
                <a:solidFill>
                  <a:srgbClr val="522D80"/>
                </a:solidFill>
                <a:latin typeface="Arial"/>
                <a:cs typeface="Arial"/>
              </a:rPr>
              <a:t>Concepts &amp; Methods</a:t>
            </a:r>
          </a:p>
          <a:p>
            <a:pPr marL="274638" indent="-274638" algn="l">
              <a:spcBef>
                <a:spcPts val="700"/>
              </a:spcBef>
              <a:buClr>
                <a:srgbClr val="F56600"/>
              </a:buClr>
              <a:buSzPct val="110000"/>
              <a:buFont typeface="Arial"/>
              <a:buChar char="•"/>
            </a:pPr>
            <a:r>
              <a:rPr lang="en-US" sz="2500" dirty="0">
                <a:solidFill>
                  <a:srgbClr val="333333"/>
                </a:solidFill>
                <a:latin typeface="Arial"/>
                <a:cs typeface="Arial"/>
              </a:rPr>
              <a:t>Background</a:t>
            </a:r>
          </a:p>
          <a:p>
            <a:pPr marL="274638" indent="-274638" algn="l">
              <a:spcBef>
                <a:spcPts val="700"/>
              </a:spcBef>
              <a:buClr>
                <a:srgbClr val="F56600"/>
              </a:buClr>
              <a:buSzPct val="110000"/>
              <a:buFont typeface="Arial"/>
              <a:buChar char="•"/>
            </a:pPr>
            <a:r>
              <a:rPr lang="en-US" sz="2500" dirty="0">
                <a:solidFill>
                  <a:srgbClr val="333333"/>
                </a:solidFill>
                <a:latin typeface="Arial"/>
                <a:cs typeface="Arial"/>
              </a:rPr>
              <a:t>Model components</a:t>
            </a:r>
          </a:p>
          <a:p>
            <a:pPr marL="274638" indent="-274638" algn="l">
              <a:spcBef>
                <a:spcPts val="700"/>
              </a:spcBef>
              <a:buClr>
                <a:srgbClr val="F56600"/>
              </a:buClr>
              <a:buSzPct val="110000"/>
              <a:buFont typeface="Arial"/>
              <a:buChar char="•"/>
            </a:pPr>
            <a:r>
              <a:rPr lang="en-US" sz="2500" dirty="0">
                <a:solidFill>
                  <a:srgbClr val="333333"/>
                </a:solidFill>
                <a:latin typeface="Arial"/>
                <a:cs typeface="Arial"/>
              </a:rPr>
              <a:t>Model types: ARIMA, GAM, </a:t>
            </a:r>
            <a:r>
              <a:rPr lang="en-US" sz="2500" dirty="0" err="1">
                <a:solidFill>
                  <a:srgbClr val="333333"/>
                </a:solidFill>
                <a:latin typeface="Arial"/>
                <a:cs typeface="Arial"/>
              </a:rPr>
              <a:t>XGBoost</a:t>
            </a:r>
            <a:r>
              <a:rPr lang="en-US" sz="2500" dirty="0">
                <a:solidFill>
                  <a:srgbClr val="333333"/>
                </a:solidFill>
                <a:latin typeface="Arial"/>
                <a:cs typeface="Arial"/>
              </a:rPr>
              <a:t>, ensemble</a:t>
            </a:r>
          </a:p>
          <a:p>
            <a:pPr marL="274638" indent="-274638" algn="l">
              <a:spcBef>
                <a:spcPts val="700"/>
              </a:spcBef>
              <a:buClr>
                <a:srgbClr val="F56600"/>
              </a:buClr>
              <a:buSzPct val="110000"/>
              <a:buFont typeface="Arial"/>
              <a:buChar char="•"/>
            </a:pPr>
            <a:r>
              <a:rPr lang="en-US" sz="2500" dirty="0">
                <a:solidFill>
                  <a:srgbClr val="333333"/>
                </a:solidFill>
                <a:latin typeface="Arial"/>
                <a:cs typeface="Arial"/>
              </a:rPr>
              <a:t>Incorporating predictors</a:t>
            </a:r>
          </a:p>
          <a:p>
            <a:pPr marL="274638" indent="-274638" algn="l">
              <a:spcBef>
                <a:spcPts val="700"/>
              </a:spcBef>
              <a:buClr>
                <a:srgbClr val="F56600"/>
              </a:buClr>
              <a:buSzPct val="110000"/>
              <a:buFont typeface="Arial"/>
              <a:buChar char="•"/>
            </a:pPr>
            <a:r>
              <a:rPr lang="en-US" sz="2500" dirty="0">
                <a:solidFill>
                  <a:srgbClr val="333333"/>
                </a:solidFill>
                <a:latin typeface="Arial"/>
                <a:cs typeface="Arial"/>
              </a:rPr>
              <a:t>Training &amp; testing periods</a:t>
            </a:r>
          </a:p>
          <a:p>
            <a:pPr marL="274638" indent="-274638" algn="l">
              <a:spcBef>
                <a:spcPts val="700"/>
              </a:spcBef>
              <a:buClr>
                <a:srgbClr val="F56600"/>
              </a:buClr>
              <a:buSzPct val="110000"/>
              <a:buFont typeface="Arial"/>
              <a:buChar char="•"/>
            </a:pPr>
            <a:r>
              <a:rPr lang="en-US" sz="2500" dirty="0">
                <a:solidFill>
                  <a:srgbClr val="333333"/>
                </a:solidFill>
                <a:latin typeface="Arial"/>
                <a:cs typeface="Arial"/>
              </a:rPr>
              <a:t>Model evaluation</a:t>
            </a:r>
          </a:p>
          <a:p>
            <a:pPr marL="274638" indent="-274638" algn="l">
              <a:spcBef>
                <a:spcPts val="700"/>
              </a:spcBef>
              <a:buClr>
                <a:srgbClr val="F56600"/>
              </a:buClr>
              <a:buSzPct val="110000"/>
              <a:buFont typeface="Arial"/>
              <a:buChar char="•"/>
            </a:pPr>
            <a:r>
              <a:rPr lang="en-US" sz="2500" dirty="0">
                <a:solidFill>
                  <a:srgbClr val="333333"/>
                </a:solidFill>
                <a:latin typeface="Arial"/>
                <a:cs typeface="Arial"/>
              </a:rPr>
              <a:t>Model refinement </a:t>
            </a:r>
          </a:p>
        </p:txBody>
      </p:sp>
      <p:sp>
        <p:nvSpPr>
          <p:cNvPr id="5" name="UseCard">
            <a:extLst>
              <a:ext uri="{FF2B5EF4-FFF2-40B4-BE49-F238E27FC236}">
                <a16:creationId xmlns:a16="http://schemas.microsoft.com/office/drawing/2014/main" id="{630B9CC4-9269-4A8A-8D6D-75DEB9C72A41}"/>
              </a:ext>
            </a:extLst>
          </p:cNvPr>
          <p:cNvSpPr/>
          <p:nvPr/>
        </p:nvSpPr>
        <p:spPr>
          <a:xfrm>
            <a:off x="6324600" y="2060080"/>
            <a:ext cx="5029200" cy="4318000"/>
          </a:xfrm>
          <a:prstGeom prst="rect">
            <a:avLst/>
          </a:prstGeom>
          <a:solidFill>
            <a:srgbClr val="F3F0F7"/>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UseAcc">
            <a:extLst>
              <a:ext uri="{FF2B5EF4-FFF2-40B4-BE49-F238E27FC236}">
                <a16:creationId xmlns:a16="http://schemas.microsoft.com/office/drawing/2014/main" id="{3DEC222C-0B47-47BD-BEA3-8364BBBF9977}"/>
              </a:ext>
            </a:extLst>
          </p:cNvPr>
          <p:cNvSpPr/>
          <p:nvPr/>
        </p:nvSpPr>
        <p:spPr>
          <a:xfrm>
            <a:off x="6324600" y="2060080"/>
            <a:ext cx="50292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UseText">
            <a:extLst>
              <a:ext uri="{FF2B5EF4-FFF2-40B4-BE49-F238E27FC236}">
                <a16:creationId xmlns:a16="http://schemas.microsoft.com/office/drawing/2014/main" id="{9D664F50-2749-4A04-B653-7B6E5117316C}"/>
              </a:ext>
            </a:extLst>
          </p:cNvPr>
          <p:cNvSpPr txBox="1"/>
          <p:nvPr/>
        </p:nvSpPr>
        <p:spPr>
          <a:xfrm>
            <a:off x="6578600" y="2288680"/>
            <a:ext cx="4521200" cy="3978012"/>
          </a:xfrm>
          <a:prstGeom prst="rect">
            <a:avLst/>
          </a:prstGeom>
          <a:noFill/>
        </p:spPr>
        <p:txBody>
          <a:bodyPr vertOverflow="overflow" vert="horz" wrap="square" rtlCol="0" anchor="t">
            <a:spAutoFit/>
          </a:bodyPr>
          <a:lstStyle/>
          <a:p>
            <a:pPr marL="0" indent="0" algn="l">
              <a:spcBef>
                <a:spcPts val="0"/>
              </a:spcBef>
              <a:buNone/>
            </a:pPr>
            <a:r>
              <a:rPr lang="en-US" sz="2500" b="1" dirty="0">
                <a:solidFill>
                  <a:srgbClr val="522D80"/>
                </a:solidFill>
                <a:latin typeface="Arial"/>
                <a:cs typeface="Arial"/>
              </a:rPr>
              <a:t>Use Case: Influenza Forecasting</a:t>
            </a:r>
          </a:p>
          <a:p>
            <a:pPr marL="0" indent="0" algn="l">
              <a:spcBef>
                <a:spcPts val="100"/>
              </a:spcBef>
              <a:buNone/>
            </a:pPr>
            <a:r>
              <a:rPr lang="en-US" sz="2000" i="1" dirty="0">
                <a:solidFill>
                  <a:srgbClr val="595959"/>
                </a:solidFill>
                <a:latin typeface="Arial"/>
                <a:cs typeface="Arial"/>
              </a:rPr>
              <a:t>CDC NHSN inpatient admissions</a:t>
            </a:r>
          </a:p>
          <a:p>
            <a:pPr marL="274638" indent="-274638" algn="l">
              <a:spcBef>
                <a:spcPts val="800"/>
              </a:spcBef>
              <a:buClr>
                <a:srgbClr val="F56600"/>
              </a:buClr>
              <a:buSzPct val="110000"/>
              <a:buFont typeface="Arial"/>
              <a:buChar char="•"/>
            </a:pPr>
            <a:r>
              <a:rPr lang="en-US" sz="2500" dirty="0">
                <a:solidFill>
                  <a:srgbClr val="333333"/>
                </a:solidFill>
                <a:latin typeface="Arial"/>
                <a:cs typeface="Arial"/>
              </a:rPr>
              <a:t>Data visualization</a:t>
            </a:r>
          </a:p>
          <a:p>
            <a:pPr marL="274638" indent="-274638" algn="l">
              <a:spcBef>
                <a:spcPts val="600"/>
              </a:spcBef>
              <a:buClr>
                <a:srgbClr val="F56600"/>
              </a:buClr>
              <a:buSzPct val="110000"/>
              <a:buFont typeface="Arial"/>
              <a:buChar char="•"/>
            </a:pPr>
            <a:r>
              <a:rPr lang="en-US" sz="2500" dirty="0">
                <a:solidFill>
                  <a:srgbClr val="333333"/>
                </a:solidFill>
                <a:latin typeface="Arial"/>
                <a:cs typeface="Arial"/>
              </a:rPr>
              <a:t>Model building</a:t>
            </a:r>
          </a:p>
          <a:p>
            <a:pPr marL="274638" indent="-274638" algn="l">
              <a:spcBef>
                <a:spcPts val="600"/>
              </a:spcBef>
              <a:buClr>
                <a:srgbClr val="F56600"/>
              </a:buClr>
              <a:buSzPct val="110000"/>
              <a:buFont typeface="Arial"/>
              <a:buChar char="•"/>
            </a:pPr>
            <a:r>
              <a:rPr lang="en-US" sz="2500" dirty="0">
                <a:solidFill>
                  <a:srgbClr val="333333"/>
                </a:solidFill>
                <a:latin typeface="Arial"/>
                <a:cs typeface="Arial"/>
              </a:rPr>
              <a:t>Training &amp; testing</a:t>
            </a:r>
          </a:p>
          <a:p>
            <a:pPr marL="274638" indent="-274638" algn="l">
              <a:spcBef>
                <a:spcPts val="600"/>
              </a:spcBef>
              <a:buClr>
                <a:srgbClr val="F56600"/>
              </a:buClr>
              <a:buSzPct val="110000"/>
              <a:buFont typeface="Arial"/>
              <a:buChar char="•"/>
            </a:pPr>
            <a:r>
              <a:rPr lang="en-US" sz="2500" dirty="0">
                <a:solidFill>
                  <a:srgbClr val="333333"/>
                </a:solidFill>
                <a:latin typeface="Arial"/>
                <a:cs typeface="Arial"/>
              </a:rPr>
              <a:t>Evaluation</a:t>
            </a:r>
          </a:p>
          <a:p>
            <a:pPr marL="274638" indent="-274638" algn="l">
              <a:spcBef>
                <a:spcPts val="600"/>
              </a:spcBef>
              <a:buClr>
                <a:srgbClr val="F56600"/>
              </a:buClr>
              <a:buSzPct val="110000"/>
              <a:buFont typeface="Arial"/>
              <a:buChar char="•"/>
            </a:pPr>
            <a:r>
              <a:rPr lang="en-US" sz="2500" dirty="0">
                <a:solidFill>
                  <a:srgbClr val="333333"/>
                </a:solidFill>
                <a:latin typeface="Arial"/>
                <a:cs typeface="Arial"/>
              </a:rPr>
              <a:t>Refinement</a:t>
            </a:r>
          </a:p>
          <a:p>
            <a:pPr marL="274638" indent="-274638" algn="l">
              <a:spcBef>
                <a:spcPts val="600"/>
              </a:spcBef>
              <a:buClr>
                <a:srgbClr val="F56600"/>
              </a:buClr>
              <a:buSzPct val="110000"/>
              <a:buFont typeface="Arial"/>
              <a:buChar char="•"/>
            </a:pPr>
            <a:r>
              <a:rPr lang="en-US" sz="2500" dirty="0" err="1">
                <a:solidFill>
                  <a:srgbClr val="333333"/>
                </a:solidFill>
                <a:latin typeface="Arial"/>
                <a:cs typeface="Arial"/>
              </a:rPr>
              <a:t>FluSight</a:t>
            </a:r>
            <a:r>
              <a:rPr lang="en-US" sz="2500" dirty="0">
                <a:solidFill>
                  <a:srgbClr val="333333"/>
                </a:solidFill>
                <a:latin typeface="Arial"/>
                <a:cs typeface="Arial"/>
              </a:rPr>
              <a:t> submission</a:t>
            </a:r>
          </a:p>
        </p:txBody>
      </p:sp>
    </p:spTree>
    <p:extLst>
      <p:ext uri="{BB962C8B-B14F-4D97-AF65-F5344CB8AC3E}">
        <p14:creationId xmlns:p14="http://schemas.microsoft.com/office/powerpoint/2010/main" val="3778907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5CC68-18A6-6F25-7344-79FCC1B4B138}"/>
              </a:ext>
            </a:extLst>
          </p:cNvPr>
          <p:cNvSpPr>
            <a:spLocks noGrp="1"/>
          </p:cNvSpPr>
          <p:nvPr>
            <p:ph type="title"/>
          </p:nvPr>
        </p:nvSpPr>
        <p:spPr>
          <a:xfrm>
            <a:off x="838200" y="-80053"/>
            <a:ext cx="10515600" cy="1325563"/>
          </a:xfrm>
        </p:spPr>
        <p:txBody>
          <a:bodyPr>
            <a:normAutofit/>
          </a:bodyPr>
          <a:lstStyle/>
          <a:p>
            <a:pPr algn="ctr"/>
            <a:r>
              <a:rPr lang="en-US" b="1" dirty="0">
                <a:solidFill>
                  <a:srgbClr val="7030A0"/>
                </a:solidFill>
                <a:latin typeface="Arial"/>
                <a:cs typeface="Arial"/>
              </a:rPr>
              <a:t>Background</a:t>
            </a:r>
          </a:p>
        </p:txBody>
      </p:sp>
      <p:sp>
        <p:nvSpPr>
          <p:cNvPr id="3" name="Content Placeholder 2">
            <a:extLst>
              <a:ext uri="{FF2B5EF4-FFF2-40B4-BE49-F238E27FC236}">
                <a16:creationId xmlns:a16="http://schemas.microsoft.com/office/drawing/2014/main" id="{514EA8F7-B2F2-3E28-53CA-506461120204}"/>
              </a:ext>
            </a:extLst>
          </p:cNvPr>
          <p:cNvSpPr>
            <a:spLocks noGrp="1"/>
          </p:cNvSpPr>
          <p:nvPr>
            <p:ph idx="1"/>
          </p:nvPr>
        </p:nvSpPr>
        <p:spPr>
          <a:xfrm>
            <a:off x="838200" y="1120985"/>
            <a:ext cx="10515600" cy="5460290"/>
          </a:xfrm>
        </p:spPr>
        <p:txBody>
          <a:bodyPr>
            <a:noAutofit/>
          </a:bodyPr>
          <a:lstStyle/>
          <a:p>
            <a:pPr marL="285750" indent="-285750" algn="l">
              <a:spcBef>
                <a:spcPts val="0"/>
              </a:spcBef>
              <a:spcAft>
                <a:spcPts val="600"/>
              </a:spcAft>
              <a:buClr>
                <a:srgbClr val="F56600"/>
              </a:buClr>
              <a:buSzPct val="110000"/>
              <a:buFont typeface="Arial"/>
              <a:buChar char="•"/>
            </a:pPr>
            <a:r>
              <a:rPr lang="en-US" sz="2300" b="1" dirty="0">
                <a:solidFill>
                  <a:srgbClr val="522D80"/>
                </a:solidFill>
                <a:latin typeface="Arial"/>
                <a:cs typeface="Arial"/>
              </a:rPr>
              <a:t>Infectious disease forecasting </a:t>
            </a:r>
            <a:r>
              <a:rPr lang="en-US" sz="2300" dirty="0">
                <a:solidFill>
                  <a:srgbClr val="333333"/>
                </a:solidFill>
                <a:latin typeface="Arial"/>
                <a:cs typeface="Arial"/>
              </a:rPr>
              <a:t>is a data-driven field that uses mathematical, statistical, and AI models to predict the trajectory, timing, and severity of disease outbreaks.</a:t>
            </a:r>
          </a:p>
          <a:p>
            <a:pPr marL="742950" lvl="1" indent="-285750">
              <a:spcBef>
                <a:spcPts val="700"/>
              </a:spcBef>
              <a:spcAft>
                <a:spcPts val="1200"/>
              </a:spcAft>
              <a:buClr>
                <a:srgbClr val="F56600"/>
              </a:buClr>
              <a:buSzPct val="110000"/>
              <a:buFont typeface="Arial"/>
              <a:buChar char="•"/>
            </a:pPr>
            <a:r>
              <a:rPr lang="en-US" sz="2300" dirty="0">
                <a:solidFill>
                  <a:srgbClr val="333333"/>
                </a:solidFill>
                <a:latin typeface="Arial"/>
                <a:cs typeface="Arial"/>
              </a:rPr>
              <a:t>Like weather forecasting, it gives decision-makers a probabilistic look ahead.</a:t>
            </a:r>
          </a:p>
          <a:p>
            <a:pPr marL="285750" indent="-285750">
              <a:spcBef>
                <a:spcPts val="0"/>
              </a:spcBef>
              <a:spcAft>
                <a:spcPts val="1200"/>
              </a:spcAft>
              <a:buClr>
                <a:srgbClr val="F56600"/>
              </a:buClr>
              <a:buSzPct val="110000"/>
              <a:buFont typeface="Arial"/>
              <a:buChar char="•"/>
            </a:pPr>
            <a:r>
              <a:rPr lang="en-US" sz="2300" b="1" dirty="0">
                <a:solidFill>
                  <a:srgbClr val="522D80"/>
                </a:solidFill>
                <a:latin typeface="Arial"/>
                <a:cs typeface="Arial"/>
              </a:rPr>
              <a:t>Informs decisions: </a:t>
            </a:r>
            <a:r>
              <a:rPr lang="en-US" sz="2300" dirty="0">
                <a:solidFill>
                  <a:srgbClr val="333333"/>
                </a:solidFill>
                <a:latin typeface="Arial"/>
                <a:cs typeface="Arial"/>
              </a:rPr>
              <a:t>situational awareness, planning, real-time response and resource allocation, and policy.</a:t>
            </a:r>
          </a:p>
          <a:p>
            <a:pPr marL="285750" indent="-285750">
              <a:spcBef>
                <a:spcPts val="700"/>
              </a:spcBef>
              <a:spcAft>
                <a:spcPts val="600"/>
              </a:spcAft>
              <a:buClr>
                <a:srgbClr val="F56600"/>
              </a:buClr>
              <a:buSzPct val="110000"/>
              <a:buFont typeface="Arial"/>
              <a:buChar char="•"/>
            </a:pPr>
            <a:r>
              <a:rPr lang="en-US" sz="2300" b="1" dirty="0">
                <a:solidFill>
                  <a:srgbClr val="522D80"/>
                </a:solidFill>
                <a:latin typeface="Arial"/>
                <a:cs typeface="Arial"/>
              </a:rPr>
              <a:t>Widely used in practice: </a:t>
            </a:r>
            <a:r>
              <a:rPr lang="en-US" sz="2300" dirty="0">
                <a:solidFill>
                  <a:srgbClr val="333333"/>
                </a:solidFill>
                <a:latin typeface="Arial"/>
                <a:cs typeface="Arial"/>
              </a:rPr>
              <a:t>efforts like CDC </a:t>
            </a:r>
            <a:r>
              <a:rPr lang="en-US" sz="2300" dirty="0" err="1">
                <a:solidFill>
                  <a:srgbClr val="333333"/>
                </a:solidFill>
                <a:latin typeface="Arial"/>
                <a:cs typeface="Arial"/>
              </a:rPr>
              <a:t>FluSight</a:t>
            </a:r>
            <a:r>
              <a:rPr lang="en-US" sz="2300" dirty="0">
                <a:solidFill>
                  <a:srgbClr val="333333"/>
                </a:solidFill>
                <a:latin typeface="Arial"/>
                <a:cs typeface="Arial"/>
              </a:rPr>
              <a:t>, COVID-19 and RSV Forecast Hubs combine many models to guide national response.</a:t>
            </a:r>
          </a:p>
          <a:p>
            <a:pPr marL="742950" lvl="1" indent="-285750">
              <a:spcBef>
                <a:spcPts val="700"/>
              </a:spcBef>
              <a:spcAft>
                <a:spcPts val="1200"/>
              </a:spcAft>
              <a:buClr>
                <a:srgbClr val="F56600"/>
              </a:buClr>
              <a:buSzPct val="110000"/>
              <a:buFont typeface="Arial"/>
              <a:buChar char="•"/>
            </a:pPr>
            <a:r>
              <a:rPr lang="en-US" sz="2300" dirty="0">
                <a:solidFill>
                  <a:srgbClr val="333333"/>
                </a:solidFill>
                <a:latin typeface="Arial"/>
                <a:cs typeface="Arial"/>
              </a:rPr>
              <a:t>Also used by hospitals and healthcare entities for surge planning and response </a:t>
            </a:r>
          </a:p>
          <a:p>
            <a:pPr marL="285750" indent="-285750">
              <a:spcBef>
                <a:spcPts val="0"/>
              </a:spcBef>
              <a:buClr>
                <a:srgbClr val="F56600"/>
              </a:buClr>
              <a:buSzPct val="110000"/>
              <a:buFont typeface="Arial"/>
              <a:buChar char="•"/>
            </a:pPr>
            <a:r>
              <a:rPr lang="en-US" sz="2300" b="1" dirty="0">
                <a:solidFill>
                  <a:srgbClr val="522D80"/>
                </a:solidFill>
                <a:latin typeface="Arial"/>
                <a:cs typeface="Arial"/>
              </a:rPr>
              <a:t>Inherently challenging: </a:t>
            </a:r>
            <a:r>
              <a:rPr lang="en-US" sz="2300" dirty="0">
                <a:solidFill>
                  <a:srgbClr val="333333"/>
                </a:solidFill>
                <a:latin typeface="Arial"/>
                <a:cs typeface="Arial"/>
              </a:rPr>
              <a:t>data are noisy, delayed, and revised; human behavior shifts; novel pathogens offer little historical signal; and existing pathogens often lack real-time leading indicators </a:t>
            </a:r>
          </a:p>
        </p:txBody>
      </p:sp>
    </p:spTree>
    <p:extLst>
      <p:ext uri="{BB962C8B-B14F-4D97-AF65-F5344CB8AC3E}">
        <p14:creationId xmlns:p14="http://schemas.microsoft.com/office/powerpoint/2010/main" val="1903396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E0A10-820D-1447-A227-CBEA16240595}"/>
              </a:ext>
            </a:extLst>
          </p:cNvPr>
          <p:cNvSpPr>
            <a:spLocks noGrp="1"/>
          </p:cNvSpPr>
          <p:nvPr>
            <p:ph type="title"/>
          </p:nvPr>
        </p:nvSpPr>
        <p:spPr>
          <a:xfrm>
            <a:off x="248265" y="68321"/>
            <a:ext cx="11695471" cy="1325563"/>
          </a:xfrm>
        </p:spPr>
        <p:txBody>
          <a:bodyPr/>
          <a:lstStyle/>
          <a:p>
            <a:pPr algn="ctr"/>
            <a:r>
              <a:rPr lang="en-US" b="1" dirty="0">
                <a:solidFill>
                  <a:srgbClr val="7030A0"/>
                </a:solidFill>
                <a:latin typeface="Arial" panose="020B0604020202020204" pitchFamily="34" charset="0"/>
                <a:cs typeface="Arial" panose="020B0604020202020204" pitchFamily="34" charset="0"/>
              </a:rPr>
              <a:t>Components of Infectious Disease Models </a:t>
            </a:r>
          </a:p>
        </p:txBody>
      </p:sp>
      <p:sp>
        <p:nvSpPr>
          <p:cNvPr id="5" name="TextBox 4">
            <a:extLst>
              <a:ext uri="{FF2B5EF4-FFF2-40B4-BE49-F238E27FC236}">
                <a16:creationId xmlns:a16="http://schemas.microsoft.com/office/drawing/2014/main" id="{42461247-C788-A679-819A-751BF532FC9C}"/>
              </a:ext>
            </a:extLst>
          </p:cNvPr>
          <p:cNvSpPr txBox="1"/>
          <p:nvPr/>
        </p:nvSpPr>
        <p:spPr>
          <a:xfrm>
            <a:off x="961103" y="1353321"/>
            <a:ext cx="10269794" cy="830997"/>
          </a:xfrm>
          <a:prstGeom prst="rect">
            <a:avLst/>
          </a:prstGeom>
          <a:noFill/>
        </p:spPr>
        <p:txBody>
          <a:bodyPr wrap="square">
            <a:spAutoFit/>
          </a:bodyPr>
          <a:lstStyle/>
          <a:p>
            <a:pPr marL="0" indent="0" algn="ctr">
              <a:spcBef>
                <a:spcPts val="0"/>
              </a:spcBef>
              <a:buNone/>
            </a:pPr>
            <a:r>
              <a:rPr lang="en-US" sz="2400" dirty="0">
                <a:solidFill>
                  <a:srgbClr val="333333"/>
                </a:solidFill>
                <a:latin typeface="Arial"/>
                <a:cs typeface="Arial"/>
              </a:rPr>
              <a:t>In this course, we focus on statistical and machine learning models. Their </a:t>
            </a:r>
            <a:r>
              <a:rPr lang="en-US" sz="2400" u="sng" dirty="0">
                <a:solidFill>
                  <a:srgbClr val="333333"/>
                </a:solidFill>
                <a:latin typeface="Arial"/>
                <a:cs typeface="Arial"/>
              </a:rPr>
              <a:t>typical components</a:t>
            </a:r>
            <a:r>
              <a:rPr lang="en-US" sz="2400" dirty="0">
                <a:solidFill>
                  <a:srgbClr val="333333"/>
                </a:solidFill>
                <a:latin typeface="Arial"/>
                <a:cs typeface="Arial"/>
              </a:rPr>
              <a:t> include: </a:t>
            </a:r>
          </a:p>
        </p:txBody>
      </p:sp>
      <p:sp>
        <p:nvSpPr>
          <p:cNvPr id="10" name="Rectangle: Single Corner Snipped 9">
            <a:extLst>
              <a:ext uri="{FF2B5EF4-FFF2-40B4-BE49-F238E27FC236}">
                <a16:creationId xmlns:a16="http://schemas.microsoft.com/office/drawing/2014/main" id="{4B8D8FD4-9D47-4F4E-92C4-FA439C8EFF7D}"/>
              </a:ext>
            </a:extLst>
          </p:cNvPr>
          <p:cNvSpPr/>
          <p:nvPr/>
        </p:nvSpPr>
        <p:spPr>
          <a:xfrm>
            <a:off x="508000" y="2470360"/>
            <a:ext cx="3517900" cy="1841500"/>
          </a:xfrm>
          <a:prstGeom prst="snip1Rect">
            <a:avLst/>
          </a:prstGeom>
          <a:solidFill>
            <a:srgbClr val="F3EF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765E0A99-EAF3-4449-ABA4-0FDF3E472633}"/>
              </a:ext>
            </a:extLst>
          </p:cNvPr>
          <p:cNvSpPr/>
          <p:nvPr/>
        </p:nvSpPr>
        <p:spPr>
          <a:xfrm>
            <a:off x="508000" y="2470360"/>
            <a:ext cx="76200" cy="1841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7D50349-F603-4194-BDFA-8DB87B8F973A}"/>
              </a:ext>
            </a:extLst>
          </p:cNvPr>
          <p:cNvSpPr txBox="1"/>
          <p:nvPr/>
        </p:nvSpPr>
        <p:spPr>
          <a:xfrm>
            <a:off x="736600" y="2622760"/>
            <a:ext cx="3136900" cy="307777"/>
          </a:xfrm>
          <a:prstGeom prst="rect">
            <a:avLst/>
          </a:prstGeom>
          <a:noFill/>
        </p:spPr>
        <p:txBody>
          <a:bodyPr vertOverflow="overflow" vert="horz" wrap="square" lIns="0" tIns="0" rIns="0" bIns="0" rtlCol="0" anchor="t" anchorCtr="0">
            <a:spAutoFit/>
          </a:bodyPr>
          <a:lstStyle/>
          <a:p>
            <a:pPr algn="l"/>
            <a:r>
              <a:rPr lang="en-US" sz="2000" b="1" dirty="0">
                <a:solidFill>
                  <a:srgbClr val="522D80"/>
                </a:solidFill>
                <a:latin typeface="Arial" panose="020B0604020202020204" pitchFamily="34" charset="0"/>
                <a:cs typeface="Arial" panose="020B0604020202020204" pitchFamily="34" charset="0"/>
              </a:rPr>
              <a:t>Forecast target</a:t>
            </a:r>
          </a:p>
        </p:txBody>
      </p:sp>
      <p:sp>
        <p:nvSpPr>
          <p:cNvPr id="13" name="TextBox 12">
            <a:extLst>
              <a:ext uri="{FF2B5EF4-FFF2-40B4-BE49-F238E27FC236}">
                <a16:creationId xmlns:a16="http://schemas.microsoft.com/office/drawing/2014/main" id="{2C5BB6F8-CE40-467F-9817-04C4DB9325EA}"/>
              </a:ext>
            </a:extLst>
          </p:cNvPr>
          <p:cNvSpPr txBox="1"/>
          <p:nvPr/>
        </p:nvSpPr>
        <p:spPr>
          <a:xfrm>
            <a:off x="736600" y="3054560"/>
            <a:ext cx="3111500" cy="830997"/>
          </a:xfrm>
          <a:prstGeom prst="rect">
            <a:avLst/>
          </a:prstGeom>
          <a:noFill/>
        </p:spPr>
        <p:txBody>
          <a:bodyPr vertOverflow="overflow" vert="horz" wrap="square" lIns="0" tIns="0" rIns="0" bIns="0" rtlCol="0" anchor="t" anchorCtr="0">
            <a:spAutoFit/>
          </a:bodyPr>
          <a:lstStyle/>
          <a:p>
            <a:pPr algn="l"/>
            <a:r>
              <a:rPr lang="en-US" dirty="0">
                <a:solidFill>
                  <a:srgbClr val="333333"/>
                </a:solidFill>
                <a:latin typeface="Arial" panose="020B0604020202020204" pitchFamily="34" charset="0"/>
                <a:cs typeface="Arial" panose="020B0604020202020204" pitchFamily="34" charset="0"/>
              </a:rPr>
              <a:t>What we predict: cases, hospitalizations, deaths, peak timing, or epidemic size.</a:t>
            </a:r>
          </a:p>
        </p:txBody>
      </p:sp>
      <p:sp>
        <p:nvSpPr>
          <p:cNvPr id="14" name="Rectangle: Single Corner Snipped 13">
            <a:extLst>
              <a:ext uri="{FF2B5EF4-FFF2-40B4-BE49-F238E27FC236}">
                <a16:creationId xmlns:a16="http://schemas.microsoft.com/office/drawing/2014/main" id="{EC53FA57-F224-4F5C-A962-898F18EBB5C0}"/>
              </a:ext>
            </a:extLst>
          </p:cNvPr>
          <p:cNvSpPr/>
          <p:nvPr/>
        </p:nvSpPr>
        <p:spPr>
          <a:xfrm>
            <a:off x="4343400" y="2470360"/>
            <a:ext cx="3517900" cy="1841500"/>
          </a:xfrm>
          <a:prstGeom prst="snip1Rect">
            <a:avLst/>
          </a:prstGeom>
          <a:solidFill>
            <a:srgbClr val="F3EF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30774ABE-ACEE-4E04-9BDA-28AE95DB6186}"/>
              </a:ext>
            </a:extLst>
          </p:cNvPr>
          <p:cNvSpPr/>
          <p:nvPr/>
        </p:nvSpPr>
        <p:spPr>
          <a:xfrm>
            <a:off x="4343400" y="2470360"/>
            <a:ext cx="76200" cy="1841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FFDA78D9-F0D1-44E6-9C86-D1C6092A2A62}"/>
              </a:ext>
            </a:extLst>
          </p:cNvPr>
          <p:cNvSpPr txBox="1"/>
          <p:nvPr/>
        </p:nvSpPr>
        <p:spPr>
          <a:xfrm>
            <a:off x="4572000" y="2622760"/>
            <a:ext cx="3136900" cy="307777"/>
          </a:xfrm>
          <a:prstGeom prst="rect">
            <a:avLst/>
          </a:prstGeom>
          <a:noFill/>
        </p:spPr>
        <p:txBody>
          <a:bodyPr vertOverflow="overflow" vert="horz" wrap="square" lIns="0" tIns="0" rIns="0" bIns="0" rtlCol="0" anchor="t" anchorCtr="0">
            <a:spAutoFit/>
          </a:bodyPr>
          <a:lstStyle/>
          <a:p>
            <a:pPr algn="l"/>
            <a:r>
              <a:rPr lang="en-US" sz="2000" b="1" dirty="0">
                <a:solidFill>
                  <a:srgbClr val="522D80"/>
                </a:solidFill>
                <a:latin typeface="Arial" panose="020B0604020202020204" pitchFamily="34" charset="0"/>
                <a:cs typeface="Arial" panose="020B0604020202020204" pitchFamily="34" charset="0"/>
              </a:rPr>
              <a:t>Input data</a:t>
            </a:r>
          </a:p>
        </p:txBody>
      </p:sp>
      <p:sp>
        <p:nvSpPr>
          <p:cNvPr id="17" name="TextBox 16">
            <a:extLst>
              <a:ext uri="{FF2B5EF4-FFF2-40B4-BE49-F238E27FC236}">
                <a16:creationId xmlns:a16="http://schemas.microsoft.com/office/drawing/2014/main" id="{BB1F34CB-5ABD-4019-8245-B017D7FD34C9}"/>
              </a:ext>
            </a:extLst>
          </p:cNvPr>
          <p:cNvSpPr txBox="1"/>
          <p:nvPr/>
        </p:nvSpPr>
        <p:spPr>
          <a:xfrm>
            <a:off x="4572000" y="3054560"/>
            <a:ext cx="3111500" cy="1107996"/>
          </a:xfrm>
          <a:prstGeom prst="rect">
            <a:avLst/>
          </a:prstGeom>
          <a:noFill/>
        </p:spPr>
        <p:txBody>
          <a:bodyPr vertOverflow="overflow" vert="horz" wrap="square" lIns="0" tIns="0" rIns="0" bIns="0" rtlCol="0" anchor="t" anchorCtr="0">
            <a:spAutoFit/>
          </a:bodyPr>
          <a:lstStyle/>
          <a:p>
            <a:pPr algn="l"/>
            <a:r>
              <a:rPr lang="en-US" dirty="0">
                <a:solidFill>
                  <a:srgbClr val="333333"/>
                </a:solidFill>
                <a:latin typeface="Arial" panose="020B0604020202020204" pitchFamily="34" charset="0"/>
                <a:cs typeface="Arial" panose="020B0604020202020204" pitchFamily="34" charset="0"/>
              </a:rPr>
              <a:t>Surveillance signals: E.g., cases, test positivity, digital traces, admissions, waste-water, vaccination, or mobility.</a:t>
            </a:r>
          </a:p>
        </p:txBody>
      </p:sp>
      <p:sp>
        <p:nvSpPr>
          <p:cNvPr id="18" name="Rectangle: Single Corner Snipped 17">
            <a:extLst>
              <a:ext uri="{FF2B5EF4-FFF2-40B4-BE49-F238E27FC236}">
                <a16:creationId xmlns:a16="http://schemas.microsoft.com/office/drawing/2014/main" id="{28BFD241-A40D-49EC-B08E-91154E670A92}"/>
              </a:ext>
            </a:extLst>
          </p:cNvPr>
          <p:cNvSpPr/>
          <p:nvPr/>
        </p:nvSpPr>
        <p:spPr>
          <a:xfrm>
            <a:off x="8178800" y="2470360"/>
            <a:ext cx="3517900" cy="1841500"/>
          </a:xfrm>
          <a:prstGeom prst="snip1Rect">
            <a:avLst/>
          </a:prstGeom>
          <a:solidFill>
            <a:srgbClr val="F3EF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2B4E9E7A-F9FA-4635-9084-1358BAC013FA}"/>
              </a:ext>
            </a:extLst>
          </p:cNvPr>
          <p:cNvSpPr/>
          <p:nvPr/>
        </p:nvSpPr>
        <p:spPr>
          <a:xfrm>
            <a:off x="8178800" y="2470360"/>
            <a:ext cx="76200" cy="1841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B7288712-2A44-4B9F-A5C0-7BCC68CFE0EA}"/>
              </a:ext>
            </a:extLst>
          </p:cNvPr>
          <p:cNvSpPr txBox="1"/>
          <p:nvPr/>
        </p:nvSpPr>
        <p:spPr>
          <a:xfrm>
            <a:off x="8407400" y="2622760"/>
            <a:ext cx="3136900" cy="307777"/>
          </a:xfrm>
          <a:prstGeom prst="rect">
            <a:avLst/>
          </a:prstGeom>
          <a:noFill/>
        </p:spPr>
        <p:txBody>
          <a:bodyPr vertOverflow="overflow" vert="horz" wrap="square" lIns="0" tIns="0" rIns="0" bIns="0" rtlCol="0" anchor="t" anchorCtr="0">
            <a:spAutoFit/>
          </a:bodyPr>
          <a:lstStyle/>
          <a:p>
            <a:pPr algn="l"/>
            <a:r>
              <a:rPr lang="en-US" sz="2000" b="1" dirty="0">
                <a:solidFill>
                  <a:srgbClr val="522D80"/>
                </a:solidFill>
                <a:latin typeface="Arial" panose="020B0604020202020204" pitchFamily="34" charset="0"/>
                <a:cs typeface="Arial" panose="020B0604020202020204" pitchFamily="34" charset="0"/>
              </a:rPr>
              <a:t>Model form</a:t>
            </a:r>
          </a:p>
        </p:txBody>
      </p:sp>
      <p:sp>
        <p:nvSpPr>
          <p:cNvPr id="21" name="TextBox 20">
            <a:extLst>
              <a:ext uri="{FF2B5EF4-FFF2-40B4-BE49-F238E27FC236}">
                <a16:creationId xmlns:a16="http://schemas.microsoft.com/office/drawing/2014/main" id="{24256F32-5D56-45B3-94CF-390F3AAD4777}"/>
              </a:ext>
            </a:extLst>
          </p:cNvPr>
          <p:cNvSpPr txBox="1"/>
          <p:nvPr/>
        </p:nvSpPr>
        <p:spPr>
          <a:xfrm>
            <a:off x="8407400" y="3054560"/>
            <a:ext cx="3111500" cy="553998"/>
          </a:xfrm>
          <a:prstGeom prst="rect">
            <a:avLst/>
          </a:prstGeom>
          <a:noFill/>
        </p:spPr>
        <p:txBody>
          <a:bodyPr vertOverflow="overflow" vert="horz" wrap="square" lIns="0" tIns="0" rIns="0" bIns="0" rtlCol="0" anchor="t" anchorCtr="0">
            <a:spAutoFit/>
          </a:bodyPr>
          <a:lstStyle/>
          <a:p>
            <a:pPr algn="l"/>
            <a:r>
              <a:rPr lang="en-US" dirty="0">
                <a:solidFill>
                  <a:srgbClr val="333333"/>
                </a:solidFill>
                <a:latin typeface="Arial" panose="020B0604020202020204" pitchFamily="34" charset="0"/>
                <a:cs typeface="Arial" panose="020B0604020202020204" pitchFamily="34" charset="0"/>
              </a:rPr>
              <a:t>The math linking inputs to the target: e.g., regression model</a:t>
            </a:r>
          </a:p>
        </p:txBody>
      </p:sp>
      <p:sp>
        <p:nvSpPr>
          <p:cNvPr id="22" name="Rectangle: Single Corner Snipped 21">
            <a:extLst>
              <a:ext uri="{FF2B5EF4-FFF2-40B4-BE49-F238E27FC236}">
                <a16:creationId xmlns:a16="http://schemas.microsoft.com/office/drawing/2014/main" id="{E9D8410D-A8A8-4B1A-BEB4-80295DF4F2CE}"/>
              </a:ext>
            </a:extLst>
          </p:cNvPr>
          <p:cNvSpPr/>
          <p:nvPr/>
        </p:nvSpPr>
        <p:spPr>
          <a:xfrm>
            <a:off x="508000" y="4711700"/>
            <a:ext cx="3517900" cy="1841500"/>
          </a:xfrm>
          <a:prstGeom prst="snip1Rect">
            <a:avLst/>
          </a:prstGeom>
          <a:solidFill>
            <a:srgbClr val="F3EF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DA99D656-1993-4596-9986-D9DAED3E33F3}"/>
              </a:ext>
            </a:extLst>
          </p:cNvPr>
          <p:cNvSpPr/>
          <p:nvPr/>
        </p:nvSpPr>
        <p:spPr>
          <a:xfrm>
            <a:off x="508000" y="4711700"/>
            <a:ext cx="76200" cy="1841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0BC3B2A7-CC21-444A-8134-921C1697CDE6}"/>
              </a:ext>
            </a:extLst>
          </p:cNvPr>
          <p:cNvSpPr txBox="1"/>
          <p:nvPr/>
        </p:nvSpPr>
        <p:spPr>
          <a:xfrm>
            <a:off x="736600" y="4864100"/>
            <a:ext cx="3136900" cy="307777"/>
          </a:xfrm>
          <a:prstGeom prst="rect">
            <a:avLst/>
          </a:prstGeom>
          <a:noFill/>
        </p:spPr>
        <p:txBody>
          <a:bodyPr vertOverflow="overflow" vert="horz" wrap="square" lIns="0" tIns="0" rIns="0" bIns="0" rtlCol="0" anchor="t" anchorCtr="0">
            <a:spAutoFit/>
          </a:bodyPr>
          <a:lstStyle/>
          <a:p>
            <a:pPr algn="l"/>
            <a:r>
              <a:rPr lang="en-US" sz="2000" b="1" dirty="0">
                <a:solidFill>
                  <a:srgbClr val="522D80"/>
                </a:solidFill>
                <a:latin typeface="Arial" panose="020B0604020202020204" pitchFamily="34" charset="0"/>
                <a:cs typeface="Arial" panose="020B0604020202020204" pitchFamily="34" charset="0"/>
              </a:rPr>
              <a:t>Observation process</a:t>
            </a:r>
          </a:p>
        </p:txBody>
      </p:sp>
      <p:sp>
        <p:nvSpPr>
          <p:cNvPr id="25" name="TextBox 24">
            <a:extLst>
              <a:ext uri="{FF2B5EF4-FFF2-40B4-BE49-F238E27FC236}">
                <a16:creationId xmlns:a16="http://schemas.microsoft.com/office/drawing/2014/main" id="{D28C4AC3-3E10-4F80-A91D-9225D0EBCB34}"/>
              </a:ext>
            </a:extLst>
          </p:cNvPr>
          <p:cNvSpPr txBox="1"/>
          <p:nvPr/>
        </p:nvSpPr>
        <p:spPr>
          <a:xfrm>
            <a:off x="736600" y="5295900"/>
            <a:ext cx="3111500" cy="830997"/>
          </a:xfrm>
          <a:prstGeom prst="rect">
            <a:avLst/>
          </a:prstGeom>
          <a:noFill/>
        </p:spPr>
        <p:txBody>
          <a:bodyPr vertOverflow="overflow" vert="horz" wrap="square" lIns="0" tIns="0" rIns="0" bIns="0" rtlCol="0" anchor="t" anchorCtr="0">
            <a:spAutoFit/>
          </a:bodyPr>
          <a:lstStyle/>
          <a:p>
            <a:pPr algn="l"/>
            <a:r>
              <a:rPr lang="en-US" dirty="0">
                <a:solidFill>
                  <a:srgbClr val="333333"/>
                </a:solidFill>
                <a:latin typeface="Arial" panose="020B0604020202020204" pitchFamily="34" charset="0"/>
                <a:cs typeface="Arial" panose="020B0604020202020204" pitchFamily="34" charset="0"/>
              </a:rPr>
              <a:t>Adjusts for imperfect data: underreporting, delays, noise, and revisions.</a:t>
            </a:r>
          </a:p>
        </p:txBody>
      </p:sp>
      <p:sp>
        <p:nvSpPr>
          <p:cNvPr id="26" name="Rectangle: Single Corner Snipped 25">
            <a:extLst>
              <a:ext uri="{FF2B5EF4-FFF2-40B4-BE49-F238E27FC236}">
                <a16:creationId xmlns:a16="http://schemas.microsoft.com/office/drawing/2014/main" id="{2EAF6F9F-5E9E-4537-9181-331B60CAEBB5}"/>
              </a:ext>
            </a:extLst>
          </p:cNvPr>
          <p:cNvSpPr/>
          <p:nvPr/>
        </p:nvSpPr>
        <p:spPr>
          <a:xfrm>
            <a:off x="4343400" y="4711700"/>
            <a:ext cx="3517900" cy="1841500"/>
          </a:xfrm>
          <a:prstGeom prst="snip1Rect">
            <a:avLst/>
          </a:prstGeom>
          <a:solidFill>
            <a:srgbClr val="F3EF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2FC74526-C2BA-4112-8D7D-615D70CE60D0}"/>
              </a:ext>
            </a:extLst>
          </p:cNvPr>
          <p:cNvSpPr/>
          <p:nvPr/>
        </p:nvSpPr>
        <p:spPr>
          <a:xfrm>
            <a:off x="4343400" y="4711700"/>
            <a:ext cx="76200" cy="1841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726E58BD-7A81-4339-B03B-836A36CA83F1}"/>
              </a:ext>
            </a:extLst>
          </p:cNvPr>
          <p:cNvSpPr txBox="1"/>
          <p:nvPr/>
        </p:nvSpPr>
        <p:spPr>
          <a:xfrm>
            <a:off x="4572000" y="4864100"/>
            <a:ext cx="3136900" cy="307777"/>
          </a:xfrm>
          <a:prstGeom prst="rect">
            <a:avLst/>
          </a:prstGeom>
          <a:noFill/>
        </p:spPr>
        <p:txBody>
          <a:bodyPr vertOverflow="overflow" vert="horz" wrap="square" lIns="0" tIns="0" rIns="0" bIns="0" rtlCol="0" anchor="t" anchorCtr="0">
            <a:spAutoFit/>
          </a:bodyPr>
          <a:lstStyle/>
          <a:p>
            <a:pPr algn="l"/>
            <a:r>
              <a:rPr lang="en-US" sz="2000" b="1" dirty="0">
                <a:solidFill>
                  <a:srgbClr val="522D80"/>
                </a:solidFill>
                <a:latin typeface="Arial" panose="020B0604020202020204" pitchFamily="34" charset="0"/>
                <a:cs typeface="Arial" panose="020B0604020202020204" pitchFamily="34" charset="0"/>
              </a:rPr>
              <a:t>Uncertainty estimates</a:t>
            </a:r>
          </a:p>
        </p:txBody>
      </p:sp>
      <p:sp>
        <p:nvSpPr>
          <p:cNvPr id="29" name="TextBox 28">
            <a:extLst>
              <a:ext uri="{FF2B5EF4-FFF2-40B4-BE49-F238E27FC236}">
                <a16:creationId xmlns:a16="http://schemas.microsoft.com/office/drawing/2014/main" id="{E7B189C3-D69D-4549-B5E8-7CD62BE15F37}"/>
              </a:ext>
            </a:extLst>
          </p:cNvPr>
          <p:cNvSpPr txBox="1"/>
          <p:nvPr/>
        </p:nvSpPr>
        <p:spPr>
          <a:xfrm>
            <a:off x="4572000" y="5295900"/>
            <a:ext cx="3111500" cy="830997"/>
          </a:xfrm>
          <a:prstGeom prst="rect">
            <a:avLst/>
          </a:prstGeom>
          <a:noFill/>
        </p:spPr>
        <p:txBody>
          <a:bodyPr vertOverflow="overflow" vert="horz" wrap="square" lIns="0" tIns="0" rIns="0" bIns="0" rtlCol="0" anchor="t" anchorCtr="0">
            <a:spAutoFit/>
          </a:bodyPr>
          <a:lstStyle/>
          <a:p>
            <a:pPr algn="l"/>
            <a:r>
              <a:rPr lang="en-US">
                <a:solidFill>
                  <a:srgbClr val="333333"/>
                </a:solidFill>
                <a:latin typeface="Arial" panose="020B0604020202020204" pitchFamily="34" charset="0"/>
                <a:cs typeface="Arial" panose="020B0604020202020204" pitchFamily="34" charset="0"/>
              </a:rPr>
              <a:t>Prediction intervals or probabilistic forecasts: a range of plausible futures.</a:t>
            </a:r>
          </a:p>
        </p:txBody>
      </p:sp>
      <p:sp>
        <p:nvSpPr>
          <p:cNvPr id="30" name="Rectangle: Single Corner Snipped 29">
            <a:extLst>
              <a:ext uri="{FF2B5EF4-FFF2-40B4-BE49-F238E27FC236}">
                <a16:creationId xmlns:a16="http://schemas.microsoft.com/office/drawing/2014/main" id="{A7EF56CD-883C-4E04-A6CE-20CCAEB2E560}"/>
              </a:ext>
            </a:extLst>
          </p:cNvPr>
          <p:cNvSpPr/>
          <p:nvPr/>
        </p:nvSpPr>
        <p:spPr>
          <a:xfrm>
            <a:off x="8178800" y="4711700"/>
            <a:ext cx="3517900" cy="1841500"/>
          </a:xfrm>
          <a:prstGeom prst="snip1Rect">
            <a:avLst/>
          </a:prstGeom>
          <a:solidFill>
            <a:srgbClr val="F3EF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FACF7D3A-7972-4D9E-921F-BB5C4942BF30}"/>
              </a:ext>
            </a:extLst>
          </p:cNvPr>
          <p:cNvSpPr/>
          <p:nvPr/>
        </p:nvSpPr>
        <p:spPr>
          <a:xfrm>
            <a:off x="8178800" y="4711700"/>
            <a:ext cx="76200" cy="1841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A1555F07-A7B2-4905-AE4E-3494EA12F7ED}"/>
              </a:ext>
            </a:extLst>
          </p:cNvPr>
          <p:cNvSpPr txBox="1"/>
          <p:nvPr/>
        </p:nvSpPr>
        <p:spPr>
          <a:xfrm>
            <a:off x="8407400" y="4864100"/>
            <a:ext cx="3136900" cy="307777"/>
          </a:xfrm>
          <a:prstGeom prst="rect">
            <a:avLst/>
          </a:prstGeom>
          <a:noFill/>
        </p:spPr>
        <p:txBody>
          <a:bodyPr vertOverflow="overflow" vert="horz" wrap="square" lIns="0" tIns="0" rIns="0" bIns="0" rtlCol="0" anchor="t" anchorCtr="0">
            <a:spAutoFit/>
          </a:bodyPr>
          <a:lstStyle/>
          <a:p>
            <a:pPr algn="l"/>
            <a:r>
              <a:rPr lang="en-US" sz="2000" b="1" dirty="0">
                <a:solidFill>
                  <a:srgbClr val="522D80"/>
                </a:solidFill>
                <a:latin typeface="Arial" panose="020B0604020202020204" pitchFamily="34" charset="0"/>
                <a:cs typeface="Arial" panose="020B0604020202020204" pitchFamily="34" charset="0"/>
              </a:rPr>
              <a:t>Forecast horizon</a:t>
            </a:r>
          </a:p>
        </p:txBody>
      </p:sp>
      <p:sp>
        <p:nvSpPr>
          <p:cNvPr id="33" name="TextBox 32">
            <a:extLst>
              <a:ext uri="{FF2B5EF4-FFF2-40B4-BE49-F238E27FC236}">
                <a16:creationId xmlns:a16="http://schemas.microsoft.com/office/drawing/2014/main" id="{85C2C169-F552-4281-A507-F39723A691A2}"/>
              </a:ext>
            </a:extLst>
          </p:cNvPr>
          <p:cNvSpPr txBox="1"/>
          <p:nvPr/>
        </p:nvSpPr>
        <p:spPr>
          <a:xfrm>
            <a:off x="8407400" y="5295900"/>
            <a:ext cx="3111500" cy="830997"/>
          </a:xfrm>
          <a:prstGeom prst="rect">
            <a:avLst/>
          </a:prstGeom>
          <a:noFill/>
        </p:spPr>
        <p:txBody>
          <a:bodyPr vertOverflow="overflow" vert="horz" wrap="square" lIns="0" tIns="0" rIns="0" bIns="0" rtlCol="0" anchor="t" anchorCtr="0">
            <a:spAutoFit/>
          </a:bodyPr>
          <a:lstStyle/>
          <a:p>
            <a:pPr algn="l"/>
            <a:r>
              <a:rPr lang="en-US" dirty="0">
                <a:solidFill>
                  <a:srgbClr val="333333"/>
                </a:solidFill>
                <a:latin typeface="Arial" panose="020B0604020202020204" pitchFamily="34" charset="0"/>
                <a:cs typeface="Arial" panose="020B0604020202020204" pitchFamily="34" charset="0"/>
              </a:rPr>
              <a:t>How far ahead we predict, e.g., 1 to 4 weeks; accuracy drops further out.</a:t>
            </a:r>
          </a:p>
        </p:txBody>
      </p:sp>
    </p:spTree>
    <p:extLst>
      <p:ext uri="{BB962C8B-B14F-4D97-AF65-F5344CB8AC3E}">
        <p14:creationId xmlns:p14="http://schemas.microsoft.com/office/powerpoint/2010/main" val="251106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14" grpId="0" animBg="1"/>
      <p:bldP spid="15" grpId="0" animBg="1"/>
      <p:bldP spid="16" grpId="0"/>
      <p:bldP spid="17" grpId="0"/>
      <p:bldP spid="18" grpId="0" animBg="1"/>
      <p:bldP spid="19" grpId="0" animBg="1"/>
      <p:bldP spid="20" grpId="0"/>
      <p:bldP spid="21" grpId="0"/>
      <p:bldP spid="22" grpId="0" animBg="1"/>
      <p:bldP spid="23" grpId="0" animBg="1"/>
      <p:bldP spid="24" grpId="0"/>
      <p:bldP spid="25" grpId="0"/>
      <p:bldP spid="26" grpId="0" animBg="1"/>
      <p:bldP spid="27" grpId="0" animBg="1"/>
      <p:bldP spid="28" grpId="0"/>
      <p:bldP spid="29" grpId="0"/>
      <p:bldP spid="30" grpId="0" animBg="1"/>
      <p:bldP spid="31" grpId="0" animBg="1"/>
      <p:bldP spid="32" grpId="0"/>
      <p:bldP spid="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84C14-C171-1178-495A-5ED78666C4ED}"/>
              </a:ext>
            </a:extLst>
          </p:cNvPr>
          <p:cNvSpPr>
            <a:spLocks noGrp="1"/>
          </p:cNvSpPr>
          <p:nvPr>
            <p:ph type="title"/>
          </p:nvPr>
        </p:nvSpPr>
        <p:spPr>
          <a:xfrm>
            <a:off x="838200" y="276621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Building a Forecast</a:t>
            </a:r>
            <a:endParaRPr lang="en-US" dirty="0">
              <a:solidFill>
                <a:srgbClr val="7030A0"/>
              </a:solidFill>
            </a:endParaRPr>
          </a:p>
        </p:txBody>
      </p:sp>
    </p:spTree>
    <p:extLst>
      <p:ext uri="{BB962C8B-B14F-4D97-AF65-F5344CB8AC3E}">
        <p14:creationId xmlns:p14="http://schemas.microsoft.com/office/powerpoint/2010/main" val="1330870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20E18-95FD-1062-B824-A2D4C9B850A0}"/>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977D1F1-EDB7-E286-FD0F-554CA7E2C326}"/>
              </a:ext>
            </a:extLst>
          </p:cNvPr>
          <p:cNvCxnSpPr/>
          <p:nvPr/>
        </p:nvCxnSpPr>
        <p:spPr>
          <a:xfrm>
            <a:off x="7701699" y="2145221"/>
            <a:ext cx="0" cy="4251489"/>
          </a:xfrm>
          <a:prstGeom prst="line">
            <a:avLst/>
          </a:prstGeom>
          <a:ln w="38100">
            <a:solidFill>
              <a:schemeClr val="tx1"/>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F4626A9D-EC4D-ADB7-CB16-27201E2A0056}"/>
              </a:ext>
            </a:extLst>
          </p:cNvPr>
          <p:cNvCxnSpPr>
            <a:cxnSpLocks/>
          </p:cNvCxnSpPr>
          <p:nvPr/>
        </p:nvCxnSpPr>
        <p:spPr>
          <a:xfrm flipV="1">
            <a:off x="329938" y="6396708"/>
            <a:ext cx="11217897" cy="2"/>
          </a:xfrm>
          <a:prstGeom prst="line">
            <a:avLst/>
          </a:prstGeom>
          <a:ln w="38100"/>
        </p:spPr>
        <p:style>
          <a:lnRef idx="2">
            <a:schemeClr val="dk1"/>
          </a:lnRef>
          <a:fillRef idx="0">
            <a:schemeClr val="dk1"/>
          </a:fillRef>
          <a:effectRef idx="1">
            <a:schemeClr val="dk1"/>
          </a:effectRef>
          <a:fontRef idx="minor">
            <a:schemeClr val="tx1"/>
          </a:fontRef>
        </p:style>
      </p:cxnSp>
      <p:sp>
        <p:nvSpPr>
          <p:cNvPr id="20" name="Oval 19">
            <a:extLst>
              <a:ext uri="{FF2B5EF4-FFF2-40B4-BE49-F238E27FC236}">
                <a16:creationId xmlns:a16="http://schemas.microsoft.com/office/drawing/2014/main" id="{9C5A7540-EF3D-36F3-3A36-C41B8DA9488D}"/>
              </a:ext>
            </a:extLst>
          </p:cNvPr>
          <p:cNvSpPr/>
          <p:nvPr/>
        </p:nvSpPr>
        <p:spPr>
          <a:xfrm>
            <a:off x="8837315" y="4303959"/>
            <a:ext cx="182880" cy="18288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FBB8949-2BC1-C910-D143-7A30AC77135B}"/>
              </a:ext>
            </a:extLst>
          </p:cNvPr>
          <p:cNvSpPr/>
          <p:nvPr/>
        </p:nvSpPr>
        <p:spPr>
          <a:xfrm>
            <a:off x="9996812" y="3317712"/>
            <a:ext cx="182880" cy="18288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888D48B-0534-2C2F-AE22-65DFD2902673}"/>
              </a:ext>
            </a:extLst>
          </p:cNvPr>
          <p:cNvSpPr/>
          <p:nvPr/>
        </p:nvSpPr>
        <p:spPr>
          <a:xfrm>
            <a:off x="10798090" y="4981241"/>
            <a:ext cx="182880" cy="18288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7932E6C-1C90-B10B-F70E-DD8B6E7DDEE4}"/>
              </a:ext>
            </a:extLst>
          </p:cNvPr>
          <p:cNvSpPr/>
          <p:nvPr/>
        </p:nvSpPr>
        <p:spPr>
          <a:xfrm>
            <a:off x="7610259" y="3936315"/>
            <a:ext cx="182880" cy="18288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Freeform: Shape 1">
            <a:extLst>
              <a:ext uri="{FF2B5EF4-FFF2-40B4-BE49-F238E27FC236}">
                <a16:creationId xmlns:a16="http://schemas.microsoft.com/office/drawing/2014/main" id="{EFECB967-BDED-645D-8A28-4CE816720724}"/>
              </a:ext>
            </a:extLst>
          </p:cNvPr>
          <p:cNvSpPr/>
          <p:nvPr/>
        </p:nvSpPr>
        <p:spPr>
          <a:xfrm>
            <a:off x="612742" y="2845827"/>
            <a:ext cx="7070103" cy="2651298"/>
          </a:xfrm>
          <a:custGeom>
            <a:avLst/>
            <a:gdLst>
              <a:gd name="connsiteX0" fmla="*/ 0 w 7070103"/>
              <a:gd name="connsiteY0" fmla="*/ 176086 h 2651298"/>
              <a:gd name="connsiteX1" fmla="*/ 1150070 w 7070103"/>
              <a:gd name="connsiteY1" fmla="*/ 1854057 h 2651298"/>
              <a:gd name="connsiteX2" fmla="*/ 2366128 w 7070103"/>
              <a:gd name="connsiteY2" fmla="*/ 6403 h 2651298"/>
              <a:gd name="connsiteX3" fmla="*/ 3817856 w 7070103"/>
              <a:gd name="connsiteY3" fmla="*/ 2645909 h 2651298"/>
              <a:gd name="connsiteX4" fmla="*/ 5071621 w 7070103"/>
              <a:gd name="connsiteY4" fmla="*/ 741694 h 2651298"/>
              <a:gd name="connsiteX5" fmla="*/ 6381946 w 7070103"/>
              <a:gd name="connsiteY5" fmla="*/ 2532787 h 2651298"/>
              <a:gd name="connsiteX6" fmla="*/ 7070103 w 7070103"/>
              <a:gd name="connsiteY6" fmla="*/ 1552399 h 2651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70103" h="2651298">
                <a:moveTo>
                  <a:pt x="0" y="176086"/>
                </a:moveTo>
                <a:cubicBezTo>
                  <a:pt x="377857" y="1029212"/>
                  <a:pt x="755715" y="1882338"/>
                  <a:pt x="1150070" y="1854057"/>
                </a:cubicBezTo>
                <a:cubicBezTo>
                  <a:pt x="1544425" y="1825777"/>
                  <a:pt x="1921497" y="-125572"/>
                  <a:pt x="2366128" y="6403"/>
                </a:cubicBezTo>
                <a:cubicBezTo>
                  <a:pt x="2810759" y="138378"/>
                  <a:pt x="3366941" y="2523361"/>
                  <a:pt x="3817856" y="2645909"/>
                </a:cubicBezTo>
                <a:cubicBezTo>
                  <a:pt x="4268772" y="2768458"/>
                  <a:pt x="4644273" y="760548"/>
                  <a:pt x="5071621" y="741694"/>
                </a:cubicBezTo>
                <a:cubicBezTo>
                  <a:pt x="5498969" y="722840"/>
                  <a:pt x="6048866" y="2397670"/>
                  <a:pt x="6381946" y="2532787"/>
                </a:cubicBezTo>
                <a:cubicBezTo>
                  <a:pt x="6715026" y="2667905"/>
                  <a:pt x="6892564" y="2110152"/>
                  <a:pt x="7070103" y="1552399"/>
                </a:cubicBezTo>
              </a:path>
            </a:pathLst>
          </a:custGeom>
          <a:noFill/>
          <a:ln w="38100">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A339BF70-264A-6259-A5D3-04D8899A81CD}"/>
              </a:ext>
            </a:extLst>
          </p:cNvPr>
          <p:cNvSpPr/>
          <p:nvPr/>
        </p:nvSpPr>
        <p:spPr>
          <a:xfrm>
            <a:off x="1023554" y="353651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423164F0-81E9-F8AF-A8D8-A8CA6E91C07B}"/>
              </a:ext>
            </a:extLst>
          </p:cNvPr>
          <p:cNvSpPr/>
          <p:nvPr/>
        </p:nvSpPr>
        <p:spPr>
          <a:xfrm>
            <a:off x="1486194" y="418105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90EFFE80-D89C-3AB3-DAA4-F418BB2669B2}"/>
              </a:ext>
            </a:extLst>
          </p:cNvPr>
          <p:cNvSpPr/>
          <p:nvPr/>
        </p:nvSpPr>
        <p:spPr>
          <a:xfrm>
            <a:off x="905248" y="412107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F08F08FC-5B26-FF1F-BB46-95DB853D8D29}"/>
              </a:ext>
            </a:extLst>
          </p:cNvPr>
          <p:cNvSpPr/>
          <p:nvPr/>
        </p:nvSpPr>
        <p:spPr>
          <a:xfrm>
            <a:off x="1929980" y="453717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C473BA46-D59D-B982-1DF4-608F584D41AE}"/>
              </a:ext>
            </a:extLst>
          </p:cNvPr>
          <p:cNvSpPr/>
          <p:nvPr/>
        </p:nvSpPr>
        <p:spPr>
          <a:xfrm>
            <a:off x="2089016" y="389624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3D59D6DC-2F75-AA11-099F-108115640334}"/>
              </a:ext>
            </a:extLst>
          </p:cNvPr>
          <p:cNvSpPr/>
          <p:nvPr/>
        </p:nvSpPr>
        <p:spPr>
          <a:xfrm>
            <a:off x="2434589" y="355883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2CD8685C-C32B-0F17-3DFF-AA7E28A3177D}"/>
              </a:ext>
            </a:extLst>
          </p:cNvPr>
          <p:cNvSpPr/>
          <p:nvPr/>
        </p:nvSpPr>
        <p:spPr>
          <a:xfrm>
            <a:off x="543828" y="331771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7FB3FBC8-CEAA-5DE7-BB04-BD16047AC487}"/>
              </a:ext>
            </a:extLst>
          </p:cNvPr>
          <p:cNvSpPr/>
          <p:nvPr/>
        </p:nvSpPr>
        <p:spPr>
          <a:xfrm>
            <a:off x="2190591" y="309630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D5F48E05-E0F2-C7F4-70FF-4822D84D2B12}"/>
              </a:ext>
            </a:extLst>
          </p:cNvPr>
          <p:cNvSpPr/>
          <p:nvPr/>
        </p:nvSpPr>
        <p:spPr>
          <a:xfrm>
            <a:off x="2621238" y="281866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D73231C-C112-99D0-8FCE-6F24AAC8D66C}"/>
              </a:ext>
            </a:extLst>
          </p:cNvPr>
          <p:cNvSpPr/>
          <p:nvPr/>
        </p:nvSpPr>
        <p:spPr>
          <a:xfrm>
            <a:off x="3121763" y="295582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70F02DBE-2199-FB4D-52DE-26DBC6779633}"/>
              </a:ext>
            </a:extLst>
          </p:cNvPr>
          <p:cNvSpPr/>
          <p:nvPr/>
        </p:nvSpPr>
        <p:spPr>
          <a:xfrm>
            <a:off x="3121763" y="345487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5A9184C1-1015-1F86-303F-119CCCDEBE46}"/>
              </a:ext>
            </a:extLst>
          </p:cNvPr>
          <p:cNvSpPr/>
          <p:nvPr/>
        </p:nvSpPr>
        <p:spPr>
          <a:xfrm>
            <a:off x="3630743" y="359203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Explosion: 8 Points 36">
            <a:extLst>
              <a:ext uri="{FF2B5EF4-FFF2-40B4-BE49-F238E27FC236}">
                <a16:creationId xmlns:a16="http://schemas.microsoft.com/office/drawing/2014/main" id="{352F7151-70E0-1F0E-B275-D4FE063A7CF8}"/>
              </a:ext>
            </a:extLst>
          </p:cNvPr>
          <p:cNvSpPr/>
          <p:nvPr/>
        </p:nvSpPr>
        <p:spPr>
          <a:xfrm>
            <a:off x="1519642" y="3778725"/>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0" name="Explosion: 8 Points 59">
            <a:extLst>
              <a:ext uri="{FF2B5EF4-FFF2-40B4-BE49-F238E27FC236}">
                <a16:creationId xmlns:a16="http://schemas.microsoft.com/office/drawing/2014/main" id="{98A853FF-A2B1-9F92-75C6-9DE0D861FB15}"/>
              </a:ext>
            </a:extLst>
          </p:cNvPr>
          <p:cNvSpPr/>
          <p:nvPr/>
        </p:nvSpPr>
        <p:spPr>
          <a:xfrm>
            <a:off x="2472297" y="3877758"/>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Explosion: 8 Points 60">
            <a:extLst>
              <a:ext uri="{FF2B5EF4-FFF2-40B4-BE49-F238E27FC236}">
                <a16:creationId xmlns:a16="http://schemas.microsoft.com/office/drawing/2014/main" id="{0F441254-A2AE-3F2A-14AE-9EAD28B479CD}"/>
              </a:ext>
            </a:extLst>
          </p:cNvPr>
          <p:cNvSpPr/>
          <p:nvPr/>
        </p:nvSpPr>
        <p:spPr>
          <a:xfrm>
            <a:off x="2021735" y="342582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Explosion: 8 Points 61">
            <a:extLst>
              <a:ext uri="{FF2B5EF4-FFF2-40B4-BE49-F238E27FC236}">
                <a16:creationId xmlns:a16="http://schemas.microsoft.com/office/drawing/2014/main" id="{775CDE90-2D0E-01AB-222B-E68AD704A3B9}"/>
              </a:ext>
            </a:extLst>
          </p:cNvPr>
          <p:cNvSpPr/>
          <p:nvPr/>
        </p:nvSpPr>
        <p:spPr>
          <a:xfrm>
            <a:off x="2690055" y="323778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Explosion: 8 Points 62">
            <a:extLst>
              <a:ext uri="{FF2B5EF4-FFF2-40B4-BE49-F238E27FC236}">
                <a16:creationId xmlns:a16="http://schemas.microsoft.com/office/drawing/2014/main" id="{22585C22-A863-2C71-7D27-592BCD2E9DB2}"/>
              </a:ext>
            </a:extLst>
          </p:cNvPr>
          <p:cNvSpPr/>
          <p:nvPr/>
        </p:nvSpPr>
        <p:spPr>
          <a:xfrm>
            <a:off x="2817788" y="2493848"/>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Explosion: 8 Points 63">
            <a:extLst>
              <a:ext uri="{FF2B5EF4-FFF2-40B4-BE49-F238E27FC236}">
                <a16:creationId xmlns:a16="http://schemas.microsoft.com/office/drawing/2014/main" id="{9D45FF91-E7DD-592A-04D1-4724A8C510BF}"/>
              </a:ext>
            </a:extLst>
          </p:cNvPr>
          <p:cNvSpPr/>
          <p:nvPr/>
        </p:nvSpPr>
        <p:spPr>
          <a:xfrm>
            <a:off x="3538803" y="327631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Explosion: 8 Points 64">
            <a:extLst>
              <a:ext uri="{FF2B5EF4-FFF2-40B4-BE49-F238E27FC236}">
                <a16:creationId xmlns:a16="http://schemas.microsoft.com/office/drawing/2014/main" id="{43FAA0FA-2AB3-E54B-CB09-B1B0DE93A643}"/>
              </a:ext>
            </a:extLst>
          </p:cNvPr>
          <p:cNvSpPr/>
          <p:nvPr/>
        </p:nvSpPr>
        <p:spPr>
          <a:xfrm>
            <a:off x="3355936" y="400933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Explosion: 8 Points 65">
            <a:extLst>
              <a:ext uri="{FF2B5EF4-FFF2-40B4-BE49-F238E27FC236}">
                <a16:creationId xmlns:a16="http://schemas.microsoft.com/office/drawing/2014/main" id="{ED1659BB-0A33-0457-748D-743E25CCAF63}"/>
              </a:ext>
            </a:extLst>
          </p:cNvPr>
          <p:cNvSpPr/>
          <p:nvPr/>
        </p:nvSpPr>
        <p:spPr>
          <a:xfrm>
            <a:off x="1367888" y="4728699"/>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7" name="Explosion: 8 Points 66">
            <a:extLst>
              <a:ext uri="{FF2B5EF4-FFF2-40B4-BE49-F238E27FC236}">
                <a16:creationId xmlns:a16="http://schemas.microsoft.com/office/drawing/2014/main" id="{692B5F1F-50A7-9CCB-C177-BA4D632B5308}"/>
              </a:ext>
            </a:extLst>
          </p:cNvPr>
          <p:cNvSpPr/>
          <p:nvPr/>
        </p:nvSpPr>
        <p:spPr>
          <a:xfrm>
            <a:off x="3337400" y="4512708"/>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Explosion: 8 Points 67">
            <a:extLst>
              <a:ext uri="{FF2B5EF4-FFF2-40B4-BE49-F238E27FC236}">
                <a16:creationId xmlns:a16="http://schemas.microsoft.com/office/drawing/2014/main" id="{9CEF627E-1230-DC6C-8B03-A1FAD73E69AC}"/>
              </a:ext>
            </a:extLst>
          </p:cNvPr>
          <p:cNvSpPr/>
          <p:nvPr/>
        </p:nvSpPr>
        <p:spPr>
          <a:xfrm>
            <a:off x="4032940" y="4595863"/>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Explosion: 8 Points 68">
            <a:extLst>
              <a:ext uri="{FF2B5EF4-FFF2-40B4-BE49-F238E27FC236}">
                <a16:creationId xmlns:a16="http://schemas.microsoft.com/office/drawing/2014/main" id="{707FB9E0-9D43-1AC4-7CE7-9E1209615D34}"/>
              </a:ext>
            </a:extLst>
          </p:cNvPr>
          <p:cNvSpPr/>
          <p:nvPr/>
        </p:nvSpPr>
        <p:spPr>
          <a:xfrm>
            <a:off x="3777474" y="504649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Explosion: 8 Points 69">
            <a:extLst>
              <a:ext uri="{FF2B5EF4-FFF2-40B4-BE49-F238E27FC236}">
                <a16:creationId xmlns:a16="http://schemas.microsoft.com/office/drawing/2014/main" id="{09E62DEC-D408-BF9B-02D7-042DEDE62A48}"/>
              </a:ext>
            </a:extLst>
          </p:cNvPr>
          <p:cNvSpPr/>
          <p:nvPr/>
        </p:nvSpPr>
        <p:spPr>
          <a:xfrm>
            <a:off x="4391949" y="507268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Explosion: 8 Points 70">
            <a:extLst>
              <a:ext uri="{FF2B5EF4-FFF2-40B4-BE49-F238E27FC236}">
                <a16:creationId xmlns:a16="http://schemas.microsoft.com/office/drawing/2014/main" id="{770F6171-B029-ADEC-DA80-D57B91DD871E}"/>
              </a:ext>
            </a:extLst>
          </p:cNvPr>
          <p:cNvSpPr/>
          <p:nvPr/>
        </p:nvSpPr>
        <p:spPr>
          <a:xfrm>
            <a:off x="4959756" y="4947188"/>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Explosion: 8 Points 71">
            <a:extLst>
              <a:ext uri="{FF2B5EF4-FFF2-40B4-BE49-F238E27FC236}">
                <a16:creationId xmlns:a16="http://schemas.microsoft.com/office/drawing/2014/main" id="{37FAC38F-0F6B-54C4-0A87-8B8DA01BCAAE}"/>
              </a:ext>
            </a:extLst>
          </p:cNvPr>
          <p:cNvSpPr/>
          <p:nvPr/>
        </p:nvSpPr>
        <p:spPr>
          <a:xfrm>
            <a:off x="4692349" y="440865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Explosion: 8 Points 72">
            <a:extLst>
              <a:ext uri="{FF2B5EF4-FFF2-40B4-BE49-F238E27FC236}">
                <a16:creationId xmlns:a16="http://schemas.microsoft.com/office/drawing/2014/main" id="{3AFE9D0D-E42B-62E9-7E15-F9A09D49EE3D}"/>
              </a:ext>
            </a:extLst>
          </p:cNvPr>
          <p:cNvSpPr/>
          <p:nvPr/>
        </p:nvSpPr>
        <p:spPr>
          <a:xfrm>
            <a:off x="5272722" y="437987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Explosion: 8 Points 73">
            <a:extLst>
              <a:ext uri="{FF2B5EF4-FFF2-40B4-BE49-F238E27FC236}">
                <a16:creationId xmlns:a16="http://schemas.microsoft.com/office/drawing/2014/main" id="{1BA55FFE-6621-67BA-E027-5118E7043B36}"/>
              </a:ext>
            </a:extLst>
          </p:cNvPr>
          <p:cNvSpPr/>
          <p:nvPr/>
        </p:nvSpPr>
        <p:spPr>
          <a:xfrm>
            <a:off x="4967697" y="37710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Explosion: 8 Points 74">
            <a:extLst>
              <a:ext uri="{FF2B5EF4-FFF2-40B4-BE49-F238E27FC236}">
                <a16:creationId xmlns:a16="http://schemas.microsoft.com/office/drawing/2014/main" id="{8737064F-CED0-ACC1-4DC5-490C064AA7F7}"/>
              </a:ext>
            </a:extLst>
          </p:cNvPr>
          <p:cNvSpPr/>
          <p:nvPr/>
        </p:nvSpPr>
        <p:spPr>
          <a:xfrm>
            <a:off x="5572664" y="370826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Explosion: 8 Points 75">
            <a:extLst>
              <a:ext uri="{FF2B5EF4-FFF2-40B4-BE49-F238E27FC236}">
                <a16:creationId xmlns:a16="http://schemas.microsoft.com/office/drawing/2014/main" id="{6F029C77-F8DD-03A6-0F81-3AD2ABEC4675}"/>
              </a:ext>
            </a:extLst>
          </p:cNvPr>
          <p:cNvSpPr/>
          <p:nvPr/>
        </p:nvSpPr>
        <p:spPr>
          <a:xfrm>
            <a:off x="6244944" y="388160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Explosion: 8 Points 76">
            <a:extLst>
              <a:ext uri="{FF2B5EF4-FFF2-40B4-BE49-F238E27FC236}">
                <a16:creationId xmlns:a16="http://schemas.microsoft.com/office/drawing/2014/main" id="{BA4704B3-0423-C4C0-B89B-649873B26FA6}"/>
              </a:ext>
            </a:extLst>
          </p:cNvPr>
          <p:cNvSpPr/>
          <p:nvPr/>
        </p:nvSpPr>
        <p:spPr>
          <a:xfrm>
            <a:off x="1832408" y="400006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Explosion: 8 Points 77">
            <a:extLst>
              <a:ext uri="{FF2B5EF4-FFF2-40B4-BE49-F238E27FC236}">
                <a16:creationId xmlns:a16="http://schemas.microsoft.com/office/drawing/2014/main" id="{02584516-343D-2B95-C3DB-9BD4D9153889}"/>
              </a:ext>
            </a:extLst>
          </p:cNvPr>
          <p:cNvSpPr/>
          <p:nvPr/>
        </p:nvSpPr>
        <p:spPr>
          <a:xfrm>
            <a:off x="6124066" y="449042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Explosion: 8 Points 78">
            <a:extLst>
              <a:ext uri="{FF2B5EF4-FFF2-40B4-BE49-F238E27FC236}">
                <a16:creationId xmlns:a16="http://schemas.microsoft.com/office/drawing/2014/main" id="{0DCD93E1-1319-6CB4-FF01-E2D5F41BFD98}"/>
              </a:ext>
            </a:extLst>
          </p:cNvPr>
          <p:cNvSpPr/>
          <p:nvPr/>
        </p:nvSpPr>
        <p:spPr>
          <a:xfrm>
            <a:off x="6754975" y="476552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Explosion: 8 Points 79">
            <a:extLst>
              <a:ext uri="{FF2B5EF4-FFF2-40B4-BE49-F238E27FC236}">
                <a16:creationId xmlns:a16="http://schemas.microsoft.com/office/drawing/2014/main" id="{05B0FAB9-48A4-A842-C189-94A6A4B6A89E}"/>
              </a:ext>
            </a:extLst>
          </p:cNvPr>
          <p:cNvSpPr/>
          <p:nvPr/>
        </p:nvSpPr>
        <p:spPr>
          <a:xfrm>
            <a:off x="6646252" y="549712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Explosion: 8 Points 80">
            <a:extLst>
              <a:ext uri="{FF2B5EF4-FFF2-40B4-BE49-F238E27FC236}">
                <a16:creationId xmlns:a16="http://schemas.microsoft.com/office/drawing/2014/main" id="{B94991B9-FC6D-48E9-E467-60E87120A9A0}"/>
              </a:ext>
            </a:extLst>
          </p:cNvPr>
          <p:cNvSpPr/>
          <p:nvPr/>
        </p:nvSpPr>
        <p:spPr>
          <a:xfrm>
            <a:off x="7322782" y="449042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8DB22359-74DB-9669-498C-A46F7EB943DC}"/>
              </a:ext>
            </a:extLst>
          </p:cNvPr>
          <p:cNvSpPr/>
          <p:nvPr/>
        </p:nvSpPr>
        <p:spPr>
          <a:xfrm>
            <a:off x="3598703" y="410324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Isosceles Triangle 83">
            <a:extLst>
              <a:ext uri="{FF2B5EF4-FFF2-40B4-BE49-F238E27FC236}">
                <a16:creationId xmlns:a16="http://schemas.microsoft.com/office/drawing/2014/main" id="{8C0E1FC0-D352-EEFE-FE08-EF72EF16FA2F}"/>
              </a:ext>
            </a:extLst>
          </p:cNvPr>
          <p:cNvSpPr/>
          <p:nvPr/>
        </p:nvSpPr>
        <p:spPr>
          <a:xfrm>
            <a:off x="5142053" y="462974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Isosceles Triangle 84">
            <a:extLst>
              <a:ext uri="{FF2B5EF4-FFF2-40B4-BE49-F238E27FC236}">
                <a16:creationId xmlns:a16="http://schemas.microsoft.com/office/drawing/2014/main" id="{81C94C79-AB1F-5A4F-89DC-0F04048BF054}"/>
              </a:ext>
            </a:extLst>
          </p:cNvPr>
          <p:cNvSpPr/>
          <p:nvPr/>
        </p:nvSpPr>
        <p:spPr>
          <a:xfrm>
            <a:off x="3618159" y="463607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Isosceles Triangle 85">
            <a:extLst>
              <a:ext uri="{FF2B5EF4-FFF2-40B4-BE49-F238E27FC236}">
                <a16:creationId xmlns:a16="http://schemas.microsoft.com/office/drawing/2014/main" id="{9BA5D9EC-5355-C372-7000-59B5608CDE94}"/>
              </a:ext>
            </a:extLst>
          </p:cNvPr>
          <p:cNvSpPr/>
          <p:nvPr/>
        </p:nvSpPr>
        <p:spPr>
          <a:xfrm>
            <a:off x="4285925" y="469434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Isosceles Triangle 86">
            <a:extLst>
              <a:ext uri="{FF2B5EF4-FFF2-40B4-BE49-F238E27FC236}">
                <a16:creationId xmlns:a16="http://schemas.microsoft.com/office/drawing/2014/main" id="{786E740E-5070-ECA0-A45D-4719300E899F}"/>
              </a:ext>
            </a:extLst>
          </p:cNvPr>
          <p:cNvSpPr/>
          <p:nvPr/>
        </p:nvSpPr>
        <p:spPr>
          <a:xfrm>
            <a:off x="4038243" y="5147215"/>
            <a:ext cx="274320" cy="26448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Isosceles Triangle 87">
            <a:extLst>
              <a:ext uri="{FF2B5EF4-FFF2-40B4-BE49-F238E27FC236}">
                <a16:creationId xmlns:a16="http://schemas.microsoft.com/office/drawing/2014/main" id="{271DA1C0-5407-C682-C7D1-8C9BA640311B}"/>
              </a:ext>
            </a:extLst>
          </p:cNvPr>
          <p:cNvSpPr/>
          <p:nvPr/>
        </p:nvSpPr>
        <p:spPr>
          <a:xfrm>
            <a:off x="4685436" y="503119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Isosceles Triangle 88">
            <a:extLst>
              <a:ext uri="{FF2B5EF4-FFF2-40B4-BE49-F238E27FC236}">
                <a16:creationId xmlns:a16="http://schemas.microsoft.com/office/drawing/2014/main" id="{06856EF2-8C27-C5E4-D4BC-DA2A30FB91E7}"/>
              </a:ext>
            </a:extLst>
          </p:cNvPr>
          <p:cNvSpPr/>
          <p:nvPr/>
        </p:nvSpPr>
        <p:spPr>
          <a:xfrm>
            <a:off x="4966669" y="419670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Isosceles Triangle 89">
            <a:extLst>
              <a:ext uri="{FF2B5EF4-FFF2-40B4-BE49-F238E27FC236}">
                <a16:creationId xmlns:a16="http://schemas.microsoft.com/office/drawing/2014/main" id="{12D6D00B-1443-7302-79B2-9C3BEE910794}"/>
              </a:ext>
            </a:extLst>
          </p:cNvPr>
          <p:cNvSpPr/>
          <p:nvPr/>
        </p:nvSpPr>
        <p:spPr>
          <a:xfrm>
            <a:off x="5377644" y="393864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855FBA92-3A20-9768-F96C-882752CF8EEE}"/>
              </a:ext>
            </a:extLst>
          </p:cNvPr>
          <p:cNvSpPr/>
          <p:nvPr/>
        </p:nvSpPr>
        <p:spPr>
          <a:xfrm>
            <a:off x="5215222" y="348357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Isosceles Triangle 91">
            <a:extLst>
              <a:ext uri="{FF2B5EF4-FFF2-40B4-BE49-F238E27FC236}">
                <a16:creationId xmlns:a16="http://schemas.microsoft.com/office/drawing/2014/main" id="{2B7E0C2B-9BB3-7904-6E5D-D7E6B03DC5A1}"/>
              </a:ext>
            </a:extLst>
          </p:cNvPr>
          <p:cNvSpPr/>
          <p:nvPr/>
        </p:nvSpPr>
        <p:spPr>
          <a:xfrm>
            <a:off x="5848319" y="3483661"/>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Isosceles Triangle 92">
            <a:extLst>
              <a:ext uri="{FF2B5EF4-FFF2-40B4-BE49-F238E27FC236}">
                <a16:creationId xmlns:a16="http://schemas.microsoft.com/office/drawing/2014/main" id="{1EF69D3D-22D1-FAD9-B4C0-CB82FC734C0B}"/>
              </a:ext>
            </a:extLst>
          </p:cNvPr>
          <p:cNvSpPr/>
          <p:nvPr/>
        </p:nvSpPr>
        <p:spPr>
          <a:xfrm>
            <a:off x="7339693" y="400068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Isosceles Triangle 93">
            <a:extLst>
              <a:ext uri="{FF2B5EF4-FFF2-40B4-BE49-F238E27FC236}">
                <a16:creationId xmlns:a16="http://schemas.microsoft.com/office/drawing/2014/main" id="{B00B88B0-4081-CCC6-3B8D-34481C4617FA}"/>
              </a:ext>
            </a:extLst>
          </p:cNvPr>
          <p:cNvSpPr/>
          <p:nvPr/>
        </p:nvSpPr>
        <p:spPr>
          <a:xfrm>
            <a:off x="5806445" y="406545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a:extLst>
              <a:ext uri="{FF2B5EF4-FFF2-40B4-BE49-F238E27FC236}">
                <a16:creationId xmlns:a16="http://schemas.microsoft.com/office/drawing/2014/main" id="{940E5AD7-80DD-FC1F-E7B8-1474BBEF7E4B}"/>
              </a:ext>
            </a:extLst>
          </p:cNvPr>
          <p:cNvSpPr/>
          <p:nvPr/>
        </p:nvSpPr>
        <p:spPr>
          <a:xfrm>
            <a:off x="6276747" y="414217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a:extLst>
              <a:ext uri="{FF2B5EF4-FFF2-40B4-BE49-F238E27FC236}">
                <a16:creationId xmlns:a16="http://schemas.microsoft.com/office/drawing/2014/main" id="{B4284A84-C78B-35BC-71F8-F2241CE489AB}"/>
              </a:ext>
            </a:extLst>
          </p:cNvPr>
          <p:cNvSpPr/>
          <p:nvPr/>
        </p:nvSpPr>
        <p:spPr>
          <a:xfrm>
            <a:off x="6276747" y="483150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Isosceles Triangle 96">
            <a:extLst>
              <a:ext uri="{FF2B5EF4-FFF2-40B4-BE49-F238E27FC236}">
                <a16:creationId xmlns:a16="http://schemas.microsoft.com/office/drawing/2014/main" id="{F09BBEB7-919C-FA88-B72A-F1CA485C5184}"/>
              </a:ext>
            </a:extLst>
          </p:cNvPr>
          <p:cNvSpPr/>
          <p:nvPr/>
        </p:nvSpPr>
        <p:spPr>
          <a:xfrm>
            <a:off x="6535655" y="449258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Isosceles Triangle 97">
            <a:extLst>
              <a:ext uri="{FF2B5EF4-FFF2-40B4-BE49-F238E27FC236}">
                <a16:creationId xmlns:a16="http://schemas.microsoft.com/office/drawing/2014/main" id="{0EABDB39-8ACC-79B3-943F-0EBC9B45F699}"/>
              </a:ext>
            </a:extLst>
          </p:cNvPr>
          <p:cNvSpPr/>
          <p:nvPr/>
        </p:nvSpPr>
        <p:spPr>
          <a:xfrm>
            <a:off x="6773985" y="511794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Isosceles Triangle 98">
            <a:extLst>
              <a:ext uri="{FF2B5EF4-FFF2-40B4-BE49-F238E27FC236}">
                <a16:creationId xmlns:a16="http://schemas.microsoft.com/office/drawing/2014/main" id="{893DD33A-5CE2-F56B-64F3-083B9F3EA59B}"/>
              </a:ext>
            </a:extLst>
          </p:cNvPr>
          <p:cNvSpPr/>
          <p:nvPr/>
        </p:nvSpPr>
        <p:spPr>
          <a:xfrm>
            <a:off x="7183292" y="496310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Isosceles Triangle 99">
            <a:extLst>
              <a:ext uri="{FF2B5EF4-FFF2-40B4-BE49-F238E27FC236}">
                <a16:creationId xmlns:a16="http://schemas.microsoft.com/office/drawing/2014/main" id="{442127D8-DE9A-5BAA-8449-461DA1B99E95}"/>
              </a:ext>
            </a:extLst>
          </p:cNvPr>
          <p:cNvSpPr/>
          <p:nvPr/>
        </p:nvSpPr>
        <p:spPr>
          <a:xfrm>
            <a:off x="7385453" y="530021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Isosceles Triangle 100">
            <a:extLst>
              <a:ext uri="{FF2B5EF4-FFF2-40B4-BE49-F238E27FC236}">
                <a16:creationId xmlns:a16="http://schemas.microsoft.com/office/drawing/2014/main" id="{F9BEB409-8504-88D0-3400-201CC891CF98}"/>
              </a:ext>
            </a:extLst>
          </p:cNvPr>
          <p:cNvSpPr/>
          <p:nvPr/>
        </p:nvSpPr>
        <p:spPr>
          <a:xfrm>
            <a:off x="6920572" y="568656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118A028-7941-620A-9D05-8E298AD181D4}"/>
              </a:ext>
            </a:extLst>
          </p:cNvPr>
          <p:cNvSpPr txBox="1"/>
          <p:nvPr/>
        </p:nvSpPr>
        <p:spPr>
          <a:xfrm>
            <a:off x="3930390" y="1194711"/>
            <a:ext cx="2990182" cy="1938992"/>
          </a:xfrm>
          <a:prstGeom prst="rect">
            <a:avLst/>
          </a:prstGeom>
          <a:solidFill>
            <a:srgbClr val="F56600">
              <a:alpha val="10000"/>
            </a:srgbClr>
          </a:solidFill>
          <a:ln w="12700">
            <a:solidFill>
              <a:schemeClr val="tx1"/>
            </a:solidFill>
          </a:ln>
        </p:spPr>
        <p:txBody>
          <a:bodyPr wrap="square" rtlCol="0">
            <a:spAutoFit/>
          </a:bodyPr>
          <a:lstStyle/>
          <a:p>
            <a:pPr algn="ctr"/>
            <a:r>
              <a:rPr lang="en-US" sz="2000" b="1" u="sng">
                <a:latin typeface="Arial" panose="020B0604020202020204" pitchFamily="34" charset="0"/>
                <a:cs typeface="Arial" panose="020B0604020202020204" pitchFamily="34" charset="0"/>
              </a:rPr>
              <a:t>Current Week</a:t>
            </a:r>
          </a:p>
          <a:p>
            <a:pPr algn="ctr"/>
            <a:r>
              <a:rPr lang="en-US" sz="2000">
                <a:latin typeface="Arial" panose="020B0604020202020204" pitchFamily="34" charset="0"/>
                <a:cs typeface="Arial" panose="020B0604020202020204" pitchFamily="34" charset="0"/>
              </a:rPr>
              <a:t>The week the forecast was conducted. It separates the model estimates from the projection period.</a:t>
            </a:r>
          </a:p>
        </p:txBody>
      </p:sp>
      <p:cxnSp>
        <p:nvCxnSpPr>
          <p:cNvPr id="25" name="Straight Arrow Connector 24">
            <a:extLst>
              <a:ext uri="{FF2B5EF4-FFF2-40B4-BE49-F238E27FC236}">
                <a16:creationId xmlns:a16="http://schemas.microsoft.com/office/drawing/2014/main" id="{5401EE7D-1E05-D9E1-097F-83656169338D}"/>
              </a:ext>
            </a:extLst>
          </p:cNvPr>
          <p:cNvCxnSpPr>
            <a:cxnSpLocks/>
            <a:stCxn id="24" idx="3"/>
          </p:cNvCxnSpPr>
          <p:nvPr/>
        </p:nvCxnSpPr>
        <p:spPr>
          <a:xfrm>
            <a:off x="6920572" y="2164207"/>
            <a:ext cx="781127" cy="107855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7" name="Table 6">
            <a:extLst>
              <a:ext uri="{FF2B5EF4-FFF2-40B4-BE49-F238E27FC236}">
                <a16:creationId xmlns:a16="http://schemas.microsoft.com/office/drawing/2014/main" id="{1DD240FB-04E8-DF80-9DB2-597A0C61111B}"/>
              </a:ext>
            </a:extLst>
          </p:cNvPr>
          <p:cNvGraphicFramePr>
            <a:graphicFrameLocks noGrp="1"/>
          </p:cNvGraphicFramePr>
          <p:nvPr>
            <p:extLst>
              <p:ext uri="{D42A27DB-BD31-4B8C-83A1-F6EECF244321}">
                <p14:modId xmlns:p14="http://schemas.microsoft.com/office/powerpoint/2010/main" val="2663292528"/>
              </p:ext>
            </p:extLst>
          </p:nvPr>
        </p:nvGraphicFramePr>
        <p:xfrm>
          <a:off x="8684600" y="219456"/>
          <a:ext cx="2990183" cy="1854200"/>
        </p:xfrm>
        <a:graphic>
          <a:graphicData uri="http://schemas.openxmlformats.org/drawingml/2006/table">
            <a:tbl>
              <a:tblPr firstRow="1" bandRow="1">
                <a:tableStyleId>{5940675A-B579-460E-94D1-54222C63F5DA}</a:tableStyleId>
              </a:tblPr>
              <a:tblGrid>
                <a:gridCol w="2088353">
                  <a:extLst>
                    <a:ext uri="{9D8B030D-6E8A-4147-A177-3AD203B41FA5}">
                      <a16:colId xmlns:a16="http://schemas.microsoft.com/office/drawing/2014/main" val="4209011268"/>
                    </a:ext>
                  </a:extLst>
                </a:gridCol>
                <a:gridCol w="901830">
                  <a:extLst>
                    <a:ext uri="{9D8B030D-6E8A-4147-A177-3AD203B41FA5}">
                      <a16:colId xmlns:a16="http://schemas.microsoft.com/office/drawing/2014/main" val="2651714445"/>
                    </a:ext>
                  </a:extLst>
                </a:gridCol>
              </a:tblGrid>
              <a:tr h="370840">
                <a:tc gridSpan="2">
                  <a:txBody>
                    <a:bodyPr/>
                    <a:lstStyle/>
                    <a:p>
                      <a:pPr algn="ctr"/>
                      <a:r>
                        <a:rPr lang="en-US" sz="1800" b="1">
                          <a:latin typeface="Arial" panose="020B0604020202020204" pitchFamily="34" charset="0"/>
                          <a:cs typeface="Arial" panose="020B0604020202020204" pitchFamily="34" charset="0"/>
                        </a:rPr>
                        <a:t>Legend</a:t>
                      </a:r>
                    </a:p>
                  </a:txBody>
                  <a:tcPr>
                    <a:solidFill>
                      <a:schemeClr val="bg2"/>
                    </a:solidFill>
                  </a:tcPr>
                </a:tc>
                <a:tc hMerge="1">
                  <a:txBody>
                    <a:bodyPr/>
                    <a:lstStyle/>
                    <a:p>
                      <a:endParaRPr lang="en-US"/>
                    </a:p>
                  </a:txBody>
                  <a:tcPr/>
                </a:tc>
                <a:extLst>
                  <a:ext uri="{0D108BD9-81ED-4DB2-BD59-A6C34878D82A}">
                    <a16:rowId xmlns:a16="http://schemas.microsoft.com/office/drawing/2014/main" val="2697691273"/>
                  </a:ext>
                </a:extLst>
              </a:tr>
              <a:tr h="370840">
                <a:tc>
                  <a:txBody>
                    <a:bodyPr/>
                    <a:lstStyle/>
                    <a:p>
                      <a:r>
                        <a:rPr lang="en-US" sz="1800">
                          <a:latin typeface="Arial" panose="020B0604020202020204" pitchFamily="34" charset="0"/>
                          <a:cs typeface="Arial" panose="020B0604020202020204" pitchFamily="34" charset="0"/>
                        </a:rPr>
                        <a:t>Target Data</a:t>
                      </a:r>
                    </a:p>
                  </a:txBody>
                  <a:tcPr/>
                </a:tc>
                <a:tc>
                  <a:txBody>
                    <a:bodyPr/>
                    <a:lstStyle/>
                    <a:p>
                      <a:endParaRPr lang="en-US" sz="1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8635097"/>
                  </a:ext>
                </a:extLst>
              </a:tr>
              <a:tr h="370840">
                <a:tc>
                  <a:txBody>
                    <a:bodyPr/>
                    <a:lstStyle/>
                    <a:p>
                      <a:r>
                        <a:rPr lang="en-US" sz="1800">
                          <a:latin typeface="Arial" panose="020B0604020202020204" pitchFamily="34" charset="0"/>
                          <a:cs typeface="Arial" panose="020B0604020202020204" pitchFamily="34" charset="0"/>
                        </a:rPr>
                        <a:t>Auxiliary Data</a:t>
                      </a:r>
                    </a:p>
                  </a:txBody>
                  <a:tcPr/>
                </a:tc>
                <a:tc>
                  <a:txBody>
                    <a:bodyPr/>
                    <a:lstStyle/>
                    <a:p>
                      <a:endParaRPr lang="en-US" sz="1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47669380"/>
                  </a:ext>
                </a:extLst>
              </a:tr>
              <a:tr h="370840">
                <a:tc>
                  <a:txBody>
                    <a:bodyPr/>
                    <a:lstStyle/>
                    <a:p>
                      <a:r>
                        <a:rPr lang="en-US" sz="1800">
                          <a:latin typeface="Arial" panose="020B0604020202020204" pitchFamily="34" charset="0"/>
                          <a:cs typeface="Arial" panose="020B0604020202020204" pitchFamily="34" charset="0"/>
                        </a:rPr>
                        <a:t>Model Estimates</a:t>
                      </a:r>
                    </a:p>
                  </a:txBody>
                  <a:tcPr/>
                </a:tc>
                <a:tc>
                  <a:txBody>
                    <a:bodyPr/>
                    <a:lstStyle/>
                    <a:p>
                      <a:endParaRPr lang="en-US" sz="1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70823677"/>
                  </a:ext>
                </a:extLst>
              </a:tr>
              <a:tr h="370840">
                <a:tc>
                  <a:txBody>
                    <a:bodyPr/>
                    <a:lstStyle/>
                    <a:p>
                      <a:r>
                        <a:rPr lang="en-US" sz="1800">
                          <a:latin typeface="Arial" panose="020B0604020202020204" pitchFamily="34" charset="0"/>
                          <a:cs typeface="Arial" panose="020B0604020202020204" pitchFamily="34" charset="0"/>
                        </a:rPr>
                        <a:t>Model Projections</a:t>
                      </a:r>
                    </a:p>
                  </a:txBody>
                  <a:tcPr/>
                </a:tc>
                <a:tc>
                  <a:txBody>
                    <a:bodyPr/>
                    <a:lstStyle/>
                    <a:p>
                      <a:endParaRPr lang="en-US" sz="1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39666726"/>
                  </a:ext>
                </a:extLst>
              </a:tr>
            </a:tbl>
          </a:graphicData>
        </a:graphic>
      </p:graphicFrame>
      <p:sp>
        <p:nvSpPr>
          <p:cNvPr id="26" name="Isosceles Triangle 25">
            <a:extLst>
              <a:ext uri="{FF2B5EF4-FFF2-40B4-BE49-F238E27FC236}">
                <a16:creationId xmlns:a16="http://schemas.microsoft.com/office/drawing/2014/main" id="{3A84C4F9-CA16-C86E-8D22-DCE1E2FF7112}"/>
              </a:ext>
            </a:extLst>
          </p:cNvPr>
          <p:cNvSpPr/>
          <p:nvPr/>
        </p:nvSpPr>
        <p:spPr>
          <a:xfrm>
            <a:off x="11063826" y="641481"/>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Explosion: 8 Points 27">
            <a:extLst>
              <a:ext uri="{FF2B5EF4-FFF2-40B4-BE49-F238E27FC236}">
                <a16:creationId xmlns:a16="http://schemas.microsoft.com/office/drawing/2014/main" id="{86849780-C3A6-80F5-A46A-4AB754081322}"/>
              </a:ext>
            </a:extLst>
          </p:cNvPr>
          <p:cNvSpPr/>
          <p:nvPr/>
        </p:nvSpPr>
        <p:spPr>
          <a:xfrm>
            <a:off x="11077332" y="103393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D9F9B013-8F65-A41E-A11F-96306D9761B6}"/>
              </a:ext>
            </a:extLst>
          </p:cNvPr>
          <p:cNvPicPr>
            <a:picLocks noChangeAspect="1"/>
          </p:cNvPicPr>
          <p:nvPr/>
        </p:nvPicPr>
        <p:blipFill>
          <a:blip r:embed="rId3"/>
          <a:stretch>
            <a:fillRect/>
          </a:stretch>
        </p:blipFill>
        <p:spPr>
          <a:xfrm>
            <a:off x="10941255" y="1374342"/>
            <a:ext cx="539447" cy="310473"/>
          </a:xfrm>
          <a:prstGeom prst="rect">
            <a:avLst/>
          </a:prstGeom>
        </p:spPr>
      </p:pic>
      <p:sp>
        <p:nvSpPr>
          <p:cNvPr id="34" name="Oval 33">
            <a:extLst>
              <a:ext uri="{FF2B5EF4-FFF2-40B4-BE49-F238E27FC236}">
                <a16:creationId xmlns:a16="http://schemas.microsoft.com/office/drawing/2014/main" id="{730310C7-9AC8-DB6B-3480-3AD8F7A34972}"/>
              </a:ext>
            </a:extLst>
          </p:cNvPr>
          <p:cNvSpPr/>
          <p:nvPr/>
        </p:nvSpPr>
        <p:spPr>
          <a:xfrm>
            <a:off x="11094037" y="1806717"/>
            <a:ext cx="182880" cy="18288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212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447F1-DB9F-8EAD-DEF1-B0DD267FF7C6}"/>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0BB59BF0-7DC9-F1E5-5099-E041A2896F9B}"/>
              </a:ext>
            </a:extLst>
          </p:cNvPr>
          <p:cNvCxnSpPr/>
          <p:nvPr/>
        </p:nvCxnSpPr>
        <p:spPr>
          <a:xfrm>
            <a:off x="7701699" y="2163509"/>
            <a:ext cx="0" cy="4251489"/>
          </a:xfrm>
          <a:prstGeom prst="line">
            <a:avLst/>
          </a:prstGeom>
          <a:ln w="38100">
            <a:solidFill>
              <a:schemeClr val="tx1"/>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0006570D-A1E3-9D46-4E0D-C149CFF1DD58}"/>
              </a:ext>
            </a:extLst>
          </p:cNvPr>
          <p:cNvCxnSpPr>
            <a:cxnSpLocks/>
          </p:cNvCxnSpPr>
          <p:nvPr/>
        </p:nvCxnSpPr>
        <p:spPr>
          <a:xfrm flipV="1">
            <a:off x="329938" y="6414996"/>
            <a:ext cx="11217897" cy="2"/>
          </a:xfrm>
          <a:prstGeom prst="line">
            <a:avLst/>
          </a:prstGeom>
          <a:ln w="38100"/>
        </p:spPr>
        <p:style>
          <a:lnRef idx="2">
            <a:schemeClr val="dk1"/>
          </a:lnRef>
          <a:fillRef idx="0">
            <a:schemeClr val="dk1"/>
          </a:fillRef>
          <a:effectRef idx="1">
            <a:schemeClr val="dk1"/>
          </a:effectRef>
          <a:fontRef idx="minor">
            <a:schemeClr val="tx1"/>
          </a:fontRef>
        </p:style>
      </p:cxnSp>
      <p:sp>
        <p:nvSpPr>
          <p:cNvPr id="60" name="TextBox 59">
            <a:extLst>
              <a:ext uri="{FF2B5EF4-FFF2-40B4-BE49-F238E27FC236}">
                <a16:creationId xmlns:a16="http://schemas.microsoft.com/office/drawing/2014/main" id="{11D3DFEC-5B83-7F59-E3FF-31E62D91AF96}"/>
              </a:ext>
            </a:extLst>
          </p:cNvPr>
          <p:cNvSpPr txBox="1"/>
          <p:nvPr/>
        </p:nvSpPr>
        <p:spPr>
          <a:xfrm>
            <a:off x="3284004" y="85109"/>
            <a:ext cx="4227176" cy="2554545"/>
          </a:xfrm>
          <a:prstGeom prst="rect">
            <a:avLst/>
          </a:prstGeom>
          <a:solidFill>
            <a:srgbClr val="F56600">
              <a:alpha val="10000"/>
            </a:srgbClr>
          </a:solidFill>
          <a:ln w="12700">
            <a:solidFill>
              <a:schemeClr val="tx1"/>
            </a:solidFill>
          </a:ln>
        </p:spPr>
        <p:txBody>
          <a:bodyPr wrap="square" rtlCol="0">
            <a:spAutoFit/>
          </a:bodyPr>
          <a:lstStyle/>
          <a:p>
            <a:pPr algn="ctr"/>
            <a:r>
              <a:rPr lang="en-US" sz="2000" b="1" u="sng" dirty="0">
                <a:latin typeface="Arial" panose="020B0604020202020204" pitchFamily="34" charset="0"/>
                <a:cs typeface="Arial" panose="020B0604020202020204" pitchFamily="34" charset="0"/>
              </a:rPr>
              <a:t>Target Data</a:t>
            </a:r>
            <a:r>
              <a:rPr lang="en-US" sz="2000" b="1" dirty="0">
                <a:latin typeface="Arial" panose="020B0604020202020204" pitchFamily="34" charset="0"/>
                <a:cs typeface="Arial" panose="020B0604020202020204" pitchFamily="34" charset="0"/>
              </a:rPr>
              <a:t> </a:t>
            </a:r>
          </a:p>
          <a:p>
            <a:pPr algn="ctr"/>
            <a:r>
              <a:rPr lang="en-US" sz="2000" dirty="0">
                <a:latin typeface="Arial" panose="020B0604020202020204" pitchFamily="34" charset="0"/>
                <a:cs typeface="Arial" panose="020B0604020202020204" pitchFamily="34" charset="0"/>
              </a:rPr>
              <a:t>The historical data the model learns from and uses to estimate its parameters; it represents the </a:t>
            </a:r>
            <a:r>
              <a:rPr lang="en-US" sz="2000" b="1" dirty="0">
                <a:latin typeface="Arial" panose="020B0604020202020204" pitchFamily="34" charset="0"/>
                <a:cs typeface="Arial" panose="020B0604020202020204" pitchFamily="34" charset="0"/>
              </a:rPr>
              <a:t>outcome</a:t>
            </a:r>
            <a:r>
              <a:rPr lang="en-US" sz="2000" dirty="0">
                <a:latin typeface="Arial" panose="020B0604020202020204" pitchFamily="34" charset="0"/>
                <a:cs typeface="Arial" panose="020B0604020202020204" pitchFamily="34" charset="0"/>
              </a:rPr>
              <a:t> being forecasted by the model.</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Example: In-patient hospitalizations</a:t>
            </a:r>
          </a:p>
        </p:txBody>
      </p:sp>
      <p:cxnSp>
        <p:nvCxnSpPr>
          <p:cNvPr id="62" name="Straight Arrow Connector 61">
            <a:extLst>
              <a:ext uri="{FF2B5EF4-FFF2-40B4-BE49-F238E27FC236}">
                <a16:creationId xmlns:a16="http://schemas.microsoft.com/office/drawing/2014/main" id="{158065AF-638E-1EC4-3094-B328F8C9E152}"/>
              </a:ext>
            </a:extLst>
          </p:cNvPr>
          <p:cNvCxnSpPr>
            <a:cxnSpLocks/>
            <a:stCxn id="60" idx="2"/>
          </p:cNvCxnSpPr>
          <p:nvPr/>
        </p:nvCxnSpPr>
        <p:spPr>
          <a:xfrm flipH="1">
            <a:off x="3327503" y="2639654"/>
            <a:ext cx="2070089" cy="47161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Isosceles Triangle 2">
            <a:extLst>
              <a:ext uri="{FF2B5EF4-FFF2-40B4-BE49-F238E27FC236}">
                <a16:creationId xmlns:a16="http://schemas.microsoft.com/office/drawing/2014/main" id="{14CB3366-D550-7374-4678-FD1DF3C703C2}"/>
              </a:ext>
            </a:extLst>
          </p:cNvPr>
          <p:cNvSpPr/>
          <p:nvPr/>
        </p:nvSpPr>
        <p:spPr>
          <a:xfrm>
            <a:off x="1023554" y="355480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57B06C22-D442-AE85-7E98-756CCB05D7B1}"/>
              </a:ext>
            </a:extLst>
          </p:cNvPr>
          <p:cNvSpPr/>
          <p:nvPr/>
        </p:nvSpPr>
        <p:spPr>
          <a:xfrm>
            <a:off x="1486194" y="419934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E8B96474-6D4E-6A92-8179-33C9AD3C3238}"/>
              </a:ext>
            </a:extLst>
          </p:cNvPr>
          <p:cNvSpPr/>
          <p:nvPr/>
        </p:nvSpPr>
        <p:spPr>
          <a:xfrm>
            <a:off x="905248" y="413936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7F2F74BD-5BA1-75EA-35EE-DF28DE4F73C4}"/>
              </a:ext>
            </a:extLst>
          </p:cNvPr>
          <p:cNvSpPr/>
          <p:nvPr/>
        </p:nvSpPr>
        <p:spPr>
          <a:xfrm>
            <a:off x="1929980" y="455545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D899DFAB-9799-D4C2-1F50-4B69D37C525E}"/>
              </a:ext>
            </a:extLst>
          </p:cNvPr>
          <p:cNvSpPr/>
          <p:nvPr/>
        </p:nvSpPr>
        <p:spPr>
          <a:xfrm>
            <a:off x="2089016" y="391453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A33D9620-C40A-A0B3-E4B9-BF535E448D37}"/>
              </a:ext>
            </a:extLst>
          </p:cNvPr>
          <p:cNvSpPr/>
          <p:nvPr/>
        </p:nvSpPr>
        <p:spPr>
          <a:xfrm>
            <a:off x="2434589" y="357712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7DEA5AB7-FFFB-25FC-CB83-AA616BCE7BD5}"/>
              </a:ext>
            </a:extLst>
          </p:cNvPr>
          <p:cNvSpPr/>
          <p:nvPr/>
        </p:nvSpPr>
        <p:spPr>
          <a:xfrm>
            <a:off x="543828" y="333600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7C5824E7-FBF3-2751-5BD3-26147E9523B9}"/>
              </a:ext>
            </a:extLst>
          </p:cNvPr>
          <p:cNvSpPr/>
          <p:nvPr/>
        </p:nvSpPr>
        <p:spPr>
          <a:xfrm>
            <a:off x="2190591" y="311459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B804DF0D-7718-8E14-4472-02B51FDDEC1D}"/>
              </a:ext>
            </a:extLst>
          </p:cNvPr>
          <p:cNvSpPr/>
          <p:nvPr/>
        </p:nvSpPr>
        <p:spPr>
          <a:xfrm>
            <a:off x="2621238" y="283695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2E58758-D17B-C9E0-673D-D620C2135093}"/>
              </a:ext>
            </a:extLst>
          </p:cNvPr>
          <p:cNvSpPr/>
          <p:nvPr/>
        </p:nvSpPr>
        <p:spPr>
          <a:xfrm>
            <a:off x="3121763" y="297411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1BA74ED4-3F7A-197E-F8E7-601E48754197}"/>
              </a:ext>
            </a:extLst>
          </p:cNvPr>
          <p:cNvSpPr/>
          <p:nvPr/>
        </p:nvSpPr>
        <p:spPr>
          <a:xfrm>
            <a:off x="3121763" y="347316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774ED62A-A7D8-555D-8ED3-1C73369E308A}"/>
              </a:ext>
            </a:extLst>
          </p:cNvPr>
          <p:cNvSpPr/>
          <p:nvPr/>
        </p:nvSpPr>
        <p:spPr>
          <a:xfrm>
            <a:off x="3630743" y="361032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Isosceles Triangle 52">
            <a:extLst>
              <a:ext uri="{FF2B5EF4-FFF2-40B4-BE49-F238E27FC236}">
                <a16:creationId xmlns:a16="http://schemas.microsoft.com/office/drawing/2014/main" id="{5243296E-46B1-953B-8884-0D3D87E86BDF}"/>
              </a:ext>
            </a:extLst>
          </p:cNvPr>
          <p:cNvSpPr/>
          <p:nvPr/>
        </p:nvSpPr>
        <p:spPr>
          <a:xfrm>
            <a:off x="3598703" y="412153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Isosceles Triangle 53">
            <a:extLst>
              <a:ext uri="{FF2B5EF4-FFF2-40B4-BE49-F238E27FC236}">
                <a16:creationId xmlns:a16="http://schemas.microsoft.com/office/drawing/2014/main" id="{F2907A49-3DFD-427C-B9DD-9BB5973B495F}"/>
              </a:ext>
            </a:extLst>
          </p:cNvPr>
          <p:cNvSpPr/>
          <p:nvPr/>
        </p:nvSpPr>
        <p:spPr>
          <a:xfrm>
            <a:off x="5142053" y="464803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Isosceles Triangle 54">
            <a:extLst>
              <a:ext uri="{FF2B5EF4-FFF2-40B4-BE49-F238E27FC236}">
                <a16:creationId xmlns:a16="http://schemas.microsoft.com/office/drawing/2014/main" id="{78776E2E-8F9F-BD88-1E9C-E2E327977797}"/>
              </a:ext>
            </a:extLst>
          </p:cNvPr>
          <p:cNvSpPr/>
          <p:nvPr/>
        </p:nvSpPr>
        <p:spPr>
          <a:xfrm>
            <a:off x="3618159" y="465436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6748CEA8-038C-21D7-D402-AA6CB75AEB0C}"/>
              </a:ext>
            </a:extLst>
          </p:cNvPr>
          <p:cNvSpPr/>
          <p:nvPr/>
        </p:nvSpPr>
        <p:spPr>
          <a:xfrm>
            <a:off x="4285925" y="471263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Isosceles Triangle 56">
            <a:extLst>
              <a:ext uri="{FF2B5EF4-FFF2-40B4-BE49-F238E27FC236}">
                <a16:creationId xmlns:a16="http://schemas.microsoft.com/office/drawing/2014/main" id="{1F26D357-0236-EA64-5FDB-D4A0EAAE7BB3}"/>
              </a:ext>
            </a:extLst>
          </p:cNvPr>
          <p:cNvSpPr/>
          <p:nvPr/>
        </p:nvSpPr>
        <p:spPr>
          <a:xfrm>
            <a:off x="4038243" y="5165503"/>
            <a:ext cx="274320" cy="26448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CB8C6CFB-C458-966F-56B9-1C4CDF5CB00A}"/>
              </a:ext>
            </a:extLst>
          </p:cNvPr>
          <p:cNvSpPr/>
          <p:nvPr/>
        </p:nvSpPr>
        <p:spPr>
          <a:xfrm>
            <a:off x="4685436" y="504948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Isosceles Triangle 58">
            <a:extLst>
              <a:ext uri="{FF2B5EF4-FFF2-40B4-BE49-F238E27FC236}">
                <a16:creationId xmlns:a16="http://schemas.microsoft.com/office/drawing/2014/main" id="{1ECE3FE5-0201-3191-1B8B-468C485478ED}"/>
              </a:ext>
            </a:extLst>
          </p:cNvPr>
          <p:cNvSpPr/>
          <p:nvPr/>
        </p:nvSpPr>
        <p:spPr>
          <a:xfrm>
            <a:off x="4966669" y="421499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Isosceles Triangle 60">
            <a:extLst>
              <a:ext uri="{FF2B5EF4-FFF2-40B4-BE49-F238E27FC236}">
                <a16:creationId xmlns:a16="http://schemas.microsoft.com/office/drawing/2014/main" id="{FF3B0070-998E-1F8F-D9E9-E1868CBAE8C9}"/>
              </a:ext>
            </a:extLst>
          </p:cNvPr>
          <p:cNvSpPr/>
          <p:nvPr/>
        </p:nvSpPr>
        <p:spPr>
          <a:xfrm>
            <a:off x="5377644" y="3956931"/>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a:extLst>
              <a:ext uri="{FF2B5EF4-FFF2-40B4-BE49-F238E27FC236}">
                <a16:creationId xmlns:a16="http://schemas.microsoft.com/office/drawing/2014/main" id="{22AAA8D0-DFD7-4D34-0892-4713012D7459}"/>
              </a:ext>
            </a:extLst>
          </p:cNvPr>
          <p:cNvSpPr/>
          <p:nvPr/>
        </p:nvSpPr>
        <p:spPr>
          <a:xfrm>
            <a:off x="5215222" y="350186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a:extLst>
              <a:ext uri="{FF2B5EF4-FFF2-40B4-BE49-F238E27FC236}">
                <a16:creationId xmlns:a16="http://schemas.microsoft.com/office/drawing/2014/main" id="{55FC03B5-9946-C5B9-948B-D1FC58CFB992}"/>
              </a:ext>
            </a:extLst>
          </p:cNvPr>
          <p:cNvSpPr/>
          <p:nvPr/>
        </p:nvSpPr>
        <p:spPr>
          <a:xfrm>
            <a:off x="5848319" y="350194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Isosceles Triangle 64">
            <a:extLst>
              <a:ext uri="{FF2B5EF4-FFF2-40B4-BE49-F238E27FC236}">
                <a16:creationId xmlns:a16="http://schemas.microsoft.com/office/drawing/2014/main" id="{4100CF8A-BDDE-1118-C081-B4FCFF14F27E}"/>
              </a:ext>
            </a:extLst>
          </p:cNvPr>
          <p:cNvSpPr/>
          <p:nvPr/>
        </p:nvSpPr>
        <p:spPr>
          <a:xfrm>
            <a:off x="7339693" y="401897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Isosceles Triangle 65">
            <a:extLst>
              <a:ext uri="{FF2B5EF4-FFF2-40B4-BE49-F238E27FC236}">
                <a16:creationId xmlns:a16="http://schemas.microsoft.com/office/drawing/2014/main" id="{82E3AFF2-2BA0-DFE7-DAC7-7D147B4D7E9E}"/>
              </a:ext>
            </a:extLst>
          </p:cNvPr>
          <p:cNvSpPr/>
          <p:nvPr/>
        </p:nvSpPr>
        <p:spPr>
          <a:xfrm>
            <a:off x="5806445" y="408374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Isosceles Triangle 66">
            <a:extLst>
              <a:ext uri="{FF2B5EF4-FFF2-40B4-BE49-F238E27FC236}">
                <a16:creationId xmlns:a16="http://schemas.microsoft.com/office/drawing/2014/main" id="{88D43042-E489-83D9-9C84-72B712BF0140}"/>
              </a:ext>
            </a:extLst>
          </p:cNvPr>
          <p:cNvSpPr/>
          <p:nvPr/>
        </p:nvSpPr>
        <p:spPr>
          <a:xfrm>
            <a:off x="6276747" y="416046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Isosceles Triangle 67">
            <a:extLst>
              <a:ext uri="{FF2B5EF4-FFF2-40B4-BE49-F238E27FC236}">
                <a16:creationId xmlns:a16="http://schemas.microsoft.com/office/drawing/2014/main" id="{E9B29868-08B6-8023-8854-B54D8411B13B}"/>
              </a:ext>
            </a:extLst>
          </p:cNvPr>
          <p:cNvSpPr/>
          <p:nvPr/>
        </p:nvSpPr>
        <p:spPr>
          <a:xfrm>
            <a:off x="6276747" y="484979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Isosceles Triangle 68">
            <a:extLst>
              <a:ext uri="{FF2B5EF4-FFF2-40B4-BE49-F238E27FC236}">
                <a16:creationId xmlns:a16="http://schemas.microsoft.com/office/drawing/2014/main" id="{65CDE0C9-73E9-3790-9250-624BCB9F5816}"/>
              </a:ext>
            </a:extLst>
          </p:cNvPr>
          <p:cNvSpPr/>
          <p:nvPr/>
        </p:nvSpPr>
        <p:spPr>
          <a:xfrm>
            <a:off x="6535655" y="451087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Isosceles Triangle 69">
            <a:extLst>
              <a:ext uri="{FF2B5EF4-FFF2-40B4-BE49-F238E27FC236}">
                <a16:creationId xmlns:a16="http://schemas.microsoft.com/office/drawing/2014/main" id="{8F418B22-2490-1ED4-8A49-99CBDFFCE8B8}"/>
              </a:ext>
            </a:extLst>
          </p:cNvPr>
          <p:cNvSpPr/>
          <p:nvPr/>
        </p:nvSpPr>
        <p:spPr>
          <a:xfrm>
            <a:off x="6773985" y="513623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Isosceles Triangle 70">
            <a:extLst>
              <a:ext uri="{FF2B5EF4-FFF2-40B4-BE49-F238E27FC236}">
                <a16:creationId xmlns:a16="http://schemas.microsoft.com/office/drawing/2014/main" id="{6D95F690-D10E-A585-B66E-0FE74EB71DA0}"/>
              </a:ext>
            </a:extLst>
          </p:cNvPr>
          <p:cNvSpPr/>
          <p:nvPr/>
        </p:nvSpPr>
        <p:spPr>
          <a:xfrm>
            <a:off x="7183292" y="498139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Isosceles Triangle 71">
            <a:extLst>
              <a:ext uri="{FF2B5EF4-FFF2-40B4-BE49-F238E27FC236}">
                <a16:creationId xmlns:a16="http://schemas.microsoft.com/office/drawing/2014/main" id="{56BE064A-AA1D-1209-F870-F96B23F4ADC1}"/>
              </a:ext>
            </a:extLst>
          </p:cNvPr>
          <p:cNvSpPr/>
          <p:nvPr/>
        </p:nvSpPr>
        <p:spPr>
          <a:xfrm>
            <a:off x="7385453" y="531850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Isosceles Triangle 72">
            <a:extLst>
              <a:ext uri="{FF2B5EF4-FFF2-40B4-BE49-F238E27FC236}">
                <a16:creationId xmlns:a16="http://schemas.microsoft.com/office/drawing/2014/main" id="{124286B7-72D8-DE68-294A-79E71A7C0080}"/>
              </a:ext>
            </a:extLst>
          </p:cNvPr>
          <p:cNvSpPr/>
          <p:nvPr/>
        </p:nvSpPr>
        <p:spPr>
          <a:xfrm>
            <a:off x="6920572" y="570485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Table 16">
            <a:extLst>
              <a:ext uri="{FF2B5EF4-FFF2-40B4-BE49-F238E27FC236}">
                <a16:creationId xmlns:a16="http://schemas.microsoft.com/office/drawing/2014/main" id="{270EB830-1C06-1869-7E27-17C99BB8798F}"/>
              </a:ext>
            </a:extLst>
          </p:cNvPr>
          <p:cNvGraphicFramePr>
            <a:graphicFrameLocks noGrp="1"/>
          </p:cNvGraphicFramePr>
          <p:nvPr>
            <p:extLst>
              <p:ext uri="{D42A27DB-BD31-4B8C-83A1-F6EECF244321}">
                <p14:modId xmlns:p14="http://schemas.microsoft.com/office/powerpoint/2010/main" val="4054260075"/>
              </p:ext>
            </p:extLst>
          </p:nvPr>
        </p:nvGraphicFramePr>
        <p:xfrm>
          <a:off x="8684600" y="219456"/>
          <a:ext cx="2990183" cy="741680"/>
        </p:xfrm>
        <a:graphic>
          <a:graphicData uri="http://schemas.openxmlformats.org/drawingml/2006/table">
            <a:tbl>
              <a:tblPr firstRow="1" bandRow="1">
                <a:tableStyleId>{5940675A-B579-460E-94D1-54222C63F5DA}</a:tableStyleId>
              </a:tblPr>
              <a:tblGrid>
                <a:gridCol w="2088353">
                  <a:extLst>
                    <a:ext uri="{9D8B030D-6E8A-4147-A177-3AD203B41FA5}">
                      <a16:colId xmlns:a16="http://schemas.microsoft.com/office/drawing/2014/main" val="4209011268"/>
                    </a:ext>
                  </a:extLst>
                </a:gridCol>
                <a:gridCol w="901830">
                  <a:extLst>
                    <a:ext uri="{9D8B030D-6E8A-4147-A177-3AD203B41FA5}">
                      <a16:colId xmlns:a16="http://schemas.microsoft.com/office/drawing/2014/main" val="2651714445"/>
                    </a:ext>
                  </a:extLst>
                </a:gridCol>
              </a:tblGrid>
              <a:tr h="370840">
                <a:tc gridSpan="2">
                  <a:txBody>
                    <a:bodyPr/>
                    <a:lstStyle/>
                    <a:p>
                      <a:pPr algn="ctr"/>
                      <a:r>
                        <a:rPr lang="en-US" sz="1800" b="1" dirty="0">
                          <a:latin typeface="Arial" panose="020B0604020202020204" pitchFamily="34" charset="0"/>
                          <a:cs typeface="Arial" panose="020B0604020202020204" pitchFamily="34" charset="0"/>
                        </a:rPr>
                        <a:t>Legend</a:t>
                      </a:r>
                    </a:p>
                  </a:txBody>
                  <a:tcPr>
                    <a:solidFill>
                      <a:schemeClr val="bg2"/>
                    </a:solidFill>
                  </a:tcPr>
                </a:tc>
                <a:tc hMerge="1">
                  <a:txBody>
                    <a:bodyPr/>
                    <a:lstStyle/>
                    <a:p>
                      <a:endParaRPr lang="en-US"/>
                    </a:p>
                  </a:txBody>
                  <a:tcPr/>
                </a:tc>
                <a:extLst>
                  <a:ext uri="{0D108BD9-81ED-4DB2-BD59-A6C34878D82A}">
                    <a16:rowId xmlns:a16="http://schemas.microsoft.com/office/drawing/2014/main" val="2697691273"/>
                  </a:ext>
                </a:extLst>
              </a:tr>
              <a:tr h="370840">
                <a:tc>
                  <a:txBody>
                    <a:bodyPr/>
                    <a:lstStyle/>
                    <a:p>
                      <a:r>
                        <a:rPr lang="en-US" sz="1800">
                          <a:latin typeface="Arial" panose="020B0604020202020204" pitchFamily="34" charset="0"/>
                          <a:cs typeface="Arial" panose="020B0604020202020204" pitchFamily="34" charset="0"/>
                        </a:rPr>
                        <a:t>Target Data</a:t>
                      </a:r>
                    </a:p>
                  </a:txBody>
                  <a:tcPr/>
                </a:tc>
                <a:tc>
                  <a:txBody>
                    <a:bodyPr/>
                    <a:lstStyle/>
                    <a:p>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8635097"/>
                  </a:ext>
                </a:extLst>
              </a:tr>
            </a:tbl>
          </a:graphicData>
        </a:graphic>
      </p:graphicFrame>
      <p:sp>
        <p:nvSpPr>
          <p:cNvPr id="19" name="Isosceles Triangle 18">
            <a:extLst>
              <a:ext uri="{FF2B5EF4-FFF2-40B4-BE49-F238E27FC236}">
                <a16:creationId xmlns:a16="http://schemas.microsoft.com/office/drawing/2014/main" id="{1C43F0F8-F519-3536-1D9E-BF67EAA9D388}"/>
              </a:ext>
            </a:extLst>
          </p:cNvPr>
          <p:cNvSpPr/>
          <p:nvPr/>
        </p:nvSpPr>
        <p:spPr>
          <a:xfrm>
            <a:off x="11063826" y="641481"/>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3252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56BC7-4CC2-65DE-9BDB-8166DDDEFB8E}"/>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27C9A90-EEFD-CD32-AD9B-DBD5C72AA24A}"/>
              </a:ext>
            </a:extLst>
          </p:cNvPr>
          <p:cNvCxnSpPr/>
          <p:nvPr/>
        </p:nvCxnSpPr>
        <p:spPr>
          <a:xfrm>
            <a:off x="7701699" y="2163509"/>
            <a:ext cx="0" cy="4251489"/>
          </a:xfrm>
          <a:prstGeom prst="line">
            <a:avLst/>
          </a:prstGeom>
          <a:ln w="38100">
            <a:solidFill>
              <a:schemeClr val="tx1"/>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033FB5F0-9C45-B7B3-9735-AD470563E13D}"/>
              </a:ext>
            </a:extLst>
          </p:cNvPr>
          <p:cNvCxnSpPr>
            <a:cxnSpLocks/>
          </p:cNvCxnSpPr>
          <p:nvPr/>
        </p:nvCxnSpPr>
        <p:spPr>
          <a:xfrm flipV="1">
            <a:off x="329938" y="6414996"/>
            <a:ext cx="11217897" cy="2"/>
          </a:xfrm>
          <a:prstGeom prst="line">
            <a:avLst/>
          </a:prstGeom>
          <a:ln w="38100"/>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0ABD7D8E-5F5A-46CD-CB0A-F528CA57638E}"/>
              </a:ext>
            </a:extLst>
          </p:cNvPr>
          <p:cNvSpPr txBox="1"/>
          <p:nvPr/>
        </p:nvSpPr>
        <p:spPr>
          <a:xfrm>
            <a:off x="4388688" y="141391"/>
            <a:ext cx="2990182" cy="3170099"/>
          </a:xfrm>
          <a:prstGeom prst="rect">
            <a:avLst/>
          </a:prstGeom>
          <a:solidFill>
            <a:srgbClr val="F56600">
              <a:alpha val="10000"/>
            </a:srgbClr>
          </a:solidFill>
          <a:ln w="12700">
            <a:solidFill>
              <a:schemeClr val="tx1"/>
            </a:solidFill>
          </a:ln>
        </p:spPr>
        <p:txBody>
          <a:bodyPr wrap="square" rtlCol="0">
            <a:spAutoFit/>
          </a:bodyPr>
          <a:lstStyle/>
          <a:p>
            <a:pPr algn="ctr"/>
            <a:r>
              <a:rPr lang="en-US" sz="2000" b="1" u="sng" dirty="0">
                <a:latin typeface="Arial" panose="020B0604020202020204" pitchFamily="34" charset="0"/>
                <a:cs typeface="Arial" panose="020B0604020202020204" pitchFamily="34" charset="0"/>
              </a:rPr>
              <a:t>Auxiliary Data </a:t>
            </a:r>
            <a:endParaRPr lang="en-US" sz="2000" b="1"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Additional datasets incorporated as predictors or supporting variables in the model to enhance its predictive accuracy.</a:t>
            </a:r>
          </a:p>
          <a:p>
            <a:pPr algn="ctr"/>
            <a:endParaRPr lang="en-US" sz="2000" dirty="0">
              <a:latin typeface="Arial" panose="020B0604020202020204" pitchFamily="34" charset="0"/>
              <a:cs typeface="Arial" panose="020B0604020202020204" pitchFamily="34" charset="0"/>
            </a:endParaRPr>
          </a:p>
          <a:p>
            <a:pPr algn="ctr"/>
            <a:r>
              <a:rPr lang="en-US" sz="2000" dirty="0">
                <a:latin typeface="Arial" panose="020B0604020202020204" pitchFamily="34" charset="0"/>
                <a:cs typeface="Arial" panose="020B0604020202020204" pitchFamily="34" charset="0"/>
              </a:rPr>
              <a:t>Example: Wastewater RNA concentration</a:t>
            </a:r>
          </a:p>
        </p:txBody>
      </p:sp>
      <p:sp>
        <p:nvSpPr>
          <p:cNvPr id="4" name="Isosceles Triangle 3">
            <a:extLst>
              <a:ext uri="{FF2B5EF4-FFF2-40B4-BE49-F238E27FC236}">
                <a16:creationId xmlns:a16="http://schemas.microsoft.com/office/drawing/2014/main" id="{3A326029-3A10-B31B-A5B0-C41670E30D34}"/>
              </a:ext>
            </a:extLst>
          </p:cNvPr>
          <p:cNvSpPr/>
          <p:nvPr/>
        </p:nvSpPr>
        <p:spPr>
          <a:xfrm>
            <a:off x="1023554" y="355480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15D84BCA-4486-6388-67DB-DB87E59DB64F}"/>
              </a:ext>
            </a:extLst>
          </p:cNvPr>
          <p:cNvSpPr/>
          <p:nvPr/>
        </p:nvSpPr>
        <p:spPr>
          <a:xfrm>
            <a:off x="1486194" y="419934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5A98AD07-8117-102B-70D9-DB5B7AC6A3D2}"/>
              </a:ext>
            </a:extLst>
          </p:cNvPr>
          <p:cNvSpPr/>
          <p:nvPr/>
        </p:nvSpPr>
        <p:spPr>
          <a:xfrm>
            <a:off x="905248" y="413936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AA445B04-A99A-9083-7A28-2D4B9BF2614F}"/>
              </a:ext>
            </a:extLst>
          </p:cNvPr>
          <p:cNvSpPr/>
          <p:nvPr/>
        </p:nvSpPr>
        <p:spPr>
          <a:xfrm>
            <a:off x="1929980" y="455545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878A0809-1AAC-F875-5526-0DD71048CA16}"/>
              </a:ext>
            </a:extLst>
          </p:cNvPr>
          <p:cNvSpPr/>
          <p:nvPr/>
        </p:nvSpPr>
        <p:spPr>
          <a:xfrm>
            <a:off x="2089016" y="391453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615E8F21-93CB-9CF8-2DCE-A04142603E5C}"/>
              </a:ext>
            </a:extLst>
          </p:cNvPr>
          <p:cNvSpPr/>
          <p:nvPr/>
        </p:nvSpPr>
        <p:spPr>
          <a:xfrm>
            <a:off x="2434589" y="357712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EE6E1E58-CFD4-E146-5D3E-42E2E67AACA4}"/>
              </a:ext>
            </a:extLst>
          </p:cNvPr>
          <p:cNvSpPr/>
          <p:nvPr/>
        </p:nvSpPr>
        <p:spPr>
          <a:xfrm>
            <a:off x="543828" y="333600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BF5FDC7C-59B6-3D51-281C-33CBFD6B214E}"/>
              </a:ext>
            </a:extLst>
          </p:cNvPr>
          <p:cNvSpPr/>
          <p:nvPr/>
        </p:nvSpPr>
        <p:spPr>
          <a:xfrm>
            <a:off x="2190591" y="311459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B6132092-183D-F9A9-8AEB-4FF8267EB4D3}"/>
              </a:ext>
            </a:extLst>
          </p:cNvPr>
          <p:cNvSpPr/>
          <p:nvPr/>
        </p:nvSpPr>
        <p:spPr>
          <a:xfrm>
            <a:off x="2621238" y="283695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946B32E6-BA46-0867-B8ED-9C1113D2C6DE}"/>
              </a:ext>
            </a:extLst>
          </p:cNvPr>
          <p:cNvSpPr/>
          <p:nvPr/>
        </p:nvSpPr>
        <p:spPr>
          <a:xfrm>
            <a:off x="3121763" y="297411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22D26905-F5EB-676B-B896-2762A8833443}"/>
              </a:ext>
            </a:extLst>
          </p:cNvPr>
          <p:cNvSpPr/>
          <p:nvPr/>
        </p:nvSpPr>
        <p:spPr>
          <a:xfrm>
            <a:off x="3121763" y="347316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DBBEE76D-31E1-0C93-F2BC-AE2B912872CA}"/>
              </a:ext>
            </a:extLst>
          </p:cNvPr>
          <p:cNvSpPr/>
          <p:nvPr/>
        </p:nvSpPr>
        <p:spPr>
          <a:xfrm>
            <a:off x="3630743" y="361032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Explosion: 8 Points 18">
            <a:extLst>
              <a:ext uri="{FF2B5EF4-FFF2-40B4-BE49-F238E27FC236}">
                <a16:creationId xmlns:a16="http://schemas.microsoft.com/office/drawing/2014/main" id="{842B5071-3F40-554E-44C1-D4CABF906F81}"/>
              </a:ext>
            </a:extLst>
          </p:cNvPr>
          <p:cNvSpPr/>
          <p:nvPr/>
        </p:nvSpPr>
        <p:spPr>
          <a:xfrm>
            <a:off x="1519642" y="3797013"/>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0" name="Explosion: 8 Points 19">
            <a:extLst>
              <a:ext uri="{FF2B5EF4-FFF2-40B4-BE49-F238E27FC236}">
                <a16:creationId xmlns:a16="http://schemas.microsoft.com/office/drawing/2014/main" id="{5DDB01B4-42DC-41FB-9D2E-DB93CA1C6100}"/>
              </a:ext>
            </a:extLst>
          </p:cNvPr>
          <p:cNvSpPr/>
          <p:nvPr/>
        </p:nvSpPr>
        <p:spPr>
          <a:xfrm>
            <a:off x="2472297" y="389604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Explosion: 8 Points 20">
            <a:extLst>
              <a:ext uri="{FF2B5EF4-FFF2-40B4-BE49-F238E27FC236}">
                <a16:creationId xmlns:a16="http://schemas.microsoft.com/office/drawing/2014/main" id="{6541DD58-9C31-9BBB-CAEB-ADC7EE99F83F}"/>
              </a:ext>
            </a:extLst>
          </p:cNvPr>
          <p:cNvSpPr/>
          <p:nvPr/>
        </p:nvSpPr>
        <p:spPr>
          <a:xfrm>
            <a:off x="2021735" y="34441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Explosion: 8 Points 21">
            <a:extLst>
              <a:ext uri="{FF2B5EF4-FFF2-40B4-BE49-F238E27FC236}">
                <a16:creationId xmlns:a16="http://schemas.microsoft.com/office/drawing/2014/main" id="{93364416-9713-990B-69EC-F46022141A64}"/>
              </a:ext>
            </a:extLst>
          </p:cNvPr>
          <p:cNvSpPr/>
          <p:nvPr/>
        </p:nvSpPr>
        <p:spPr>
          <a:xfrm>
            <a:off x="2690055" y="325607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Explosion: 8 Points 22">
            <a:extLst>
              <a:ext uri="{FF2B5EF4-FFF2-40B4-BE49-F238E27FC236}">
                <a16:creationId xmlns:a16="http://schemas.microsoft.com/office/drawing/2014/main" id="{40132B2C-3766-32A3-37CF-B7E05CD87115}"/>
              </a:ext>
            </a:extLst>
          </p:cNvPr>
          <p:cNvSpPr/>
          <p:nvPr/>
        </p:nvSpPr>
        <p:spPr>
          <a:xfrm>
            <a:off x="2817788" y="251213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Explosion: 8 Points 36">
            <a:extLst>
              <a:ext uri="{FF2B5EF4-FFF2-40B4-BE49-F238E27FC236}">
                <a16:creationId xmlns:a16="http://schemas.microsoft.com/office/drawing/2014/main" id="{628B496B-A84E-A3BD-116E-5C51FE37AB8F}"/>
              </a:ext>
            </a:extLst>
          </p:cNvPr>
          <p:cNvSpPr/>
          <p:nvPr/>
        </p:nvSpPr>
        <p:spPr>
          <a:xfrm>
            <a:off x="3538803" y="329460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Explosion: 8 Points 59">
            <a:extLst>
              <a:ext uri="{FF2B5EF4-FFF2-40B4-BE49-F238E27FC236}">
                <a16:creationId xmlns:a16="http://schemas.microsoft.com/office/drawing/2014/main" id="{A16CD63D-00F5-3942-91A1-D31444302BF1}"/>
              </a:ext>
            </a:extLst>
          </p:cNvPr>
          <p:cNvSpPr/>
          <p:nvPr/>
        </p:nvSpPr>
        <p:spPr>
          <a:xfrm>
            <a:off x="3355936" y="402762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Explosion: 8 Points 60">
            <a:extLst>
              <a:ext uri="{FF2B5EF4-FFF2-40B4-BE49-F238E27FC236}">
                <a16:creationId xmlns:a16="http://schemas.microsoft.com/office/drawing/2014/main" id="{EC2963E0-A117-5924-809F-925B326D17D6}"/>
              </a:ext>
            </a:extLst>
          </p:cNvPr>
          <p:cNvSpPr/>
          <p:nvPr/>
        </p:nvSpPr>
        <p:spPr>
          <a:xfrm>
            <a:off x="1367888" y="4746987"/>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2" name="Explosion: 8 Points 61">
            <a:extLst>
              <a:ext uri="{FF2B5EF4-FFF2-40B4-BE49-F238E27FC236}">
                <a16:creationId xmlns:a16="http://schemas.microsoft.com/office/drawing/2014/main" id="{CA65E89E-6AF9-7C1B-1175-83D8A2E1B0C3}"/>
              </a:ext>
            </a:extLst>
          </p:cNvPr>
          <p:cNvSpPr/>
          <p:nvPr/>
        </p:nvSpPr>
        <p:spPr>
          <a:xfrm>
            <a:off x="3337400" y="453099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Explosion: 8 Points 62">
            <a:extLst>
              <a:ext uri="{FF2B5EF4-FFF2-40B4-BE49-F238E27FC236}">
                <a16:creationId xmlns:a16="http://schemas.microsoft.com/office/drawing/2014/main" id="{6C519C71-5529-6103-E027-B8799ADF4749}"/>
              </a:ext>
            </a:extLst>
          </p:cNvPr>
          <p:cNvSpPr/>
          <p:nvPr/>
        </p:nvSpPr>
        <p:spPr>
          <a:xfrm>
            <a:off x="4032940" y="461415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Explosion: 8 Points 63">
            <a:extLst>
              <a:ext uri="{FF2B5EF4-FFF2-40B4-BE49-F238E27FC236}">
                <a16:creationId xmlns:a16="http://schemas.microsoft.com/office/drawing/2014/main" id="{79AEFA6A-D43A-6942-F7F4-927548BA7928}"/>
              </a:ext>
            </a:extLst>
          </p:cNvPr>
          <p:cNvSpPr/>
          <p:nvPr/>
        </p:nvSpPr>
        <p:spPr>
          <a:xfrm>
            <a:off x="3777474" y="506478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Explosion: 8 Points 64">
            <a:extLst>
              <a:ext uri="{FF2B5EF4-FFF2-40B4-BE49-F238E27FC236}">
                <a16:creationId xmlns:a16="http://schemas.microsoft.com/office/drawing/2014/main" id="{EC430CDF-4E5E-51B6-6782-A1FA1D295DF9}"/>
              </a:ext>
            </a:extLst>
          </p:cNvPr>
          <p:cNvSpPr/>
          <p:nvPr/>
        </p:nvSpPr>
        <p:spPr>
          <a:xfrm>
            <a:off x="4391949" y="509096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Explosion: 8 Points 65">
            <a:extLst>
              <a:ext uri="{FF2B5EF4-FFF2-40B4-BE49-F238E27FC236}">
                <a16:creationId xmlns:a16="http://schemas.microsoft.com/office/drawing/2014/main" id="{CCC2CA12-B65C-83D6-6615-3DF474E7407E}"/>
              </a:ext>
            </a:extLst>
          </p:cNvPr>
          <p:cNvSpPr/>
          <p:nvPr/>
        </p:nvSpPr>
        <p:spPr>
          <a:xfrm>
            <a:off x="4959756" y="496547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Explosion: 8 Points 66">
            <a:extLst>
              <a:ext uri="{FF2B5EF4-FFF2-40B4-BE49-F238E27FC236}">
                <a16:creationId xmlns:a16="http://schemas.microsoft.com/office/drawing/2014/main" id="{48CA7DD7-CEDE-6F8F-D528-ACC29BA2287A}"/>
              </a:ext>
            </a:extLst>
          </p:cNvPr>
          <p:cNvSpPr/>
          <p:nvPr/>
        </p:nvSpPr>
        <p:spPr>
          <a:xfrm>
            <a:off x="4692349" y="442694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Explosion: 8 Points 67">
            <a:extLst>
              <a:ext uri="{FF2B5EF4-FFF2-40B4-BE49-F238E27FC236}">
                <a16:creationId xmlns:a16="http://schemas.microsoft.com/office/drawing/2014/main" id="{AB1E379A-32B3-951C-2ADB-94494EB9A652}"/>
              </a:ext>
            </a:extLst>
          </p:cNvPr>
          <p:cNvSpPr/>
          <p:nvPr/>
        </p:nvSpPr>
        <p:spPr>
          <a:xfrm>
            <a:off x="5272722" y="4398160"/>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Explosion: 8 Points 68">
            <a:extLst>
              <a:ext uri="{FF2B5EF4-FFF2-40B4-BE49-F238E27FC236}">
                <a16:creationId xmlns:a16="http://schemas.microsoft.com/office/drawing/2014/main" id="{8FAACF5B-3244-1FEC-D079-603859874EE5}"/>
              </a:ext>
            </a:extLst>
          </p:cNvPr>
          <p:cNvSpPr/>
          <p:nvPr/>
        </p:nvSpPr>
        <p:spPr>
          <a:xfrm>
            <a:off x="4967697" y="3789303"/>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Explosion: 8 Points 69">
            <a:extLst>
              <a:ext uri="{FF2B5EF4-FFF2-40B4-BE49-F238E27FC236}">
                <a16:creationId xmlns:a16="http://schemas.microsoft.com/office/drawing/2014/main" id="{CA9A4C12-A0A9-B38D-CDBB-ACC66ACD5ED3}"/>
              </a:ext>
            </a:extLst>
          </p:cNvPr>
          <p:cNvSpPr/>
          <p:nvPr/>
        </p:nvSpPr>
        <p:spPr>
          <a:xfrm>
            <a:off x="5572664" y="372655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Explosion: 8 Points 70">
            <a:extLst>
              <a:ext uri="{FF2B5EF4-FFF2-40B4-BE49-F238E27FC236}">
                <a16:creationId xmlns:a16="http://schemas.microsoft.com/office/drawing/2014/main" id="{3B2E156D-9F56-4DDD-56DC-582F1116464F}"/>
              </a:ext>
            </a:extLst>
          </p:cNvPr>
          <p:cNvSpPr/>
          <p:nvPr/>
        </p:nvSpPr>
        <p:spPr>
          <a:xfrm>
            <a:off x="6244944" y="389989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Explosion: 8 Points 71">
            <a:extLst>
              <a:ext uri="{FF2B5EF4-FFF2-40B4-BE49-F238E27FC236}">
                <a16:creationId xmlns:a16="http://schemas.microsoft.com/office/drawing/2014/main" id="{BC11D335-1BC2-D22C-B546-2068DB9F5A45}"/>
              </a:ext>
            </a:extLst>
          </p:cNvPr>
          <p:cNvSpPr/>
          <p:nvPr/>
        </p:nvSpPr>
        <p:spPr>
          <a:xfrm>
            <a:off x="1832408" y="401835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Explosion: 8 Points 72">
            <a:extLst>
              <a:ext uri="{FF2B5EF4-FFF2-40B4-BE49-F238E27FC236}">
                <a16:creationId xmlns:a16="http://schemas.microsoft.com/office/drawing/2014/main" id="{B4B15073-BD68-6B89-F02C-FCD0A9884B68}"/>
              </a:ext>
            </a:extLst>
          </p:cNvPr>
          <p:cNvSpPr/>
          <p:nvPr/>
        </p:nvSpPr>
        <p:spPr>
          <a:xfrm>
            <a:off x="6124066" y="45087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Explosion: 8 Points 73">
            <a:extLst>
              <a:ext uri="{FF2B5EF4-FFF2-40B4-BE49-F238E27FC236}">
                <a16:creationId xmlns:a16="http://schemas.microsoft.com/office/drawing/2014/main" id="{5FE27BFE-6D66-9A3D-E6C6-26AA79C54BB2}"/>
              </a:ext>
            </a:extLst>
          </p:cNvPr>
          <p:cNvSpPr/>
          <p:nvPr/>
        </p:nvSpPr>
        <p:spPr>
          <a:xfrm>
            <a:off x="6754975" y="478381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Explosion: 8 Points 74">
            <a:extLst>
              <a:ext uri="{FF2B5EF4-FFF2-40B4-BE49-F238E27FC236}">
                <a16:creationId xmlns:a16="http://schemas.microsoft.com/office/drawing/2014/main" id="{FE3118B3-BB0D-6303-F1FF-03A8DBFC51E8}"/>
              </a:ext>
            </a:extLst>
          </p:cNvPr>
          <p:cNvSpPr/>
          <p:nvPr/>
        </p:nvSpPr>
        <p:spPr>
          <a:xfrm>
            <a:off x="6646252" y="5515413"/>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Explosion: 8 Points 75">
            <a:extLst>
              <a:ext uri="{FF2B5EF4-FFF2-40B4-BE49-F238E27FC236}">
                <a16:creationId xmlns:a16="http://schemas.microsoft.com/office/drawing/2014/main" id="{7095C8F8-41DA-8F9E-1048-DB246F58BE97}"/>
              </a:ext>
            </a:extLst>
          </p:cNvPr>
          <p:cNvSpPr/>
          <p:nvPr/>
        </p:nvSpPr>
        <p:spPr>
          <a:xfrm>
            <a:off x="7322782" y="45087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Arrow Connector 76">
            <a:extLst>
              <a:ext uri="{FF2B5EF4-FFF2-40B4-BE49-F238E27FC236}">
                <a16:creationId xmlns:a16="http://schemas.microsoft.com/office/drawing/2014/main" id="{031F2E3F-8599-EC1B-1F08-F01399330DF4}"/>
              </a:ext>
            </a:extLst>
          </p:cNvPr>
          <p:cNvCxnSpPr>
            <a:cxnSpLocks/>
            <a:stCxn id="3" idx="1"/>
            <a:endCxn id="23" idx="0"/>
          </p:cNvCxnSpPr>
          <p:nvPr/>
        </p:nvCxnSpPr>
        <p:spPr>
          <a:xfrm flipH="1">
            <a:off x="2989542" y="1726441"/>
            <a:ext cx="1399146" cy="785695"/>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8" name="Isosceles Triangle 77">
            <a:extLst>
              <a:ext uri="{FF2B5EF4-FFF2-40B4-BE49-F238E27FC236}">
                <a16:creationId xmlns:a16="http://schemas.microsoft.com/office/drawing/2014/main" id="{23877018-8F40-0BA5-1414-3295836CF470}"/>
              </a:ext>
            </a:extLst>
          </p:cNvPr>
          <p:cNvSpPr/>
          <p:nvPr/>
        </p:nvSpPr>
        <p:spPr>
          <a:xfrm>
            <a:off x="3598703" y="412153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Isosceles Triangle 78">
            <a:extLst>
              <a:ext uri="{FF2B5EF4-FFF2-40B4-BE49-F238E27FC236}">
                <a16:creationId xmlns:a16="http://schemas.microsoft.com/office/drawing/2014/main" id="{54855A7B-C4CC-4838-CC59-B014DFBB22F8}"/>
              </a:ext>
            </a:extLst>
          </p:cNvPr>
          <p:cNvSpPr/>
          <p:nvPr/>
        </p:nvSpPr>
        <p:spPr>
          <a:xfrm>
            <a:off x="5142053" y="464803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Isosceles Triangle 79">
            <a:extLst>
              <a:ext uri="{FF2B5EF4-FFF2-40B4-BE49-F238E27FC236}">
                <a16:creationId xmlns:a16="http://schemas.microsoft.com/office/drawing/2014/main" id="{8076F34E-1441-272B-4863-A290C69AB485}"/>
              </a:ext>
            </a:extLst>
          </p:cNvPr>
          <p:cNvSpPr/>
          <p:nvPr/>
        </p:nvSpPr>
        <p:spPr>
          <a:xfrm>
            <a:off x="3618159" y="465436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Isosceles Triangle 80">
            <a:extLst>
              <a:ext uri="{FF2B5EF4-FFF2-40B4-BE49-F238E27FC236}">
                <a16:creationId xmlns:a16="http://schemas.microsoft.com/office/drawing/2014/main" id="{1F737297-7553-AADD-6770-6E07EDECC787}"/>
              </a:ext>
            </a:extLst>
          </p:cNvPr>
          <p:cNvSpPr/>
          <p:nvPr/>
        </p:nvSpPr>
        <p:spPr>
          <a:xfrm>
            <a:off x="4285925" y="471263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Isosceles Triangle 81">
            <a:extLst>
              <a:ext uri="{FF2B5EF4-FFF2-40B4-BE49-F238E27FC236}">
                <a16:creationId xmlns:a16="http://schemas.microsoft.com/office/drawing/2014/main" id="{E016A963-93CA-A74C-FB56-0FA37DDF5DFA}"/>
              </a:ext>
            </a:extLst>
          </p:cNvPr>
          <p:cNvSpPr/>
          <p:nvPr/>
        </p:nvSpPr>
        <p:spPr>
          <a:xfrm>
            <a:off x="4038243" y="5165503"/>
            <a:ext cx="274320" cy="26448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04C21C4A-99EB-5C65-F65F-427C5F5429D1}"/>
              </a:ext>
            </a:extLst>
          </p:cNvPr>
          <p:cNvSpPr/>
          <p:nvPr/>
        </p:nvSpPr>
        <p:spPr>
          <a:xfrm>
            <a:off x="4685436" y="504948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Isosceles Triangle 83">
            <a:extLst>
              <a:ext uri="{FF2B5EF4-FFF2-40B4-BE49-F238E27FC236}">
                <a16:creationId xmlns:a16="http://schemas.microsoft.com/office/drawing/2014/main" id="{FCAA5781-872D-FFA5-2E4C-EA8997E8B909}"/>
              </a:ext>
            </a:extLst>
          </p:cNvPr>
          <p:cNvSpPr/>
          <p:nvPr/>
        </p:nvSpPr>
        <p:spPr>
          <a:xfrm>
            <a:off x="4966669" y="421499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Isosceles Triangle 84">
            <a:extLst>
              <a:ext uri="{FF2B5EF4-FFF2-40B4-BE49-F238E27FC236}">
                <a16:creationId xmlns:a16="http://schemas.microsoft.com/office/drawing/2014/main" id="{46920DAD-5504-723A-5278-6C486266B105}"/>
              </a:ext>
            </a:extLst>
          </p:cNvPr>
          <p:cNvSpPr/>
          <p:nvPr/>
        </p:nvSpPr>
        <p:spPr>
          <a:xfrm>
            <a:off x="5377644" y="3956931"/>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Isosceles Triangle 85">
            <a:extLst>
              <a:ext uri="{FF2B5EF4-FFF2-40B4-BE49-F238E27FC236}">
                <a16:creationId xmlns:a16="http://schemas.microsoft.com/office/drawing/2014/main" id="{B72F01E8-5553-C4A7-C4B4-A4CC5CBBD8D5}"/>
              </a:ext>
            </a:extLst>
          </p:cNvPr>
          <p:cNvSpPr/>
          <p:nvPr/>
        </p:nvSpPr>
        <p:spPr>
          <a:xfrm>
            <a:off x="5215222" y="350186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Isosceles Triangle 86">
            <a:extLst>
              <a:ext uri="{FF2B5EF4-FFF2-40B4-BE49-F238E27FC236}">
                <a16:creationId xmlns:a16="http://schemas.microsoft.com/office/drawing/2014/main" id="{83825930-9B08-FD28-ADC3-36252FB0973C}"/>
              </a:ext>
            </a:extLst>
          </p:cNvPr>
          <p:cNvSpPr/>
          <p:nvPr/>
        </p:nvSpPr>
        <p:spPr>
          <a:xfrm>
            <a:off x="5848319" y="350194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Isosceles Triangle 87">
            <a:extLst>
              <a:ext uri="{FF2B5EF4-FFF2-40B4-BE49-F238E27FC236}">
                <a16:creationId xmlns:a16="http://schemas.microsoft.com/office/drawing/2014/main" id="{E1106829-A20A-E1E3-A65A-A36F8DABF35F}"/>
              </a:ext>
            </a:extLst>
          </p:cNvPr>
          <p:cNvSpPr/>
          <p:nvPr/>
        </p:nvSpPr>
        <p:spPr>
          <a:xfrm>
            <a:off x="7339693" y="401897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Isosceles Triangle 88">
            <a:extLst>
              <a:ext uri="{FF2B5EF4-FFF2-40B4-BE49-F238E27FC236}">
                <a16:creationId xmlns:a16="http://schemas.microsoft.com/office/drawing/2014/main" id="{26BBE9A3-2CB8-C73C-0203-E94998AD50C5}"/>
              </a:ext>
            </a:extLst>
          </p:cNvPr>
          <p:cNvSpPr/>
          <p:nvPr/>
        </p:nvSpPr>
        <p:spPr>
          <a:xfrm>
            <a:off x="5806445" y="408374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Isosceles Triangle 89">
            <a:extLst>
              <a:ext uri="{FF2B5EF4-FFF2-40B4-BE49-F238E27FC236}">
                <a16:creationId xmlns:a16="http://schemas.microsoft.com/office/drawing/2014/main" id="{AF1B18FB-3302-621C-CFA0-2D842A361850}"/>
              </a:ext>
            </a:extLst>
          </p:cNvPr>
          <p:cNvSpPr/>
          <p:nvPr/>
        </p:nvSpPr>
        <p:spPr>
          <a:xfrm>
            <a:off x="6276747" y="416046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35BD0BBB-5EB7-DF0A-CADB-10C99213A50B}"/>
              </a:ext>
            </a:extLst>
          </p:cNvPr>
          <p:cNvSpPr/>
          <p:nvPr/>
        </p:nvSpPr>
        <p:spPr>
          <a:xfrm>
            <a:off x="6276747" y="484979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Isosceles Triangle 91">
            <a:extLst>
              <a:ext uri="{FF2B5EF4-FFF2-40B4-BE49-F238E27FC236}">
                <a16:creationId xmlns:a16="http://schemas.microsoft.com/office/drawing/2014/main" id="{326E9DCC-BD8C-F302-B01D-C3A6114798D3}"/>
              </a:ext>
            </a:extLst>
          </p:cNvPr>
          <p:cNvSpPr/>
          <p:nvPr/>
        </p:nvSpPr>
        <p:spPr>
          <a:xfrm>
            <a:off x="6535655" y="451087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Isosceles Triangle 92">
            <a:extLst>
              <a:ext uri="{FF2B5EF4-FFF2-40B4-BE49-F238E27FC236}">
                <a16:creationId xmlns:a16="http://schemas.microsoft.com/office/drawing/2014/main" id="{1763DB52-7AC3-E09A-6C6B-260F6BFB711C}"/>
              </a:ext>
            </a:extLst>
          </p:cNvPr>
          <p:cNvSpPr/>
          <p:nvPr/>
        </p:nvSpPr>
        <p:spPr>
          <a:xfrm>
            <a:off x="6773985" y="513623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Isosceles Triangle 93">
            <a:extLst>
              <a:ext uri="{FF2B5EF4-FFF2-40B4-BE49-F238E27FC236}">
                <a16:creationId xmlns:a16="http://schemas.microsoft.com/office/drawing/2014/main" id="{A06A645F-BE3F-2977-DE71-5CC44EA606E8}"/>
              </a:ext>
            </a:extLst>
          </p:cNvPr>
          <p:cNvSpPr/>
          <p:nvPr/>
        </p:nvSpPr>
        <p:spPr>
          <a:xfrm>
            <a:off x="7183292" y="498139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a:extLst>
              <a:ext uri="{FF2B5EF4-FFF2-40B4-BE49-F238E27FC236}">
                <a16:creationId xmlns:a16="http://schemas.microsoft.com/office/drawing/2014/main" id="{B24AE92E-E2F2-1789-4E2E-B050F3B54B92}"/>
              </a:ext>
            </a:extLst>
          </p:cNvPr>
          <p:cNvSpPr/>
          <p:nvPr/>
        </p:nvSpPr>
        <p:spPr>
          <a:xfrm>
            <a:off x="7385453" y="531850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a:extLst>
              <a:ext uri="{FF2B5EF4-FFF2-40B4-BE49-F238E27FC236}">
                <a16:creationId xmlns:a16="http://schemas.microsoft.com/office/drawing/2014/main" id="{BEFCB92C-CF42-FE42-90C8-BDAD33E04308}"/>
              </a:ext>
            </a:extLst>
          </p:cNvPr>
          <p:cNvSpPr/>
          <p:nvPr/>
        </p:nvSpPr>
        <p:spPr>
          <a:xfrm>
            <a:off x="6920572" y="570485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0" name="Straight Arrow Connector 99">
            <a:extLst>
              <a:ext uri="{FF2B5EF4-FFF2-40B4-BE49-F238E27FC236}">
                <a16:creationId xmlns:a16="http://schemas.microsoft.com/office/drawing/2014/main" id="{56E7DDD6-77E2-EB72-A6FC-F2E2C778ED35}"/>
              </a:ext>
            </a:extLst>
          </p:cNvPr>
          <p:cNvCxnSpPr>
            <a:cxnSpLocks/>
            <a:stCxn id="3" idx="2"/>
            <a:endCxn id="76" idx="1"/>
          </p:cNvCxnSpPr>
          <p:nvPr/>
        </p:nvCxnSpPr>
        <p:spPr>
          <a:xfrm>
            <a:off x="5883779" y="3311490"/>
            <a:ext cx="1439003" cy="1303186"/>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graphicFrame>
        <p:nvGraphicFramePr>
          <p:cNvPr id="7" name="Table 6">
            <a:extLst>
              <a:ext uri="{FF2B5EF4-FFF2-40B4-BE49-F238E27FC236}">
                <a16:creationId xmlns:a16="http://schemas.microsoft.com/office/drawing/2014/main" id="{8E1645D7-C641-0D3E-62B2-43EC8B619248}"/>
              </a:ext>
            </a:extLst>
          </p:cNvPr>
          <p:cNvGraphicFramePr>
            <a:graphicFrameLocks noGrp="1"/>
          </p:cNvGraphicFramePr>
          <p:nvPr>
            <p:extLst>
              <p:ext uri="{D42A27DB-BD31-4B8C-83A1-F6EECF244321}">
                <p14:modId xmlns:p14="http://schemas.microsoft.com/office/powerpoint/2010/main" val="1966284098"/>
              </p:ext>
            </p:extLst>
          </p:nvPr>
        </p:nvGraphicFramePr>
        <p:xfrm>
          <a:off x="8684600" y="219456"/>
          <a:ext cx="2990183" cy="1112520"/>
        </p:xfrm>
        <a:graphic>
          <a:graphicData uri="http://schemas.openxmlformats.org/drawingml/2006/table">
            <a:tbl>
              <a:tblPr firstRow="1" bandRow="1">
                <a:tableStyleId>{5940675A-B579-460E-94D1-54222C63F5DA}</a:tableStyleId>
              </a:tblPr>
              <a:tblGrid>
                <a:gridCol w="2088353">
                  <a:extLst>
                    <a:ext uri="{9D8B030D-6E8A-4147-A177-3AD203B41FA5}">
                      <a16:colId xmlns:a16="http://schemas.microsoft.com/office/drawing/2014/main" val="4209011268"/>
                    </a:ext>
                  </a:extLst>
                </a:gridCol>
                <a:gridCol w="901830">
                  <a:extLst>
                    <a:ext uri="{9D8B030D-6E8A-4147-A177-3AD203B41FA5}">
                      <a16:colId xmlns:a16="http://schemas.microsoft.com/office/drawing/2014/main" val="2651714445"/>
                    </a:ext>
                  </a:extLst>
                </a:gridCol>
              </a:tblGrid>
              <a:tr h="370840">
                <a:tc gridSpan="2">
                  <a:txBody>
                    <a:bodyPr/>
                    <a:lstStyle/>
                    <a:p>
                      <a:pPr algn="ctr"/>
                      <a:r>
                        <a:rPr lang="en-US" sz="1800" b="1" dirty="0">
                          <a:latin typeface="Arial" panose="020B0604020202020204" pitchFamily="34" charset="0"/>
                          <a:cs typeface="Arial" panose="020B0604020202020204" pitchFamily="34" charset="0"/>
                        </a:rPr>
                        <a:t>Legend</a:t>
                      </a:r>
                    </a:p>
                  </a:txBody>
                  <a:tcPr>
                    <a:solidFill>
                      <a:schemeClr val="bg2"/>
                    </a:solidFill>
                  </a:tcPr>
                </a:tc>
                <a:tc hMerge="1">
                  <a:txBody>
                    <a:bodyPr/>
                    <a:lstStyle/>
                    <a:p>
                      <a:endParaRPr lang="en-US"/>
                    </a:p>
                  </a:txBody>
                  <a:tcPr/>
                </a:tc>
                <a:extLst>
                  <a:ext uri="{0D108BD9-81ED-4DB2-BD59-A6C34878D82A}">
                    <a16:rowId xmlns:a16="http://schemas.microsoft.com/office/drawing/2014/main" val="2697691273"/>
                  </a:ext>
                </a:extLst>
              </a:tr>
              <a:tr h="370840">
                <a:tc>
                  <a:txBody>
                    <a:bodyPr/>
                    <a:lstStyle/>
                    <a:p>
                      <a:r>
                        <a:rPr lang="en-US" sz="1800">
                          <a:latin typeface="Arial" panose="020B0604020202020204" pitchFamily="34" charset="0"/>
                          <a:cs typeface="Arial" panose="020B0604020202020204" pitchFamily="34" charset="0"/>
                        </a:rPr>
                        <a:t>Target Data</a:t>
                      </a:r>
                    </a:p>
                  </a:txBody>
                  <a:tcPr/>
                </a:tc>
                <a:tc>
                  <a:txBody>
                    <a:bodyPr/>
                    <a:lstStyle/>
                    <a:p>
                      <a:endParaRPr lang="en-US" sz="1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8635097"/>
                  </a:ext>
                </a:extLst>
              </a:tr>
              <a:tr h="370840">
                <a:tc>
                  <a:txBody>
                    <a:bodyPr/>
                    <a:lstStyle/>
                    <a:p>
                      <a:r>
                        <a:rPr lang="en-US" sz="1800">
                          <a:latin typeface="Arial" panose="020B0604020202020204" pitchFamily="34" charset="0"/>
                          <a:cs typeface="Arial" panose="020B0604020202020204" pitchFamily="34" charset="0"/>
                        </a:rPr>
                        <a:t>Auxiliary Data</a:t>
                      </a:r>
                    </a:p>
                  </a:txBody>
                  <a:tcPr/>
                </a:tc>
                <a:tc>
                  <a:txBody>
                    <a:bodyPr/>
                    <a:lstStyle/>
                    <a:p>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47669380"/>
                  </a:ext>
                </a:extLst>
              </a:tr>
            </a:tbl>
          </a:graphicData>
        </a:graphic>
      </p:graphicFrame>
      <p:sp>
        <p:nvSpPr>
          <p:cNvPr id="25" name="Isosceles Triangle 24">
            <a:extLst>
              <a:ext uri="{FF2B5EF4-FFF2-40B4-BE49-F238E27FC236}">
                <a16:creationId xmlns:a16="http://schemas.microsoft.com/office/drawing/2014/main" id="{C4801B09-3882-C0D8-905F-4B908AE7F7C9}"/>
              </a:ext>
            </a:extLst>
          </p:cNvPr>
          <p:cNvSpPr/>
          <p:nvPr/>
        </p:nvSpPr>
        <p:spPr>
          <a:xfrm>
            <a:off x="11063826" y="641481"/>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Explosion: 8 Points 26">
            <a:extLst>
              <a:ext uri="{FF2B5EF4-FFF2-40B4-BE49-F238E27FC236}">
                <a16:creationId xmlns:a16="http://schemas.microsoft.com/office/drawing/2014/main" id="{670F1429-6FCB-BEDF-9A78-CE7046786FEE}"/>
              </a:ext>
            </a:extLst>
          </p:cNvPr>
          <p:cNvSpPr/>
          <p:nvPr/>
        </p:nvSpPr>
        <p:spPr>
          <a:xfrm>
            <a:off x="11077332" y="103393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8938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32699-69B1-181B-ABD6-D577CE2BCCC6}"/>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C322995-3617-5830-0E9B-03D60F16D7D9}"/>
              </a:ext>
            </a:extLst>
          </p:cNvPr>
          <p:cNvCxnSpPr/>
          <p:nvPr/>
        </p:nvCxnSpPr>
        <p:spPr>
          <a:xfrm>
            <a:off x="7701699" y="2163509"/>
            <a:ext cx="0" cy="4251489"/>
          </a:xfrm>
          <a:prstGeom prst="line">
            <a:avLst/>
          </a:prstGeom>
          <a:ln w="38100">
            <a:solidFill>
              <a:schemeClr val="tx1"/>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7157756C-C2CA-5E01-863A-72D459E0B18F}"/>
              </a:ext>
            </a:extLst>
          </p:cNvPr>
          <p:cNvCxnSpPr>
            <a:cxnSpLocks/>
          </p:cNvCxnSpPr>
          <p:nvPr/>
        </p:nvCxnSpPr>
        <p:spPr>
          <a:xfrm flipV="1">
            <a:off x="329938" y="6414996"/>
            <a:ext cx="11217897" cy="2"/>
          </a:xfrm>
          <a:prstGeom prst="line">
            <a:avLst/>
          </a:prstGeom>
          <a:ln w="38100"/>
        </p:spPr>
        <p:style>
          <a:lnRef idx="2">
            <a:schemeClr val="dk1"/>
          </a:lnRef>
          <a:fillRef idx="0">
            <a:schemeClr val="dk1"/>
          </a:fillRef>
          <a:effectRef idx="1">
            <a:schemeClr val="dk1"/>
          </a:effectRef>
          <a:fontRef idx="minor">
            <a:schemeClr val="tx1"/>
          </a:fontRef>
        </p:style>
      </p:cxnSp>
      <p:sp>
        <p:nvSpPr>
          <p:cNvPr id="18" name="Freeform: Shape 17">
            <a:extLst>
              <a:ext uri="{FF2B5EF4-FFF2-40B4-BE49-F238E27FC236}">
                <a16:creationId xmlns:a16="http://schemas.microsoft.com/office/drawing/2014/main" id="{C2519B3A-E29A-DD8B-60BB-2D85B57882C0}"/>
              </a:ext>
            </a:extLst>
          </p:cNvPr>
          <p:cNvSpPr/>
          <p:nvPr/>
        </p:nvSpPr>
        <p:spPr>
          <a:xfrm>
            <a:off x="612742" y="2864115"/>
            <a:ext cx="7070103" cy="2651298"/>
          </a:xfrm>
          <a:custGeom>
            <a:avLst/>
            <a:gdLst>
              <a:gd name="connsiteX0" fmla="*/ 0 w 7070103"/>
              <a:gd name="connsiteY0" fmla="*/ 176086 h 2651298"/>
              <a:gd name="connsiteX1" fmla="*/ 1150070 w 7070103"/>
              <a:gd name="connsiteY1" fmla="*/ 1854057 h 2651298"/>
              <a:gd name="connsiteX2" fmla="*/ 2366128 w 7070103"/>
              <a:gd name="connsiteY2" fmla="*/ 6403 h 2651298"/>
              <a:gd name="connsiteX3" fmla="*/ 3817856 w 7070103"/>
              <a:gd name="connsiteY3" fmla="*/ 2645909 h 2651298"/>
              <a:gd name="connsiteX4" fmla="*/ 5071621 w 7070103"/>
              <a:gd name="connsiteY4" fmla="*/ 741694 h 2651298"/>
              <a:gd name="connsiteX5" fmla="*/ 6381946 w 7070103"/>
              <a:gd name="connsiteY5" fmla="*/ 2532787 h 2651298"/>
              <a:gd name="connsiteX6" fmla="*/ 7070103 w 7070103"/>
              <a:gd name="connsiteY6" fmla="*/ 1552399 h 2651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70103" h="2651298">
                <a:moveTo>
                  <a:pt x="0" y="176086"/>
                </a:moveTo>
                <a:cubicBezTo>
                  <a:pt x="377857" y="1029212"/>
                  <a:pt x="755715" y="1882338"/>
                  <a:pt x="1150070" y="1854057"/>
                </a:cubicBezTo>
                <a:cubicBezTo>
                  <a:pt x="1544425" y="1825777"/>
                  <a:pt x="1921497" y="-125572"/>
                  <a:pt x="2366128" y="6403"/>
                </a:cubicBezTo>
                <a:cubicBezTo>
                  <a:pt x="2810759" y="138378"/>
                  <a:pt x="3366941" y="2523361"/>
                  <a:pt x="3817856" y="2645909"/>
                </a:cubicBezTo>
                <a:cubicBezTo>
                  <a:pt x="4268772" y="2768458"/>
                  <a:pt x="4644273" y="760548"/>
                  <a:pt x="5071621" y="741694"/>
                </a:cubicBezTo>
                <a:cubicBezTo>
                  <a:pt x="5498969" y="722840"/>
                  <a:pt x="6048866" y="2397670"/>
                  <a:pt x="6381946" y="2532787"/>
                </a:cubicBezTo>
                <a:cubicBezTo>
                  <a:pt x="6715026" y="2667905"/>
                  <a:pt x="6892564" y="2110152"/>
                  <a:pt x="7070103" y="1552399"/>
                </a:cubicBezTo>
              </a:path>
            </a:pathLst>
          </a:custGeom>
          <a:noFill/>
          <a:ln w="38100">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11083E3D-ED20-786A-A09E-EBA97461FFB5}"/>
              </a:ext>
            </a:extLst>
          </p:cNvPr>
          <p:cNvSpPr/>
          <p:nvPr/>
        </p:nvSpPr>
        <p:spPr>
          <a:xfrm>
            <a:off x="1023554" y="355480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24">
            <a:extLst>
              <a:ext uri="{FF2B5EF4-FFF2-40B4-BE49-F238E27FC236}">
                <a16:creationId xmlns:a16="http://schemas.microsoft.com/office/drawing/2014/main" id="{B473F19D-5F07-0C44-D2BC-B02BF6F4077E}"/>
              </a:ext>
            </a:extLst>
          </p:cNvPr>
          <p:cNvSpPr/>
          <p:nvPr/>
        </p:nvSpPr>
        <p:spPr>
          <a:xfrm>
            <a:off x="1486194" y="419934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160FEAC6-34A2-35B3-7615-792484ACBFF4}"/>
              </a:ext>
            </a:extLst>
          </p:cNvPr>
          <p:cNvSpPr/>
          <p:nvPr/>
        </p:nvSpPr>
        <p:spPr>
          <a:xfrm>
            <a:off x="905248" y="413936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2C77FEF5-FAF1-A2D6-D37C-ED86DA34EAD6}"/>
              </a:ext>
            </a:extLst>
          </p:cNvPr>
          <p:cNvSpPr/>
          <p:nvPr/>
        </p:nvSpPr>
        <p:spPr>
          <a:xfrm>
            <a:off x="1929980" y="455545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a:extLst>
              <a:ext uri="{FF2B5EF4-FFF2-40B4-BE49-F238E27FC236}">
                <a16:creationId xmlns:a16="http://schemas.microsoft.com/office/drawing/2014/main" id="{4939D55E-EF53-D31F-F5C3-9BCD27415FBF}"/>
              </a:ext>
            </a:extLst>
          </p:cNvPr>
          <p:cNvSpPr/>
          <p:nvPr/>
        </p:nvSpPr>
        <p:spPr>
          <a:xfrm>
            <a:off x="2089016" y="391453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06403B96-DFB3-D0AD-BA87-892D9AC50B5A}"/>
              </a:ext>
            </a:extLst>
          </p:cNvPr>
          <p:cNvSpPr/>
          <p:nvPr/>
        </p:nvSpPr>
        <p:spPr>
          <a:xfrm>
            <a:off x="2434589" y="357712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419D4DB2-D5CC-346B-FF7E-6BDFB90F23AA}"/>
              </a:ext>
            </a:extLst>
          </p:cNvPr>
          <p:cNvSpPr/>
          <p:nvPr/>
        </p:nvSpPr>
        <p:spPr>
          <a:xfrm>
            <a:off x="543828" y="333600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Isosceles Triangle 30">
            <a:extLst>
              <a:ext uri="{FF2B5EF4-FFF2-40B4-BE49-F238E27FC236}">
                <a16:creationId xmlns:a16="http://schemas.microsoft.com/office/drawing/2014/main" id="{ACDFA974-7C99-4576-592E-84C59FD64F78}"/>
              </a:ext>
            </a:extLst>
          </p:cNvPr>
          <p:cNvSpPr/>
          <p:nvPr/>
        </p:nvSpPr>
        <p:spPr>
          <a:xfrm>
            <a:off x="2190591" y="311459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AB9E4968-EC6D-2C07-5349-83AAEB5932F3}"/>
              </a:ext>
            </a:extLst>
          </p:cNvPr>
          <p:cNvSpPr/>
          <p:nvPr/>
        </p:nvSpPr>
        <p:spPr>
          <a:xfrm>
            <a:off x="2621238" y="283695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1E39ACC7-24A7-3DA5-EAD8-F34E068FEB76}"/>
              </a:ext>
            </a:extLst>
          </p:cNvPr>
          <p:cNvSpPr/>
          <p:nvPr/>
        </p:nvSpPr>
        <p:spPr>
          <a:xfrm>
            <a:off x="3121763" y="297411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a:extLst>
              <a:ext uri="{FF2B5EF4-FFF2-40B4-BE49-F238E27FC236}">
                <a16:creationId xmlns:a16="http://schemas.microsoft.com/office/drawing/2014/main" id="{925A72AB-8D44-39BF-3F56-C6C2F9EC43BF}"/>
              </a:ext>
            </a:extLst>
          </p:cNvPr>
          <p:cNvSpPr/>
          <p:nvPr/>
        </p:nvSpPr>
        <p:spPr>
          <a:xfrm>
            <a:off x="3121763" y="347316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C4AD1FFF-31D1-9E51-02DE-38216FBF56FA}"/>
              </a:ext>
            </a:extLst>
          </p:cNvPr>
          <p:cNvSpPr/>
          <p:nvPr/>
        </p:nvSpPr>
        <p:spPr>
          <a:xfrm>
            <a:off x="3630743" y="361032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Explosion: 8 Points 35">
            <a:extLst>
              <a:ext uri="{FF2B5EF4-FFF2-40B4-BE49-F238E27FC236}">
                <a16:creationId xmlns:a16="http://schemas.microsoft.com/office/drawing/2014/main" id="{2B27064B-9D16-1F47-FF08-14F1F0D709C0}"/>
              </a:ext>
            </a:extLst>
          </p:cNvPr>
          <p:cNvSpPr/>
          <p:nvPr/>
        </p:nvSpPr>
        <p:spPr>
          <a:xfrm>
            <a:off x="1519642" y="3797013"/>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8" name="Explosion: 8 Points 37">
            <a:extLst>
              <a:ext uri="{FF2B5EF4-FFF2-40B4-BE49-F238E27FC236}">
                <a16:creationId xmlns:a16="http://schemas.microsoft.com/office/drawing/2014/main" id="{66612A89-5944-2A0B-3FB8-54AD8D505D9F}"/>
              </a:ext>
            </a:extLst>
          </p:cNvPr>
          <p:cNvSpPr/>
          <p:nvPr/>
        </p:nvSpPr>
        <p:spPr>
          <a:xfrm>
            <a:off x="2472297" y="389604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Explosion: 8 Points 38">
            <a:extLst>
              <a:ext uri="{FF2B5EF4-FFF2-40B4-BE49-F238E27FC236}">
                <a16:creationId xmlns:a16="http://schemas.microsoft.com/office/drawing/2014/main" id="{989514B1-7D15-1D64-FCCE-2E1E1018201D}"/>
              </a:ext>
            </a:extLst>
          </p:cNvPr>
          <p:cNvSpPr/>
          <p:nvPr/>
        </p:nvSpPr>
        <p:spPr>
          <a:xfrm>
            <a:off x="2021735" y="34441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Explosion: 8 Points 39">
            <a:extLst>
              <a:ext uri="{FF2B5EF4-FFF2-40B4-BE49-F238E27FC236}">
                <a16:creationId xmlns:a16="http://schemas.microsoft.com/office/drawing/2014/main" id="{0076D08F-7EEF-1826-8D7C-7E33C1E2A764}"/>
              </a:ext>
            </a:extLst>
          </p:cNvPr>
          <p:cNvSpPr/>
          <p:nvPr/>
        </p:nvSpPr>
        <p:spPr>
          <a:xfrm>
            <a:off x="2690055" y="325607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Explosion: 8 Points 40">
            <a:extLst>
              <a:ext uri="{FF2B5EF4-FFF2-40B4-BE49-F238E27FC236}">
                <a16:creationId xmlns:a16="http://schemas.microsoft.com/office/drawing/2014/main" id="{E180A83E-4981-ED58-90A0-4912DB393572}"/>
              </a:ext>
            </a:extLst>
          </p:cNvPr>
          <p:cNvSpPr/>
          <p:nvPr/>
        </p:nvSpPr>
        <p:spPr>
          <a:xfrm>
            <a:off x="2817788" y="251213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Explosion: 8 Points 41">
            <a:extLst>
              <a:ext uri="{FF2B5EF4-FFF2-40B4-BE49-F238E27FC236}">
                <a16:creationId xmlns:a16="http://schemas.microsoft.com/office/drawing/2014/main" id="{AA3F4361-4536-A088-484E-E08CB800378B}"/>
              </a:ext>
            </a:extLst>
          </p:cNvPr>
          <p:cNvSpPr/>
          <p:nvPr/>
        </p:nvSpPr>
        <p:spPr>
          <a:xfrm>
            <a:off x="3538803" y="329460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Explosion: 8 Points 42">
            <a:extLst>
              <a:ext uri="{FF2B5EF4-FFF2-40B4-BE49-F238E27FC236}">
                <a16:creationId xmlns:a16="http://schemas.microsoft.com/office/drawing/2014/main" id="{CA5BF1E4-248D-D1C9-4908-05F8B6A9B48E}"/>
              </a:ext>
            </a:extLst>
          </p:cNvPr>
          <p:cNvSpPr/>
          <p:nvPr/>
        </p:nvSpPr>
        <p:spPr>
          <a:xfrm>
            <a:off x="3355936" y="402762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Explosion: 8 Points 43">
            <a:extLst>
              <a:ext uri="{FF2B5EF4-FFF2-40B4-BE49-F238E27FC236}">
                <a16:creationId xmlns:a16="http://schemas.microsoft.com/office/drawing/2014/main" id="{7CDD8D09-6F61-5A39-6B55-705A384E4BF2}"/>
              </a:ext>
            </a:extLst>
          </p:cNvPr>
          <p:cNvSpPr/>
          <p:nvPr/>
        </p:nvSpPr>
        <p:spPr>
          <a:xfrm>
            <a:off x="1367888" y="4746987"/>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5" name="Explosion: 8 Points 44">
            <a:extLst>
              <a:ext uri="{FF2B5EF4-FFF2-40B4-BE49-F238E27FC236}">
                <a16:creationId xmlns:a16="http://schemas.microsoft.com/office/drawing/2014/main" id="{AA1F19F6-AACE-6BEA-C3DC-32AA213DD48B}"/>
              </a:ext>
            </a:extLst>
          </p:cNvPr>
          <p:cNvSpPr/>
          <p:nvPr/>
        </p:nvSpPr>
        <p:spPr>
          <a:xfrm>
            <a:off x="3337400" y="453099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Explosion: 8 Points 45">
            <a:extLst>
              <a:ext uri="{FF2B5EF4-FFF2-40B4-BE49-F238E27FC236}">
                <a16:creationId xmlns:a16="http://schemas.microsoft.com/office/drawing/2014/main" id="{872A5F53-D6FC-AD21-905F-616EC2795780}"/>
              </a:ext>
            </a:extLst>
          </p:cNvPr>
          <p:cNvSpPr/>
          <p:nvPr/>
        </p:nvSpPr>
        <p:spPr>
          <a:xfrm>
            <a:off x="4032940" y="461415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Explosion: 8 Points 46">
            <a:extLst>
              <a:ext uri="{FF2B5EF4-FFF2-40B4-BE49-F238E27FC236}">
                <a16:creationId xmlns:a16="http://schemas.microsoft.com/office/drawing/2014/main" id="{21A665F1-6A23-E461-FE2A-E0445641CA01}"/>
              </a:ext>
            </a:extLst>
          </p:cNvPr>
          <p:cNvSpPr/>
          <p:nvPr/>
        </p:nvSpPr>
        <p:spPr>
          <a:xfrm>
            <a:off x="3777474" y="506478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Explosion: 8 Points 47">
            <a:extLst>
              <a:ext uri="{FF2B5EF4-FFF2-40B4-BE49-F238E27FC236}">
                <a16:creationId xmlns:a16="http://schemas.microsoft.com/office/drawing/2014/main" id="{9C9C0EC7-7F8A-80EC-B868-4636A46450B4}"/>
              </a:ext>
            </a:extLst>
          </p:cNvPr>
          <p:cNvSpPr/>
          <p:nvPr/>
        </p:nvSpPr>
        <p:spPr>
          <a:xfrm>
            <a:off x="4391949" y="509096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Explosion: 8 Points 48">
            <a:extLst>
              <a:ext uri="{FF2B5EF4-FFF2-40B4-BE49-F238E27FC236}">
                <a16:creationId xmlns:a16="http://schemas.microsoft.com/office/drawing/2014/main" id="{4FE7D5DE-592C-7A5B-2541-5C2742547CDC}"/>
              </a:ext>
            </a:extLst>
          </p:cNvPr>
          <p:cNvSpPr/>
          <p:nvPr/>
        </p:nvSpPr>
        <p:spPr>
          <a:xfrm>
            <a:off x="4959756" y="496547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Explosion: 8 Points 49">
            <a:extLst>
              <a:ext uri="{FF2B5EF4-FFF2-40B4-BE49-F238E27FC236}">
                <a16:creationId xmlns:a16="http://schemas.microsoft.com/office/drawing/2014/main" id="{F7E93C8A-DDDB-68DA-6758-F98D94C983BA}"/>
              </a:ext>
            </a:extLst>
          </p:cNvPr>
          <p:cNvSpPr/>
          <p:nvPr/>
        </p:nvSpPr>
        <p:spPr>
          <a:xfrm>
            <a:off x="4692349" y="442694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Explosion: 8 Points 50">
            <a:extLst>
              <a:ext uri="{FF2B5EF4-FFF2-40B4-BE49-F238E27FC236}">
                <a16:creationId xmlns:a16="http://schemas.microsoft.com/office/drawing/2014/main" id="{0CEBF972-87D4-B79C-6509-E86A818A6925}"/>
              </a:ext>
            </a:extLst>
          </p:cNvPr>
          <p:cNvSpPr/>
          <p:nvPr/>
        </p:nvSpPr>
        <p:spPr>
          <a:xfrm>
            <a:off x="5272722" y="4398160"/>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Explosion: 8 Points 51">
            <a:extLst>
              <a:ext uri="{FF2B5EF4-FFF2-40B4-BE49-F238E27FC236}">
                <a16:creationId xmlns:a16="http://schemas.microsoft.com/office/drawing/2014/main" id="{BAA02622-8649-4C46-B31E-F73A0FAC2C81}"/>
              </a:ext>
            </a:extLst>
          </p:cNvPr>
          <p:cNvSpPr/>
          <p:nvPr/>
        </p:nvSpPr>
        <p:spPr>
          <a:xfrm>
            <a:off x="4967697" y="3789303"/>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Explosion: 8 Points 52">
            <a:extLst>
              <a:ext uri="{FF2B5EF4-FFF2-40B4-BE49-F238E27FC236}">
                <a16:creationId xmlns:a16="http://schemas.microsoft.com/office/drawing/2014/main" id="{3CF4EF75-2C33-A176-F758-FBDA45E5AB46}"/>
              </a:ext>
            </a:extLst>
          </p:cNvPr>
          <p:cNvSpPr/>
          <p:nvPr/>
        </p:nvSpPr>
        <p:spPr>
          <a:xfrm>
            <a:off x="5572664" y="372655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Explosion: 8 Points 53">
            <a:extLst>
              <a:ext uri="{FF2B5EF4-FFF2-40B4-BE49-F238E27FC236}">
                <a16:creationId xmlns:a16="http://schemas.microsoft.com/office/drawing/2014/main" id="{23EFDF81-1B1B-0100-290D-0802F60552DC}"/>
              </a:ext>
            </a:extLst>
          </p:cNvPr>
          <p:cNvSpPr/>
          <p:nvPr/>
        </p:nvSpPr>
        <p:spPr>
          <a:xfrm>
            <a:off x="6244944" y="389989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Explosion: 8 Points 54">
            <a:extLst>
              <a:ext uri="{FF2B5EF4-FFF2-40B4-BE49-F238E27FC236}">
                <a16:creationId xmlns:a16="http://schemas.microsoft.com/office/drawing/2014/main" id="{ED45FFDA-7F14-53ED-3894-0885A9FA86A9}"/>
              </a:ext>
            </a:extLst>
          </p:cNvPr>
          <p:cNvSpPr/>
          <p:nvPr/>
        </p:nvSpPr>
        <p:spPr>
          <a:xfrm>
            <a:off x="1832408" y="401835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Explosion: 8 Points 55">
            <a:extLst>
              <a:ext uri="{FF2B5EF4-FFF2-40B4-BE49-F238E27FC236}">
                <a16:creationId xmlns:a16="http://schemas.microsoft.com/office/drawing/2014/main" id="{A182BF85-C0FC-BF7D-577C-2AD33C2BE490}"/>
              </a:ext>
            </a:extLst>
          </p:cNvPr>
          <p:cNvSpPr/>
          <p:nvPr/>
        </p:nvSpPr>
        <p:spPr>
          <a:xfrm>
            <a:off x="6124066" y="45087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Explosion: 8 Points 56">
            <a:extLst>
              <a:ext uri="{FF2B5EF4-FFF2-40B4-BE49-F238E27FC236}">
                <a16:creationId xmlns:a16="http://schemas.microsoft.com/office/drawing/2014/main" id="{F43F5CDD-13AE-BA29-DE71-07426B3AA116}"/>
              </a:ext>
            </a:extLst>
          </p:cNvPr>
          <p:cNvSpPr/>
          <p:nvPr/>
        </p:nvSpPr>
        <p:spPr>
          <a:xfrm>
            <a:off x="6754975" y="478381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Explosion: 8 Points 57">
            <a:extLst>
              <a:ext uri="{FF2B5EF4-FFF2-40B4-BE49-F238E27FC236}">
                <a16:creationId xmlns:a16="http://schemas.microsoft.com/office/drawing/2014/main" id="{2A55C34D-F4C7-0310-0755-D66A00396A78}"/>
              </a:ext>
            </a:extLst>
          </p:cNvPr>
          <p:cNvSpPr/>
          <p:nvPr/>
        </p:nvSpPr>
        <p:spPr>
          <a:xfrm>
            <a:off x="6646252" y="5515413"/>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Explosion: 8 Points 58">
            <a:extLst>
              <a:ext uri="{FF2B5EF4-FFF2-40B4-BE49-F238E27FC236}">
                <a16:creationId xmlns:a16="http://schemas.microsoft.com/office/drawing/2014/main" id="{9E2B3A4C-B44D-E057-132D-FFBAA1207ED4}"/>
              </a:ext>
            </a:extLst>
          </p:cNvPr>
          <p:cNvSpPr/>
          <p:nvPr/>
        </p:nvSpPr>
        <p:spPr>
          <a:xfrm>
            <a:off x="7322782" y="45087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FA819BC-0AB8-70DA-7028-A62A053FA53F}"/>
              </a:ext>
            </a:extLst>
          </p:cNvPr>
          <p:cNvSpPr txBox="1"/>
          <p:nvPr/>
        </p:nvSpPr>
        <p:spPr>
          <a:xfrm>
            <a:off x="3750633" y="1076916"/>
            <a:ext cx="2990182" cy="1323439"/>
          </a:xfrm>
          <a:prstGeom prst="rect">
            <a:avLst/>
          </a:prstGeom>
          <a:solidFill>
            <a:srgbClr val="F56600">
              <a:alpha val="10000"/>
            </a:srgbClr>
          </a:solidFill>
          <a:ln w="12700">
            <a:solidFill>
              <a:schemeClr val="tx1"/>
            </a:solidFill>
          </a:ln>
        </p:spPr>
        <p:txBody>
          <a:bodyPr wrap="square" rtlCol="0">
            <a:spAutoFit/>
          </a:bodyPr>
          <a:lstStyle/>
          <a:p>
            <a:pPr algn="ctr"/>
            <a:r>
              <a:rPr lang="en-US" sz="2000" b="1" u="sng">
                <a:latin typeface="Arial" panose="020B0604020202020204" pitchFamily="34" charset="0"/>
                <a:cs typeface="Arial" panose="020B0604020202020204" pitchFamily="34" charset="0"/>
              </a:rPr>
              <a:t>Model Estimates</a:t>
            </a:r>
            <a:endParaRPr lang="en-US" sz="2000" b="1">
              <a:latin typeface="Arial" panose="020B0604020202020204" pitchFamily="34" charset="0"/>
              <a:cs typeface="Arial" panose="020B0604020202020204" pitchFamily="34" charset="0"/>
            </a:endParaRPr>
          </a:p>
          <a:p>
            <a:pPr algn="ctr"/>
            <a:r>
              <a:rPr lang="en-US" sz="2000">
                <a:latin typeface="Arial" panose="020B0604020202020204" pitchFamily="34" charset="0"/>
                <a:cs typeface="Arial" panose="020B0604020202020204" pitchFamily="34" charset="0"/>
              </a:rPr>
              <a:t>Historical model outputs for periods with observed data. </a:t>
            </a:r>
          </a:p>
        </p:txBody>
      </p:sp>
      <p:cxnSp>
        <p:nvCxnSpPr>
          <p:cNvPr id="9" name="Straight Arrow Connector 8">
            <a:extLst>
              <a:ext uri="{FF2B5EF4-FFF2-40B4-BE49-F238E27FC236}">
                <a16:creationId xmlns:a16="http://schemas.microsoft.com/office/drawing/2014/main" id="{1A4D2423-D2C7-E3E8-71EA-F37DE00FC3B8}"/>
              </a:ext>
            </a:extLst>
          </p:cNvPr>
          <p:cNvCxnSpPr>
            <a:cxnSpLocks/>
            <a:stCxn id="7" idx="2"/>
            <a:endCxn id="18" idx="4"/>
          </p:cNvCxnSpPr>
          <p:nvPr/>
        </p:nvCxnSpPr>
        <p:spPr>
          <a:xfrm>
            <a:off x="5245724" y="2400355"/>
            <a:ext cx="438639" cy="120545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Isosceles Triangle 1">
            <a:extLst>
              <a:ext uri="{FF2B5EF4-FFF2-40B4-BE49-F238E27FC236}">
                <a16:creationId xmlns:a16="http://schemas.microsoft.com/office/drawing/2014/main" id="{E5C3AE4F-3837-6701-D1FC-E909EF887A84}"/>
              </a:ext>
            </a:extLst>
          </p:cNvPr>
          <p:cNvSpPr/>
          <p:nvPr/>
        </p:nvSpPr>
        <p:spPr>
          <a:xfrm>
            <a:off x="3598703" y="412153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91243425-8075-6629-FC50-394D9C38766C}"/>
              </a:ext>
            </a:extLst>
          </p:cNvPr>
          <p:cNvSpPr/>
          <p:nvPr/>
        </p:nvSpPr>
        <p:spPr>
          <a:xfrm>
            <a:off x="5142053" y="464803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CE777527-3AAC-36D5-B6AF-CAD036CC15F5}"/>
              </a:ext>
            </a:extLst>
          </p:cNvPr>
          <p:cNvSpPr/>
          <p:nvPr/>
        </p:nvSpPr>
        <p:spPr>
          <a:xfrm>
            <a:off x="3618159" y="465436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155D13CD-59AE-1BCA-C805-C3D37E30CF11}"/>
              </a:ext>
            </a:extLst>
          </p:cNvPr>
          <p:cNvSpPr/>
          <p:nvPr/>
        </p:nvSpPr>
        <p:spPr>
          <a:xfrm>
            <a:off x="4285925" y="471263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18604F04-E13A-09AE-EAE6-8A34163DD431}"/>
              </a:ext>
            </a:extLst>
          </p:cNvPr>
          <p:cNvSpPr/>
          <p:nvPr/>
        </p:nvSpPr>
        <p:spPr>
          <a:xfrm>
            <a:off x="4038243" y="5165503"/>
            <a:ext cx="274320" cy="26448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843DE911-EC06-2403-F19F-CCB01A9AB414}"/>
              </a:ext>
            </a:extLst>
          </p:cNvPr>
          <p:cNvSpPr/>
          <p:nvPr/>
        </p:nvSpPr>
        <p:spPr>
          <a:xfrm>
            <a:off x="4685436" y="504948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A16592A2-2FAF-3E3E-A39A-A492E32397C3}"/>
              </a:ext>
            </a:extLst>
          </p:cNvPr>
          <p:cNvSpPr/>
          <p:nvPr/>
        </p:nvSpPr>
        <p:spPr>
          <a:xfrm>
            <a:off x="4966669" y="421499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B63A2CE1-7DEB-43D4-07A1-68AC08FA9E1F}"/>
              </a:ext>
            </a:extLst>
          </p:cNvPr>
          <p:cNvSpPr/>
          <p:nvPr/>
        </p:nvSpPr>
        <p:spPr>
          <a:xfrm>
            <a:off x="5377644" y="3956931"/>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2BA83D9D-B83A-9DAC-E6E7-577951F6D134}"/>
              </a:ext>
            </a:extLst>
          </p:cNvPr>
          <p:cNvSpPr/>
          <p:nvPr/>
        </p:nvSpPr>
        <p:spPr>
          <a:xfrm>
            <a:off x="5215222" y="350186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9693F39B-A52E-8509-AADA-ABE63B8FEA21}"/>
              </a:ext>
            </a:extLst>
          </p:cNvPr>
          <p:cNvSpPr/>
          <p:nvPr/>
        </p:nvSpPr>
        <p:spPr>
          <a:xfrm>
            <a:off x="5848319" y="350194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27A6CC26-F294-F373-282F-197753B79FD1}"/>
              </a:ext>
            </a:extLst>
          </p:cNvPr>
          <p:cNvSpPr/>
          <p:nvPr/>
        </p:nvSpPr>
        <p:spPr>
          <a:xfrm>
            <a:off x="7339693" y="401897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2E28F40D-07B9-6D7F-7C19-1A6EDB643088}"/>
              </a:ext>
            </a:extLst>
          </p:cNvPr>
          <p:cNvSpPr/>
          <p:nvPr/>
        </p:nvSpPr>
        <p:spPr>
          <a:xfrm>
            <a:off x="5806445" y="408374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ECEDA117-98C8-3A25-1D77-575CF1F6D692}"/>
              </a:ext>
            </a:extLst>
          </p:cNvPr>
          <p:cNvSpPr/>
          <p:nvPr/>
        </p:nvSpPr>
        <p:spPr>
          <a:xfrm>
            <a:off x="6276747" y="416046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9F2D607C-CFEB-164F-F187-96973C76B4F3}"/>
              </a:ext>
            </a:extLst>
          </p:cNvPr>
          <p:cNvSpPr/>
          <p:nvPr/>
        </p:nvSpPr>
        <p:spPr>
          <a:xfrm>
            <a:off x="6276747" y="484979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D06ABCD8-ED49-C1A5-16C1-54F6E1C7AFA9}"/>
              </a:ext>
            </a:extLst>
          </p:cNvPr>
          <p:cNvSpPr/>
          <p:nvPr/>
        </p:nvSpPr>
        <p:spPr>
          <a:xfrm>
            <a:off x="6535655" y="451087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9A26B1FA-DF33-4928-E8CD-51606D998012}"/>
              </a:ext>
            </a:extLst>
          </p:cNvPr>
          <p:cNvSpPr/>
          <p:nvPr/>
        </p:nvSpPr>
        <p:spPr>
          <a:xfrm>
            <a:off x="6773985" y="513623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52A14A66-7592-21C8-0D71-B91F7A642479}"/>
              </a:ext>
            </a:extLst>
          </p:cNvPr>
          <p:cNvSpPr/>
          <p:nvPr/>
        </p:nvSpPr>
        <p:spPr>
          <a:xfrm>
            <a:off x="7286986" y="550470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Isosceles Triangle 59">
            <a:extLst>
              <a:ext uri="{FF2B5EF4-FFF2-40B4-BE49-F238E27FC236}">
                <a16:creationId xmlns:a16="http://schemas.microsoft.com/office/drawing/2014/main" id="{1DB5F096-87AB-7600-8CB1-95D504B5F9AE}"/>
              </a:ext>
            </a:extLst>
          </p:cNvPr>
          <p:cNvSpPr/>
          <p:nvPr/>
        </p:nvSpPr>
        <p:spPr>
          <a:xfrm>
            <a:off x="7280792" y="494946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1" name="Table 60">
            <a:extLst>
              <a:ext uri="{FF2B5EF4-FFF2-40B4-BE49-F238E27FC236}">
                <a16:creationId xmlns:a16="http://schemas.microsoft.com/office/drawing/2014/main" id="{84BAE136-AA1F-169C-3F5B-AE311EDBB08A}"/>
              </a:ext>
            </a:extLst>
          </p:cNvPr>
          <p:cNvGraphicFramePr>
            <a:graphicFrameLocks noGrp="1"/>
          </p:cNvGraphicFramePr>
          <p:nvPr>
            <p:extLst>
              <p:ext uri="{D42A27DB-BD31-4B8C-83A1-F6EECF244321}">
                <p14:modId xmlns:p14="http://schemas.microsoft.com/office/powerpoint/2010/main" val="3828619576"/>
              </p:ext>
            </p:extLst>
          </p:nvPr>
        </p:nvGraphicFramePr>
        <p:xfrm>
          <a:off x="8684600" y="219456"/>
          <a:ext cx="2990183" cy="1483360"/>
        </p:xfrm>
        <a:graphic>
          <a:graphicData uri="http://schemas.openxmlformats.org/drawingml/2006/table">
            <a:tbl>
              <a:tblPr firstRow="1" bandRow="1">
                <a:tableStyleId>{5940675A-B579-460E-94D1-54222C63F5DA}</a:tableStyleId>
              </a:tblPr>
              <a:tblGrid>
                <a:gridCol w="2088353">
                  <a:extLst>
                    <a:ext uri="{9D8B030D-6E8A-4147-A177-3AD203B41FA5}">
                      <a16:colId xmlns:a16="http://schemas.microsoft.com/office/drawing/2014/main" val="4209011268"/>
                    </a:ext>
                  </a:extLst>
                </a:gridCol>
                <a:gridCol w="901830">
                  <a:extLst>
                    <a:ext uri="{9D8B030D-6E8A-4147-A177-3AD203B41FA5}">
                      <a16:colId xmlns:a16="http://schemas.microsoft.com/office/drawing/2014/main" val="2651714445"/>
                    </a:ext>
                  </a:extLst>
                </a:gridCol>
              </a:tblGrid>
              <a:tr h="370840">
                <a:tc gridSpan="2">
                  <a:txBody>
                    <a:bodyPr/>
                    <a:lstStyle/>
                    <a:p>
                      <a:pPr algn="ctr"/>
                      <a:r>
                        <a:rPr lang="en-US" sz="1800" b="1" dirty="0">
                          <a:latin typeface="Arial" panose="020B0604020202020204" pitchFamily="34" charset="0"/>
                          <a:cs typeface="Arial" panose="020B0604020202020204" pitchFamily="34" charset="0"/>
                        </a:rPr>
                        <a:t>Legend</a:t>
                      </a:r>
                    </a:p>
                  </a:txBody>
                  <a:tcPr>
                    <a:solidFill>
                      <a:schemeClr val="bg2"/>
                    </a:solidFill>
                  </a:tcPr>
                </a:tc>
                <a:tc hMerge="1">
                  <a:txBody>
                    <a:bodyPr/>
                    <a:lstStyle/>
                    <a:p>
                      <a:endParaRPr lang="en-US"/>
                    </a:p>
                  </a:txBody>
                  <a:tcPr/>
                </a:tc>
                <a:extLst>
                  <a:ext uri="{0D108BD9-81ED-4DB2-BD59-A6C34878D82A}">
                    <a16:rowId xmlns:a16="http://schemas.microsoft.com/office/drawing/2014/main" val="2697691273"/>
                  </a:ext>
                </a:extLst>
              </a:tr>
              <a:tr h="370840">
                <a:tc>
                  <a:txBody>
                    <a:bodyPr/>
                    <a:lstStyle/>
                    <a:p>
                      <a:r>
                        <a:rPr lang="en-US" sz="1800">
                          <a:latin typeface="Arial" panose="020B0604020202020204" pitchFamily="34" charset="0"/>
                          <a:cs typeface="Arial" panose="020B0604020202020204" pitchFamily="34" charset="0"/>
                        </a:rPr>
                        <a:t>Target Data</a:t>
                      </a:r>
                    </a:p>
                  </a:txBody>
                  <a:tcPr/>
                </a:tc>
                <a:tc>
                  <a:txBody>
                    <a:bodyPr/>
                    <a:lstStyle/>
                    <a:p>
                      <a:endParaRPr lang="en-US" sz="1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8635097"/>
                  </a:ext>
                </a:extLst>
              </a:tr>
              <a:tr h="370840">
                <a:tc>
                  <a:txBody>
                    <a:bodyPr/>
                    <a:lstStyle/>
                    <a:p>
                      <a:r>
                        <a:rPr lang="en-US" sz="1800">
                          <a:latin typeface="Arial" panose="020B0604020202020204" pitchFamily="34" charset="0"/>
                          <a:cs typeface="Arial" panose="020B0604020202020204" pitchFamily="34" charset="0"/>
                        </a:rPr>
                        <a:t>Auxiliary Data</a:t>
                      </a:r>
                    </a:p>
                  </a:txBody>
                  <a:tcPr/>
                </a:tc>
                <a:tc>
                  <a:txBody>
                    <a:bodyPr/>
                    <a:lstStyle/>
                    <a:p>
                      <a:endParaRPr lang="en-US" sz="1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47669380"/>
                  </a:ext>
                </a:extLst>
              </a:tr>
              <a:tr h="370840">
                <a:tc>
                  <a:txBody>
                    <a:bodyPr/>
                    <a:lstStyle/>
                    <a:p>
                      <a:r>
                        <a:rPr lang="en-US" sz="1800">
                          <a:latin typeface="Arial" panose="020B0604020202020204" pitchFamily="34" charset="0"/>
                          <a:cs typeface="Arial" panose="020B0604020202020204" pitchFamily="34" charset="0"/>
                        </a:rPr>
                        <a:t>Model Estimates</a:t>
                      </a:r>
                    </a:p>
                  </a:txBody>
                  <a:tcPr/>
                </a:tc>
                <a:tc>
                  <a:txBody>
                    <a:bodyPr/>
                    <a:lstStyle/>
                    <a:p>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70823677"/>
                  </a:ext>
                </a:extLst>
              </a:tr>
            </a:tbl>
          </a:graphicData>
        </a:graphic>
      </p:graphicFrame>
      <p:sp>
        <p:nvSpPr>
          <p:cNvPr id="63" name="Isosceles Triangle 62">
            <a:extLst>
              <a:ext uri="{FF2B5EF4-FFF2-40B4-BE49-F238E27FC236}">
                <a16:creationId xmlns:a16="http://schemas.microsoft.com/office/drawing/2014/main" id="{15CF5C3B-1798-2510-5D69-FCFC1951648B}"/>
              </a:ext>
            </a:extLst>
          </p:cNvPr>
          <p:cNvSpPr/>
          <p:nvPr/>
        </p:nvSpPr>
        <p:spPr>
          <a:xfrm>
            <a:off x="11063826" y="641481"/>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Explosion: 8 Points 64">
            <a:extLst>
              <a:ext uri="{FF2B5EF4-FFF2-40B4-BE49-F238E27FC236}">
                <a16:creationId xmlns:a16="http://schemas.microsoft.com/office/drawing/2014/main" id="{BCC86AA5-F278-2B7E-442F-4BB68FEC2AA5}"/>
              </a:ext>
            </a:extLst>
          </p:cNvPr>
          <p:cNvSpPr/>
          <p:nvPr/>
        </p:nvSpPr>
        <p:spPr>
          <a:xfrm>
            <a:off x="11077332" y="103393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Picture 66">
            <a:extLst>
              <a:ext uri="{FF2B5EF4-FFF2-40B4-BE49-F238E27FC236}">
                <a16:creationId xmlns:a16="http://schemas.microsoft.com/office/drawing/2014/main" id="{DA98BE11-034D-20FE-DD07-DD72932516EF}"/>
              </a:ext>
            </a:extLst>
          </p:cNvPr>
          <p:cNvPicPr>
            <a:picLocks noChangeAspect="1"/>
          </p:cNvPicPr>
          <p:nvPr/>
        </p:nvPicPr>
        <p:blipFill>
          <a:blip r:embed="rId3"/>
          <a:stretch>
            <a:fillRect/>
          </a:stretch>
        </p:blipFill>
        <p:spPr>
          <a:xfrm>
            <a:off x="10941255" y="1374342"/>
            <a:ext cx="539447" cy="310473"/>
          </a:xfrm>
          <a:prstGeom prst="rect">
            <a:avLst/>
          </a:prstGeom>
        </p:spPr>
      </p:pic>
    </p:spTree>
    <p:extLst>
      <p:ext uri="{BB962C8B-B14F-4D97-AF65-F5344CB8AC3E}">
        <p14:creationId xmlns:p14="http://schemas.microsoft.com/office/powerpoint/2010/main" val="1567310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0CF8A-082C-1750-5865-412AB85D9AFA}"/>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9EC87236-F37F-4A3E-CABC-CCDF4E1F03C8}"/>
              </a:ext>
            </a:extLst>
          </p:cNvPr>
          <p:cNvSpPr/>
          <p:nvPr/>
        </p:nvSpPr>
        <p:spPr>
          <a:xfrm>
            <a:off x="329936" y="1036256"/>
            <a:ext cx="8544774" cy="5378740"/>
          </a:xfrm>
          <a:prstGeom prst="rect">
            <a:avLst/>
          </a:prstGeom>
          <a:solidFill>
            <a:srgbClr val="341C7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8AF4CA4D-D091-56CB-FFF3-A28879D90C98}"/>
              </a:ext>
            </a:extLst>
          </p:cNvPr>
          <p:cNvCxnSpPr/>
          <p:nvPr/>
        </p:nvCxnSpPr>
        <p:spPr>
          <a:xfrm>
            <a:off x="10819803" y="2145923"/>
            <a:ext cx="0" cy="4251489"/>
          </a:xfrm>
          <a:prstGeom prst="line">
            <a:avLst/>
          </a:prstGeom>
          <a:ln w="38100">
            <a:solidFill>
              <a:schemeClr val="tx1"/>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51548830-2BD5-BD28-F297-741A95A4BE1F}"/>
              </a:ext>
            </a:extLst>
          </p:cNvPr>
          <p:cNvCxnSpPr>
            <a:cxnSpLocks/>
          </p:cNvCxnSpPr>
          <p:nvPr/>
        </p:nvCxnSpPr>
        <p:spPr>
          <a:xfrm flipV="1">
            <a:off x="329938" y="6414996"/>
            <a:ext cx="11217897" cy="2"/>
          </a:xfrm>
          <a:prstGeom prst="line">
            <a:avLst/>
          </a:prstGeom>
          <a:ln w="38100"/>
        </p:spPr>
        <p:style>
          <a:lnRef idx="2">
            <a:schemeClr val="dk1"/>
          </a:lnRef>
          <a:fillRef idx="0">
            <a:schemeClr val="dk1"/>
          </a:fillRef>
          <a:effectRef idx="1">
            <a:schemeClr val="dk1"/>
          </a:effectRef>
          <a:fontRef idx="minor">
            <a:schemeClr val="tx1"/>
          </a:fontRef>
        </p:style>
      </p:cxnSp>
      <p:sp>
        <p:nvSpPr>
          <p:cNvPr id="63" name="Freeform: Shape 62">
            <a:extLst>
              <a:ext uri="{FF2B5EF4-FFF2-40B4-BE49-F238E27FC236}">
                <a16:creationId xmlns:a16="http://schemas.microsoft.com/office/drawing/2014/main" id="{AB12C988-95DE-787F-62F0-0E0E438A34C1}"/>
              </a:ext>
            </a:extLst>
          </p:cNvPr>
          <p:cNvSpPr/>
          <p:nvPr/>
        </p:nvSpPr>
        <p:spPr>
          <a:xfrm>
            <a:off x="612742" y="2907801"/>
            <a:ext cx="10207059" cy="2607612"/>
          </a:xfrm>
          <a:custGeom>
            <a:avLst/>
            <a:gdLst>
              <a:gd name="connsiteX0" fmla="*/ 0 w 7070103"/>
              <a:gd name="connsiteY0" fmla="*/ 176086 h 2651298"/>
              <a:gd name="connsiteX1" fmla="*/ 1150070 w 7070103"/>
              <a:gd name="connsiteY1" fmla="*/ 1854057 h 2651298"/>
              <a:gd name="connsiteX2" fmla="*/ 2366128 w 7070103"/>
              <a:gd name="connsiteY2" fmla="*/ 6403 h 2651298"/>
              <a:gd name="connsiteX3" fmla="*/ 3817856 w 7070103"/>
              <a:gd name="connsiteY3" fmla="*/ 2645909 h 2651298"/>
              <a:gd name="connsiteX4" fmla="*/ 5071621 w 7070103"/>
              <a:gd name="connsiteY4" fmla="*/ 741694 h 2651298"/>
              <a:gd name="connsiteX5" fmla="*/ 6381946 w 7070103"/>
              <a:gd name="connsiteY5" fmla="*/ 2532787 h 2651298"/>
              <a:gd name="connsiteX6" fmla="*/ 7070103 w 7070103"/>
              <a:gd name="connsiteY6" fmla="*/ 1552399 h 2651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70103" h="2651298">
                <a:moveTo>
                  <a:pt x="0" y="176086"/>
                </a:moveTo>
                <a:cubicBezTo>
                  <a:pt x="377857" y="1029212"/>
                  <a:pt x="755715" y="1882338"/>
                  <a:pt x="1150070" y="1854057"/>
                </a:cubicBezTo>
                <a:cubicBezTo>
                  <a:pt x="1544425" y="1825777"/>
                  <a:pt x="1921497" y="-125572"/>
                  <a:pt x="2366128" y="6403"/>
                </a:cubicBezTo>
                <a:cubicBezTo>
                  <a:pt x="2810759" y="138378"/>
                  <a:pt x="3366941" y="2523361"/>
                  <a:pt x="3817856" y="2645909"/>
                </a:cubicBezTo>
                <a:cubicBezTo>
                  <a:pt x="4268772" y="2768458"/>
                  <a:pt x="4644273" y="760548"/>
                  <a:pt x="5071621" y="741694"/>
                </a:cubicBezTo>
                <a:cubicBezTo>
                  <a:pt x="5498969" y="722840"/>
                  <a:pt x="6048866" y="2397670"/>
                  <a:pt x="6381946" y="2532787"/>
                </a:cubicBezTo>
                <a:cubicBezTo>
                  <a:pt x="6715026" y="2667905"/>
                  <a:pt x="6892564" y="2110152"/>
                  <a:pt x="7070103" y="1552399"/>
                </a:cubicBezTo>
              </a:path>
            </a:pathLst>
          </a:custGeom>
          <a:noFill/>
          <a:ln w="38100">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a:extLst>
              <a:ext uri="{FF2B5EF4-FFF2-40B4-BE49-F238E27FC236}">
                <a16:creationId xmlns:a16="http://schemas.microsoft.com/office/drawing/2014/main" id="{1C1602D2-9DBB-0E40-CB45-86BD2B5A60AE}"/>
              </a:ext>
            </a:extLst>
          </p:cNvPr>
          <p:cNvSpPr/>
          <p:nvPr/>
        </p:nvSpPr>
        <p:spPr>
          <a:xfrm>
            <a:off x="1061292" y="335758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Isosceles Triangle 64">
            <a:extLst>
              <a:ext uri="{FF2B5EF4-FFF2-40B4-BE49-F238E27FC236}">
                <a16:creationId xmlns:a16="http://schemas.microsoft.com/office/drawing/2014/main" id="{61DBDD37-1E67-D01E-E615-D50FA1C7B08D}"/>
              </a:ext>
            </a:extLst>
          </p:cNvPr>
          <p:cNvSpPr/>
          <p:nvPr/>
        </p:nvSpPr>
        <p:spPr>
          <a:xfrm>
            <a:off x="1787946" y="430724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Isosceles Triangle 65">
            <a:extLst>
              <a:ext uri="{FF2B5EF4-FFF2-40B4-BE49-F238E27FC236}">
                <a16:creationId xmlns:a16="http://schemas.microsoft.com/office/drawing/2014/main" id="{CE3050F7-DF3D-252D-7010-DF9710FD3AAF}"/>
              </a:ext>
            </a:extLst>
          </p:cNvPr>
          <p:cNvSpPr/>
          <p:nvPr/>
        </p:nvSpPr>
        <p:spPr>
          <a:xfrm>
            <a:off x="1207000" y="424726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Isosceles Triangle 66">
            <a:extLst>
              <a:ext uri="{FF2B5EF4-FFF2-40B4-BE49-F238E27FC236}">
                <a16:creationId xmlns:a16="http://schemas.microsoft.com/office/drawing/2014/main" id="{582ACD69-A1D6-263D-EC3E-928D8459FC61}"/>
              </a:ext>
            </a:extLst>
          </p:cNvPr>
          <p:cNvSpPr/>
          <p:nvPr/>
        </p:nvSpPr>
        <p:spPr>
          <a:xfrm>
            <a:off x="2231732" y="466335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Isosceles Triangle 67">
            <a:extLst>
              <a:ext uri="{FF2B5EF4-FFF2-40B4-BE49-F238E27FC236}">
                <a16:creationId xmlns:a16="http://schemas.microsoft.com/office/drawing/2014/main" id="{7013EB56-39C4-75B8-1D22-3C89D0ADE2E0}"/>
              </a:ext>
            </a:extLst>
          </p:cNvPr>
          <p:cNvSpPr/>
          <p:nvPr/>
        </p:nvSpPr>
        <p:spPr>
          <a:xfrm>
            <a:off x="2390768" y="402243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Isosceles Triangle 68">
            <a:extLst>
              <a:ext uri="{FF2B5EF4-FFF2-40B4-BE49-F238E27FC236}">
                <a16:creationId xmlns:a16="http://schemas.microsoft.com/office/drawing/2014/main" id="{D7FA3CA6-8DA8-3FA7-F2D9-8EDB93AE83D5}"/>
              </a:ext>
            </a:extLst>
          </p:cNvPr>
          <p:cNvSpPr/>
          <p:nvPr/>
        </p:nvSpPr>
        <p:spPr>
          <a:xfrm>
            <a:off x="3031604" y="437074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Isosceles Triangle 69">
            <a:extLst>
              <a:ext uri="{FF2B5EF4-FFF2-40B4-BE49-F238E27FC236}">
                <a16:creationId xmlns:a16="http://schemas.microsoft.com/office/drawing/2014/main" id="{83C47297-CCC0-3ABA-030E-E59276846594}"/>
              </a:ext>
            </a:extLst>
          </p:cNvPr>
          <p:cNvSpPr/>
          <p:nvPr/>
        </p:nvSpPr>
        <p:spPr>
          <a:xfrm>
            <a:off x="475580" y="332551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Isosceles Triangle 70">
            <a:extLst>
              <a:ext uri="{FF2B5EF4-FFF2-40B4-BE49-F238E27FC236}">
                <a16:creationId xmlns:a16="http://schemas.microsoft.com/office/drawing/2014/main" id="{4F80C141-9D09-2B5F-546C-5E682377FACB}"/>
              </a:ext>
            </a:extLst>
          </p:cNvPr>
          <p:cNvSpPr/>
          <p:nvPr/>
        </p:nvSpPr>
        <p:spPr>
          <a:xfrm>
            <a:off x="2844680" y="337124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Isosceles Triangle 71">
            <a:extLst>
              <a:ext uri="{FF2B5EF4-FFF2-40B4-BE49-F238E27FC236}">
                <a16:creationId xmlns:a16="http://schemas.microsoft.com/office/drawing/2014/main" id="{0410CD5F-54B1-B3D8-CDAE-127C11D34551}"/>
              </a:ext>
            </a:extLst>
          </p:cNvPr>
          <p:cNvSpPr/>
          <p:nvPr/>
        </p:nvSpPr>
        <p:spPr>
          <a:xfrm>
            <a:off x="3472648" y="273503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Isosceles Triangle 72">
            <a:extLst>
              <a:ext uri="{FF2B5EF4-FFF2-40B4-BE49-F238E27FC236}">
                <a16:creationId xmlns:a16="http://schemas.microsoft.com/office/drawing/2014/main" id="{09112445-85B6-E300-2F87-38ED9E40FA89}"/>
              </a:ext>
            </a:extLst>
          </p:cNvPr>
          <p:cNvSpPr/>
          <p:nvPr/>
        </p:nvSpPr>
        <p:spPr>
          <a:xfrm>
            <a:off x="4215594" y="253674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Isosceles Triangle 73">
            <a:extLst>
              <a:ext uri="{FF2B5EF4-FFF2-40B4-BE49-F238E27FC236}">
                <a16:creationId xmlns:a16="http://schemas.microsoft.com/office/drawing/2014/main" id="{3D0924E6-2F73-0EF5-924F-4716DC80A2C4}"/>
              </a:ext>
            </a:extLst>
          </p:cNvPr>
          <p:cNvSpPr/>
          <p:nvPr/>
        </p:nvSpPr>
        <p:spPr>
          <a:xfrm>
            <a:off x="3973173" y="337124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D713BD85-FEE7-C052-3A1B-02D176C8F727}"/>
              </a:ext>
            </a:extLst>
          </p:cNvPr>
          <p:cNvSpPr/>
          <p:nvPr/>
        </p:nvSpPr>
        <p:spPr>
          <a:xfrm>
            <a:off x="6568368" y="564104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Explosion: 8 Points 75">
            <a:extLst>
              <a:ext uri="{FF2B5EF4-FFF2-40B4-BE49-F238E27FC236}">
                <a16:creationId xmlns:a16="http://schemas.microsoft.com/office/drawing/2014/main" id="{443AF472-A0E2-4A36-6349-189A46121D10}"/>
              </a:ext>
            </a:extLst>
          </p:cNvPr>
          <p:cNvSpPr/>
          <p:nvPr/>
        </p:nvSpPr>
        <p:spPr>
          <a:xfrm>
            <a:off x="1460409" y="3938786"/>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7" name="Explosion: 8 Points 76">
            <a:extLst>
              <a:ext uri="{FF2B5EF4-FFF2-40B4-BE49-F238E27FC236}">
                <a16:creationId xmlns:a16="http://schemas.microsoft.com/office/drawing/2014/main" id="{6AE4E5D7-69E3-A5B0-4E97-78FEF1F20F15}"/>
              </a:ext>
            </a:extLst>
          </p:cNvPr>
          <p:cNvSpPr/>
          <p:nvPr/>
        </p:nvSpPr>
        <p:spPr>
          <a:xfrm>
            <a:off x="3323707" y="379412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Explosion: 8 Points 77">
            <a:extLst>
              <a:ext uri="{FF2B5EF4-FFF2-40B4-BE49-F238E27FC236}">
                <a16:creationId xmlns:a16="http://schemas.microsoft.com/office/drawing/2014/main" id="{D5CA6F4A-8BA9-8445-C86C-7B3CCC441D9F}"/>
              </a:ext>
            </a:extLst>
          </p:cNvPr>
          <p:cNvSpPr/>
          <p:nvPr/>
        </p:nvSpPr>
        <p:spPr>
          <a:xfrm>
            <a:off x="2323487" y="355201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Explosion: 8 Points 78">
            <a:extLst>
              <a:ext uri="{FF2B5EF4-FFF2-40B4-BE49-F238E27FC236}">
                <a16:creationId xmlns:a16="http://schemas.microsoft.com/office/drawing/2014/main" id="{28E61EC8-711B-81AB-54A5-5558E07DD3D6}"/>
              </a:ext>
            </a:extLst>
          </p:cNvPr>
          <p:cNvSpPr/>
          <p:nvPr/>
        </p:nvSpPr>
        <p:spPr>
          <a:xfrm>
            <a:off x="3541465" y="315415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Explosion: 8 Points 79">
            <a:extLst>
              <a:ext uri="{FF2B5EF4-FFF2-40B4-BE49-F238E27FC236}">
                <a16:creationId xmlns:a16="http://schemas.microsoft.com/office/drawing/2014/main" id="{F10FC8D3-5149-F58C-316D-0A7EB4312234}"/>
              </a:ext>
            </a:extLst>
          </p:cNvPr>
          <p:cNvSpPr/>
          <p:nvPr/>
        </p:nvSpPr>
        <p:spPr>
          <a:xfrm>
            <a:off x="3669198" y="241021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Explosion: 8 Points 80">
            <a:extLst>
              <a:ext uri="{FF2B5EF4-FFF2-40B4-BE49-F238E27FC236}">
                <a16:creationId xmlns:a16="http://schemas.microsoft.com/office/drawing/2014/main" id="{365D2D70-1ED3-238B-A457-30ED4A89B59E}"/>
              </a:ext>
            </a:extLst>
          </p:cNvPr>
          <p:cNvSpPr/>
          <p:nvPr/>
        </p:nvSpPr>
        <p:spPr>
          <a:xfrm>
            <a:off x="4390213" y="319268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Explosion: 8 Points 81">
            <a:extLst>
              <a:ext uri="{FF2B5EF4-FFF2-40B4-BE49-F238E27FC236}">
                <a16:creationId xmlns:a16="http://schemas.microsoft.com/office/drawing/2014/main" id="{2AAAF3D8-AE93-8769-B9CB-101126F2B304}"/>
              </a:ext>
            </a:extLst>
          </p:cNvPr>
          <p:cNvSpPr/>
          <p:nvPr/>
        </p:nvSpPr>
        <p:spPr>
          <a:xfrm>
            <a:off x="4207346" y="392570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Explosion: 8 Points 82">
            <a:extLst>
              <a:ext uri="{FF2B5EF4-FFF2-40B4-BE49-F238E27FC236}">
                <a16:creationId xmlns:a16="http://schemas.microsoft.com/office/drawing/2014/main" id="{65FAC9B5-E767-8EF8-2903-2E6A5A7F9922}"/>
              </a:ext>
            </a:extLst>
          </p:cNvPr>
          <p:cNvSpPr/>
          <p:nvPr/>
        </p:nvSpPr>
        <p:spPr>
          <a:xfrm>
            <a:off x="1669640" y="4854886"/>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4" name="Explosion: 8 Points 83">
            <a:extLst>
              <a:ext uri="{FF2B5EF4-FFF2-40B4-BE49-F238E27FC236}">
                <a16:creationId xmlns:a16="http://schemas.microsoft.com/office/drawing/2014/main" id="{8335A8FB-05D9-2496-4C1A-FF29ABE7762A}"/>
              </a:ext>
            </a:extLst>
          </p:cNvPr>
          <p:cNvSpPr/>
          <p:nvPr/>
        </p:nvSpPr>
        <p:spPr>
          <a:xfrm>
            <a:off x="466635" y="3951128"/>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Explosion: 8 Points 84">
            <a:extLst>
              <a:ext uri="{FF2B5EF4-FFF2-40B4-BE49-F238E27FC236}">
                <a16:creationId xmlns:a16="http://schemas.microsoft.com/office/drawing/2014/main" id="{B9A2EC71-9B0D-A164-A397-82ADA75E2E86}"/>
              </a:ext>
            </a:extLst>
          </p:cNvPr>
          <p:cNvSpPr/>
          <p:nvPr/>
        </p:nvSpPr>
        <p:spPr>
          <a:xfrm>
            <a:off x="4884350" y="451223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Explosion: 8 Points 85">
            <a:extLst>
              <a:ext uri="{FF2B5EF4-FFF2-40B4-BE49-F238E27FC236}">
                <a16:creationId xmlns:a16="http://schemas.microsoft.com/office/drawing/2014/main" id="{BD34309C-4140-50DD-DBFA-E078B8204A63}"/>
              </a:ext>
            </a:extLst>
          </p:cNvPr>
          <p:cNvSpPr/>
          <p:nvPr/>
        </p:nvSpPr>
        <p:spPr>
          <a:xfrm>
            <a:off x="4628884" y="496286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Explosion: 8 Points 86">
            <a:extLst>
              <a:ext uri="{FF2B5EF4-FFF2-40B4-BE49-F238E27FC236}">
                <a16:creationId xmlns:a16="http://schemas.microsoft.com/office/drawing/2014/main" id="{8B089366-CE2B-0186-EB43-DDAAB8102730}"/>
              </a:ext>
            </a:extLst>
          </p:cNvPr>
          <p:cNvSpPr/>
          <p:nvPr/>
        </p:nvSpPr>
        <p:spPr>
          <a:xfrm>
            <a:off x="5353935" y="523243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Explosion: 8 Points 87">
            <a:extLst>
              <a:ext uri="{FF2B5EF4-FFF2-40B4-BE49-F238E27FC236}">
                <a16:creationId xmlns:a16="http://schemas.microsoft.com/office/drawing/2014/main" id="{0A6D85D7-5F88-9883-30F4-72D2F69DC3A6}"/>
              </a:ext>
            </a:extLst>
          </p:cNvPr>
          <p:cNvSpPr/>
          <p:nvPr/>
        </p:nvSpPr>
        <p:spPr>
          <a:xfrm>
            <a:off x="6312902" y="476318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Explosion: 8 Points 88">
            <a:extLst>
              <a:ext uri="{FF2B5EF4-FFF2-40B4-BE49-F238E27FC236}">
                <a16:creationId xmlns:a16="http://schemas.microsoft.com/office/drawing/2014/main" id="{A7D54BB9-1DFB-B6C5-7800-1DAEC794169D}"/>
              </a:ext>
            </a:extLst>
          </p:cNvPr>
          <p:cNvSpPr/>
          <p:nvPr/>
        </p:nvSpPr>
        <p:spPr>
          <a:xfrm>
            <a:off x="5159360" y="360077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Explosion: 8 Points 89">
            <a:extLst>
              <a:ext uri="{FF2B5EF4-FFF2-40B4-BE49-F238E27FC236}">
                <a16:creationId xmlns:a16="http://schemas.microsoft.com/office/drawing/2014/main" id="{854C150D-E218-27D2-D0A7-4DAE6F6A8FD5}"/>
              </a:ext>
            </a:extLst>
          </p:cNvPr>
          <p:cNvSpPr/>
          <p:nvPr/>
        </p:nvSpPr>
        <p:spPr>
          <a:xfrm>
            <a:off x="5685050" y="474944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Explosion: 8 Points 90">
            <a:extLst>
              <a:ext uri="{FF2B5EF4-FFF2-40B4-BE49-F238E27FC236}">
                <a16:creationId xmlns:a16="http://schemas.microsoft.com/office/drawing/2014/main" id="{07D8708B-0919-5670-DE70-18116E3E5B28}"/>
              </a:ext>
            </a:extLst>
          </p:cNvPr>
          <p:cNvSpPr/>
          <p:nvPr/>
        </p:nvSpPr>
        <p:spPr>
          <a:xfrm>
            <a:off x="5380025" y="414059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Explosion: 8 Points 91">
            <a:extLst>
              <a:ext uri="{FF2B5EF4-FFF2-40B4-BE49-F238E27FC236}">
                <a16:creationId xmlns:a16="http://schemas.microsoft.com/office/drawing/2014/main" id="{DF4A9FC2-9BC3-1C8B-BDC0-871124F5F920}"/>
              </a:ext>
            </a:extLst>
          </p:cNvPr>
          <p:cNvSpPr/>
          <p:nvPr/>
        </p:nvSpPr>
        <p:spPr>
          <a:xfrm>
            <a:off x="6111240" y="579803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Explosion: 8 Points 92">
            <a:extLst>
              <a:ext uri="{FF2B5EF4-FFF2-40B4-BE49-F238E27FC236}">
                <a16:creationId xmlns:a16="http://schemas.microsoft.com/office/drawing/2014/main" id="{43BEACCC-491A-4B20-A438-03FD59EF6960}"/>
              </a:ext>
            </a:extLst>
          </p:cNvPr>
          <p:cNvSpPr/>
          <p:nvPr/>
        </p:nvSpPr>
        <p:spPr>
          <a:xfrm>
            <a:off x="6657272" y="425118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Explosion: 8 Points 93">
            <a:extLst>
              <a:ext uri="{FF2B5EF4-FFF2-40B4-BE49-F238E27FC236}">
                <a16:creationId xmlns:a16="http://schemas.microsoft.com/office/drawing/2014/main" id="{D0E99E79-AF95-07F9-F09E-53D798C99034}"/>
              </a:ext>
            </a:extLst>
          </p:cNvPr>
          <p:cNvSpPr/>
          <p:nvPr/>
        </p:nvSpPr>
        <p:spPr>
          <a:xfrm>
            <a:off x="2748273" y="474944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Explosion: 8 Points 94">
            <a:extLst>
              <a:ext uri="{FF2B5EF4-FFF2-40B4-BE49-F238E27FC236}">
                <a16:creationId xmlns:a16="http://schemas.microsoft.com/office/drawing/2014/main" id="{15FDBACC-EF7E-5021-C2EF-A15B318BB69C}"/>
              </a:ext>
            </a:extLst>
          </p:cNvPr>
          <p:cNvSpPr/>
          <p:nvPr/>
        </p:nvSpPr>
        <p:spPr>
          <a:xfrm>
            <a:off x="6711051" y="531676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Explosion: 8 Points 95">
            <a:extLst>
              <a:ext uri="{FF2B5EF4-FFF2-40B4-BE49-F238E27FC236}">
                <a16:creationId xmlns:a16="http://schemas.microsoft.com/office/drawing/2014/main" id="{D65B47C9-9BDD-3D28-40BA-FF43251F2750}"/>
              </a:ext>
            </a:extLst>
          </p:cNvPr>
          <p:cNvSpPr/>
          <p:nvPr/>
        </p:nvSpPr>
        <p:spPr>
          <a:xfrm>
            <a:off x="7167303" y="5135103"/>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Explosion: 8 Points 96">
            <a:extLst>
              <a:ext uri="{FF2B5EF4-FFF2-40B4-BE49-F238E27FC236}">
                <a16:creationId xmlns:a16="http://schemas.microsoft.com/office/drawing/2014/main" id="{1112C97C-7EBD-B7CD-9F16-5195C6B538BA}"/>
              </a:ext>
            </a:extLst>
          </p:cNvPr>
          <p:cNvSpPr/>
          <p:nvPr/>
        </p:nvSpPr>
        <p:spPr>
          <a:xfrm>
            <a:off x="7201370" y="469719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Explosion: 8 Points 97">
            <a:extLst>
              <a:ext uri="{FF2B5EF4-FFF2-40B4-BE49-F238E27FC236}">
                <a16:creationId xmlns:a16="http://schemas.microsoft.com/office/drawing/2014/main" id="{14D89BC1-F77A-079B-0492-3320E6051B6A}"/>
              </a:ext>
            </a:extLst>
          </p:cNvPr>
          <p:cNvSpPr/>
          <p:nvPr/>
        </p:nvSpPr>
        <p:spPr>
          <a:xfrm>
            <a:off x="7222412" y="3958793"/>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Isosceles Triangle 98">
            <a:extLst>
              <a:ext uri="{FF2B5EF4-FFF2-40B4-BE49-F238E27FC236}">
                <a16:creationId xmlns:a16="http://schemas.microsoft.com/office/drawing/2014/main" id="{BAB446AC-37B4-5C23-B0CC-2A94D2EA5F4E}"/>
              </a:ext>
            </a:extLst>
          </p:cNvPr>
          <p:cNvSpPr/>
          <p:nvPr/>
        </p:nvSpPr>
        <p:spPr>
          <a:xfrm>
            <a:off x="4489914" y="440166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Isosceles Triangle 99">
            <a:extLst>
              <a:ext uri="{FF2B5EF4-FFF2-40B4-BE49-F238E27FC236}">
                <a16:creationId xmlns:a16="http://schemas.microsoft.com/office/drawing/2014/main" id="{C643D9CA-CD8A-B318-1A8D-9611A9931259}"/>
              </a:ext>
            </a:extLst>
          </p:cNvPr>
          <p:cNvSpPr/>
          <p:nvPr/>
        </p:nvSpPr>
        <p:spPr>
          <a:xfrm>
            <a:off x="5521796" y="438903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Isosceles Triangle 100">
            <a:extLst>
              <a:ext uri="{FF2B5EF4-FFF2-40B4-BE49-F238E27FC236}">
                <a16:creationId xmlns:a16="http://schemas.microsoft.com/office/drawing/2014/main" id="{8F3E1DDC-D285-35C0-BC04-D8E251E0722A}"/>
              </a:ext>
            </a:extLst>
          </p:cNvPr>
          <p:cNvSpPr/>
          <p:nvPr/>
        </p:nvSpPr>
        <p:spPr>
          <a:xfrm>
            <a:off x="5112594" y="388349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Isosceles Triangle 101">
            <a:extLst>
              <a:ext uri="{FF2B5EF4-FFF2-40B4-BE49-F238E27FC236}">
                <a16:creationId xmlns:a16="http://schemas.microsoft.com/office/drawing/2014/main" id="{136A35E1-E865-6142-C0B6-6417517D269E}"/>
              </a:ext>
            </a:extLst>
          </p:cNvPr>
          <p:cNvSpPr/>
          <p:nvPr/>
        </p:nvSpPr>
        <p:spPr>
          <a:xfrm>
            <a:off x="5175504" y="483002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Isosceles Triangle 102">
            <a:extLst>
              <a:ext uri="{FF2B5EF4-FFF2-40B4-BE49-F238E27FC236}">
                <a16:creationId xmlns:a16="http://schemas.microsoft.com/office/drawing/2014/main" id="{D921E030-EE81-87ED-5341-0FEBB6A05990}"/>
              </a:ext>
            </a:extLst>
          </p:cNvPr>
          <p:cNvSpPr/>
          <p:nvPr/>
        </p:nvSpPr>
        <p:spPr>
          <a:xfrm>
            <a:off x="6011360" y="509569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Isosceles Triangle 103">
            <a:extLst>
              <a:ext uri="{FF2B5EF4-FFF2-40B4-BE49-F238E27FC236}">
                <a16:creationId xmlns:a16="http://schemas.microsoft.com/office/drawing/2014/main" id="{711794ED-62ED-EBF1-FEB6-1B5389600425}"/>
              </a:ext>
            </a:extLst>
          </p:cNvPr>
          <p:cNvSpPr/>
          <p:nvPr/>
        </p:nvSpPr>
        <p:spPr>
          <a:xfrm>
            <a:off x="5549200" y="566538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Isosceles Triangle 104">
            <a:extLst>
              <a:ext uri="{FF2B5EF4-FFF2-40B4-BE49-F238E27FC236}">
                <a16:creationId xmlns:a16="http://schemas.microsoft.com/office/drawing/2014/main" id="{EDB2C5AE-B2F7-7439-EC29-6A87B5F6B131}"/>
              </a:ext>
            </a:extLst>
          </p:cNvPr>
          <p:cNvSpPr/>
          <p:nvPr/>
        </p:nvSpPr>
        <p:spPr>
          <a:xfrm>
            <a:off x="4634553" y="366080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Explosion: 8 Points 105">
            <a:extLst>
              <a:ext uri="{FF2B5EF4-FFF2-40B4-BE49-F238E27FC236}">
                <a16:creationId xmlns:a16="http://schemas.microsoft.com/office/drawing/2014/main" id="{26980885-A618-DEC1-EB68-39DF3A3B6217}"/>
              </a:ext>
            </a:extLst>
          </p:cNvPr>
          <p:cNvSpPr/>
          <p:nvPr/>
        </p:nvSpPr>
        <p:spPr>
          <a:xfrm>
            <a:off x="7724342" y="445824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Explosion: 8 Points 106">
            <a:extLst>
              <a:ext uri="{FF2B5EF4-FFF2-40B4-BE49-F238E27FC236}">
                <a16:creationId xmlns:a16="http://schemas.microsoft.com/office/drawing/2014/main" id="{E23B22B7-373F-8D26-F97D-EC5B8F81514A}"/>
              </a:ext>
            </a:extLst>
          </p:cNvPr>
          <p:cNvSpPr/>
          <p:nvPr/>
        </p:nvSpPr>
        <p:spPr>
          <a:xfrm>
            <a:off x="7679053" y="405094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Explosion: 8 Points 107">
            <a:extLst>
              <a:ext uri="{FF2B5EF4-FFF2-40B4-BE49-F238E27FC236}">
                <a16:creationId xmlns:a16="http://schemas.microsoft.com/office/drawing/2014/main" id="{7469C2D1-D396-602B-9731-C707A8A152A4}"/>
              </a:ext>
            </a:extLst>
          </p:cNvPr>
          <p:cNvSpPr/>
          <p:nvPr/>
        </p:nvSpPr>
        <p:spPr>
          <a:xfrm>
            <a:off x="7447694" y="333983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Explosion: 8 Points 108">
            <a:extLst>
              <a:ext uri="{FF2B5EF4-FFF2-40B4-BE49-F238E27FC236}">
                <a16:creationId xmlns:a16="http://schemas.microsoft.com/office/drawing/2014/main" id="{CD437FED-1E5A-48D4-68DC-ED87C20DBC95}"/>
              </a:ext>
            </a:extLst>
          </p:cNvPr>
          <p:cNvSpPr/>
          <p:nvPr/>
        </p:nvSpPr>
        <p:spPr>
          <a:xfrm>
            <a:off x="8069175" y="389571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Explosion: 8 Points 109">
            <a:extLst>
              <a:ext uri="{FF2B5EF4-FFF2-40B4-BE49-F238E27FC236}">
                <a16:creationId xmlns:a16="http://schemas.microsoft.com/office/drawing/2014/main" id="{19FA08DF-297F-CA42-42BF-B820A8D974F8}"/>
              </a:ext>
            </a:extLst>
          </p:cNvPr>
          <p:cNvSpPr/>
          <p:nvPr/>
        </p:nvSpPr>
        <p:spPr>
          <a:xfrm>
            <a:off x="8433080" y="345635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Explosion: 8 Points 110">
            <a:extLst>
              <a:ext uri="{FF2B5EF4-FFF2-40B4-BE49-F238E27FC236}">
                <a16:creationId xmlns:a16="http://schemas.microsoft.com/office/drawing/2014/main" id="{0DD82BC2-6FB9-38ED-5130-4BBDCC421F02}"/>
              </a:ext>
            </a:extLst>
          </p:cNvPr>
          <p:cNvSpPr/>
          <p:nvPr/>
        </p:nvSpPr>
        <p:spPr>
          <a:xfrm>
            <a:off x="8362054" y="43624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Explosion: 8 Points 111">
            <a:extLst>
              <a:ext uri="{FF2B5EF4-FFF2-40B4-BE49-F238E27FC236}">
                <a16:creationId xmlns:a16="http://schemas.microsoft.com/office/drawing/2014/main" id="{68966313-AE95-7B30-F6A3-4F6397BCAF0A}"/>
              </a:ext>
            </a:extLst>
          </p:cNvPr>
          <p:cNvSpPr/>
          <p:nvPr/>
        </p:nvSpPr>
        <p:spPr>
          <a:xfrm>
            <a:off x="9106868" y="420445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Explosion: 8 Points 112">
            <a:extLst>
              <a:ext uri="{FF2B5EF4-FFF2-40B4-BE49-F238E27FC236}">
                <a16:creationId xmlns:a16="http://schemas.microsoft.com/office/drawing/2014/main" id="{5F89B21B-1535-CD11-DF0D-1635DA518C48}"/>
              </a:ext>
            </a:extLst>
          </p:cNvPr>
          <p:cNvSpPr/>
          <p:nvPr/>
        </p:nvSpPr>
        <p:spPr>
          <a:xfrm>
            <a:off x="8752328" y="384704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Explosion: 8 Points 113">
            <a:extLst>
              <a:ext uri="{FF2B5EF4-FFF2-40B4-BE49-F238E27FC236}">
                <a16:creationId xmlns:a16="http://schemas.microsoft.com/office/drawing/2014/main" id="{49D7E356-E94A-A07C-5FBC-3C57A49F5725}"/>
              </a:ext>
            </a:extLst>
          </p:cNvPr>
          <p:cNvSpPr/>
          <p:nvPr/>
        </p:nvSpPr>
        <p:spPr>
          <a:xfrm>
            <a:off x="9081981" y="469719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Explosion: 8 Points 114">
            <a:extLst>
              <a:ext uri="{FF2B5EF4-FFF2-40B4-BE49-F238E27FC236}">
                <a16:creationId xmlns:a16="http://schemas.microsoft.com/office/drawing/2014/main" id="{40107B64-675C-D8F7-122E-7BCCA9FCB266}"/>
              </a:ext>
            </a:extLst>
          </p:cNvPr>
          <p:cNvSpPr/>
          <p:nvPr/>
        </p:nvSpPr>
        <p:spPr>
          <a:xfrm>
            <a:off x="8568178" y="4955992"/>
            <a:ext cx="193747"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Explosion: 8 Points 115">
            <a:extLst>
              <a:ext uri="{FF2B5EF4-FFF2-40B4-BE49-F238E27FC236}">
                <a16:creationId xmlns:a16="http://schemas.microsoft.com/office/drawing/2014/main" id="{6944006F-43F0-AA4E-C43E-6FBD2B1694AB}"/>
              </a:ext>
            </a:extLst>
          </p:cNvPr>
          <p:cNvSpPr/>
          <p:nvPr/>
        </p:nvSpPr>
        <p:spPr>
          <a:xfrm>
            <a:off x="9705267" y="500160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Explosion: 8 Points 116">
            <a:extLst>
              <a:ext uri="{FF2B5EF4-FFF2-40B4-BE49-F238E27FC236}">
                <a16:creationId xmlns:a16="http://schemas.microsoft.com/office/drawing/2014/main" id="{492DF174-BD2E-BB30-690C-EBFC1087CF44}"/>
              </a:ext>
            </a:extLst>
          </p:cNvPr>
          <p:cNvSpPr/>
          <p:nvPr/>
        </p:nvSpPr>
        <p:spPr>
          <a:xfrm>
            <a:off x="9287035" y="526727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Explosion: 8 Points 117">
            <a:extLst>
              <a:ext uri="{FF2B5EF4-FFF2-40B4-BE49-F238E27FC236}">
                <a16:creationId xmlns:a16="http://schemas.microsoft.com/office/drawing/2014/main" id="{FE6A3948-D6C5-B66F-930E-32EC476CF7BE}"/>
              </a:ext>
            </a:extLst>
          </p:cNvPr>
          <p:cNvSpPr/>
          <p:nvPr/>
        </p:nvSpPr>
        <p:spPr>
          <a:xfrm>
            <a:off x="10396145" y="4971510"/>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Isosceles Triangle 118">
            <a:extLst>
              <a:ext uri="{FF2B5EF4-FFF2-40B4-BE49-F238E27FC236}">
                <a16:creationId xmlns:a16="http://schemas.microsoft.com/office/drawing/2014/main" id="{F683F489-3FE0-5592-4691-AC5908144590}"/>
              </a:ext>
            </a:extLst>
          </p:cNvPr>
          <p:cNvSpPr/>
          <p:nvPr/>
        </p:nvSpPr>
        <p:spPr>
          <a:xfrm>
            <a:off x="6803261" y="468291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Isosceles Triangle 119">
            <a:extLst>
              <a:ext uri="{FF2B5EF4-FFF2-40B4-BE49-F238E27FC236}">
                <a16:creationId xmlns:a16="http://schemas.microsoft.com/office/drawing/2014/main" id="{6A728755-C4A1-B2FB-E123-B1A489461FBE}"/>
              </a:ext>
            </a:extLst>
          </p:cNvPr>
          <p:cNvSpPr/>
          <p:nvPr/>
        </p:nvSpPr>
        <p:spPr>
          <a:xfrm>
            <a:off x="8794796" y="350306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Isosceles Triangle 120">
            <a:extLst>
              <a:ext uri="{FF2B5EF4-FFF2-40B4-BE49-F238E27FC236}">
                <a16:creationId xmlns:a16="http://schemas.microsoft.com/office/drawing/2014/main" id="{901A7E7C-F316-0F3C-AB73-687C512D8964}"/>
              </a:ext>
            </a:extLst>
          </p:cNvPr>
          <p:cNvSpPr/>
          <p:nvPr/>
        </p:nvSpPr>
        <p:spPr>
          <a:xfrm>
            <a:off x="7340415" y="427289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Isosceles Triangle 121">
            <a:extLst>
              <a:ext uri="{FF2B5EF4-FFF2-40B4-BE49-F238E27FC236}">
                <a16:creationId xmlns:a16="http://schemas.microsoft.com/office/drawing/2014/main" id="{B5E48513-3376-8B91-2865-CCF824561E8A}"/>
              </a:ext>
            </a:extLst>
          </p:cNvPr>
          <p:cNvSpPr/>
          <p:nvPr/>
        </p:nvSpPr>
        <p:spPr>
          <a:xfrm>
            <a:off x="7117959" y="352358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Isosceles Triangle 122">
            <a:extLst>
              <a:ext uri="{FF2B5EF4-FFF2-40B4-BE49-F238E27FC236}">
                <a16:creationId xmlns:a16="http://schemas.microsoft.com/office/drawing/2014/main" id="{F6EA30DA-A585-3A42-AA1F-E08031E54EFD}"/>
              </a:ext>
            </a:extLst>
          </p:cNvPr>
          <p:cNvSpPr/>
          <p:nvPr/>
        </p:nvSpPr>
        <p:spPr>
          <a:xfrm>
            <a:off x="7724342" y="347266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Isosceles Triangle 123">
            <a:extLst>
              <a:ext uri="{FF2B5EF4-FFF2-40B4-BE49-F238E27FC236}">
                <a16:creationId xmlns:a16="http://schemas.microsoft.com/office/drawing/2014/main" id="{806C3966-8E2E-DCDB-0D47-65A98B16C25D}"/>
              </a:ext>
            </a:extLst>
          </p:cNvPr>
          <p:cNvSpPr/>
          <p:nvPr/>
        </p:nvSpPr>
        <p:spPr>
          <a:xfrm>
            <a:off x="8251496" y="405773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Isosceles Triangle 124">
            <a:extLst>
              <a:ext uri="{FF2B5EF4-FFF2-40B4-BE49-F238E27FC236}">
                <a16:creationId xmlns:a16="http://schemas.microsoft.com/office/drawing/2014/main" id="{E1B5680B-A515-0C41-7F5A-1D544F7E59CC}"/>
              </a:ext>
            </a:extLst>
          </p:cNvPr>
          <p:cNvSpPr/>
          <p:nvPr/>
        </p:nvSpPr>
        <p:spPr>
          <a:xfrm>
            <a:off x="8733474" y="444597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Isosceles Triangle 125">
            <a:extLst>
              <a:ext uri="{FF2B5EF4-FFF2-40B4-BE49-F238E27FC236}">
                <a16:creationId xmlns:a16="http://schemas.microsoft.com/office/drawing/2014/main" id="{D7EB910C-2294-B46B-0B4B-30C3554A801E}"/>
              </a:ext>
            </a:extLst>
          </p:cNvPr>
          <p:cNvSpPr/>
          <p:nvPr/>
        </p:nvSpPr>
        <p:spPr>
          <a:xfrm>
            <a:off x="9542501" y="454721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Isosceles Triangle 126">
            <a:extLst>
              <a:ext uri="{FF2B5EF4-FFF2-40B4-BE49-F238E27FC236}">
                <a16:creationId xmlns:a16="http://schemas.microsoft.com/office/drawing/2014/main" id="{2BA64526-66F4-4638-9A14-459F75D2F346}"/>
              </a:ext>
            </a:extLst>
          </p:cNvPr>
          <p:cNvSpPr/>
          <p:nvPr/>
        </p:nvSpPr>
        <p:spPr>
          <a:xfrm>
            <a:off x="8919212" y="506442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Isosceles Triangle 127">
            <a:extLst>
              <a:ext uri="{FF2B5EF4-FFF2-40B4-BE49-F238E27FC236}">
                <a16:creationId xmlns:a16="http://schemas.microsoft.com/office/drawing/2014/main" id="{117A519A-5C4D-C9B0-AA7E-CACB1438D0BA}"/>
              </a:ext>
            </a:extLst>
          </p:cNvPr>
          <p:cNvSpPr/>
          <p:nvPr/>
        </p:nvSpPr>
        <p:spPr>
          <a:xfrm>
            <a:off x="9864646" y="526727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Isosceles Triangle 128">
            <a:extLst>
              <a:ext uri="{FF2B5EF4-FFF2-40B4-BE49-F238E27FC236}">
                <a16:creationId xmlns:a16="http://schemas.microsoft.com/office/drawing/2014/main" id="{7E430FB8-530C-21C2-462F-2602F73DD505}"/>
              </a:ext>
            </a:extLst>
          </p:cNvPr>
          <p:cNvSpPr/>
          <p:nvPr/>
        </p:nvSpPr>
        <p:spPr>
          <a:xfrm>
            <a:off x="10461111" y="550638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Isosceles Triangle 129">
            <a:extLst>
              <a:ext uri="{FF2B5EF4-FFF2-40B4-BE49-F238E27FC236}">
                <a16:creationId xmlns:a16="http://schemas.microsoft.com/office/drawing/2014/main" id="{FDA03364-5EF4-ACB3-88C7-69EF6B1C0C56}"/>
              </a:ext>
            </a:extLst>
          </p:cNvPr>
          <p:cNvSpPr/>
          <p:nvPr/>
        </p:nvSpPr>
        <p:spPr>
          <a:xfrm>
            <a:off x="10323951" y="447832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C345EB8-8BD5-0C85-59C6-BEBBB21EF130}"/>
              </a:ext>
            </a:extLst>
          </p:cNvPr>
          <p:cNvSpPr/>
          <p:nvPr/>
        </p:nvSpPr>
        <p:spPr>
          <a:xfrm>
            <a:off x="6408069" y="369870"/>
            <a:ext cx="4243542" cy="19343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8965C31-151D-F5F0-7775-D5894C7E8C00}"/>
              </a:ext>
            </a:extLst>
          </p:cNvPr>
          <p:cNvSpPr txBox="1"/>
          <p:nvPr/>
        </p:nvSpPr>
        <p:spPr>
          <a:xfrm>
            <a:off x="6425113" y="388801"/>
            <a:ext cx="4271400" cy="1938992"/>
          </a:xfrm>
          <a:prstGeom prst="rect">
            <a:avLst/>
          </a:prstGeom>
          <a:solidFill>
            <a:srgbClr val="F56600">
              <a:alpha val="10000"/>
            </a:srgbClr>
          </a:solidFill>
          <a:ln w="12700">
            <a:solidFill>
              <a:schemeClr val="tx1"/>
            </a:solidFill>
          </a:ln>
        </p:spPr>
        <p:txBody>
          <a:bodyPr wrap="square" rtlCol="0">
            <a:spAutoFit/>
          </a:bodyPr>
          <a:lstStyle/>
          <a:p>
            <a:pPr algn="ctr"/>
            <a:r>
              <a:rPr lang="en-US" sz="2000" b="1" u="sng">
                <a:latin typeface="Arial" panose="020B0604020202020204" pitchFamily="34" charset="0"/>
                <a:cs typeface="Arial" panose="020B0604020202020204" pitchFamily="34" charset="0"/>
              </a:rPr>
              <a:t>Training Period</a:t>
            </a:r>
            <a:endParaRPr lang="en-US" sz="2000" b="1">
              <a:latin typeface="Arial" panose="020B0604020202020204" pitchFamily="34" charset="0"/>
              <a:cs typeface="Arial" panose="020B0604020202020204" pitchFamily="34" charset="0"/>
            </a:endParaRPr>
          </a:p>
          <a:p>
            <a:pPr algn="ctr"/>
            <a:r>
              <a:rPr lang="en-US" sz="2000">
                <a:latin typeface="Arial" panose="020B0604020202020204" pitchFamily="34" charset="0"/>
                <a:cs typeface="Arial" panose="020B0604020202020204" pitchFamily="34" charset="0"/>
              </a:rPr>
              <a:t>The span of time during which a model learns from historical data. During this period, the model identifies patterns in the data and adjusts its internal parameters. </a:t>
            </a:r>
          </a:p>
        </p:txBody>
      </p:sp>
      <p:cxnSp>
        <p:nvCxnSpPr>
          <p:cNvPr id="5" name="Straight Arrow Connector 4">
            <a:extLst>
              <a:ext uri="{FF2B5EF4-FFF2-40B4-BE49-F238E27FC236}">
                <a16:creationId xmlns:a16="http://schemas.microsoft.com/office/drawing/2014/main" id="{77C2E8CD-2B87-A807-5879-A959D6CA2FEF}"/>
              </a:ext>
            </a:extLst>
          </p:cNvPr>
          <p:cNvCxnSpPr/>
          <p:nvPr/>
        </p:nvCxnSpPr>
        <p:spPr>
          <a:xfrm flipH="1">
            <a:off x="5353935" y="1602769"/>
            <a:ext cx="1086700" cy="441788"/>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45151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41534-1777-92FA-ED37-0D00C23EDE0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287A6B7-9CD9-3FCC-83C7-3452630E852A}"/>
              </a:ext>
            </a:extLst>
          </p:cNvPr>
          <p:cNvSpPr/>
          <p:nvPr/>
        </p:nvSpPr>
        <p:spPr>
          <a:xfrm flipH="1">
            <a:off x="8874710" y="1036256"/>
            <a:ext cx="1930602" cy="5378740"/>
          </a:xfrm>
          <a:prstGeom prst="rect">
            <a:avLst/>
          </a:prstGeom>
          <a:solidFill>
            <a:srgbClr val="F566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0201D30-EF6E-A02D-14CF-B6B98507D213}"/>
              </a:ext>
            </a:extLst>
          </p:cNvPr>
          <p:cNvCxnSpPr/>
          <p:nvPr/>
        </p:nvCxnSpPr>
        <p:spPr>
          <a:xfrm>
            <a:off x="10819803" y="2145923"/>
            <a:ext cx="0" cy="4251489"/>
          </a:xfrm>
          <a:prstGeom prst="line">
            <a:avLst/>
          </a:prstGeom>
          <a:ln w="38100">
            <a:solidFill>
              <a:schemeClr val="tx1"/>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BE60612F-3D1A-7F80-DB82-08CEBF5FF2E0}"/>
              </a:ext>
            </a:extLst>
          </p:cNvPr>
          <p:cNvCxnSpPr>
            <a:cxnSpLocks/>
          </p:cNvCxnSpPr>
          <p:nvPr/>
        </p:nvCxnSpPr>
        <p:spPr>
          <a:xfrm flipV="1">
            <a:off x="329938" y="6414996"/>
            <a:ext cx="11217897" cy="2"/>
          </a:xfrm>
          <a:prstGeom prst="line">
            <a:avLst/>
          </a:prstGeom>
          <a:ln w="38100"/>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2030B796-7D78-DD14-5A12-5A122A53707B}"/>
              </a:ext>
            </a:extLst>
          </p:cNvPr>
          <p:cNvSpPr txBox="1"/>
          <p:nvPr/>
        </p:nvSpPr>
        <p:spPr>
          <a:xfrm>
            <a:off x="1392756" y="771443"/>
            <a:ext cx="4271401" cy="1323439"/>
          </a:xfrm>
          <a:prstGeom prst="rect">
            <a:avLst/>
          </a:prstGeom>
          <a:solidFill>
            <a:srgbClr val="F56600">
              <a:alpha val="10000"/>
            </a:srgbClr>
          </a:solidFill>
          <a:ln w="12700">
            <a:solidFill>
              <a:schemeClr val="tx1"/>
            </a:solidFill>
          </a:ln>
        </p:spPr>
        <p:txBody>
          <a:bodyPr wrap="square" rtlCol="0">
            <a:spAutoFit/>
          </a:bodyPr>
          <a:lstStyle/>
          <a:p>
            <a:pPr algn="ctr"/>
            <a:r>
              <a:rPr lang="en-US" sz="2000" b="1" u="sng">
                <a:latin typeface="Arial" panose="020B0604020202020204" pitchFamily="34" charset="0"/>
                <a:cs typeface="Arial" panose="020B0604020202020204" pitchFamily="34" charset="0"/>
              </a:rPr>
              <a:t>Testing Period</a:t>
            </a:r>
            <a:endParaRPr lang="en-US" sz="2000" b="1">
              <a:latin typeface="Arial" panose="020B0604020202020204" pitchFamily="34" charset="0"/>
              <a:cs typeface="Arial" panose="020B0604020202020204" pitchFamily="34" charset="0"/>
            </a:endParaRPr>
          </a:p>
          <a:p>
            <a:pPr algn="ctr"/>
            <a:r>
              <a:rPr lang="en-US" sz="2000">
                <a:latin typeface="Arial" panose="020B0604020202020204" pitchFamily="34" charset="0"/>
                <a:cs typeface="Arial" panose="020B0604020202020204" pitchFamily="34" charset="0"/>
              </a:rPr>
              <a:t>The time when a model’s performance is evaluated on new, unseen data.</a:t>
            </a:r>
          </a:p>
        </p:txBody>
      </p:sp>
      <p:cxnSp>
        <p:nvCxnSpPr>
          <p:cNvPr id="14" name="Straight Arrow Connector 13">
            <a:extLst>
              <a:ext uri="{FF2B5EF4-FFF2-40B4-BE49-F238E27FC236}">
                <a16:creationId xmlns:a16="http://schemas.microsoft.com/office/drawing/2014/main" id="{95D71ECA-19B5-0E77-B533-67B45E5C6337}"/>
              </a:ext>
            </a:extLst>
          </p:cNvPr>
          <p:cNvCxnSpPr>
            <a:cxnSpLocks/>
            <a:stCxn id="9" idx="3"/>
          </p:cNvCxnSpPr>
          <p:nvPr/>
        </p:nvCxnSpPr>
        <p:spPr>
          <a:xfrm>
            <a:off x="5664157" y="1433163"/>
            <a:ext cx="4181176" cy="118512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3" name="Freeform: Shape 62">
            <a:extLst>
              <a:ext uri="{FF2B5EF4-FFF2-40B4-BE49-F238E27FC236}">
                <a16:creationId xmlns:a16="http://schemas.microsoft.com/office/drawing/2014/main" id="{7DCA6AC1-3243-648D-112B-E6C17A530EFE}"/>
              </a:ext>
            </a:extLst>
          </p:cNvPr>
          <p:cNvSpPr/>
          <p:nvPr/>
        </p:nvSpPr>
        <p:spPr>
          <a:xfrm>
            <a:off x="612742" y="2907801"/>
            <a:ext cx="10207059" cy="2607612"/>
          </a:xfrm>
          <a:custGeom>
            <a:avLst/>
            <a:gdLst>
              <a:gd name="connsiteX0" fmla="*/ 0 w 7070103"/>
              <a:gd name="connsiteY0" fmla="*/ 176086 h 2651298"/>
              <a:gd name="connsiteX1" fmla="*/ 1150070 w 7070103"/>
              <a:gd name="connsiteY1" fmla="*/ 1854057 h 2651298"/>
              <a:gd name="connsiteX2" fmla="*/ 2366128 w 7070103"/>
              <a:gd name="connsiteY2" fmla="*/ 6403 h 2651298"/>
              <a:gd name="connsiteX3" fmla="*/ 3817856 w 7070103"/>
              <a:gd name="connsiteY3" fmla="*/ 2645909 h 2651298"/>
              <a:gd name="connsiteX4" fmla="*/ 5071621 w 7070103"/>
              <a:gd name="connsiteY4" fmla="*/ 741694 h 2651298"/>
              <a:gd name="connsiteX5" fmla="*/ 6381946 w 7070103"/>
              <a:gd name="connsiteY5" fmla="*/ 2532787 h 2651298"/>
              <a:gd name="connsiteX6" fmla="*/ 7070103 w 7070103"/>
              <a:gd name="connsiteY6" fmla="*/ 1552399 h 2651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70103" h="2651298">
                <a:moveTo>
                  <a:pt x="0" y="176086"/>
                </a:moveTo>
                <a:cubicBezTo>
                  <a:pt x="377857" y="1029212"/>
                  <a:pt x="755715" y="1882338"/>
                  <a:pt x="1150070" y="1854057"/>
                </a:cubicBezTo>
                <a:cubicBezTo>
                  <a:pt x="1544425" y="1825777"/>
                  <a:pt x="1921497" y="-125572"/>
                  <a:pt x="2366128" y="6403"/>
                </a:cubicBezTo>
                <a:cubicBezTo>
                  <a:pt x="2810759" y="138378"/>
                  <a:pt x="3366941" y="2523361"/>
                  <a:pt x="3817856" y="2645909"/>
                </a:cubicBezTo>
                <a:cubicBezTo>
                  <a:pt x="4268772" y="2768458"/>
                  <a:pt x="4644273" y="760548"/>
                  <a:pt x="5071621" y="741694"/>
                </a:cubicBezTo>
                <a:cubicBezTo>
                  <a:pt x="5498969" y="722840"/>
                  <a:pt x="6048866" y="2397670"/>
                  <a:pt x="6381946" y="2532787"/>
                </a:cubicBezTo>
                <a:cubicBezTo>
                  <a:pt x="6715026" y="2667905"/>
                  <a:pt x="6892564" y="2110152"/>
                  <a:pt x="7070103" y="1552399"/>
                </a:cubicBezTo>
              </a:path>
            </a:pathLst>
          </a:custGeom>
          <a:noFill/>
          <a:ln w="38100">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a:extLst>
              <a:ext uri="{FF2B5EF4-FFF2-40B4-BE49-F238E27FC236}">
                <a16:creationId xmlns:a16="http://schemas.microsoft.com/office/drawing/2014/main" id="{BEF7F645-954C-FC13-AE7F-F2D929DA81B7}"/>
              </a:ext>
            </a:extLst>
          </p:cNvPr>
          <p:cNvSpPr/>
          <p:nvPr/>
        </p:nvSpPr>
        <p:spPr>
          <a:xfrm>
            <a:off x="1061292" y="335758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Isosceles Triangle 64">
            <a:extLst>
              <a:ext uri="{FF2B5EF4-FFF2-40B4-BE49-F238E27FC236}">
                <a16:creationId xmlns:a16="http://schemas.microsoft.com/office/drawing/2014/main" id="{9448D74D-FB30-3005-5999-F6983A7A2753}"/>
              </a:ext>
            </a:extLst>
          </p:cNvPr>
          <p:cNvSpPr/>
          <p:nvPr/>
        </p:nvSpPr>
        <p:spPr>
          <a:xfrm>
            <a:off x="1787946" y="430724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Isosceles Triangle 65">
            <a:extLst>
              <a:ext uri="{FF2B5EF4-FFF2-40B4-BE49-F238E27FC236}">
                <a16:creationId xmlns:a16="http://schemas.microsoft.com/office/drawing/2014/main" id="{A74C7090-A97C-8806-77E9-95687CD83DAF}"/>
              </a:ext>
            </a:extLst>
          </p:cNvPr>
          <p:cNvSpPr/>
          <p:nvPr/>
        </p:nvSpPr>
        <p:spPr>
          <a:xfrm>
            <a:off x="1207000" y="424726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Isosceles Triangle 66">
            <a:extLst>
              <a:ext uri="{FF2B5EF4-FFF2-40B4-BE49-F238E27FC236}">
                <a16:creationId xmlns:a16="http://schemas.microsoft.com/office/drawing/2014/main" id="{AF694486-CA14-2973-C567-F731F61A2EF8}"/>
              </a:ext>
            </a:extLst>
          </p:cNvPr>
          <p:cNvSpPr/>
          <p:nvPr/>
        </p:nvSpPr>
        <p:spPr>
          <a:xfrm>
            <a:off x="2231732" y="466335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Isosceles Triangle 67">
            <a:extLst>
              <a:ext uri="{FF2B5EF4-FFF2-40B4-BE49-F238E27FC236}">
                <a16:creationId xmlns:a16="http://schemas.microsoft.com/office/drawing/2014/main" id="{EA22823D-826F-AFB0-0724-F393889DF2D6}"/>
              </a:ext>
            </a:extLst>
          </p:cNvPr>
          <p:cNvSpPr/>
          <p:nvPr/>
        </p:nvSpPr>
        <p:spPr>
          <a:xfrm>
            <a:off x="2390768" y="402243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Isosceles Triangle 68">
            <a:extLst>
              <a:ext uri="{FF2B5EF4-FFF2-40B4-BE49-F238E27FC236}">
                <a16:creationId xmlns:a16="http://schemas.microsoft.com/office/drawing/2014/main" id="{67FE8ED5-5358-7607-D088-5D8DD3EDA7D9}"/>
              </a:ext>
            </a:extLst>
          </p:cNvPr>
          <p:cNvSpPr/>
          <p:nvPr/>
        </p:nvSpPr>
        <p:spPr>
          <a:xfrm>
            <a:off x="3031604" y="437074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Isosceles Triangle 69">
            <a:extLst>
              <a:ext uri="{FF2B5EF4-FFF2-40B4-BE49-F238E27FC236}">
                <a16:creationId xmlns:a16="http://schemas.microsoft.com/office/drawing/2014/main" id="{08936A5F-7B26-4602-4604-0B84D337E04C}"/>
              </a:ext>
            </a:extLst>
          </p:cNvPr>
          <p:cNvSpPr/>
          <p:nvPr/>
        </p:nvSpPr>
        <p:spPr>
          <a:xfrm>
            <a:off x="475580" y="332551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Isosceles Triangle 70">
            <a:extLst>
              <a:ext uri="{FF2B5EF4-FFF2-40B4-BE49-F238E27FC236}">
                <a16:creationId xmlns:a16="http://schemas.microsoft.com/office/drawing/2014/main" id="{B54A7C28-8569-599F-098C-60149DE2B5BB}"/>
              </a:ext>
            </a:extLst>
          </p:cNvPr>
          <p:cNvSpPr/>
          <p:nvPr/>
        </p:nvSpPr>
        <p:spPr>
          <a:xfrm>
            <a:off x="2844680" y="337124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Isosceles Triangle 71">
            <a:extLst>
              <a:ext uri="{FF2B5EF4-FFF2-40B4-BE49-F238E27FC236}">
                <a16:creationId xmlns:a16="http://schemas.microsoft.com/office/drawing/2014/main" id="{82BA0D85-FD0D-5AEE-251A-3C961FC05117}"/>
              </a:ext>
            </a:extLst>
          </p:cNvPr>
          <p:cNvSpPr/>
          <p:nvPr/>
        </p:nvSpPr>
        <p:spPr>
          <a:xfrm>
            <a:off x="3472648" y="273503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Isosceles Triangle 72">
            <a:extLst>
              <a:ext uri="{FF2B5EF4-FFF2-40B4-BE49-F238E27FC236}">
                <a16:creationId xmlns:a16="http://schemas.microsoft.com/office/drawing/2014/main" id="{66758091-C5E6-D0CA-FEE6-B2D02AF3FABB}"/>
              </a:ext>
            </a:extLst>
          </p:cNvPr>
          <p:cNvSpPr/>
          <p:nvPr/>
        </p:nvSpPr>
        <p:spPr>
          <a:xfrm>
            <a:off x="4215594" y="253674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Isosceles Triangle 73">
            <a:extLst>
              <a:ext uri="{FF2B5EF4-FFF2-40B4-BE49-F238E27FC236}">
                <a16:creationId xmlns:a16="http://schemas.microsoft.com/office/drawing/2014/main" id="{72D2701F-96FC-875E-9ECB-03F43976A013}"/>
              </a:ext>
            </a:extLst>
          </p:cNvPr>
          <p:cNvSpPr/>
          <p:nvPr/>
        </p:nvSpPr>
        <p:spPr>
          <a:xfrm>
            <a:off x="3973173" y="337124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42D7F812-9B52-5DF3-652A-41D074A79FF3}"/>
              </a:ext>
            </a:extLst>
          </p:cNvPr>
          <p:cNvSpPr/>
          <p:nvPr/>
        </p:nvSpPr>
        <p:spPr>
          <a:xfrm>
            <a:off x="6568368" y="564104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Explosion: 8 Points 75">
            <a:extLst>
              <a:ext uri="{FF2B5EF4-FFF2-40B4-BE49-F238E27FC236}">
                <a16:creationId xmlns:a16="http://schemas.microsoft.com/office/drawing/2014/main" id="{BA69FFD3-635A-8D91-F2A3-2A13521950CF}"/>
              </a:ext>
            </a:extLst>
          </p:cNvPr>
          <p:cNvSpPr/>
          <p:nvPr/>
        </p:nvSpPr>
        <p:spPr>
          <a:xfrm>
            <a:off x="1460409" y="3938786"/>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7" name="Explosion: 8 Points 76">
            <a:extLst>
              <a:ext uri="{FF2B5EF4-FFF2-40B4-BE49-F238E27FC236}">
                <a16:creationId xmlns:a16="http://schemas.microsoft.com/office/drawing/2014/main" id="{D61F9DCE-91F4-CDF4-2D09-638FF7A0F1D4}"/>
              </a:ext>
            </a:extLst>
          </p:cNvPr>
          <p:cNvSpPr/>
          <p:nvPr/>
        </p:nvSpPr>
        <p:spPr>
          <a:xfrm>
            <a:off x="3323707" y="379412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Explosion: 8 Points 77">
            <a:extLst>
              <a:ext uri="{FF2B5EF4-FFF2-40B4-BE49-F238E27FC236}">
                <a16:creationId xmlns:a16="http://schemas.microsoft.com/office/drawing/2014/main" id="{5E67A001-B430-D45A-4C83-726254997AC4}"/>
              </a:ext>
            </a:extLst>
          </p:cNvPr>
          <p:cNvSpPr/>
          <p:nvPr/>
        </p:nvSpPr>
        <p:spPr>
          <a:xfrm>
            <a:off x="2323487" y="355201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Explosion: 8 Points 78">
            <a:extLst>
              <a:ext uri="{FF2B5EF4-FFF2-40B4-BE49-F238E27FC236}">
                <a16:creationId xmlns:a16="http://schemas.microsoft.com/office/drawing/2014/main" id="{8A88BA42-83CF-7942-E1E7-4BB8504D81D6}"/>
              </a:ext>
            </a:extLst>
          </p:cNvPr>
          <p:cNvSpPr/>
          <p:nvPr/>
        </p:nvSpPr>
        <p:spPr>
          <a:xfrm>
            <a:off x="3541465" y="315415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Explosion: 8 Points 79">
            <a:extLst>
              <a:ext uri="{FF2B5EF4-FFF2-40B4-BE49-F238E27FC236}">
                <a16:creationId xmlns:a16="http://schemas.microsoft.com/office/drawing/2014/main" id="{CEBED07A-09AE-18F4-C4C7-0082CF2059BF}"/>
              </a:ext>
            </a:extLst>
          </p:cNvPr>
          <p:cNvSpPr/>
          <p:nvPr/>
        </p:nvSpPr>
        <p:spPr>
          <a:xfrm>
            <a:off x="3669198" y="241021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Explosion: 8 Points 80">
            <a:extLst>
              <a:ext uri="{FF2B5EF4-FFF2-40B4-BE49-F238E27FC236}">
                <a16:creationId xmlns:a16="http://schemas.microsoft.com/office/drawing/2014/main" id="{82E0893A-94CC-B341-151D-92FB5C30B96F}"/>
              </a:ext>
            </a:extLst>
          </p:cNvPr>
          <p:cNvSpPr/>
          <p:nvPr/>
        </p:nvSpPr>
        <p:spPr>
          <a:xfrm>
            <a:off x="4390213" y="319268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Explosion: 8 Points 81">
            <a:extLst>
              <a:ext uri="{FF2B5EF4-FFF2-40B4-BE49-F238E27FC236}">
                <a16:creationId xmlns:a16="http://schemas.microsoft.com/office/drawing/2014/main" id="{CE1E9F9F-FDE1-D9BE-7B2E-A040324FDE36}"/>
              </a:ext>
            </a:extLst>
          </p:cNvPr>
          <p:cNvSpPr/>
          <p:nvPr/>
        </p:nvSpPr>
        <p:spPr>
          <a:xfrm>
            <a:off x="4207346" y="392570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Explosion: 8 Points 82">
            <a:extLst>
              <a:ext uri="{FF2B5EF4-FFF2-40B4-BE49-F238E27FC236}">
                <a16:creationId xmlns:a16="http://schemas.microsoft.com/office/drawing/2014/main" id="{7BBDC398-D8FF-63F7-0FAC-69BC717ED142}"/>
              </a:ext>
            </a:extLst>
          </p:cNvPr>
          <p:cNvSpPr/>
          <p:nvPr/>
        </p:nvSpPr>
        <p:spPr>
          <a:xfrm>
            <a:off x="1669640" y="4854886"/>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4" name="Explosion: 8 Points 83">
            <a:extLst>
              <a:ext uri="{FF2B5EF4-FFF2-40B4-BE49-F238E27FC236}">
                <a16:creationId xmlns:a16="http://schemas.microsoft.com/office/drawing/2014/main" id="{4B93FB83-77AC-435C-7553-CE5B0E8E4426}"/>
              </a:ext>
            </a:extLst>
          </p:cNvPr>
          <p:cNvSpPr/>
          <p:nvPr/>
        </p:nvSpPr>
        <p:spPr>
          <a:xfrm>
            <a:off x="466635" y="3951128"/>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Explosion: 8 Points 84">
            <a:extLst>
              <a:ext uri="{FF2B5EF4-FFF2-40B4-BE49-F238E27FC236}">
                <a16:creationId xmlns:a16="http://schemas.microsoft.com/office/drawing/2014/main" id="{B558DCE1-FE03-F0B4-1917-6A3F4851BA0B}"/>
              </a:ext>
            </a:extLst>
          </p:cNvPr>
          <p:cNvSpPr/>
          <p:nvPr/>
        </p:nvSpPr>
        <p:spPr>
          <a:xfrm>
            <a:off x="4884350" y="451223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Explosion: 8 Points 85">
            <a:extLst>
              <a:ext uri="{FF2B5EF4-FFF2-40B4-BE49-F238E27FC236}">
                <a16:creationId xmlns:a16="http://schemas.microsoft.com/office/drawing/2014/main" id="{3C806907-D22E-D37F-6F3E-60F6034106A1}"/>
              </a:ext>
            </a:extLst>
          </p:cNvPr>
          <p:cNvSpPr/>
          <p:nvPr/>
        </p:nvSpPr>
        <p:spPr>
          <a:xfrm>
            <a:off x="4628884" y="496286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Explosion: 8 Points 86">
            <a:extLst>
              <a:ext uri="{FF2B5EF4-FFF2-40B4-BE49-F238E27FC236}">
                <a16:creationId xmlns:a16="http://schemas.microsoft.com/office/drawing/2014/main" id="{49C5ABF9-3D08-54C6-4399-EACA466DD0BB}"/>
              </a:ext>
            </a:extLst>
          </p:cNvPr>
          <p:cNvSpPr/>
          <p:nvPr/>
        </p:nvSpPr>
        <p:spPr>
          <a:xfrm>
            <a:off x="5353935" y="523243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Explosion: 8 Points 87">
            <a:extLst>
              <a:ext uri="{FF2B5EF4-FFF2-40B4-BE49-F238E27FC236}">
                <a16:creationId xmlns:a16="http://schemas.microsoft.com/office/drawing/2014/main" id="{B3976C3D-9662-2DF5-A322-4D4210952A1A}"/>
              </a:ext>
            </a:extLst>
          </p:cNvPr>
          <p:cNvSpPr/>
          <p:nvPr/>
        </p:nvSpPr>
        <p:spPr>
          <a:xfrm>
            <a:off x="6312902" y="476318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Explosion: 8 Points 88">
            <a:extLst>
              <a:ext uri="{FF2B5EF4-FFF2-40B4-BE49-F238E27FC236}">
                <a16:creationId xmlns:a16="http://schemas.microsoft.com/office/drawing/2014/main" id="{FBA1F065-0BC0-2077-BAD9-7AAD32543BC6}"/>
              </a:ext>
            </a:extLst>
          </p:cNvPr>
          <p:cNvSpPr/>
          <p:nvPr/>
        </p:nvSpPr>
        <p:spPr>
          <a:xfrm>
            <a:off x="5159360" y="360077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Explosion: 8 Points 89">
            <a:extLst>
              <a:ext uri="{FF2B5EF4-FFF2-40B4-BE49-F238E27FC236}">
                <a16:creationId xmlns:a16="http://schemas.microsoft.com/office/drawing/2014/main" id="{61086936-E755-C9DF-CA1C-8C3F0C966F5D}"/>
              </a:ext>
            </a:extLst>
          </p:cNvPr>
          <p:cNvSpPr/>
          <p:nvPr/>
        </p:nvSpPr>
        <p:spPr>
          <a:xfrm>
            <a:off x="5685050" y="474944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Explosion: 8 Points 90">
            <a:extLst>
              <a:ext uri="{FF2B5EF4-FFF2-40B4-BE49-F238E27FC236}">
                <a16:creationId xmlns:a16="http://schemas.microsoft.com/office/drawing/2014/main" id="{640FE427-876C-D169-195D-6B602D49EDF8}"/>
              </a:ext>
            </a:extLst>
          </p:cNvPr>
          <p:cNvSpPr/>
          <p:nvPr/>
        </p:nvSpPr>
        <p:spPr>
          <a:xfrm>
            <a:off x="5380025" y="414059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Explosion: 8 Points 91">
            <a:extLst>
              <a:ext uri="{FF2B5EF4-FFF2-40B4-BE49-F238E27FC236}">
                <a16:creationId xmlns:a16="http://schemas.microsoft.com/office/drawing/2014/main" id="{4637C6EE-AF42-EAA3-1CBA-6A0A88DF8915}"/>
              </a:ext>
            </a:extLst>
          </p:cNvPr>
          <p:cNvSpPr/>
          <p:nvPr/>
        </p:nvSpPr>
        <p:spPr>
          <a:xfrm>
            <a:off x="6111240" y="579803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Explosion: 8 Points 92">
            <a:extLst>
              <a:ext uri="{FF2B5EF4-FFF2-40B4-BE49-F238E27FC236}">
                <a16:creationId xmlns:a16="http://schemas.microsoft.com/office/drawing/2014/main" id="{8A97132D-9CC2-9C69-75B2-241AAA26A222}"/>
              </a:ext>
            </a:extLst>
          </p:cNvPr>
          <p:cNvSpPr/>
          <p:nvPr/>
        </p:nvSpPr>
        <p:spPr>
          <a:xfrm>
            <a:off x="6657272" y="425118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Explosion: 8 Points 93">
            <a:extLst>
              <a:ext uri="{FF2B5EF4-FFF2-40B4-BE49-F238E27FC236}">
                <a16:creationId xmlns:a16="http://schemas.microsoft.com/office/drawing/2014/main" id="{CB0D797B-20D3-7D2A-364E-429EB7C6E36E}"/>
              </a:ext>
            </a:extLst>
          </p:cNvPr>
          <p:cNvSpPr/>
          <p:nvPr/>
        </p:nvSpPr>
        <p:spPr>
          <a:xfrm>
            <a:off x="2748273" y="474944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Explosion: 8 Points 94">
            <a:extLst>
              <a:ext uri="{FF2B5EF4-FFF2-40B4-BE49-F238E27FC236}">
                <a16:creationId xmlns:a16="http://schemas.microsoft.com/office/drawing/2014/main" id="{98197481-AC58-194B-C176-1955105B8CF1}"/>
              </a:ext>
            </a:extLst>
          </p:cNvPr>
          <p:cNvSpPr/>
          <p:nvPr/>
        </p:nvSpPr>
        <p:spPr>
          <a:xfrm>
            <a:off x="6711051" y="531676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Explosion: 8 Points 95">
            <a:extLst>
              <a:ext uri="{FF2B5EF4-FFF2-40B4-BE49-F238E27FC236}">
                <a16:creationId xmlns:a16="http://schemas.microsoft.com/office/drawing/2014/main" id="{3714EE3B-820D-6EDE-84B3-47C712DC4319}"/>
              </a:ext>
            </a:extLst>
          </p:cNvPr>
          <p:cNvSpPr/>
          <p:nvPr/>
        </p:nvSpPr>
        <p:spPr>
          <a:xfrm>
            <a:off x="7167303" y="5135103"/>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Explosion: 8 Points 96">
            <a:extLst>
              <a:ext uri="{FF2B5EF4-FFF2-40B4-BE49-F238E27FC236}">
                <a16:creationId xmlns:a16="http://schemas.microsoft.com/office/drawing/2014/main" id="{E9F719A0-22AC-0372-C3CF-313CA62314EB}"/>
              </a:ext>
            </a:extLst>
          </p:cNvPr>
          <p:cNvSpPr/>
          <p:nvPr/>
        </p:nvSpPr>
        <p:spPr>
          <a:xfrm>
            <a:off x="7201370" y="469719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Explosion: 8 Points 97">
            <a:extLst>
              <a:ext uri="{FF2B5EF4-FFF2-40B4-BE49-F238E27FC236}">
                <a16:creationId xmlns:a16="http://schemas.microsoft.com/office/drawing/2014/main" id="{BCB23779-F9B7-8D75-2105-491CA41710B0}"/>
              </a:ext>
            </a:extLst>
          </p:cNvPr>
          <p:cNvSpPr/>
          <p:nvPr/>
        </p:nvSpPr>
        <p:spPr>
          <a:xfrm>
            <a:off x="7222412" y="3958793"/>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Isosceles Triangle 98">
            <a:extLst>
              <a:ext uri="{FF2B5EF4-FFF2-40B4-BE49-F238E27FC236}">
                <a16:creationId xmlns:a16="http://schemas.microsoft.com/office/drawing/2014/main" id="{3ABE1B62-7F80-A610-D607-02773475AAC6}"/>
              </a:ext>
            </a:extLst>
          </p:cNvPr>
          <p:cNvSpPr/>
          <p:nvPr/>
        </p:nvSpPr>
        <p:spPr>
          <a:xfrm>
            <a:off x="4489914" y="440166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Isosceles Triangle 99">
            <a:extLst>
              <a:ext uri="{FF2B5EF4-FFF2-40B4-BE49-F238E27FC236}">
                <a16:creationId xmlns:a16="http://schemas.microsoft.com/office/drawing/2014/main" id="{E0EAE711-DA4D-0883-409C-017957555C18}"/>
              </a:ext>
            </a:extLst>
          </p:cNvPr>
          <p:cNvSpPr/>
          <p:nvPr/>
        </p:nvSpPr>
        <p:spPr>
          <a:xfrm>
            <a:off x="5521796" y="438903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Isosceles Triangle 100">
            <a:extLst>
              <a:ext uri="{FF2B5EF4-FFF2-40B4-BE49-F238E27FC236}">
                <a16:creationId xmlns:a16="http://schemas.microsoft.com/office/drawing/2014/main" id="{628203A8-28BF-36F1-AB4A-F5AA8F7033AA}"/>
              </a:ext>
            </a:extLst>
          </p:cNvPr>
          <p:cNvSpPr/>
          <p:nvPr/>
        </p:nvSpPr>
        <p:spPr>
          <a:xfrm>
            <a:off x="5112594" y="388349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Isosceles Triangle 101">
            <a:extLst>
              <a:ext uri="{FF2B5EF4-FFF2-40B4-BE49-F238E27FC236}">
                <a16:creationId xmlns:a16="http://schemas.microsoft.com/office/drawing/2014/main" id="{BF3D00B3-A717-94F1-9461-0FDF8E33708F}"/>
              </a:ext>
            </a:extLst>
          </p:cNvPr>
          <p:cNvSpPr/>
          <p:nvPr/>
        </p:nvSpPr>
        <p:spPr>
          <a:xfrm>
            <a:off x="5175504" y="483002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Isosceles Triangle 102">
            <a:extLst>
              <a:ext uri="{FF2B5EF4-FFF2-40B4-BE49-F238E27FC236}">
                <a16:creationId xmlns:a16="http://schemas.microsoft.com/office/drawing/2014/main" id="{3FF782B2-EDCD-0452-9397-0F98CF6D3C0D}"/>
              </a:ext>
            </a:extLst>
          </p:cNvPr>
          <p:cNvSpPr/>
          <p:nvPr/>
        </p:nvSpPr>
        <p:spPr>
          <a:xfrm>
            <a:off x="6011360" y="509569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Isosceles Triangle 103">
            <a:extLst>
              <a:ext uri="{FF2B5EF4-FFF2-40B4-BE49-F238E27FC236}">
                <a16:creationId xmlns:a16="http://schemas.microsoft.com/office/drawing/2014/main" id="{E20E04BD-6C79-FE8C-72FF-760DD0003499}"/>
              </a:ext>
            </a:extLst>
          </p:cNvPr>
          <p:cNvSpPr/>
          <p:nvPr/>
        </p:nvSpPr>
        <p:spPr>
          <a:xfrm>
            <a:off x="5549200" y="566538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Isosceles Triangle 104">
            <a:extLst>
              <a:ext uri="{FF2B5EF4-FFF2-40B4-BE49-F238E27FC236}">
                <a16:creationId xmlns:a16="http://schemas.microsoft.com/office/drawing/2014/main" id="{3AEA0A24-7C45-0950-26E8-968A0CFA6786}"/>
              </a:ext>
            </a:extLst>
          </p:cNvPr>
          <p:cNvSpPr/>
          <p:nvPr/>
        </p:nvSpPr>
        <p:spPr>
          <a:xfrm>
            <a:off x="4634553" y="366080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Explosion: 8 Points 105">
            <a:extLst>
              <a:ext uri="{FF2B5EF4-FFF2-40B4-BE49-F238E27FC236}">
                <a16:creationId xmlns:a16="http://schemas.microsoft.com/office/drawing/2014/main" id="{36C6505E-E1C1-3F20-4EA5-74346776A601}"/>
              </a:ext>
            </a:extLst>
          </p:cNvPr>
          <p:cNvSpPr/>
          <p:nvPr/>
        </p:nvSpPr>
        <p:spPr>
          <a:xfrm>
            <a:off x="7724342" y="445824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Explosion: 8 Points 106">
            <a:extLst>
              <a:ext uri="{FF2B5EF4-FFF2-40B4-BE49-F238E27FC236}">
                <a16:creationId xmlns:a16="http://schemas.microsoft.com/office/drawing/2014/main" id="{4C67083C-41DE-1C7C-2797-E13A45033CFF}"/>
              </a:ext>
            </a:extLst>
          </p:cNvPr>
          <p:cNvSpPr/>
          <p:nvPr/>
        </p:nvSpPr>
        <p:spPr>
          <a:xfrm>
            <a:off x="7679053" y="405094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Explosion: 8 Points 107">
            <a:extLst>
              <a:ext uri="{FF2B5EF4-FFF2-40B4-BE49-F238E27FC236}">
                <a16:creationId xmlns:a16="http://schemas.microsoft.com/office/drawing/2014/main" id="{3074CDDA-C935-DE71-1DCF-6806796379E4}"/>
              </a:ext>
            </a:extLst>
          </p:cNvPr>
          <p:cNvSpPr/>
          <p:nvPr/>
        </p:nvSpPr>
        <p:spPr>
          <a:xfrm>
            <a:off x="7447694" y="333983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Explosion: 8 Points 108">
            <a:extLst>
              <a:ext uri="{FF2B5EF4-FFF2-40B4-BE49-F238E27FC236}">
                <a16:creationId xmlns:a16="http://schemas.microsoft.com/office/drawing/2014/main" id="{4CF0FCE3-0396-8C83-B53B-A1E63E3FBAA6}"/>
              </a:ext>
            </a:extLst>
          </p:cNvPr>
          <p:cNvSpPr/>
          <p:nvPr/>
        </p:nvSpPr>
        <p:spPr>
          <a:xfrm>
            <a:off x="8069175" y="389571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Explosion: 8 Points 109">
            <a:extLst>
              <a:ext uri="{FF2B5EF4-FFF2-40B4-BE49-F238E27FC236}">
                <a16:creationId xmlns:a16="http://schemas.microsoft.com/office/drawing/2014/main" id="{FD639E99-0475-EFB7-FD66-4572FB70D50F}"/>
              </a:ext>
            </a:extLst>
          </p:cNvPr>
          <p:cNvSpPr/>
          <p:nvPr/>
        </p:nvSpPr>
        <p:spPr>
          <a:xfrm>
            <a:off x="8433080" y="345635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Explosion: 8 Points 110">
            <a:extLst>
              <a:ext uri="{FF2B5EF4-FFF2-40B4-BE49-F238E27FC236}">
                <a16:creationId xmlns:a16="http://schemas.microsoft.com/office/drawing/2014/main" id="{0255048F-DA75-D688-DBE4-D87323E1E173}"/>
              </a:ext>
            </a:extLst>
          </p:cNvPr>
          <p:cNvSpPr/>
          <p:nvPr/>
        </p:nvSpPr>
        <p:spPr>
          <a:xfrm>
            <a:off x="8362054" y="43624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Explosion: 8 Points 111">
            <a:extLst>
              <a:ext uri="{FF2B5EF4-FFF2-40B4-BE49-F238E27FC236}">
                <a16:creationId xmlns:a16="http://schemas.microsoft.com/office/drawing/2014/main" id="{F8355FBA-96F5-FA95-638B-D7CB06FF7BCC}"/>
              </a:ext>
            </a:extLst>
          </p:cNvPr>
          <p:cNvSpPr/>
          <p:nvPr/>
        </p:nvSpPr>
        <p:spPr>
          <a:xfrm>
            <a:off x="9106868" y="420445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Explosion: 8 Points 112">
            <a:extLst>
              <a:ext uri="{FF2B5EF4-FFF2-40B4-BE49-F238E27FC236}">
                <a16:creationId xmlns:a16="http://schemas.microsoft.com/office/drawing/2014/main" id="{C7347AFC-ED2F-2CA6-E016-EC057781CF4D}"/>
              </a:ext>
            </a:extLst>
          </p:cNvPr>
          <p:cNvSpPr/>
          <p:nvPr/>
        </p:nvSpPr>
        <p:spPr>
          <a:xfrm>
            <a:off x="8752328" y="384704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Explosion: 8 Points 113">
            <a:extLst>
              <a:ext uri="{FF2B5EF4-FFF2-40B4-BE49-F238E27FC236}">
                <a16:creationId xmlns:a16="http://schemas.microsoft.com/office/drawing/2014/main" id="{F770B447-93EF-5288-377E-69D3EFEB5B60}"/>
              </a:ext>
            </a:extLst>
          </p:cNvPr>
          <p:cNvSpPr/>
          <p:nvPr/>
        </p:nvSpPr>
        <p:spPr>
          <a:xfrm>
            <a:off x="9081981" y="469719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Explosion: 8 Points 114">
            <a:extLst>
              <a:ext uri="{FF2B5EF4-FFF2-40B4-BE49-F238E27FC236}">
                <a16:creationId xmlns:a16="http://schemas.microsoft.com/office/drawing/2014/main" id="{8F29745A-C8FD-1FA7-7222-C07BD4B951A8}"/>
              </a:ext>
            </a:extLst>
          </p:cNvPr>
          <p:cNvSpPr/>
          <p:nvPr/>
        </p:nvSpPr>
        <p:spPr>
          <a:xfrm>
            <a:off x="8568178" y="4955992"/>
            <a:ext cx="193747"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Explosion: 8 Points 115">
            <a:extLst>
              <a:ext uri="{FF2B5EF4-FFF2-40B4-BE49-F238E27FC236}">
                <a16:creationId xmlns:a16="http://schemas.microsoft.com/office/drawing/2014/main" id="{1D21F7F8-D280-31F7-DA54-3048066BD525}"/>
              </a:ext>
            </a:extLst>
          </p:cNvPr>
          <p:cNvSpPr/>
          <p:nvPr/>
        </p:nvSpPr>
        <p:spPr>
          <a:xfrm>
            <a:off x="9705267" y="500160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Explosion: 8 Points 116">
            <a:extLst>
              <a:ext uri="{FF2B5EF4-FFF2-40B4-BE49-F238E27FC236}">
                <a16:creationId xmlns:a16="http://schemas.microsoft.com/office/drawing/2014/main" id="{8EF72A1B-5E68-F8EC-F006-4D6505459F9D}"/>
              </a:ext>
            </a:extLst>
          </p:cNvPr>
          <p:cNvSpPr/>
          <p:nvPr/>
        </p:nvSpPr>
        <p:spPr>
          <a:xfrm>
            <a:off x="9287035" y="526727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Explosion: 8 Points 117">
            <a:extLst>
              <a:ext uri="{FF2B5EF4-FFF2-40B4-BE49-F238E27FC236}">
                <a16:creationId xmlns:a16="http://schemas.microsoft.com/office/drawing/2014/main" id="{C887F825-2DBA-37DB-63A5-80B9B172A4EC}"/>
              </a:ext>
            </a:extLst>
          </p:cNvPr>
          <p:cNvSpPr/>
          <p:nvPr/>
        </p:nvSpPr>
        <p:spPr>
          <a:xfrm>
            <a:off x="10396145" y="4971510"/>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Isosceles Triangle 118">
            <a:extLst>
              <a:ext uri="{FF2B5EF4-FFF2-40B4-BE49-F238E27FC236}">
                <a16:creationId xmlns:a16="http://schemas.microsoft.com/office/drawing/2014/main" id="{E4D5C6D3-14C3-C3EF-6832-9CFCA89469CB}"/>
              </a:ext>
            </a:extLst>
          </p:cNvPr>
          <p:cNvSpPr/>
          <p:nvPr/>
        </p:nvSpPr>
        <p:spPr>
          <a:xfrm>
            <a:off x="6803261" y="468291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Isosceles Triangle 119">
            <a:extLst>
              <a:ext uri="{FF2B5EF4-FFF2-40B4-BE49-F238E27FC236}">
                <a16:creationId xmlns:a16="http://schemas.microsoft.com/office/drawing/2014/main" id="{27A789AF-89E9-C38D-25D1-786D4BB3BA7E}"/>
              </a:ext>
            </a:extLst>
          </p:cNvPr>
          <p:cNvSpPr/>
          <p:nvPr/>
        </p:nvSpPr>
        <p:spPr>
          <a:xfrm>
            <a:off x="8794796" y="350306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Isosceles Triangle 120">
            <a:extLst>
              <a:ext uri="{FF2B5EF4-FFF2-40B4-BE49-F238E27FC236}">
                <a16:creationId xmlns:a16="http://schemas.microsoft.com/office/drawing/2014/main" id="{CD4F4D5F-8761-C6F1-4473-9DF7CF902FA6}"/>
              </a:ext>
            </a:extLst>
          </p:cNvPr>
          <p:cNvSpPr/>
          <p:nvPr/>
        </p:nvSpPr>
        <p:spPr>
          <a:xfrm>
            <a:off x="7340415" y="427289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Isosceles Triangle 121">
            <a:extLst>
              <a:ext uri="{FF2B5EF4-FFF2-40B4-BE49-F238E27FC236}">
                <a16:creationId xmlns:a16="http://schemas.microsoft.com/office/drawing/2014/main" id="{F3DEDD28-8426-3E34-DCFB-AB2C662EF4F6}"/>
              </a:ext>
            </a:extLst>
          </p:cNvPr>
          <p:cNvSpPr/>
          <p:nvPr/>
        </p:nvSpPr>
        <p:spPr>
          <a:xfrm>
            <a:off x="7117959" y="352358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Isosceles Triangle 122">
            <a:extLst>
              <a:ext uri="{FF2B5EF4-FFF2-40B4-BE49-F238E27FC236}">
                <a16:creationId xmlns:a16="http://schemas.microsoft.com/office/drawing/2014/main" id="{4F2FAA35-7D9E-0BD8-DFE4-753B254C5EB7}"/>
              </a:ext>
            </a:extLst>
          </p:cNvPr>
          <p:cNvSpPr/>
          <p:nvPr/>
        </p:nvSpPr>
        <p:spPr>
          <a:xfrm>
            <a:off x="7724342" y="347266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Isosceles Triangle 123">
            <a:extLst>
              <a:ext uri="{FF2B5EF4-FFF2-40B4-BE49-F238E27FC236}">
                <a16:creationId xmlns:a16="http://schemas.microsoft.com/office/drawing/2014/main" id="{9E49AE75-EE4F-7ED3-C52A-AD906548455D}"/>
              </a:ext>
            </a:extLst>
          </p:cNvPr>
          <p:cNvSpPr/>
          <p:nvPr/>
        </p:nvSpPr>
        <p:spPr>
          <a:xfrm>
            <a:off x="8251496" y="405773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Isosceles Triangle 124">
            <a:extLst>
              <a:ext uri="{FF2B5EF4-FFF2-40B4-BE49-F238E27FC236}">
                <a16:creationId xmlns:a16="http://schemas.microsoft.com/office/drawing/2014/main" id="{92E9407E-14DF-7372-4716-321DAA1E01D6}"/>
              </a:ext>
            </a:extLst>
          </p:cNvPr>
          <p:cNvSpPr/>
          <p:nvPr/>
        </p:nvSpPr>
        <p:spPr>
          <a:xfrm>
            <a:off x="8733474" y="444597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Isosceles Triangle 125">
            <a:extLst>
              <a:ext uri="{FF2B5EF4-FFF2-40B4-BE49-F238E27FC236}">
                <a16:creationId xmlns:a16="http://schemas.microsoft.com/office/drawing/2014/main" id="{259C6BA4-3459-6A27-BB0C-3FD0659D9A50}"/>
              </a:ext>
            </a:extLst>
          </p:cNvPr>
          <p:cNvSpPr/>
          <p:nvPr/>
        </p:nvSpPr>
        <p:spPr>
          <a:xfrm>
            <a:off x="9542501" y="454721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Isosceles Triangle 126">
            <a:extLst>
              <a:ext uri="{FF2B5EF4-FFF2-40B4-BE49-F238E27FC236}">
                <a16:creationId xmlns:a16="http://schemas.microsoft.com/office/drawing/2014/main" id="{D23216A0-FFA4-52C2-0DE1-594AFE54B8F3}"/>
              </a:ext>
            </a:extLst>
          </p:cNvPr>
          <p:cNvSpPr/>
          <p:nvPr/>
        </p:nvSpPr>
        <p:spPr>
          <a:xfrm>
            <a:off x="8919212" y="506442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Isosceles Triangle 127">
            <a:extLst>
              <a:ext uri="{FF2B5EF4-FFF2-40B4-BE49-F238E27FC236}">
                <a16:creationId xmlns:a16="http://schemas.microsoft.com/office/drawing/2014/main" id="{5372707A-6630-6281-8EF1-226BC2466006}"/>
              </a:ext>
            </a:extLst>
          </p:cNvPr>
          <p:cNvSpPr/>
          <p:nvPr/>
        </p:nvSpPr>
        <p:spPr>
          <a:xfrm>
            <a:off x="9864646" y="526727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Isosceles Triangle 128">
            <a:extLst>
              <a:ext uri="{FF2B5EF4-FFF2-40B4-BE49-F238E27FC236}">
                <a16:creationId xmlns:a16="http://schemas.microsoft.com/office/drawing/2014/main" id="{20D3D068-1908-D235-7A2C-4BD97B5E53C6}"/>
              </a:ext>
            </a:extLst>
          </p:cNvPr>
          <p:cNvSpPr/>
          <p:nvPr/>
        </p:nvSpPr>
        <p:spPr>
          <a:xfrm>
            <a:off x="10461111" y="550638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Isosceles Triangle 129">
            <a:extLst>
              <a:ext uri="{FF2B5EF4-FFF2-40B4-BE49-F238E27FC236}">
                <a16:creationId xmlns:a16="http://schemas.microsoft.com/office/drawing/2014/main" id="{E013A1D5-2BDB-189C-C9E2-8FB53AF05D1D}"/>
              </a:ext>
            </a:extLst>
          </p:cNvPr>
          <p:cNvSpPr/>
          <p:nvPr/>
        </p:nvSpPr>
        <p:spPr>
          <a:xfrm>
            <a:off x="10323951" y="447832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4859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8F1C7-DDDB-38AE-4D2F-0437BECB0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97AB6-D6AC-10DE-C17F-FE1E5BFD2CFF}"/>
              </a:ext>
            </a:extLst>
          </p:cNvPr>
          <p:cNvSpPr>
            <a:spLocks noGrp="1"/>
          </p:cNvSpPr>
          <p:nvPr>
            <p:ph type="title"/>
          </p:nvPr>
        </p:nvSpPr>
        <p:spPr>
          <a:xfrm>
            <a:off x="838200" y="274885"/>
            <a:ext cx="10515600" cy="589032"/>
          </a:xfrm>
        </p:spPr>
        <p:txBody>
          <a:bodyPr>
            <a:normAutofit/>
          </a:bodyPr>
          <a:lstStyle/>
          <a:p>
            <a:pPr algn="ctr"/>
            <a:r>
              <a:rPr lang="en-US" sz="3000" b="1">
                <a:solidFill>
                  <a:srgbClr val="341C7F"/>
                </a:solidFill>
                <a:latin typeface="Arial" panose="020B0604020202020204" pitchFamily="34" charset="0"/>
                <a:cs typeface="Arial" panose="020B0604020202020204" pitchFamily="34" charset="0"/>
              </a:rPr>
              <a:t>Evaluation Example: Error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F2058F3-A68C-E636-6284-A21993AEB3C7}"/>
                  </a:ext>
                </a:extLst>
              </p:cNvPr>
              <p:cNvSpPr txBox="1"/>
              <p:nvPr/>
            </p:nvSpPr>
            <p:spPr>
              <a:xfrm>
                <a:off x="618634" y="1203134"/>
                <a:ext cx="10954732" cy="5453737"/>
              </a:xfrm>
              <a:prstGeom prst="rect">
                <a:avLst/>
              </a:prstGeom>
              <a:noFill/>
              <a:ln w="19050">
                <a:solidFill>
                  <a:srgbClr val="F56600"/>
                </a:solidFill>
              </a:ln>
            </p:spPr>
            <p:txBody>
              <a:bodyPr wrap="square" rtlCol="0">
                <a:spAutoFit/>
              </a:bodyPr>
              <a:lstStyle/>
              <a:p>
                <a:r>
                  <a:rPr lang="en-US" sz="2000" i="1" dirty="0">
                    <a:latin typeface="Cambria Math" panose="02040503050406030204" pitchFamily="18" charset="0"/>
                    <a:cs typeface="Arial" panose="020B0604020202020204" pitchFamily="34" charset="0"/>
                  </a:rPr>
                  <a:t>Typically evaluated in the testing period </a:t>
                </a:r>
                <a:endParaRPr lang="en-US" sz="2000" b="0" i="1" dirty="0">
                  <a:latin typeface="Cambria Math" panose="02040503050406030204" pitchFamily="18" charset="0"/>
                  <a:cs typeface="Arial" panose="020B0604020202020204" pitchFamily="34" charset="0"/>
                </a:endParaRPr>
              </a:p>
              <a:p>
                <a:endParaRPr lang="en-US" sz="2000" b="0" dirty="0">
                  <a:cs typeface="Arial" panose="020B0604020202020204" pitchFamily="34" charset="0"/>
                </a:endParaRPr>
              </a:p>
              <a:p>
                <a:r>
                  <a:rPr lang="en-US" sz="2000" b="0" dirty="0">
                    <a:cs typeface="Arial" panose="020B0604020202020204" pitchFamily="34" charset="0"/>
                  </a:rPr>
                  <a:t>Example: </a:t>
                </a:r>
                <a14:m>
                  <m:oMath xmlns:m="http://schemas.openxmlformats.org/officeDocument/2006/math">
                    <m:r>
                      <a:rPr lang="en-US" sz="2000" b="0" i="1" smtClean="0">
                        <a:latin typeface="Cambria Math" panose="02040503050406030204" pitchFamily="18" charset="0"/>
                        <a:cs typeface="Arial" panose="020B0604020202020204" pitchFamily="34" charset="0"/>
                      </a:rPr>
                      <m:t>𝑃𝑒𝑟𝑐𝑒𝑛𝑡𝑎𝑔𝑒</m:t>
                    </m:r>
                    <m:r>
                      <a:rPr lang="en-US" sz="2000" b="0" i="1"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𝐸𝑟𝑟𝑜𝑟</m:t>
                    </m:r>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d>
                          <m:dPr>
                            <m:begChr m:val="|"/>
                            <m:endChr m:val="|"/>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𝑃</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𝑂</m:t>
                            </m:r>
                          </m:e>
                        </m:d>
                      </m:num>
                      <m:den>
                        <m:r>
                          <a:rPr lang="en-US" sz="2000" b="0" i="1" smtClean="0">
                            <a:latin typeface="Cambria Math" panose="02040503050406030204" pitchFamily="18" charset="0"/>
                            <a:cs typeface="Arial" panose="020B0604020202020204" pitchFamily="34" charset="0"/>
                          </a:rPr>
                          <m:t>𝑂</m:t>
                        </m:r>
                      </m:den>
                    </m:f>
                  </m:oMath>
                </a14:m>
                <a:endParaRPr lang="en-US" sz="2000" b="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14:m>
                  <m:oMath xmlns:m="http://schemas.openxmlformats.org/officeDocument/2006/math">
                    <m:r>
                      <a:rPr lang="en-US" sz="2000" b="0" i="1" smtClean="0">
                        <a:latin typeface="Cambria Math" panose="02040503050406030204" pitchFamily="18" charset="0"/>
                        <a:cs typeface="Arial" panose="020B0604020202020204" pitchFamily="34" charset="0"/>
                      </a:rPr>
                      <m:t>𝑂</m:t>
                    </m:r>
                    <m:r>
                      <a:rPr lang="en-US" sz="2000" b="0" i="1" smtClean="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Observed counts of the outcome of interest across the evaluation period</a:t>
                </a:r>
              </a:p>
              <a:p>
                <a14:m>
                  <m:oMath xmlns:m="http://schemas.openxmlformats.org/officeDocument/2006/math">
                    <m:r>
                      <a:rPr lang="en-US" sz="2000" b="0" i="1" smtClean="0">
                        <a:latin typeface="Cambria Math" panose="02040503050406030204" pitchFamily="18" charset="0"/>
                        <a:cs typeface="Arial" panose="020B0604020202020204" pitchFamily="34" charset="0"/>
                      </a:rPr>
                      <m:t>𝑃</m:t>
                    </m:r>
                    <m:r>
                      <a:rPr lang="en-US" sz="2000" i="1">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Predicted counts of the outcome of interest across the evaluation period</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Example: </a:t>
                </a:r>
                <a:r>
                  <a:rPr lang="en-US" sz="2000" dirty="0">
                    <a:latin typeface="Arial" panose="020B0604020202020204" pitchFamily="34" charset="0"/>
                    <a:cs typeface="Arial" panose="020B0604020202020204" pitchFamily="34" charset="0"/>
                  </a:rPr>
                  <a:t>Our model </a:t>
                </a:r>
                <a:r>
                  <a:rPr lang="en-US" sz="2000" u="sng" dirty="0">
                    <a:latin typeface="Arial" panose="020B0604020202020204" pitchFamily="34" charset="0"/>
                    <a:cs typeface="Arial" panose="020B0604020202020204" pitchFamily="34" charset="0"/>
                  </a:rPr>
                  <a:t>forecasted 1000 cases</a:t>
                </a:r>
                <a:r>
                  <a:rPr lang="en-US" sz="2000" dirty="0">
                    <a:latin typeface="Arial" panose="020B0604020202020204" pitchFamily="34" charset="0"/>
                    <a:cs typeface="Arial" panose="020B0604020202020204" pitchFamily="34" charset="0"/>
                  </a:rPr>
                  <a:t> of influenza across four weeks. However, </a:t>
                </a:r>
                <a:r>
                  <a:rPr lang="en-US" sz="2000" u="sng" dirty="0">
                    <a:latin typeface="Arial" panose="020B0604020202020204" pitchFamily="34" charset="0"/>
                    <a:cs typeface="Arial" panose="020B0604020202020204" pitchFamily="34" charset="0"/>
                  </a:rPr>
                  <a:t>1500 cases were observed</a:t>
                </a:r>
                <a:r>
                  <a:rPr lang="en-US" sz="2000" dirty="0">
                    <a:latin typeface="Arial" panose="020B0604020202020204" pitchFamily="34" charset="0"/>
                    <a:cs typeface="Arial" panose="020B0604020202020204" pitchFamily="34" charset="0"/>
                  </a:rPr>
                  <a:t> during those same four weeks. </a:t>
                </a:r>
              </a:p>
              <a:p>
                <a:endParaRPr lang="en-US" sz="20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anose="020B0604020202020204" pitchFamily="34" charset="0"/>
                        </a:rPr>
                        <m:t>𝑂</m:t>
                      </m:r>
                      <m:r>
                        <a:rPr lang="en-US" sz="2000" b="0" i="1" smtClean="0">
                          <a:latin typeface="Cambria Math" panose="02040503050406030204" pitchFamily="18" charset="0"/>
                          <a:cs typeface="Arial" panose="020B0604020202020204" pitchFamily="34" charset="0"/>
                        </a:rPr>
                        <m:t>=1500 </m:t>
                      </m:r>
                      <m:r>
                        <a:rPr lang="en-US" sz="2000" b="0" i="1" smtClean="0">
                          <a:latin typeface="Cambria Math" panose="02040503050406030204" pitchFamily="18" charset="0"/>
                          <a:cs typeface="Arial" panose="020B0604020202020204" pitchFamily="34" charset="0"/>
                        </a:rPr>
                        <m:t>𝑐𝑎𝑠𝑒𝑠</m:t>
                      </m:r>
                    </m:oMath>
                  </m:oMathPara>
                </a14:m>
                <a:endParaRPr lang="en-US" sz="20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anose="020B0604020202020204" pitchFamily="34" charset="0"/>
                        </a:rPr>
                        <m:t>𝑃</m:t>
                      </m:r>
                      <m:r>
                        <a:rPr lang="en-US" sz="2000" b="0" i="1" smtClean="0">
                          <a:latin typeface="Cambria Math" panose="02040503050406030204" pitchFamily="18" charset="0"/>
                          <a:cs typeface="Arial" panose="020B0604020202020204" pitchFamily="34" charset="0"/>
                        </a:rPr>
                        <m:t>=1000 </m:t>
                      </m:r>
                      <m:r>
                        <a:rPr lang="en-US" sz="2000" b="0" i="1" smtClean="0">
                          <a:latin typeface="Cambria Math" panose="02040503050406030204" pitchFamily="18" charset="0"/>
                          <a:cs typeface="Arial" panose="020B0604020202020204" pitchFamily="34" charset="0"/>
                        </a:rPr>
                        <m:t>𝑐𝑎𝑠𝑒𝑠</m:t>
                      </m:r>
                    </m:oMath>
                  </m:oMathPara>
                </a14:m>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anose="020B0604020202020204" pitchFamily="34" charset="0"/>
                        </a:rPr>
                        <m:t>𝑃𝑒𝑟𝑐𝑒𝑛𝑡𝑎𝑔𝑒</m:t>
                      </m:r>
                      <m:r>
                        <a:rPr lang="en-US" sz="2000" b="0" i="1"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𝐸𝑟𝑟𝑜𝑟</m:t>
                      </m:r>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d>
                            <m:dPr>
                              <m:begChr m:val="|"/>
                              <m:endChr m:val="|"/>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1000−1500</m:t>
                              </m:r>
                            </m:e>
                          </m:d>
                        </m:num>
                        <m:den>
                          <m:r>
                            <a:rPr lang="en-US" sz="2000" i="1" smtClean="0">
                              <a:latin typeface="Cambria Math" panose="02040503050406030204" pitchFamily="18" charset="0"/>
                              <a:cs typeface="Arial" panose="020B0604020202020204" pitchFamily="34" charset="0"/>
                            </a:rPr>
                            <m:t>1</m:t>
                          </m:r>
                          <m:r>
                            <a:rPr lang="en-US" sz="2000" b="0" i="1" smtClean="0">
                              <a:latin typeface="Cambria Math" panose="02040503050406030204" pitchFamily="18" charset="0"/>
                              <a:cs typeface="Arial" panose="020B0604020202020204" pitchFamily="34" charset="0"/>
                            </a:rPr>
                            <m:t>500</m:t>
                          </m:r>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500</m:t>
                          </m:r>
                        </m:num>
                        <m:den>
                          <m:r>
                            <a:rPr lang="en-US" sz="2000" b="0" i="1" smtClean="0">
                              <a:latin typeface="Cambria Math" panose="02040503050406030204" pitchFamily="18" charset="0"/>
                              <a:cs typeface="Arial" panose="020B0604020202020204" pitchFamily="34" charset="0"/>
                            </a:rPr>
                            <m:t>1500</m:t>
                          </m:r>
                        </m:den>
                      </m:f>
                      <m:r>
                        <a:rPr lang="en-US" sz="2000" b="0" i="1" smtClean="0">
                          <a:latin typeface="Cambria Math" panose="02040503050406030204" pitchFamily="18" charset="0"/>
                          <a:cs typeface="Arial" panose="020B0604020202020204" pitchFamily="34" charset="0"/>
                        </a:rPr>
                        <m:t>=33%</m:t>
                      </m:r>
                    </m:oMath>
                  </m:oMathPara>
                </a14:m>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Question for class: Can we identify a limitation of this metric?</a:t>
                </a:r>
              </a:p>
            </p:txBody>
          </p:sp>
        </mc:Choice>
        <mc:Fallback xmlns="">
          <p:sp>
            <p:nvSpPr>
              <p:cNvPr id="6" name="TextBox 5">
                <a:extLst>
                  <a:ext uri="{FF2B5EF4-FFF2-40B4-BE49-F238E27FC236}">
                    <a16:creationId xmlns:a16="http://schemas.microsoft.com/office/drawing/2014/main" id="{5F2058F3-A68C-E636-6284-A21993AEB3C7}"/>
                  </a:ext>
                </a:extLst>
              </p:cNvPr>
              <p:cNvSpPr txBox="1">
                <a:spLocks noRot="1" noChangeAspect="1" noMove="1" noResize="1" noEditPoints="1" noAdjustHandles="1" noChangeArrowheads="1" noChangeShapeType="1" noTextEdit="1"/>
              </p:cNvSpPr>
              <p:nvPr/>
            </p:nvSpPr>
            <p:spPr>
              <a:xfrm>
                <a:off x="618634" y="1203134"/>
                <a:ext cx="10954732" cy="5453737"/>
              </a:xfrm>
              <a:prstGeom prst="rect">
                <a:avLst/>
              </a:prstGeom>
              <a:blipFill>
                <a:blip r:embed="rId3"/>
                <a:stretch>
                  <a:fillRect l="-500" t="-445" b="-891"/>
                </a:stretch>
              </a:blipFill>
              <a:ln w="19050">
                <a:solidFill>
                  <a:srgbClr val="F56600"/>
                </a:solidFill>
              </a:ln>
            </p:spPr>
            <p:txBody>
              <a:bodyPr/>
              <a:lstStyle/>
              <a:p>
                <a:r>
                  <a:rPr lang="en-US">
                    <a:noFill/>
                  </a:rPr>
                  <a:t> </a:t>
                </a:r>
              </a:p>
            </p:txBody>
          </p:sp>
        </mc:Fallback>
      </mc:AlternateContent>
    </p:spTree>
    <p:extLst>
      <p:ext uri="{BB962C8B-B14F-4D97-AF65-F5344CB8AC3E}">
        <p14:creationId xmlns:p14="http://schemas.microsoft.com/office/powerpoint/2010/main" val="241761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6">
                                            <p:txEl>
                                              <p:pRg st="14" end="14"/>
                                            </p:txEl>
                                          </p:spTgt>
                                        </p:tgtEl>
                                        <p:attrNameLst>
                                          <p:attrName>style.visibility</p:attrName>
                                        </p:attrNameLst>
                                      </p:cBhvr>
                                      <p:to>
                                        <p:strVal val="visible"/>
                                      </p:to>
                                    </p:set>
                                    <p:animEffect transition="in" filter="fade">
                                      <p:cBhvr>
                                        <p:cTn id="27" dur="1000"/>
                                        <p:tgtEl>
                                          <p:spTgt spid="6">
                                            <p:txEl>
                                              <p:pRg st="14" end="14"/>
                                            </p:txEl>
                                          </p:spTgt>
                                        </p:tgtEl>
                                      </p:cBhvr>
                                    </p:animEffect>
                                    <p:anim calcmode="lin" valueType="num">
                                      <p:cBhvr>
                                        <p:cTn id="28" dur="1000" fill="hold"/>
                                        <p:tgtEl>
                                          <p:spTgt spid="6">
                                            <p:txEl>
                                              <p:pRg st="14" end="14"/>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51AE7-1CB3-C662-4FA1-855983632C5C}"/>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2CA5F35-9338-018E-EDA7-908E3086EC7C}"/>
              </a:ext>
            </a:extLst>
          </p:cNvPr>
          <p:cNvCxnSpPr/>
          <p:nvPr/>
        </p:nvCxnSpPr>
        <p:spPr>
          <a:xfrm>
            <a:off x="7701699" y="2163509"/>
            <a:ext cx="0" cy="4251489"/>
          </a:xfrm>
          <a:prstGeom prst="line">
            <a:avLst/>
          </a:prstGeom>
          <a:ln w="38100">
            <a:solidFill>
              <a:schemeClr val="tx1"/>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8A3082CE-2C7C-3771-C6D8-16A798A63B32}"/>
              </a:ext>
            </a:extLst>
          </p:cNvPr>
          <p:cNvCxnSpPr>
            <a:cxnSpLocks/>
          </p:cNvCxnSpPr>
          <p:nvPr/>
        </p:nvCxnSpPr>
        <p:spPr>
          <a:xfrm flipV="1">
            <a:off x="329938" y="6414996"/>
            <a:ext cx="11217897" cy="2"/>
          </a:xfrm>
          <a:prstGeom prst="line">
            <a:avLst/>
          </a:prstGeom>
          <a:ln w="38100"/>
        </p:spPr>
        <p:style>
          <a:lnRef idx="2">
            <a:schemeClr val="dk1"/>
          </a:lnRef>
          <a:fillRef idx="0">
            <a:schemeClr val="dk1"/>
          </a:fillRef>
          <a:effectRef idx="1">
            <a:schemeClr val="dk1"/>
          </a:effectRef>
          <a:fontRef idx="minor">
            <a:schemeClr val="tx1"/>
          </a:fontRef>
        </p:style>
      </p:cxnSp>
      <p:sp>
        <p:nvSpPr>
          <p:cNvPr id="20" name="Oval 19">
            <a:extLst>
              <a:ext uri="{FF2B5EF4-FFF2-40B4-BE49-F238E27FC236}">
                <a16:creationId xmlns:a16="http://schemas.microsoft.com/office/drawing/2014/main" id="{3C03B6F8-52BC-522F-27A9-A68B1F4D60A9}"/>
              </a:ext>
            </a:extLst>
          </p:cNvPr>
          <p:cNvSpPr/>
          <p:nvPr/>
        </p:nvSpPr>
        <p:spPr>
          <a:xfrm>
            <a:off x="8837315" y="4322247"/>
            <a:ext cx="182880" cy="18288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D30AEA5-15C3-8C33-E231-246E4B844F37}"/>
              </a:ext>
            </a:extLst>
          </p:cNvPr>
          <p:cNvSpPr/>
          <p:nvPr/>
        </p:nvSpPr>
        <p:spPr>
          <a:xfrm>
            <a:off x="9996812" y="3336000"/>
            <a:ext cx="182880" cy="18288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18D1541-7E89-E7DC-BBDB-799EADC51094}"/>
              </a:ext>
            </a:extLst>
          </p:cNvPr>
          <p:cNvSpPr/>
          <p:nvPr/>
        </p:nvSpPr>
        <p:spPr>
          <a:xfrm>
            <a:off x="10798090" y="4999529"/>
            <a:ext cx="182880" cy="18288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557A06B-B0E0-7D77-66E0-A5FA3D131296}"/>
              </a:ext>
            </a:extLst>
          </p:cNvPr>
          <p:cNvSpPr txBox="1"/>
          <p:nvPr/>
        </p:nvSpPr>
        <p:spPr>
          <a:xfrm>
            <a:off x="8501721" y="427365"/>
            <a:ext cx="2990182" cy="1323439"/>
          </a:xfrm>
          <a:prstGeom prst="rect">
            <a:avLst/>
          </a:prstGeom>
          <a:solidFill>
            <a:srgbClr val="F56600">
              <a:alpha val="10000"/>
            </a:srgbClr>
          </a:solidFill>
          <a:ln w="12700">
            <a:solidFill>
              <a:schemeClr val="tx1"/>
            </a:solidFill>
          </a:ln>
        </p:spPr>
        <p:txBody>
          <a:bodyPr wrap="square" rtlCol="0">
            <a:spAutoFit/>
          </a:bodyPr>
          <a:lstStyle/>
          <a:p>
            <a:pPr algn="ctr"/>
            <a:r>
              <a:rPr lang="en-US" sz="2000" b="1" u="sng">
                <a:latin typeface="Arial" panose="020B0604020202020204" pitchFamily="34" charset="0"/>
                <a:cs typeface="Arial" panose="020B0604020202020204" pitchFamily="34" charset="0"/>
              </a:rPr>
              <a:t>Model Projections</a:t>
            </a:r>
          </a:p>
          <a:p>
            <a:pPr algn="ctr"/>
            <a:r>
              <a:rPr lang="en-US" sz="2000">
                <a:latin typeface="Arial" panose="020B0604020202020204" pitchFamily="34" charset="0"/>
                <a:cs typeface="Arial" panose="020B0604020202020204" pitchFamily="34" charset="0"/>
              </a:rPr>
              <a:t>Model-generated values for future periods without observed data.</a:t>
            </a:r>
          </a:p>
        </p:txBody>
      </p:sp>
      <p:cxnSp>
        <p:nvCxnSpPr>
          <p:cNvPr id="9" name="Straight Arrow Connector 8">
            <a:extLst>
              <a:ext uri="{FF2B5EF4-FFF2-40B4-BE49-F238E27FC236}">
                <a16:creationId xmlns:a16="http://schemas.microsoft.com/office/drawing/2014/main" id="{798E5C5E-AF4D-B5B6-6EB2-6881F5847313}"/>
              </a:ext>
            </a:extLst>
          </p:cNvPr>
          <p:cNvCxnSpPr>
            <a:cxnSpLocks/>
            <a:stCxn id="7" idx="2"/>
            <a:endCxn id="21" idx="0"/>
          </p:cNvCxnSpPr>
          <p:nvPr/>
        </p:nvCxnSpPr>
        <p:spPr>
          <a:xfrm>
            <a:off x="9996812" y="1750804"/>
            <a:ext cx="91440" cy="158519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726E28FE-BCB6-D68A-377C-F3574EBFD1AE}"/>
              </a:ext>
            </a:extLst>
          </p:cNvPr>
          <p:cNvSpPr/>
          <p:nvPr/>
        </p:nvSpPr>
        <p:spPr>
          <a:xfrm>
            <a:off x="7610259" y="3954603"/>
            <a:ext cx="182880" cy="18288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Freeform: Shape 1">
            <a:extLst>
              <a:ext uri="{FF2B5EF4-FFF2-40B4-BE49-F238E27FC236}">
                <a16:creationId xmlns:a16="http://schemas.microsoft.com/office/drawing/2014/main" id="{07929E21-8EC2-C03D-41D0-E38E2123CE0C}"/>
              </a:ext>
            </a:extLst>
          </p:cNvPr>
          <p:cNvSpPr/>
          <p:nvPr/>
        </p:nvSpPr>
        <p:spPr>
          <a:xfrm>
            <a:off x="612742" y="2864115"/>
            <a:ext cx="7070103" cy="2651298"/>
          </a:xfrm>
          <a:custGeom>
            <a:avLst/>
            <a:gdLst>
              <a:gd name="connsiteX0" fmla="*/ 0 w 7070103"/>
              <a:gd name="connsiteY0" fmla="*/ 176086 h 2651298"/>
              <a:gd name="connsiteX1" fmla="*/ 1150070 w 7070103"/>
              <a:gd name="connsiteY1" fmla="*/ 1854057 h 2651298"/>
              <a:gd name="connsiteX2" fmla="*/ 2366128 w 7070103"/>
              <a:gd name="connsiteY2" fmla="*/ 6403 h 2651298"/>
              <a:gd name="connsiteX3" fmla="*/ 3817856 w 7070103"/>
              <a:gd name="connsiteY3" fmla="*/ 2645909 h 2651298"/>
              <a:gd name="connsiteX4" fmla="*/ 5071621 w 7070103"/>
              <a:gd name="connsiteY4" fmla="*/ 741694 h 2651298"/>
              <a:gd name="connsiteX5" fmla="*/ 6381946 w 7070103"/>
              <a:gd name="connsiteY5" fmla="*/ 2532787 h 2651298"/>
              <a:gd name="connsiteX6" fmla="*/ 7070103 w 7070103"/>
              <a:gd name="connsiteY6" fmla="*/ 1552399 h 2651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70103" h="2651298">
                <a:moveTo>
                  <a:pt x="0" y="176086"/>
                </a:moveTo>
                <a:cubicBezTo>
                  <a:pt x="377857" y="1029212"/>
                  <a:pt x="755715" y="1882338"/>
                  <a:pt x="1150070" y="1854057"/>
                </a:cubicBezTo>
                <a:cubicBezTo>
                  <a:pt x="1544425" y="1825777"/>
                  <a:pt x="1921497" y="-125572"/>
                  <a:pt x="2366128" y="6403"/>
                </a:cubicBezTo>
                <a:cubicBezTo>
                  <a:pt x="2810759" y="138378"/>
                  <a:pt x="3366941" y="2523361"/>
                  <a:pt x="3817856" y="2645909"/>
                </a:cubicBezTo>
                <a:cubicBezTo>
                  <a:pt x="4268772" y="2768458"/>
                  <a:pt x="4644273" y="760548"/>
                  <a:pt x="5071621" y="741694"/>
                </a:cubicBezTo>
                <a:cubicBezTo>
                  <a:pt x="5498969" y="722840"/>
                  <a:pt x="6048866" y="2397670"/>
                  <a:pt x="6381946" y="2532787"/>
                </a:cubicBezTo>
                <a:cubicBezTo>
                  <a:pt x="6715026" y="2667905"/>
                  <a:pt x="6892564" y="2110152"/>
                  <a:pt x="7070103" y="1552399"/>
                </a:cubicBezTo>
              </a:path>
            </a:pathLst>
          </a:custGeom>
          <a:noFill/>
          <a:ln w="38100">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Isosceles Triangle 2">
            <a:extLst>
              <a:ext uri="{FF2B5EF4-FFF2-40B4-BE49-F238E27FC236}">
                <a16:creationId xmlns:a16="http://schemas.microsoft.com/office/drawing/2014/main" id="{4A20A1BC-8FC9-C528-5C6D-48D44C9B4563}"/>
              </a:ext>
            </a:extLst>
          </p:cNvPr>
          <p:cNvSpPr/>
          <p:nvPr/>
        </p:nvSpPr>
        <p:spPr>
          <a:xfrm>
            <a:off x="1023554" y="355480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281EFCE0-9E27-7267-1E39-A54C59D3C654}"/>
              </a:ext>
            </a:extLst>
          </p:cNvPr>
          <p:cNvSpPr/>
          <p:nvPr/>
        </p:nvSpPr>
        <p:spPr>
          <a:xfrm>
            <a:off x="1486194" y="419934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Isosceles Triangle 4">
            <a:extLst>
              <a:ext uri="{FF2B5EF4-FFF2-40B4-BE49-F238E27FC236}">
                <a16:creationId xmlns:a16="http://schemas.microsoft.com/office/drawing/2014/main" id="{E217E951-C4E7-D54B-E6EA-33865261C505}"/>
              </a:ext>
            </a:extLst>
          </p:cNvPr>
          <p:cNvSpPr/>
          <p:nvPr/>
        </p:nvSpPr>
        <p:spPr>
          <a:xfrm>
            <a:off x="905248" y="413936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13A210F2-3ED4-E6BB-10ED-F451638403FB}"/>
              </a:ext>
            </a:extLst>
          </p:cNvPr>
          <p:cNvSpPr/>
          <p:nvPr/>
        </p:nvSpPr>
        <p:spPr>
          <a:xfrm>
            <a:off x="1929980" y="4555458"/>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E8A64675-5182-AC0F-ADE3-AA1057D915EF}"/>
              </a:ext>
            </a:extLst>
          </p:cNvPr>
          <p:cNvSpPr/>
          <p:nvPr/>
        </p:nvSpPr>
        <p:spPr>
          <a:xfrm>
            <a:off x="2089016" y="391453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92EFC0F8-787D-EA6A-DB2C-0C60A4A1B716}"/>
              </a:ext>
            </a:extLst>
          </p:cNvPr>
          <p:cNvSpPr/>
          <p:nvPr/>
        </p:nvSpPr>
        <p:spPr>
          <a:xfrm>
            <a:off x="2434589" y="357712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035B17EE-8AA5-A507-98FE-C3C2BCB5ED86}"/>
              </a:ext>
            </a:extLst>
          </p:cNvPr>
          <p:cNvSpPr/>
          <p:nvPr/>
        </p:nvSpPr>
        <p:spPr>
          <a:xfrm>
            <a:off x="543828" y="333600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E82678B7-D941-E598-7955-803C28D41BE2}"/>
              </a:ext>
            </a:extLst>
          </p:cNvPr>
          <p:cNvSpPr/>
          <p:nvPr/>
        </p:nvSpPr>
        <p:spPr>
          <a:xfrm>
            <a:off x="2190591" y="311459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A001254B-9EA8-DF66-6E6D-D5D8B0905659}"/>
              </a:ext>
            </a:extLst>
          </p:cNvPr>
          <p:cNvSpPr/>
          <p:nvPr/>
        </p:nvSpPr>
        <p:spPr>
          <a:xfrm>
            <a:off x="2621238" y="283695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EC1CD9F2-C1B7-A442-0ED7-14BAC25A29D0}"/>
              </a:ext>
            </a:extLst>
          </p:cNvPr>
          <p:cNvSpPr/>
          <p:nvPr/>
        </p:nvSpPr>
        <p:spPr>
          <a:xfrm>
            <a:off x="3121763" y="297411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422A209F-BFE1-DE04-F743-361DCCE55560}"/>
              </a:ext>
            </a:extLst>
          </p:cNvPr>
          <p:cNvSpPr/>
          <p:nvPr/>
        </p:nvSpPr>
        <p:spPr>
          <a:xfrm>
            <a:off x="3121763" y="347316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AFEEE6E5-42F8-302C-8834-E479DA437D2D}"/>
              </a:ext>
            </a:extLst>
          </p:cNvPr>
          <p:cNvSpPr/>
          <p:nvPr/>
        </p:nvSpPr>
        <p:spPr>
          <a:xfrm>
            <a:off x="3630743" y="361032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Explosion: 8 Points 36">
            <a:extLst>
              <a:ext uri="{FF2B5EF4-FFF2-40B4-BE49-F238E27FC236}">
                <a16:creationId xmlns:a16="http://schemas.microsoft.com/office/drawing/2014/main" id="{779B4731-3CC2-C5E3-CC74-A777EECCDAD2}"/>
              </a:ext>
            </a:extLst>
          </p:cNvPr>
          <p:cNvSpPr/>
          <p:nvPr/>
        </p:nvSpPr>
        <p:spPr>
          <a:xfrm>
            <a:off x="1519642" y="3797013"/>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0" name="Explosion: 8 Points 59">
            <a:extLst>
              <a:ext uri="{FF2B5EF4-FFF2-40B4-BE49-F238E27FC236}">
                <a16:creationId xmlns:a16="http://schemas.microsoft.com/office/drawing/2014/main" id="{B76DF551-BED3-35DA-B31C-211310198900}"/>
              </a:ext>
            </a:extLst>
          </p:cNvPr>
          <p:cNvSpPr/>
          <p:nvPr/>
        </p:nvSpPr>
        <p:spPr>
          <a:xfrm>
            <a:off x="2472297" y="389604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Explosion: 8 Points 60">
            <a:extLst>
              <a:ext uri="{FF2B5EF4-FFF2-40B4-BE49-F238E27FC236}">
                <a16:creationId xmlns:a16="http://schemas.microsoft.com/office/drawing/2014/main" id="{20C09D37-93C2-D90F-94BA-AF8C31844488}"/>
              </a:ext>
            </a:extLst>
          </p:cNvPr>
          <p:cNvSpPr/>
          <p:nvPr/>
        </p:nvSpPr>
        <p:spPr>
          <a:xfrm>
            <a:off x="2021735" y="34441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Explosion: 8 Points 61">
            <a:extLst>
              <a:ext uri="{FF2B5EF4-FFF2-40B4-BE49-F238E27FC236}">
                <a16:creationId xmlns:a16="http://schemas.microsoft.com/office/drawing/2014/main" id="{540AA3D4-1B45-4052-73DB-322CCDB4F18E}"/>
              </a:ext>
            </a:extLst>
          </p:cNvPr>
          <p:cNvSpPr/>
          <p:nvPr/>
        </p:nvSpPr>
        <p:spPr>
          <a:xfrm>
            <a:off x="2690055" y="325607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Explosion: 8 Points 62">
            <a:extLst>
              <a:ext uri="{FF2B5EF4-FFF2-40B4-BE49-F238E27FC236}">
                <a16:creationId xmlns:a16="http://schemas.microsoft.com/office/drawing/2014/main" id="{3636A113-ED9B-2B35-2BC8-AD634B5F59C2}"/>
              </a:ext>
            </a:extLst>
          </p:cNvPr>
          <p:cNvSpPr/>
          <p:nvPr/>
        </p:nvSpPr>
        <p:spPr>
          <a:xfrm>
            <a:off x="2817788" y="251213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Explosion: 8 Points 63">
            <a:extLst>
              <a:ext uri="{FF2B5EF4-FFF2-40B4-BE49-F238E27FC236}">
                <a16:creationId xmlns:a16="http://schemas.microsoft.com/office/drawing/2014/main" id="{F5217511-F94E-609D-F1B5-B6B8A4997AF6}"/>
              </a:ext>
            </a:extLst>
          </p:cNvPr>
          <p:cNvSpPr/>
          <p:nvPr/>
        </p:nvSpPr>
        <p:spPr>
          <a:xfrm>
            <a:off x="3538803" y="329460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Explosion: 8 Points 64">
            <a:extLst>
              <a:ext uri="{FF2B5EF4-FFF2-40B4-BE49-F238E27FC236}">
                <a16:creationId xmlns:a16="http://schemas.microsoft.com/office/drawing/2014/main" id="{4091889F-23DA-B37B-F6FC-5906F73A74C5}"/>
              </a:ext>
            </a:extLst>
          </p:cNvPr>
          <p:cNvSpPr/>
          <p:nvPr/>
        </p:nvSpPr>
        <p:spPr>
          <a:xfrm>
            <a:off x="3355936" y="402762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Explosion: 8 Points 65">
            <a:extLst>
              <a:ext uri="{FF2B5EF4-FFF2-40B4-BE49-F238E27FC236}">
                <a16:creationId xmlns:a16="http://schemas.microsoft.com/office/drawing/2014/main" id="{54801A0E-55D9-D023-E16F-34E04860CB66}"/>
              </a:ext>
            </a:extLst>
          </p:cNvPr>
          <p:cNvSpPr/>
          <p:nvPr/>
        </p:nvSpPr>
        <p:spPr>
          <a:xfrm>
            <a:off x="1367888" y="4746987"/>
            <a:ext cx="255466" cy="265671"/>
          </a:xfrm>
          <a:prstGeom prst="irregularSeal1">
            <a:avLst/>
          </a:prstGeom>
          <a:solidFill>
            <a:srgbClr val="F56600"/>
          </a:solidFill>
          <a:ln>
            <a:solidFill>
              <a:srgbClr val="341C7F"/>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7" name="Explosion: 8 Points 66">
            <a:extLst>
              <a:ext uri="{FF2B5EF4-FFF2-40B4-BE49-F238E27FC236}">
                <a16:creationId xmlns:a16="http://schemas.microsoft.com/office/drawing/2014/main" id="{D992F3D6-2DC3-ADB6-6A51-7219478FBB6D}"/>
              </a:ext>
            </a:extLst>
          </p:cNvPr>
          <p:cNvSpPr/>
          <p:nvPr/>
        </p:nvSpPr>
        <p:spPr>
          <a:xfrm>
            <a:off x="3337400" y="453099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Explosion: 8 Points 67">
            <a:extLst>
              <a:ext uri="{FF2B5EF4-FFF2-40B4-BE49-F238E27FC236}">
                <a16:creationId xmlns:a16="http://schemas.microsoft.com/office/drawing/2014/main" id="{B3A12A09-B979-04DE-41E4-B02EEE36EA9D}"/>
              </a:ext>
            </a:extLst>
          </p:cNvPr>
          <p:cNvSpPr/>
          <p:nvPr/>
        </p:nvSpPr>
        <p:spPr>
          <a:xfrm>
            <a:off x="4032940" y="4614151"/>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Explosion: 8 Points 68">
            <a:extLst>
              <a:ext uri="{FF2B5EF4-FFF2-40B4-BE49-F238E27FC236}">
                <a16:creationId xmlns:a16="http://schemas.microsoft.com/office/drawing/2014/main" id="{C2B0E57E-27C3-41AD-7DA2-F0EFB0D1A416}"/>
              </a:ext>
            </a:extLst>
          </p:cNvPr>
          <p:cNvSpPr/>
          <p:nvPr/>
        </p:nvSpPr>
        <p:spPr>
          <a:xfrm>
            <a:off x="3777474" y="506478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Explosion: 8 Points 69">
            <a:extLst>
              <a:ext uri="{FF2B5EF4-FFF2-40B4-BE49-F238E27FC236}">
                <a16:creationId xmlns:a16="http://schemas.microsoft.com/office/drawing/2014/main" id="{46B85480-9BAD-29F8-0637-647ED6E88CBD}"/>
              </a:ext>
            </a:extLst>
          </p:cNvPr>
          <p:cNvSpPr/>
          <p:nvPr/>
        </p:nvSpPr>
        <p:spPr>
          <a:xfrm>
            <a:off x="4391949" y="5090969"/>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Explosion: 8 Points 70">
            <a:extLst>
              <a:ext uri="{FF2B5EF4-FFF2-40B4-BE49-F238E27FC236}">
                <a16:creationId xmlns:a16="http://schemas.microsoft.com/office/drawing/2014/main" id="{C7C9F337-0948-8CB8-0749-21BF5D10AE4C}"/>
              </a:ext>
            </a:extLst>
          </p:cNvPr>
          <p:cNvSpPr/>
          <p:nvPr/>
        </p:nvSpPr>
        <p:spPr>
          <a:xfrm>
            <a:off x="4959756" y="4965476"/>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Explosion: 8 Points 71">
            <a:extLst>
              <a:ext uri="{FF2B5EF4-FFF2-40B4-BE49-F238E27FC236}">
                <a16:creationId xmlns:a16="http://schemas.microsoft.com/office/drawing/2014/main" id="{610A2DDB-FA1D-B56D-6480-BCE9EF7C1634}"/>
              </a:ext>
            </a:extLst>
          </p:cNvPr>
          <p:cNvSpPr/>
          <p:nvPr/>
        </p:nvSpPr>
        <p:spPr>
          <a:xfrm>
            <a:off x="4692349" y="4426947"/>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Explosion: 8 Points 72">
            <a:extLst>
              <a:ext uri="{FF2B5EF4-FFF2-40B4-BE49-F238E27FC236}">
                <a16:creationId xmlns:a16="http://schemas.microsoft.com/office/drawing/2014/main" id="{C7DB13CB-3289-0267-38C2-E78E10EA6C91}"/>
              </a:ext>
            </a:extLst>
          </p:cNvPr>
          <p:cNvSpPr/>
          <p:nvPr/>
        </p:nvSpPr>
        <p:spPr>
          <a:xfrm>
            <a:off x="5272722" y="4398160"/>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Explosion: 8 Points 73">
            <a:extLst>
              <a:ext uri="{FF2B5EF4-FFF2-40B4-BE49-F238E27FC236}">
                <a16:creationId xmlns:a16="http://schemas.microsoft.com/office/drawing/2014/main" id="{1FED0F41-F4B4-8C00-105F-64627712B58E}"/>
              </a:ext>
            </a:extLst>
          </p:cNvPr>
          <p:cNvSpPr/>
          <p:nvPr/>
        </p:nvSpPr>
        <p:spPr>
          <a:xfrm>
            <a:off x="4967697" y="3789303"/>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Explosion: 8 Points 74">
            <a:extLst>
              <a:ext uri="{FF2B5EF4-FFF2-40B4-BE49-F238E27FC236}">
                <a16:creationId xmlns:a16="http://schemas.microsoft.com/office/drawing/2014/main" id="{434F0036-6E91-C822-D92F-E2ADA5DF55E7}"/>
              </a:ext>
            </a:extLst>
          </p:cNvPr>
          <p:cNvSpPr/>
          <p:nvPr/>
        </p:nvSpPr>
        <p:spPr>
          <a:xfrm>
            <a:off x="5572664" y="372655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Explosion: 8 Points 75">
            <a:extLst>
              <a:ext uri="{FF2B5EF4-FFF2-40B4-BE49-F238E27FC236}">
                <a16:creationId xmlns:a16="http://schemas.microsoft.com/office/drawing/2014/main" id="{3559E010-1D06-53C0-9B72-116C1059A0F3}"/>
              </a:ext>
            </a:extLst>
          </p:cNvPr>
          <p:cNvSpPr/>
          <p:nvPr/>
        </p:nvSpPr>
        <p:spPr>
          <a:xfrm>
            <a:off x="6244944" y="3899892"/>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Explosion: 8 Points 76">
            <a:extLst>
              <a:ext uri="{FF2B5EF4-FFF2-40B4-BE49-F238E27FC236}">
                <a16:creationId xmlns:a16="http://schemas.microsoft.com/office/drawing/2014/main" id="{3BEFC50C-8D50-05F0-33B8-BF229464E8CF}"/>
              </a:ext>
            </a:extLst>
          </p:cNvPr>
          <p:cNvSpPr/>
          <p:nvPr/>
        </p:nvSpPr>
        <p:spPr>
          <a:xfrm>
            <a:off x="1832408" y="401835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Explosion: 8 Points 77">
            <a:extLst>
              <a:ext uri="{FF2B5EF4-FFF2-40B4-BE49-F238E27FC236}">
                <a16:creationId xmlns:a16="http://schemas.microsoft.com/office/drawing/2014/main" id="{A1EB47BF-6822-5B5E-E1C7-51CC4D8B0F3E}"/>
              </a:ext>
            </a:extLst>
          </p:cNvPr>
          <p:cNvSpPr/>
          <p:nvPr/>
        </p:nvSpPr>
        <p:spPr>
          <a:xfrm>
            <a:off x="6124066" y="45087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Explosion: 8 Points 78">
            <a:extLst>
              <a:ext uri="{FF2B5EF4-FFF2-40B4-BE49-F238E27FC236}">
                <a16:creationId xmlns:a16="http://schemas.microsoft.com/office/drawing/2014/main" id="{0AEF1A85-CC6F-84DD-CFBE-1B9A7D4E30B4}"/>
              </a:ext>
            </a:extLst>
          </p:cNvPr>
          <p:cNvSpPr/>
          <p:nvPr/>
        </p:nvSpPr>
        <p:spPr>
          <a:xfrm>
            <a:off x="6754975" y="4783814"/>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Explosion: 8 Points 79">
            <a:extLst>
              <a:ext uri="{FF2B5EF4-FFF2-40B4-BE49-F238E27FC236}">
                <a16:creationId xmlns:a16="http://schemas.microsoft.com/office/drawing/2014/main" id="{822BDFEE-F637-FB40-D9A0-774340EDB872}"/>
              </a:ext>
            </a:extLst>
          </p:cNvPr>
          <p:cNvSpPr/>
          <p:nvPr/>
        </p:nvSpPr>
        <p:spPr>
          <a:xfrm>
            <a:off x="6646252" y="5515413"/>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Explosion: 8 Points 80">
            <a:extLst>
              <a:ext uri="{FF2B5EF4-FFF2-40B4-BE49-F238E27FC236}">
                <a16:creationId xmlns:a16="http://schemas.microsoft.com/office/drawing/2014/main" id="{EEC3DCEF-81EA-D73D-E87D-D4805DA569B7}"/>
              </a:ext>
            </a:extLst>
          </p:cNvPr>
          <p:cNvSpPr/>
          <p:nvPr/>
        </p:nvSpPr>
        <p:spPr>
          <a:xfrm>
            <a:off x="7322782" y="4508715"/>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A397ADCD-4E32-FD8C-8E24-1D12C4EB2D0C}"/>
              </a:ext>
            </a:extLst>
          </p:cNvPr>
          <p:cNvSpPr/>
          <p:nvPr/>
        </p:nvSpPr>
        <p:spPr>
          <a:xfrm>
            <a:off x="3598703" y="412153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Isosceles Triangle 83">
            <a:extLst>
              <a:ext uri="{FF2B5EF4-FFF2-40B4-BE49-F238E27FC236}">
                <a16:creationId xmlns:a16="http://schemas.microsoft.com/office/drawing/2014/main" id="{C1824A42-4C43-6708-6D6D-76D9D29A5039}"/>
              </a:ext>
            </a:extLst>
          </p:cNvPr>
          <p:cNvSpPr/>
          <p:nvPr/>
        </p:nvSpPr>
        <p:spPr>
          <a:xfrm>
            <a:off x="5142053" y="464803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Isosceles Triangle 84">
            <a:extLst>
              <a:ext uri="{FF2B5EF4-FFF2-40B4-BE49-F238E27FC236}">
                <a16:creationId xmlns:a16="http://schemas.microsoft.com/office/drawing/2014/main" id="{A7DF33AD-5F38-B109-04FD-DD2E6AFBC8C9}"/>
              </a:ext>
            </a:extLst>
          </p:cNvPr>
          <p:cNvSpPr/>
          <p:nvPr/>
        </p:nvSpPr>
        <p:spPr>
          <a:xfrm>
            <a:off x="3618159" y="465436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Isosceles Triangle 85">
            <a:extLst>
              <a:ext uri="{FF2B5EF4-FFF2-40B4-BE49-F238E27FC236}">
                <a16:creationId xmlns:a16="http://schemas.microsoft.com/office/drawing/2014/main" id="{65433061-BB92-2CB5-B3A9-00BF041B7099}"/>
              </a:ext>
            </a:extLst>
          </p:cNvPr>
          <p:cNvSpPr/>
          <p:nvPr/>
        </p:nvSpPr>
        <p:spPr>
          <a:xfrm>
            <a:off x="4285925" y="471263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Isosceles Triangle 86">
            <a:extLst>
              <a:ext uri="{FF2B5EF4-FFF2-40B4-BE49-F238E27FC236}">
                <a16:creationId xmlns:a16="http://schemas.microsoft.com/office/drawing/2014/main" id="{2101F642-4F6E-5C40-4E3F-151B51489826}"/>
              </a:ext>
            </a:extLst>
          </p:cNvPr>
          <p:cNvSpPr/>
          <p:nvPr/>
        </p:nvSpPr>
        <p:spPr>
          <a:xfrm>
            <a:off x="4038243" y="5165503"/>
            <a:ext cx="274320" cy="26448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Isosceles Triangle 87">
            <a:extLst>
              <a:ext uri="{FF2B5EF4-FFF2-40B4-BE49-F238E27FC236}">
                <a16:creationId xmlns:a16="http://schemas.microsoft.com/office/drawing/2014/main" id="{5479DD2C-116B-C9DD-03E7-91EAC65A18E5}"/>
              </a:ext>
            </a:extLst>
          </p:cNvPr>
          <p:cNvSpPr/>
          <p:nvPr/>
        </p:nvSpPr>
        <p:spPr>
          <a:xfrm>
            <a:off x="4685436" y="504948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Isosceles Triangle 88">
            <a:extLst>
              <a:ext uri="{FF2B5EF4-FFF2-40B4-BE49-F238E27FC236}">
                <a16:creationId xmlns:a16="http://schemas.microsoft.com/office/drawing/2014/main" id="{294C9206-58EB-562B-4BD0-8771400DDF01}"/>
              </a:ext>
            </a:extLst>
          </p:cNvPr>
          <p:cNvSpPr/>
          <p:nvPr/>
        </p:nvSpPr>
        <p:spPr>
          <a:xfrm>
            <a:off x="4966669" y="4214992"/>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Isosceles Triangle 89">
            <a:extLst>
              <a:ext uri="{FF2B5EF4-FFF2-40B4-BE49-F238E27FC236}">
                <a16:creationId xmlns:a16="http://schemas.microsoft.com/office/drawing/2014/main" id="{846E3C25-5A69-C3C1-FC6E-B921586245D4}"/>
              </a:ext>
            </a:extLst>
          </p:cNvPr>
          <p:cNvSpPr/>
          <p:nvPr/>
        </p:nvSpPr>
        <p:spPr>
          <a:xfrm>
            <a:off x="5377644" y="3956931"/>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A4DBA29B-AD39-6175-716C-B07AD483ACD4}"/>
              </a:ext>
            </a:extLst>
          </p:cNvPr>
          <p:cNvSpPr/>
          <p:nvPr/>
        </p:nvSpPr>
        <p:spPr>
          <a:xfrm>
            <a:off x="5215222" y="350186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Isosceles Triangle 91">
            <a:extLst>
              <a:ext uri="{FF2B5EF4-FFF2-40B4-BE49-F238E27FC236}">
                <a16:creationId xmlns:a16="http://schemas.microsoft.com/office/drawing/2014/main" id="{9374AA7B-F670-A9D1-0B37-997730A233CE}"/>
              </a:ext>
            </a:extLst>
          </p:cNvPr>
          <p:cNvSpPr/>
          <p:nvPr/>
        </p:nvSpPr>
        <p:spPr>
          <a:xfrm>
            <a:off x="5848319" y="3501949"/>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Isosceles Triangle 92">
            <a:extLst>
              <a:ext uri="{FF2B5EF4-FFF2-40B4-BE49-F238E27FC236}">
                <a16:creationId xmlns:a16="http://schemas.microsoft.com/office/drawing/2014/main" id="{865A0F15-DF7B-2EF0-E31D-F8463147112B}"/>
              </a:ext>
            </a:extLst>
          </p:cNvPr>
          <p:cNvSpPr/>
          <p:nvPr/>
        </p:nvSpPr>
        <p:spPr>
          <a:xfrm>
            <a:off x="7339693" y="401897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Isosceles Triangle 93">
            <a:extLst>
              <a:ext uri="{FF2B5EF4-FFF2-40B4-BE49-F238E27FC236}">
                <a16:creationId xmlns:a16="http://schemas.microsoft.com/office/drawing/2014/main" id="{E1CF4F8D-029A-9560-9040-BB24D42E7DB0}"/>
              </a:ext>
            </a:extLst>
          </p:cNvPr>
          <p:cNvSpPr/>
          <p:nvPr/>
        </p:nvSpPr>
        <p:spPr>
          <a:xfrm>
            <a:off x="5806445" y="4083746"/>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a:extLst>
              <a:ext uri="{FF2B5EF4-FFF2-40B4-BE49-F238E27FC236}">
                <a16:creationId xmlns:a16="http://schemas.microsoft.com/office/drawing/2014/main" id="{9C84AB24-7935-9996-BB7B-18E509003E29}"/>
              </a:ext>
            </a:extLst>
          </p:cNvPr>
          <p:cNvSpPr/>
          <p:nvPr/>
        </p:nvSpPr>
        <p:spPr>
          <a:xfrm>
            <a:off x="6276747" y="416046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a:extLst>
              <a:ext uri="{FF2B5EF4-FFF2-40B4-BE49-F238E27FC236}">
                <a16:creationId xmlns:a16="http://schemas.microsoft.com/office/drawing/2014/main" id="{FDE34265-5E61-1EB5-84AC-821F5FBFF39E}"/>
              </a:ext>
            </a:extLst>
          </p:cNvPr>
          <p:cNvSpPr/>
          <p:nvPr/>
        </p:nvSpPr>
        <p:spPr>
          <a:xfrm>
            <a:off x="6276747" y="4849795"/>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Isosceles Triangle 96">
            <a:extLst>
              <a:ext uri="{FF2B5EF4-FFF2-40B4-BE49-F238E27FC236}">
                <a16:creationId xmlns:a16="http://schemas.microsoft.com/office/drawing/2014/main" id="{5B8F3C79-50BE-30D5-A091-068E26C1DCBD}"/>
              </a:ext>
            </a:extLst>
          </p:cNvPr>
          <p:cNvSpPr/>
          <p:nvPr/>
        </p:nvSpPr>
        <p:spPr>
          <a:xfrm>
            <a:off x="6535655" y="451087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Isosceles Triangle 97">
            <a:extLst>
              <a:ext uri="{FF2B5EF4-FFF2-40B4-BE49-F238E27FC236}">
                <a16:creationId xmlns:a16="http://schemas.microsoft.com/office/drawing/2014/main" id="{FB7BDC46-93CA-E062-97ED-9B0DD649DC96}"/>
              </a:ext>
            </a:extLst>
          </p:cNvPr>
          <p:cNvSpPr/>
          <p:nvPr/>
        </p:nvSpPr>
        <p:spPr>
          <a:xfrm>
            <a:off x="6773985" y="5136234"/>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Isosceles Triangle 98">
            <a:extLst>
              <a:ext uri="{FF2B5EF4-FFF2-40B4-BE49-F238E27FC236}">
                <a16:creationId xmlns:a16="http://schemas.microsoft.com/office/drawing/2014/main" id="{D2451D57-390B-7ADF-BBBF-7B4CA5AA6256}"/>
              </a:ext>
            </a:extLst>
          </p:cNvPr>
          <p:cNvSpPr/>
          <p:nvPr/>
        </p:nvSpPr>
        <p:spPr>
          <a:xfrm>
            <a:off x="7183292" y="498139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Isosceles Triangle 99">
            <a:extLst>
              <a:ext uri="{FF2B5EF4-FFF2-40B4-BE49-F238E27FC236}">
                <a16:creationId xmlns:a16="http://schemas.microsoft.com/office/drawing/2014/main" id="{073FAE92-8121-2129-4015-FCC360B270E9}"/>
              </a:ext>
            </a:extLst>
          </p:cNvPr>
          <p:cNvSpPr/>
          <p:nvPr/>
        </p:nvSpPr>
        <p:spPr>
          <a:xfrm>
            <a:off x="7385453" y="5318507"/>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Isosceles Triangle 100">
            <a:extLst>
              <a:ext uri="{FF2B5EF4-FFF2-40B4-BE49-F238E27FC236}">
                <a16:creationId xmlns:a16="http://schemas.microsoft.com/office/drawing/2014/main" id="{3DEB3BD6-028D-98BA-586E-BE4340BF53F0}"/>
              </a:ext>
            </a:extLst>
          </p:cNvPr>
          <p:cNvSpPr/>
          <p:nvPr/>
        </p:nvSpPr>
        <p:spPr>
          <a:xfrm>
            <a:off x="6920572" y="5704853"/>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Table 23">
            <a:extLst>
              <a:ext uri="{FF2B5EF4-FFF2-40B4-BE49-F238E27FC236}">
                <a16:creationId xmlns:a16="http://schemas.microsoft.com/office/drawing/2014/main" id="{30355730-92F0-4113-187C-2D00EAD227F9}"/>
              </a:ext>
            </a:extLst>
          </p:cNvPr>
          <p:cNvGraphicFramePr>
            <a:graphicFrameLocks noGrp="1"/>
          </p:cNvGraphicFramePr>
          <p:nvPr>
            <p:extLst>
              <p:ext uri="{D42A27DB-BD31-4B8C-83A1-F6EECF244321}">
                <p14:modId xmlns:p14="http://schemas.microsoft.com/office/powerpoint/2010/main" val="2643547770"/>
              </p:ext>
            </p:extLst>
          </p:nvPr>
        </p:nvGraphicFramePr>
        <p:xfrm>
          <a:off x="627976" y="427365"/>
          <a:ext cx="2990183" cy="1854200"/>
        </p:xfrm>
        <a:graphic>
          <a:graphicData uri="http://schemas.openxmlformats.org/drawingml/2006/table">
            <a:tbl>
              <a:tblPr firstRow="1" bandRow="1">
                <a:tableStyleId>{5940675A-B579-460E-94D1-54222C63F5DA}</a:tableStyleId>
              </a:tblPr>
              <a:tblGrid>
                <a:gridCol w="2088353">
                  <a:extLst>
                    <a:ext uri="{9D8B030D-6E8A-4147-A177-3AD203B41FA5}">
                      <a16:colId xmlns:a16="http://schemas.microsoft.com/office/drawing/2014/main" val="4209011268"/>
                    </a:ext>
                  </a:extLst>
                </a:gridCol>
                <a:gridCol w="901830">
                  <a:extLst>
                    <a:ext uri="{9D8B030D-6E8A-4147-A177-3AD203B41FA5}">
                      <a16:colId xmlns:a16="http://schemas.microsoft.com/office/drawing/2014/main" val="2651714445"/>
                    </a:ext>
                  </a:extLst>
                </a:gridCol>
              </a:tblGrid>
              <a:tr h="370840">
                <a:tc gridSpan="2">
                  <a:txBody>
                    <a:bodyPr/>
                    <a:lstStyle/>
                    <a:p>
                      <a:pPr algn="ctr"/>
                      <a:r>
                        <a:rPr lang="en-US" sz="1800" b="1">
                          <a:latin typeface="Arial" panose="020B0604020202020204" pitchFamily="34" charset="0"/>
                          <a:cs typeface="Arial" panose="020B0604020202020204" pitchFamily="34" charset="0"/>
                        </a:rPr>
                        <a:t>Legend</a:t>
                      </a:r>
                    </a:p>
                  </a:txBody>
                  <a:tcPr>
                    <a:solidFill>
                      <a:schemeClr val="bg2"/>
                    </a:solidFill>
                  </a:tcPr>
                </a:tc>
                <a:tc hMerge="1">
                  <a:txBody>
                    <a:bodyPr/>
                    <a:lstStyle/>
                    <a:p>
                      <a:endParaRPr lang="en-US"/>
                    </a:p>
                  </a:txBody>
                  <a:tcPr/>
                </a:tc>
                <a:extLst>
                  <a:ext uri="{0D108BD9-81ED-4DB2-BD59-A6C34878D82A}">
                    <a16:rowId xmlns:a16="http://schemas.microsoft.com/office/drawing/2014/main" val="2697691273"/>
                  </a:ext>
                </a:extLst>
              </a:tr>
              <a:tr h="370840">
                <a:tc>
                  <a:txBody>
                    <a:bodyPr/>
                    <a:lstStyle/>
                    <a:p>
                      <a:r>
                        <a:rPr lang="en-US" sz="1800">
                          <a:latin typeface="Arial" panose="020B0604020202020204" pitchFamily="34" charset="0"/>
                          <a:cs typeface="Arial" panose="020B0604020202020204" pitchFamily="34" charset="0"/>
                        </a:rPr>
                        <a:t>Target Data</a:t>
                      </a:r>
                    </a:p>
                  </a:txBody>
                  <a:tcPr/>
                </a:tc>
                <a:tc>
                  <a:txBody>
                    <a:bodyPr/>
                    <a:lstStyle/>
                    <a:p>
                      <a:endParaRPr lang="en-US" sz="1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8635097"/>
                  </a:ext>
                </a:extLst>
              </a:tr>
              <a:tr h="370840">
                <a:tc>
                  <a:txBody>
                    <a:bodyPr/>
                    <a:lstStyle/>
                    <a:p>
                      <a:r>
                        <a:rPr lang="en-US" sz="1800">
                          <a:latin typeface="Arial" panose="020B0604020202020204" pitchFamily="34" charset="0"/>
                          <a:cs typeface="Arial" panose="020B0604020202020204" pitchFamily="34" charset="0"/>
                        </a:rPr>
                        <a:t>Auxiliary Data</a:t>
                      </a:r>
                    </a:p>
                  </a:txBody>
                  <a:tcPr/>
                </a:tc>
                <a:tc>
                  <a:txBody>
                    <a:bodyPr/>
                    <a:lstStyle/>
                    <a:p>
                      <a:endParaRPr lang="en-US" sz="1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247669380"/>
                  </a:ext>
                </a:extLst>
              </a:tr>
              <a:tr h="370840">
                <a:tc>
                  <a:txBody>
                    <a:bodyPr/>
                    <a:lstStyle/>
                    <a:p>
                      <a:r>
                        <a:rPr lang="en-US" sz="1800">
                          <a:latin typeface="Arial" panose="020B0604020202020204" pitchFamily="34" charset="0"/>
                          <a:cs typeface="Arial" panose="020B0604020202020204" pitchFamily="34" charset="0"/>
                        </a:rPr>
                        <a:t>Model Estimates</a:t>
                      </a:r>
                    </a:p>
                  </a:txBody>
                  <a:tcPr/>
                </a:tc>
                <a:tc>
                  <a:txBody>
                    <a:bodyPr/>
                    <a:lstStyle/>
                    <a:p>
                      <a:endParaRPr lang="en-US" sz="1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70823677"/>
                  </a:ext>
                </a:extLst>
              </a:tr>
              <a:tr h="370840">
                <a:tc>
                  <a:txBody>
                    <a:bodyPr/>
                    <a:lstStyle/>
                    <a:p>
                      <a:r>
                        <a:rPr lang="en-US" sz="1800">
                          <a:latin typeface="Arial" panose="020B0604020202020204" pitchFamily="34" charset="0"/>
                          <a:cs typeface="Arial" panose="020B0604020202020204" pitchFamily="34" charset="0"/>
                        </a:rPr>
                        <a:t>Model Projections</a:t>
                      </a:r>
                    </a:p>
                  </a:txBody>
                  <a:tcPr/>
                </a:tc>
                <a:tc>
                  <a:txBody>
                    <a:bodyPr/>
                    <a:lstStyle/>
                    <a:p>
                      <a:endParaRPr lang="en-US" sz="18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39666726"/>
                  </a:ext>
                </a:extLst>
              </a:tr>
            </a:tbl>
          </a:graphicData>
        </a:graphic>
      </p:graphicFrame>
      <p:sp>
        <p:nvSpPr>
          <p:cNvPr id="26" name="Isosceles Triangle 25">
            <a:extLst>
              <a:ext uri="{FF2B5EF4-FFF2-40B4-BE49-F238E27FC236}">
                <a16:creationId xmlns:a16="http://schemas.microsoft.com/office/drawing/2014/main" id="{4E669360-CEF4-77BC-3526-1FEBC4E51F23}"/>
              </a:ext>
            </a:extLst>
          </p:cNvPr>
          <p:cNvSpPr/>
          <p:nvPr/>
        </p:nvSpPr>
        <p:spPr>
          <a:xfrm>
            <a:off x="3007202" y="849390"/>
            <a:ext cx="274320" cy="274320"/>
          </a:xfrm>
          <a:prstGeom prst="triangle">
            <a:avLst/>
          </a:prstGeom>
          <a:solidFill>
            <a:srgbClr val="F5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Explosion: 8 Points 27">
            <a:extLst>
              <a:ext uri="{FF2B5EF4-FFF2-40B4-BE49-F238E27FC236}">
                <a16:creationId xmlns:a16="http://schemas.microsoft.com/office/drawing/2014/main" id="{5035ACC7-8B3D-609C-E318-F247B3494042}"/>
              </a:ext>
            </a:extLst>
          </p:cNvPr>
          <p:cNvSpPr/>
          <p:nvPr/>
        </p:nvSpPr>
        <p:spPr>
          <a:xfrm>
            <a:off x="3020708" y="1241840"/>
            <a:ext cx="255466" cy="265671"/>
          </a:xfrm>
          <a:prstGeom prst="irregularSeal1">
            <a:avLst/>
          </a:prstGeom>
          <a:solidFill>
            <a:srgbClr val="F56600"/>
          </a:solidFill>
          <a:ln>
            <a:solidFill>
              <a:srgbClr val="341C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40BC129B-815E-78F8-38D7-165691EC82E9}"/>
              </a:ext>
            </a:extLst>
          </p:cNvPr>
          <p:cNvPicPr>
            <a:picLocks noChangeAspect="1"/>
          </p:cNvPicPr>
          <p:nvPr/>
        </p:nvPicPr>
        <p:blipFill>
          <a:blip r:embed="rId3"/>
          <a:stretch>
            <a:fillRect/>
          </a:stretch>
        </p:blipFill>
        <p:spPr>
          <a:xfrm>
            <a:off x="2884631" y="1582251"/>
            <a:ext cx="539447" cy="310473"/>
          </a:xfrm>
          <a:prstGeom prst="rect">
            <a:avLst/>
          </a:prstGeom>
        </p:spPr>
      </p:pic>
      <p:sp>
        <p:nvSpPr>
          <p:cNvPr id="32" name="Oval 31">
            <a:extLst>
              <a:ext uri="{FF2B5EF4-FFF2-40B4-BE49-F238E27FC236}">
                <a16:creationId xmlns:a16="http://schemas.microsoft.com/office/drawing/2014/main" id="{89CAE0A7-6C45-8CDE-0694-76BA77EBD707}"/>
              </a:ext>
            </a:extLst>
          </p:cNvPr>
          <p:cNvSpPr/>
          <p:nvPr/>
        </p:nvSpPr>
        <p:spPr>
          <a:xfrm>
            <a:off x="3037413" y="2014626"/>
            <a:ext cx="182880" cy="18288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4439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07177-D61A-2AE0-D319-8F54D6983E9A}"/>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18553A3F-143B-6701-CE2F-702398520BA0}"/>
              </a:ext>
            </a:extLst>
          </p:cNvPr>
          <p:cNvCxnSpPr>
            <a:cxnSpLocks/>
          </p:cNvCxnSpPr>
          <p:nvPr/>
        </p:nvCxnSpPr>
        <p:spPr>
          <a:xfrm>
            <a:off x="2034221" y="2488676"/>
            <a:ext cx="0" cy="3926322"/>
          </a:xfrm>
          <a:prstGeom prst="line">
            <a:avLst/>
          </a:prstGeom>
          <a:ln w="38100">
            <a:solidFill>
              <a:schemeClr val="tx1"/>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B2C3118F-1EA9-50B4-142B-470730123E04}"/>
              </a:ext>
            </a:extLst>
          </p:cNvPr>
          <p:cNvCxnSpPr>
            <a:cxnSpLocks/>
          </p:cNvCxnSpPr>
          <p:nvPr/>
        </p:nvCxnSpPr>
        <p:spPr>
          <a:xfrm flipV="1">
            <a:off x="329938" y="6414996"/>
            <a:ext cx="11217897" cy="2"/>
          </a:xfrm>
          <a:prstGeom prst="line">
            <a:avLst/>
          </a:prstGeom>
          <a:ln w="38100"/>
        </p:spPr>
        <p:style>
          <a:lnRef idx="2">
            <a:schemeClr val="dk1"/>
          </a:lnRef>
          <a:fillRef idx="0">
            <a:schemeClr val="dk1"/>
          </a:fillRef>
          <a:effectRef idx="1">
            <a:schemeClr val="dk1"/>
          </a:effectRef>
          <a:fontRef idx="minor">
            <a:schemeClr val="tx1"/>
          </a:fontRef>
        </p:style>
      </p:cxnSp>
      <p:sp>
        <p:nvSpPr>
          <p:cNvPr id="19" name="Oval 18">
            <a:extLst>
              <a:ext uri="{FF2B5EF4-FFF2-40B4-BE49-F238E27FC236}">
                <a16:creationId xmlns:a16="http://schemas.microsoft.com/office/drawing/2014/main" id="{CC4997B3-F7FB-C0E3-DA0B-FF62D09ABB46}"/>
              </a:ext>
            </a:extLst>
          </p:cNvPr>
          <p:cNvSpPr/>
          <p:nvPr/>
        </p:nvSpPr>
        <p:spPr>
          <a:xfrm>
            <a:off x="1805621" y="3974294"/>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23C00B8-EAEC-4CCF-8D59-7117F39EB67A}"/>
              </a:ext>
            </a:extLst>
          </p:cNvPr>
          <p:cNvSpPr/>
          <p:nvPr/>
        </p:nvSpPr>
        <p:spPr>
          <a:xfrm>
            <a:off x="4810101" y="4921998"/>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4EAC8F9-9CE3-BC34-3B31-142C95D387AA}"/>
              </a:ext>
            </a:extLst>
          </p:cNvPr>
          <p:cNvSpPr/>
          <p:nvPr/>
        </p:nvSpPr>
        <p:spPr>
          <a:xfrm>
            <a:off x="7304072" y="3622947"/>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3C00CCD-BF4B-4EA2-9FAA-4A135E4291DC}"/>
              </a:ext>
            </a:extLst>
          </p:cNvPr>
          <p:cNvSpPr/>
          <p:nvPr/>
        </p:nvSpPr>
        <p:spPr>
          <a:xfrm>
            <a:off x="10451269" y="4603004"/>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6926D4-2704-F1F3-8710-46FA103922C6}"/>
              </a:ext>
            </a:extLst>
          </p:cNvPr>
          <p:cNvSpPr>
            <a:spLocks noGrp="1"/>
          </p:cNvSpPr>
          <p:nvPr>
            <p:ph type="title"/>
          </p:nvPr>
        </p:nvSpPr>
        <p:spPr>
          <a:xfrm>
            <a:off x="866266" y="283553"/>
            <a:ext cx="10515600" cy="589032"/>
          </a:xfrm>
        </p:spPr>
        <p:txBody>
          <a:bodyPr>
            <a:normAutofit/>
          </a:bodyPr>
          <a:lstStyle/>
          <a:p>
            <a:pPr algn="ctr"/>
            <a:r>
              <a:rPr lang="en-US" sz="3000" b="1">
                <a:solidFill>
                  <a:srgbClr val="341C7F"/>
                </a:solidFill>
                <a:latin typeface="Arial" panose="020B0604020202020204" pitchFamily="34" charset="0"/>
                <a:cs typeface="Arial" panose="020B0604020202020204" pitchFamily="34" charset="0"/>
              </a:rPr>
              <a:t>Projections Terminology: Horizons </a:t>
            </a:r>
          </a:p>
        </p:txBody>
      </p:sp>
      <p:sp>
        <p:nvSpPr>
          <p:cNvPr id="4" name="TextBox 3">
            <a:extLst>
              <a:ext uri="{FF2B5EF4-FFF2-40B4-BE49-F238E27FC236}">
                <a16:creationId xmlns:a16="http://schemas.microsoft.com/office/drawing/2014/main" id="{67888B9D-4675-C0A8-24BB-32B8B26054A0}"/>
              </a:ext>
            </a:extLst>
          </p:cNvPr>
          <p:cNvSpPr txBox="1"/>
          <p:nvPr/>
        </p:nvSpPr>
        <p:spPr>
          <a:xfrm>
            <a:off x="950945" y="1088964"/>
            <a:ext cx="10596890" cy="1015663"/>
          </a:xfrm>
          <a:prstGeom prst="rect">
            <a:avLst/>
          </a:prstGeom>
          <a:noFill/>
          <a:ln w="12700">
            <a:noFill/>
          </a:ln>
        </p:spPr>
        <p:txBody>
          <a:bodyPr wrap="square" rtlCol="0">
            <a:spAutoFit/>
          </a:bodyPr>
          <a:lstStyle/>
          <a:p>
            <a:r>
              <a:rPr lang="en-US" sz="2000" b="1" u="sng">
                <a:latin typeface="Arial" panose="020B0604020202020204" pitchFamily="34" charset="0"/>
                <a:cs typeface="Arial" panose="020B0604020202020204" pitchFamily="34" charset="0"/>
              </a:rPr>
              <a:t>Forecasting Horizon (h):</a:t>
            </a:r>
            <a:r>
              <a:rPr lang="en-US" sz="2000" b="1">
                <a:latin typeface="Arial" panose="020B0604020202020204" pitchFamily="34" charset="0"/>
                <a:cs typeface="Arial" panose="020B0604020202020204" pitchFamily="34" charset="0"/>
              </a:rPr>
              <a:t> </a:t>
            </a:r>
            <a:r>
              <a:rPr lang="en-US" sz="2000">
                <a:latin typeface="Arial" panose="020B0604020202020204" pitchFamily="34" charset="0"/>
                <a:cs typeface="Arial" panose="020B0604020202020204" pitchFamily="34" charset="0"/>
              </a:rPr>
              <a:t>The number of future time points (e.g., weeks, days) from the “current” reference point for which a forecast provides predictions. It defines </a:t>
            </a:r>
            <a:r>
              <a:rPr lang="en-US" sz="2000" u="sng">
                <a:latin typeface="Arial" panose="020B0604020202020204" pitchFamily="34" charset="0"/>
                <a:cs typeface="Arial" panose="020B0604020202020204" pitchFamily="34" charset="0"/>
              </a:rPr>
              <a:t>how far into the future the model is attempting to project</a:t>
            </a:r>
            <a:r>
              <a:rPr lang="en-US" sz="2000">
                <a:latin typeface="Arial" panose="020B0604020202020204" pitchFamily="34" charset="0"/>
                <a:cs typeface="Arial" panose="020B0604020202020204" pitchFamily="34" charset="0"/>
              </a:rPr>
              <a:t> the outcome of interest.</a:t>
            </a:r>
          </a:p>
        </p:txBody>
      </p:sp>
      <p:sp>
        <p:nvSpPr>
          <p:cNvPr id="29" name="TextBox 28">
            <a:extLst>
              <a:ext uri="{FF2B5EF4-FFF2-40B4-BE49-F238E27FC236}">
                <a16:creationId xmlns:a16="http://schemas.microsoft.com/office/drawing/2014/main" id="{B79D0496-123F-B84D-81AD-B05C541AC14B}"/>
              </a:ext>
            </a:extLst>
          </p:cNvPr>
          <p:cNvSpPr txBox="1"/>
          <p:nvPr/>
        </p:nvSpPr>
        <p:spPr>
          <a:xfrm>
            <a:off x="2168166" y="3546814"/>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0</a:t>
            </a:r>
            <a:endParaRPr lang="en-US" sz="200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60B79323-628D-D1C4-AB0E-84E4BAD69CB0}"/>
              </a:ext>
            </a:extLst>
          </p:cNvPr>
          <p:cNvSpPr txBox="1"/>
          <p:nvPr/>
        </p:nvSpPr>
        <p:spPr>
          <a:xfrm>
            <a:off x="4516611" y="4431494"/>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1</a:t>
            </a:r>
            <a:endParaRPr lang="en-US" sz="200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2D6D69B3-8CB9-B256-C985-4E261C3BFCD9}"/>
              </a:ext>
            </a:extLst>
          </p:cNvPr>
          <p:cNvSpPr txBox="1"/>
          <p:nvPr/>
        </p:nvSpPr>
        <p:spPr>
          <a:xfrm>
            <a:off x="7010582" y="3129339"/>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2</a:t>
            </a:r>
            <a:endParaRPr lang="en-US" sz="200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73823D40-E967-3262-15E1-6C2DF101F2AE}"/>
              </a:ext>
            </a:extLst>
          </p:cNvPr>
          <p:cNvSpPr txBox="1"/>
          <p:nvPr/>
        </p:nvSpPr>
        <p:spPr>
          <a:xfrm>
            <a:off x="10157779" y="4132958"/>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3</a:t>
            </a: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7472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A5689-297B-E1DC-1360-4C149788CD26}"/>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5DEC966A-8552-DEE1-8CB9-644386CBE3A1}"/>
              </a:ext>
            </a:extLst>
          </p:cNvPr>
          <p:cNvCxnSpPr/>
          <p:nvPr/>
        </p:nvCxnSpPr>
        <p:spPr>
          <a:xfrm>
            <a:off x="2034221" y="2163509"/>
            <a:ext cx="0" cy="4251489"/>
          </a:xfrm>
          <a:prstGeom prst="line">
            <a:avLst/>
          </a:prstGeom>
          <a:ln w="38100">
            <a:solidFill>
              <a:schemeClr val="tx1"/>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56BBC97F-1EC1-E894-5372-87F3E881C109}"/>
              </a:ext>
            </a:extLst>
          </p:cNvPr>
          <p:cNvCxnSpPr>
            <a:cxnSpLocks/>
          </p:cNvCxnSpPr>
          <p:nvPr/>
        </p:nvCxnSpPr>
        <p:spPr>
          <a:xfrm flipV="1">
            <a:off x="329938" y="6414996"/>
            <a:ext cx="11217897" cy="2"/>
          </a:xfrm>
          <a:prstGeom prst="line">
            <a:avLst/>
          </a:prstGeom>
          <a:ln w="38100"/>
        </p:spPr>
        <p:style>
          <a:lnRef idx="2">
            <a:schemeClr val="dk1"/>
          </a:lnRef>
          <a:fillRef idx="0">
            <a:schemeClr val="dk1"/>
          </a:fillRef>
          <a:effectRef idx="1">
            <a:schemeClr val="dk1"/>
          </a:effectRef>
          <a:fontRef idx="minor">
            <a:schemeClr val="tx1"/>
          </a:fontRef>
        </p:style>
      </p:cxnSp>
      <p:sp>
        <p:nvSpPr>
          <p:cNvPr id="19" name="Oval 18">
            <a:extLst>
              <a:ext uri="{FF2B5EF4-FFF2-40B4-BE49-F238E27FC236}">
                <a16:creationId xmlns:a16="http://schemas.microsoft.com/office/drawing/2014/main" id="{2A63FADD-30DA-4C46-9E48-EA293056466C}"/>
              </a:ext>
            </a:extLst>
          </p:cNvPr>
          <p:cNvSpPr/>
          <p:nvPr/>
        </p:nvSpPr>
        <p:spPr>
          <a:xfrm>
            <a:off x="1805621" y="3974294"/>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C45A845-9CB5-95A0-7F09-431E164BDD4C}"/>
              </a:ext>
            </a:extLst>
          </p:cNvPr>
          <p:cNvSpPr/>
          <p:nvPr/>
        </p:nvSpPr>
        <p:spPr>
          <a:xfrm>
            <a:off x="4810101" y="4921998"/>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7D864C-39A0-EC5B-28BF-7178857A7C3F}"/>
              </a:ext>
            </a:extLst>
          </p:cNvPr>
          <p:cNvSpPr>
            <a:spLocks noGrp="1"/>
          </p:cNvSpPr>
          <p:nvPr>
            <p:ph type="title"/>
          </p:nvPr>
        </p:nvSpPr>
        <p:spPr>
          <a:xfrm>
            <a:off x="866266" y="283553"/>
            <a:ext cx="10515600" cy="589032"/>
          </a:xfrm>
        </p:spPr>
        <p:txBody>
          <a:bodyPr>
            <a:normAutofit/>
          </a:bodyPr>
          <a:lstStyle/>
          <a:p>
            <a:pPr algn="ctr"/>
            <a:r>
              <a:rPr lang="en-US" sz="3000" b="1">
                <a:solidFill>
                  <a:srgbClr val="341C7F"/>
                </a:solidFill>
                <a:latin typeface="Arial" panose="020B0604020202020204" pitchFamily="34" charset="0"/>
                <a:cs typeface="Arial" panose="020B0604020202020204" pitchFamily="34" charset="0"/>
              </a:rPr>
              <a:t>Projections Terminology </a:t>
            </a:r>
          </a:p>
        </p:txBody>
      </p:sp>
      <p:sp>
        <p:nvSpPr>
          <p:cNvPr id="3" name="TextBox 2">
            <a:extLst>
              <a:ext uri="{FF2B5EF4-FFF2-40B4-BE49-F238E27FC236}">
                <a16:creationId xmlns:a16="http://schemas.microsoft.com/office/drawing/2014/main" id="{AAF265F7-A0A1-9142-2EFC-83E8A9A63427}"/>
              </a:ext>
            </a:extLst>
          </p:cNvPr>
          <p:cNvSpPr txBox="1"/>
          <p:nvPr/>
        </p:nvSpPr>
        <p:spPr>
          <a:xfrm>
            <a:off x="2761823" y="1273976"/>
            <a:ext cx="4987941" cy="1631216"/>
          </a:xfrm>
          <a:prstGeom prst="rect">
            <a:avLst/>
          </a:prstGeom>
          <a:solidFill>
            <a:srgbClr val="F56600">
              <a:alpha val="10000"/>
            </a:srgbClr>
          </a:solidFill>
          <a:ln w="12700">
            <a:solidFill>
              <a:schemeClr val="tx1"/>
            </a:solidFill>
          </a:ln>
        </p:spPr>
        <p:txBody>
          <a:bodyPr wrap="square" rtlCol="0">
            <a:spAutoFit/>
          </a:bodyPr>
          <a:lstStyle/>
          <a:p>
            <a:pPr algn="ctr"/>
            <a:r>
              <a:rPr lang="en-US" sz="2000" b="1" u="sng">
                <a:latin typeface="Arial" panose="020B0604020202020204" pitchFamily="34" charset="0"/>
                <a:cs typeface="Arial" panose="020B0604020202020204" pitchFamily="34" charset="0"/>
              </a:rPr>
              <a:t>Nowcast</a:t>
            </a:r>
          </a:p>
          <a:p>
            <a:pPr algn="ctr"/>
            <a:r>
              <a:rPr lang="en-US" sz="2000">
                <a:latin typeface="Arial" panose="020B0604020202020204" pitchFamily="34" charset="0"/>
                <a:cs typeface="Arial" panose="020B0604020202020204" pitchFamily="34" charset="0"/>
              </a:rPr>
              <a:t>A “right-now” prediction that provides a real-time (or near real-time) picture of the current trajectory of the outcome of interest. </a:t>
            </a:r>
          </a:p>
        </p:txBody>
      </p:sp>
      <p:cxnSp>
        <p:nvCxnSpPr>
          <p:cNvPr id="5" name="Straight Arrow Connector 4">
            <a:extLst>
              <a:ext uri="{FF2B5EF4-FFF2-40B4-BE49-F238E27FC236}">
                <a16:creationId xmlns:a16="http://schemas.microsoft.com/office/drawing/2014/main" id="{6D68193B-F19C-AEF8-BDD3-415658F6CEB4}"/>
              </a:ext>
            </a:extLst>
          </p:cNvPr>
          <p:cNvCxnSpPr>
            <a:stCxn id="3" idx="2"/>
            <a:endCxn id="19" idx="6"/>
          </p:cNvCxnSpPr>
          <p:nvPr/>
        </p:nvCxnSpPr>
        <p:spPr>
          <a:xfrm flipH="1">
            <a:off x="2262821" y="2905192"/>
            <a:ext cx="2992973" cy="1297702"/>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06C5BA4A-BEE6-1EF8-2893-9D6C5784B6E0}"/>
              </a:ext>
            </a:extLst>
          </p:cNvPr>
          <p:cNvSpPr txBox="1"/>
          <p:nvPr/>
        </p:nvSpPr>
        <p:spPr>
          <a:xfrm>
            <a:off x="649716" y="3628123"/>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0</a:t>
            </a:r>
            <a:endParaRPr lang="en-US" sz="2000">
              <a:latin typeface="Arial" panose="020B0604020202020204" pitchFamily="34" charset="0"/>
              <a:cs typeface="Arial" panose="020B0604020202020204" pitchFamily="34" charset="0"/>
            </a:endParaRPr>
          </a:p>
        </p:txBody>
      </p:sp>
      <p:sp>
        <p:nvSpPr>
          <p:cNvPr id="7" name="Oval 6">
            <a:extLst>
              <a:ext uri="{FF2B5EF4-FFF2-40B4-BE49-F238E27FC236}">
                <a16:creationId xmlns:a16="http://schemas.microsoft.com/office/drawing/2014/main" id="{DC322E43-A3FE-FBF0-8394-5702E885B978}"/>
              </a:ext>
            </a:extLst>
          </p:cNvPr>
          <p:cNvSpPr/>
          <p:nvPr/>
        </p:nvSpPr>
        <p:spPr>
          <a:xfrm>
            <a:off x="7304072" y="3622947"/>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4533625-2262-FB9C-C682-C8E7A7AA7FEF}"/>
              </a:ext>
            </a:extLst>
          </p:cNvPr>
          <p:cNvSpPr/>
          <p:nvPr/>
        </p:nvSpPr>
        <p:spPr>
          <a:xfrm>
            <a:off x="10453334" y="3958010"/>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2D6ABB-03B7-12E1-B13F-2C4F69867E65}"/>
              </a:ext>
            </a:extLst>
          </p:cNvPr>
          <p:cNvSpPr txBox="1"/>
          <p:nvPr/>
        </p:nvSpPr>
        <p:spPr>
          <a:xfrm>
            <a:off x="4516611" y="5468442"/>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1</a:t>
            </a:r>
            <a:endParaRPr lang="en-US" sz="200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A145EC2-172C-306F-A953-E44F6CD6C7D0}"/>
              </a:ext>
            </a:extLst>
          </p:cNvPr>
          <p:cNvSpPr txBox="1"/>
          <p:nvPr/>
        </p:nvSpPr>
        <p:spPr>
          <a:xfrm>
            <a:off x="7010582" y="4186610"/>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2</a:t>
            </a:r>
            <a:endParaRPr lang="en-US" sz="200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8FA9A5CE-4788-F94B-BF24-EB4FA8B39C27}"/>
              </a:ext>
            </a:extLst>
          </p:cNvPr>
          <p:cNvSpPr txBox="1"/>
          <p:nvPr/>
        </p:nvSpPr>
        <p:spPr>
          <a:xfrm>
            <a:off x="10157779" y="4487311"/>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3</a:t>
            </a: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7547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F67D7-AA95-9A1B-D210-F213BC58CDCB}"/>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C774B95D-848F-751B-D7F6-9411F50B64FE}"/>
              </a:ext>
            </a:extLst>
          </p:cNvPr>
          <p:cNvCxnSpPr/>
          <p:nvPr/>
        </p:nvCxnSpPr>
        <p:spPr>
          <a:xfrm>
            <a:off x="2034221" y="2163509"/>
            <a:ext cx="0" cy="4251489"/>
          </a:xfrm>
          <a:prstGeom prst="line">
            <a:avLst/>
          </a:prstGeom>
          <a:ln w="38100">
            <a:solidFill>
              <a:schemeClr val="tx1"/>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1858F984-F427-BC87-18B0-0495466DC22F}"/>
              </a:ext>
            </a:extLst>
          </p:cNvPr>
          <p:cNvCxnSpPr>
            <a:cxnSpLocks/>
          </p:cNvCxnSpPr>
          <p:nvPr/>
        </p:nvCxnSpPr>
        <p:spPr>
          <a:xfrm flipV="1">
            <a:off x="329938" y="6414996"/>
            <a:ext cx="11217897" cy="2"/>
          </a:xfrm>
          <a:prstGeom prst="line">
            <a:avLst/>
          </a:prstGeom>
          <a:ln w="38100"/>
        </p:spPr>
        <p:style>
          <a:lnRef idx="2">
            <a:schemeClr val="dk1"/>
          </a:lnRef>
          <a:fillRef idx="0">
            <a:schemeClr val="dk1"/>
          </a:fillRef>
          <a:effectRef idx="1">
            <a:schemeClr val="dk1"/>
          </a:effectRef>
          <a:fontRef idx="minor">
            <a:schemeClr val="tx1"/>
          </a:fontRef>
        </p:style>
      </p:cxnSp>
      <p:sp>
        <p:nvSpPr>
          <p:cNvPr id="19" name="Oval 18">
            <a:extLst>
              <a:ext uri="{FF2B5EF4-FFF2-40B4-BE49-F238E27FC236}">
                <a16:creationId xmlns:a16="http://schemas.microsoft.com/office/drawing/2014/main" id="{4C61B353-99A8-FEE9-BF90-11D7B0A50F7F}"/>
              </a:ext>
            </a:extLst>
          </p:cNvPr>
          <p:cNvSpPr/>
          <p:nvPr/>
        </p:nvSpPr>
        <p:spPr>
          <a:xfrm>
            <a:off x="1805621" y="3974294"/>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3C675E5-0E48-6AEA-0DCE-506189712111}"/>
              </a:ext>
            </a:extLst>
          </p:cNvPr>
          <p:cNvSpPr/>
          <p:nvPr/>
        </p:nvSpPr>
        <p:spPr>
          <a:xfrm>
            <a:off x="4810101" y="4921998"/>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D75EC22-66C1-17BD-1EE6-197323F22AAE}"/>
              </a:ext>
            </a:extLst>
          </p:cNvPr>
          <p:cNvSpPr/>
          <p:nvPr/>
        </p:nvSpPr>
        <p:spPr>
          <a:xfrm>
            <a:off x="7304072" y="3622947"/>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0101B0E-91C9-16D4-9F48-6E54EAE1461B}"/>
              </a:ext>
            </a:extLst>
          </p:cNvPr>
          <p:cNvSpPr/>
          <p:nvPr/>
        </p:nvSpPr>
        <p:spPr>
          <a:xfrm>
            <a:off x="10453334" y="3958010"/>
            <a:ext cx="457200" cy="457200"/>
          </a:xfrm>
          <a:prstGeom prst="ellipse">
            <a:avLst/>
          </a:prstGeom>
          <a:solidFill>
            <a:srgbClr val="341C7F">
              <a:alpha val="29000"/>
            </a:srgb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70F234-CD34-3DB3-47F3-21A017B1AE41}"/>
              </a:ext>
            </a:extLst>
          </p:cNvPr>
          <p:cNvSpPr>
            <a:spLocks noGrp="1"/>
          </p:cNvSpPr>
          <p:nvPr>
            <p:ph type="title"/>
          </p:nvPr>
        </p:nvSpPr>
        <p:spPr>
          <a:xfrm>
            <a:off x="866266" y="283553"/>
            <a:ext cx="10515600" cy="589032"/>
          </a:xfrm>
        </p:spPr>
        <p:txBody>
          <a:bodyPr>
            <a:normAutofit/>
          </a:bodyPr>
          <a:lstStyle/>
          <a:p>
            <a:pPr algn="ctr"/>
            <a:r>
              <a:rPr lang="en-US" sz="3000" b="1">
                <a:solidFill>
                  <a:srgbClr val="341C7F"/>
                </a:solidFill>
                <a:latin typeface="Arial" panose="020B0604020202020204" pitchFamily="34" charset="0"/>
                <a:cs typeface="Arial" panose="020B0604020202020204" pitchFamily="34" charset="0"/>
              </a:rPr>
              <a:t>Projections Terminology </a:t>
            </a:r>
          </a:p>
        </p:txBody>
      </p:sp>
      <p:sp>
        <p:nvSpPr>
          <p:cNvPr id="4" name="TextBox 3">
            <a:extLst>
              <a:ext uri="{FF2B5EF4-FFF2-40B4-BE49-F238E27FC236}">
                <a16:creationId xmlns:a16="http://schemas.microsoft.com/office/drawing/2014/main" id="{2C35B0CD-47D2-A6DE-4244-B13CC2250CB2}"/>
              </a:ext>
            </a:extLst>
          </p:cNvPr>
          <p:cNvSpPr txBox="1"/>
          <p:nvPr/>
        </p:nvSpPr>
        <p:spPr>
          <a:xfrm>
            <a:off x="3833352" y="1266075"/>
            <a:ext cx="4987941" cy="1015663"/>
          </a:xfrm>
          <a:prstGeom prst="rect">
            <a:avLst/>
          </a:prstGeom>
          <a:solidFill>
            <a:srgbClr val="FEEFE5"/>
          </a:solidFill>
          <a:ln w="12700">
            <a:solidFill>
              <a:schemeClr val="tx1"/>
            </a:solidFill>
          </a:ln>
        </p:spPr>
        <p:txBody>
          <a:bodyPr wrap="square" rtlCol="0">
            <a:spAutoFit/>
          </a:bodyPr>
          <a:lstStyle/>
          <a:p>
            <a:pPr algn="ctr"/>
            <a:r>
              <a:rPr lang="en-US" sz="2000" b="1" u="sng" dirty="0">
                <a:latin typeface="Arial" panose="020B0604020202020204" pitchFamily="34" charset="0"/>
                <a:cs typeface="Arial" panose="020B0604020202020204" pitchFamily="34" charset="0"/>
              </a:rPr>
              <a:t>Forecast</a:t>
            </a:r>
          </a:p>
          <a:p>
            <a:pPr algn="ctr"/>
            <a:r>
              <a:rPr lang="en-US" sz="2000" dirty="0">
                <a:latin typeface="Arial" panose="020B0604020202020204" pitchFamily="34" charset="0"/>
                <a:cs typeface="Arial" panose="020B0604020202020204" pitchFamily="34" charset="0"/>
              </a:rPr>
              <a:t>A prediction that provides a view of the future trajectory of the outcome of interest.</a:t>
            </a:r>
          </a:p>
        </p:txBody>
      </p:sp>
      <p:cxnSp>
        <p:nvCxnSpPr>
          <p:cNvPr id="6" name="Straight Arrow Connector 5">
            <a:extLst>
              <a:ext uri="{FF2B5EF4-FFF2-40B4-BE49-F238E27FC236}">
                <a16:creationId xmlns:a16="http://schemas.microsoft.com/office/drawing/2014/main" id="{0371A74F-625A-527D-7636-98B6C09B3293}"/>
              </a:ext>
            </a:extLst>
          </p:cNvPr>
          <p:cNvCxnSpPr>
            <a:cxnSpLocks/>
            <a:stCxn id="4" idx="2"/>
            <a:endCxn id="20" idx="0"/>
          </p:cNvCxnSpPr>
          <p:nvPr/>
        </p:nvCxnSpPr>
        <p:spPr>
          <a:xfrm flipH="1">
            <a:off x="5038701" y="2281738"/>
            <a:ext cx="1288622" cy="264026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E9C62F00-A5D6-4B50-6666-45C131564270}"/>
              </a:ext>
            </a:extLst>
          </p:cNvPr>
          <p:cNvCxnSpPr>
            <a:cxnSpLocks/>
            <a:stCxn id="4" idx="2"/>
            <a:endCxn id="21" idx="1"/>
          </p:cNvCxnSpPr>
          <p:nvPr/>
        </p:nvCxnSpPr>
        <p:spPr>
          <a:xfrm>
            <a:off x="6327323" y="2281738"/>
            <a:ext cx="1043704" cy="1408164"/>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7F05009D-1E15-6890-93C7-361CD6453250}"/>
              </a:ext>
            </a:extLst>
          </p:cNvPr>
          <p:cNvCxnSpPr>
            <a:cxnSpLocks/>
            <a:stCxn id="4" idx="2"/>
            <a:endCxn id="22" idx="1"/>
          </p:cNvCxnSpPr>
          <p:nvPr/>
        </p:nvCxnSpPr>
        <p:spPr>
          <a:xfrm>
            <a:off x="6327323" y="2281738"/>
            <a:ext cx="4192966" cy="1743227"/>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5436D4AB-5BE3-B525-4EBD-D0AB8B053BB4}"/>
              </a:ext>
            </a:extLst>
          </p:cNvPr>
          <p:cNvSpPr txBox="1"/>
          <p:nvPr/>
        </p:nvSpPr>
        <p:spPr>
          <a:xfrm>
            <a:off x="4516611" y="5468442"/>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1</a:t>
            </a:r>
            <a:endParaRPr lang="en-US" sz="200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DAB3BB1-BAA3-2ECE-D292-B3606F1719CC}"/>
              </a:ext>
            </a:extLst>
          </p:cNvPr>
          <p:cNvSpPr txBox="1"/>
          <p:nvPr/>
        </p:nvSpPr>
        <p:spPr>
          <a:xfrm>
            <a:off x="7010582" y="4186610"/>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2</a:t>
            </a:r>
            <a:endParaRPr lang="en-US" sz="200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6B78FF0-5EB3-6ED2-C251-FA22B35933CB}"/>
              </a:ext>
            </a:extLst>
          </p:cNvPr>
          <p:cNvSpPr txBox="1"/>
          <p:nvPr/>
        </p:nvSpPr>
        <p:spPr>
          <a:xfrm>
            <a:off x="10157779" y="4487311"/>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3</a:t>
            </a:r>
            <a:endParaRPr lang="en-US" sz="200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760507F-A210-FC23-B268-11A8A87ADC1C}"/>
              </a:ext>
            </a:extLst>
          </p:cNvPr>
          <p:cNvSpPr txBox="1"/>
          <p:nvPr/>
        </p:nvSpPr>
        <p:spPr>
          <a:xfrm>
            <a:off x="647142" y="3651492"/>
            <a:ext cx="1044179" cy="400110"/>
          </a:xfrm>
          <a:prstGeom prst="rect">
            <a:avLst/>
          </a:prstGeom>
          <a:solidFill>
            <a:srgbClr val="F56600">
              <a:alpha val="10000"/>
            </a:srgbClr>
          </a:solidFill>
          <a:ln w="12700">
            <a:solidFill>
              <a:schemeClr val="tx1"/>
            </a:solidFill>
          </a:ln>
        </p:spPr>
        <p:txBody>
          <a:bodyPr wrap="square" rtlCol="0">
            <a:spAutoFit/>
          </a:bodyPr>
          <a:lstStyle/>
          <a:p>
            <a:pPr algn="ctr"/>
            <a:r>
              <a:rPr lang="en-US" sz="2000" b="1">
                <a:latin typeface="Arial" panose="020B0604020202020204" pitchFamily="34" charset="0"/>
                <a:cs typeface="Arial" panose="020B0604020202020204" pitchFamily="34" charset="0"/>
              </a:rPr>
              <a:t>h = 0</a:t>
            </a: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7815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8BB18-84C3-ABDB-DC8A-EF98ABAD8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902FA-91AE-BE02-8CEA-362608506979}"/>
              </a:ext>
            </a:extLst>
          </p:cNvPr>
          <p:cNvSpPr>
            <a:spLocks noGrp="1"/>
          </p:cNvSpPr>
          <p:nvPr>
            <p:ph type="title"/>
          </p:nvPr>
        </p:nvSpPr>
        <p:spPr>
          <a:xfrm>
            <a:off x="838200" y="276621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Infectious Disease Models</a:t>
            </a:r>
            <a:endParaRPr lang="en-US" dirty="0">
              <a:solidFill>
                <a:srgbClr val="7030A0"/>
              </a:solidFill>
            </a:endParaRPr>
          </a:p>
        </p:txBody>
      </p:sp>
    </p:spTree>
    <p:extLst>
      <p:ext uri="{BB962C8B-B14F-4D97-AF65-F5344CB8AC3E}">
        <p14:creationId xmlns:p14="http://schemas.microsoft.com/office/powerpoint/2010/main" val="937620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DEDB7-FA82-996A-C8C4-08E1EA90A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82515-8170-6647-76C7-D095456710D9}"/>
              </a:ext>
            </a:extLst>
          </p:cNvPr>
          <p:cNvSpPr>
            <a:spLocks noGrp="1"/>
          </p:cNvSpPr>
          <p:nvPr>
            <p:ph type="title"/>
          </p:nvPr>
        </p:nvSpPr>
        <p:spPr>
          <a:xfrm>
            <a:off x="838200" y="31997"/>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Overview </a:t>
            </a:r>
          </a:p>
        </p:txBody>
      </p:sp>
      <p:sp>
        <p:nvSpPr>
          <p:cNvPr id="5" name="OB0">
            <a:extLst>
              <a:ext uri="{FF2B5EF4-FFF2-40B4-BE49-F238E27FC236}">
                <a16:creationId xmlns:a16="http://schemas.microsoft.com/office/drawing/2014/main" id="{BD0C6FE0-250F-4244-ED99-CD5ADB2C3493}"/>
              </a:ext>
            </a:extLst>
          </p:cNvPr>
          <p:cNvSpPr/>
          <p:nvPr/>
        </p:nvSpPr>
        <p:spPr>
          <a:xfrm>
            <a:off x="802104" y="2264610"/>
            <a:ext cx="2476500" cy="3318042"/>
          </a:xfrm>
          <a:prstGeom prst="rect">
            <a:avLst/>
          </a:prstGeom>
          <a:solidFill>
            <a:srgbClr val="FFFFFF"/>
          </a:solidFill>
          <a:ln w="76200" cap="flat" cmpd="sng" algn="ctr">
            <a:solidFill>
              <a:schemeClr val="bg1">
                <a:lumMod val="50000"/>
              </a:scheme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200">
              <a:latin typeface="Arial" panose="020B0604020202020204" pitchFamily="34" charset="0"/>
              <a:cs typeface="Arial" panose="020B0604020202020204" pitchFamily="34" charset="0"/>
            </a:endParaRPr>
          </a:p>
        </p:txBody>
      </p:sp>
      <p:sp>
        <p:nvSpPr>
          <p:cNvPr id="7" name="OH0">
            <a:extLst>
              <a:ext uri="{FF2B5EF4-FFF2-40B4-BE49-F238E27FC236}">
                <a16:creationId xmlns:a16="http://schemas.microsoft.com/office/drawing/2014/main" id="{470588EC-4189-2770-D761-AF45DCD01CD0}"/>
              </a:ext>
            </a:extLst>
          </p:cNvPr>
          <p:cNvSpPr/>
          <p:nvPr/>
        </p:nvSpPr>
        <p:spPr>
          <a:xfrm>
            <a:off x="802104" y="2264610"/>
            <a:ext cx="24765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200" b="1" dirty="0">
                <a:solidFill>
                  <a:srgbClr val="FFFFFF"/>
                </a:solidFill>
                <a:latin typeface="Arial" panose="020B0604020202020204" pitchFamily="34" charset="0"/>
                <a:cs typeface="Arial" panose="020B0604020202020204" pitchFamily="34" charset="0"/>
              </a:rPr>
              <a:t>ARIMA - Primary</a:t>
            </a:r>
          </a:p>
        </p:txBody>
      </p:sp>
      <p:sp>
        <p:nvSpPr>
          <p:cNvPr id="9" name="OA0">
            <a:extLst>
              <a:ext uri="{FF2B5EF4-FFF2-40B4-BE49-F238E27FC236}">
                <a16:creationId xmlns:a16="http://schemas.microsoft.com/office/drawing/2014/main" id="{1E25FE66-00D3-965C-FA85-64129947D909}"/>
              </a:ext>
            </a:extLst>
          </p:cNvPr>
          <p:cNvSpPr/>
          <p:nvPr/>
        </p:nvSpPr>
        <p:spPr>
          <a:xfrm>
            <a:off x="802104" y="2228514"/>
            <a:ext cx="24765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200">
              <a:latin typeface="Arial" panose="020B0604020202020204" pitchFamily="34" charset="0"/>
              <a:cs typeface="Arial" panose="020B0604020202020204" pitchFamily="34" charset="0"/>
            </a:endParaRPr>
          </a:p>
        </p:txBody>
      </p:sp>
      <p:sp>
        <p:nvSpPr>
          <p:cNvPr id="11" name="OD0">
            <a:extLst>
              <a:ext uri="{FF2B5EF4-FFF2-40B4-BE49-F238E27FC236}">
                <a16:creationId xmlns:a16="http://schemas.microsoft.com/office/drawing/2014/main" id="{985F5E23-C509-0251-36C6-BF5A15031C0D}"/>
              </a:ext>
            </a:extLst>
          </p:cNvPr>
          <p:cNvSpPr txBox="1"/>
          <p:nvPr/>
        </p:nvSpPr>
        <p:spPr>
          <a:xfrm>
            <a:off x="1005304" y="3001210"/>
            <a:ext cx="2070100" cy="2581442"/>
          </a:xfrm>
          <a:prstGeom prst="rect">
            <a:avLst/>
          </a:prstGeom>
          <a:noFill/>
        </p:spPr>
        <p:txBody>
          <a:bodyPr wrap="square" lIns="0" tIns="0" rIns="0" bIns="0" anchor="t">
            <a:normAutofit/>
          </a:bodyPr>
          <a:lstStyle/>
          <a:p>
            <a:pPr algn="l"/>
            <a:r>
              <a:rPr lang="en-US" sz="2200" dirty="0">
                <a:solidFill>
                  <a:srgbClr val="333333"/>
                </a:solidFill>
                <a:latin typeface="Arial" panose="020B0604020202020204" pitchFamily="34" charset="0"/>
                <a:cs typeface="Arial" panose="020B0604020202020204" pitchFamily="34" charset="0"/>
              </a:rPr>
              <a:t>Models a series from its own past — autocorrelation, trend (via differencing), and seasonality.</a:t>
            </a:r>
          </a:p>
        </p:txBody>
      </p:sp>
      <p:sp>
        <p:nvSpPr>
          <p:cNvPr id="13" name="OB1">
            <a:extLst>
              <a:ext uri="{FF2B5EF4-FFF2-40B4-BE49-F238E27FC236}">
                <a16:creationId xmlns:a16="http://schemas.microsoft.com/office/drawing/2014/main" id="{A10E3BB3-22D7-9729-A893-6D1FDF5B7BF9}"/>
              </a:ext>
            </a:extLst>
          </p:cNvPr>
          <p:cNvSpPr/>
          <p:nvPr/>
        </p:nvSpPr>
        <p:spPr>
          <a:xfrm>
            <a:off x="3481804" y="2264610"/>
            <a:ext cx="2476500" cy="33147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200">
              <a:latin typeface="Arial" panose="020B0604020202020204" pitchFamily="34" charset="0"/>
              <a:cs typeface="Arial" panose="020B0604020202020204" pitchFamily="34" charset="0"/>
            </a:endParaRPr>
          </a:p>
        </p:txBody>
      </p:sp>
      <p:sp>
        <p:nvSpPr>
          <p:cNvPr id="15" name="OH1">
            <a:extLst>
              <a:ext uri="{FF2B5EF4-FFF2-40B4-BE49-F238E27FC236}">
                <a16:creationId xmlns:a16="http://schemas.microsoft.com/office/drawing/2014/main" id="{3EDA366C-1112-3DF8-A59E-5A037285238E}"/>
              </a:ext>
            </a:extLst>
          </p:cNvPr>
          <p:cNvSpPr/>
          <p:nvPr/>
        </p:nvSpPr>
        <p:spPr>
          <a:xfrm>
            <a:off x="3481804" y="2264610"/>
            <a:ext cx="24765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200" b="1" dirty="0">
                <a:solidFill>
                  <a:srgbClr val="FFFFFF"/>
                </a:solidFill>
                <a:latin typeface="Arial" panose="020B0604020202020204" pitchFamily="34" charset="0"/>
                <a:cs typeface="Arial" panose="020B0604020202020204" pitchFamily="34" charset="0"/>
              </a:rPr>
              <a:t>GAM</a:t>
            </a:r>
          </a:p>
        </p:txBody>
      </p:sp>
      <p:sp>
        <p:nvSpPr>
          <p:cNvPr id="17" name="OA1">
            <a:extLst>
              <a:ext uri="{FF2B5EF4-FFF2-40B4-BE49-F238E27FC236}">
                <a16:creationId xmlns:a16="http://schemas.microsoft.com/office/drawing/2014/main" id="{2AA635B8-89C3-D046-0BAF-A1E822526399}"/>
              </a:ext>
            </a:extLst>
          </p:cNvPr>
          <p:cNvSpPr/>
          <p:nvPr/>
        </p:nvSpPr>
        <p:spPr>
          <a:xfrm>
            <a:off x="3481804" y="2264610"/>
            <a:ext cx="24765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200">
              <a:latin typeface="Arial" panose="020B0604020202020204" pitchFamily="34" charset="0"/>
              <a:cs typeface="Arial" panose="020B0604020202020204" pitchFamily="34" charset="0"/>
            </a:endParaRPr>
          </a:p>
        </p:txBody>
      </p:sp>
      <p:sp>
        <p:nvSpPr>
          <p:cNvPr id="19" name="OD1">
            <a:extLst>
              <a:ext uri="{FF2B5EF4-FFF2-40B4-BE49-F238E27FC236}">
                <a16:creationId xmlns:a16="http://schemas.microsoft.com/office/drawing/2014/main" id="{8C548A33-1A8E-A0CE-4C29-2538C13226E9}"/>
              </a:ext>
            </a:extLst>
          </p:cNvPr>
          <p:cNvSpPr txBox="1"/>
          <p:nvPr/>
        </p:nvSpPr>
        <p:spPr>
          <a:xfrm>
            <a:off x="3685004" y="3001210"/>
            <a:ext cx="2070100" cy="3378200"/>
          </a:xfrm>
          <a:prstGeom prst="rect">
            <a:avLst/>
          </a:prstGeom>
          <a:noFill/>
        </p:spPr>
        <p:txBody>
          <a:bodyPr wrap="square" lIns="0" tIns="0" rIns="0" bIns="0" anchor="t">
            <a:normAutofit/>
          </a:bodyPr>
          <a:lstStyle/>
          <a:p>
            <a:pPr algn="l"/>
            <a:r>
              <a:rPr lang="en-US" sz="2200" dirty="0">
                <a:solidFill>
                  <a:srgbClr val="333333"/>
                </a:solidFill>
                <a:latin typeface="Arial" panose="020B0604020202020204" pitchFamily="34" charset="0"/>
                <a:cs typeface="Arial" panose="020B0604020202020204" pitchFamily="34" charset="0"/>
              </a:rPr>
              <a:t>Flexible regression using smooth spline terms to capture nonlinear trends and seasonality.</a:t>
            </a:r>
          </a:p>
        </p:txBody>
      </p:sp>
      <p:sp>
        <p:nvSpPr>
          <p:cNvPr id="21" name="OB2">
            <a:extLst>
              <a:ext uri="{FF2B5EF4-FFF2-40B4-BE49-F238E27FC236}">
                <a16:creationId xmlns:a16="http://schemas.microsoft.com/office/drawing/2014/main" id="{F2EF6E10-BBF9-4A4E-8B85-62855FACC3CF}"/>
              </a:ext>
            </a:extLst>
          </p:cNvPr>
          <p:cNvSpPr/>
          <p:nvPr/>
        </p:nvSpPr>
        <p:spPr>
          <a:xfrm>
            <a:off x="6161504" y="2264610"/>
            <a:ext cx="2476500" cy="33147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200">
              <a:latin typeface="Arial" panose="020B0604020202020204" pitchFamily="34" charset="0"/>
              <a:cs typeface="Arial" panose="020B0604020202020204" pitchFamily="34" charset="0"/>
            </a:endParaRPr>
          </a:p>
        </p:txBody>
      </p:sp>
      <p:sp>
        <p:nvSpPr>
          <p:cNvPr id="23" name="OH2">
            <a:extLst>
              <a:ext uri="{FF2B5EF4-FFF2-40B4-BE49-F238E27FC236}">
                <a16:creationId xmlns:a16="http://schemas.microsoft.com/office/drawing/2014/main" id="{B0C1043A-2562-40CF-C1D0-9B5B04593512}"/>
              </a:ext>
            </a:extLst>
          </p:cNvPr>
          <p:cNvSpPr/>
          <p:nvPr/>
        </p:nvSpPr>
        <p:spPr>
          <a:xfrm>
            <a:off x="6161504" y="2264610"/>
            <a:ext cx="24765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200" b="1" dirty="0">
                <a:solidFill>
                  <a:srgbClr val="FFFFFF"/>
                </a:solidFill>
                <a:latin typeface="Arial" panose="020B0604020202020204" pitchFamily="34" charset="0"/>
                <a:cs typeface="Arial" panose="020B0604020202020204" pitchFamily="34" charset="0"/>
              </a:rPr>
              <a:t>XGBoost</a:t>
            </a:r>
          </a:p>
        </p:txBody>
      </p:sp>
      <p:sp>
        <p:nvSpPr>
          <p:cNvPr id="25" name="OA2">
            <a:extLst>
              <a:ext uri="{FF2B5EF4-FFF2-40B4-BE49-F238E27FC236}">
                <a16:creationId xmlns:a16="http://schemas.microsoft.com/office/drawing/2014/main" id="{DD691DDA-AB44-4447-186F-CE0C67A116A2}"/>
              </a:ext>
            </a:extLst>
          </p:cNvPr>
          <p:cNvSpPr/>
          <p:nvPr/>
        </p:nvSpPr>
        <p:spPr>
          <a:xfrm>
            <a:off x="6161504" y="2264610"/>
            <a:ext cx="24765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200">
              <a:latin typeface="Arial" panose="020B0604020202020204" pitchFamily="34" charset="0"/>
              <a:cs typeface="Arial" panose="020B0604020202020204" pitchFamily="34" charset="0"/>
            </a:endParaRPr>
          </a:p>
        </p:txBody>
      </p:sp>
      <p:sp>
        <p:nvSpPr>
          <p:cNvPr id="27" name="OD2">
            <a:extLst>
              <a:ext uri="{FF2B5EF4-FFF2-40B4-BE49-F238E27FC236}">
                <a16:creationId xmlns:a16="http://schemas.microsoft.com/office/drawing/2014/main" id="{012FACAA-3A58-365C-5D40-1DE97EDAE0C0}"/>
              </a:ext>
            </a:extLst>
          </p:cNvPr>
          <p:cNvSpPr txBox="1"/>
          <p:nvPr/>
        </p:nvSpPr>
        <p:spPr>
          <a:xfrm>
            <a:off x="6352671" y="3001210"/>
            <a:ext cx="2129589" cy="2425032"/>
          </a:xfrm>
          <a:prstGeom prst="rect">
            <a:avLst/>
          </a:prstGeom>
          <a:noFill/>
        </p:spPr>
        <p:txBody>
          <a:bodyPr wrap="square" lIns="0" tIns="0" rIns="0" bIns="0" anchor="t">
            <a:normAutofit/>
          </a:bodyPr>
          <a:lstStyle/>
          <a:p>
            <a:pPr algn="l"/>
            <a:r>
              <a:rPr lang="en-US" sz="2200" dirty="0">
                <a:solidFill>
                  <a:srgbClr val="333333"/>
                </a:solidFill>
                <a:latin typeface="Arial" panose="020B0604020202020204" pitchFamily="34" charset="0"/>
                <a:cs typeface="Arial" panose="020B0604020202020204" pitchFamily="34" charset="0"/>
              </a:rPr>
              <a:t>Gradient-boosted decision trees that learn from engineered features and lagged predictors.</a:t>
            </a:r>
          </a:p>
        </p:txBody>
      </p:sp>
      <p:sp>
        <p:nvSpPr>
          <p:cNvPr id="29" name="OB3">
            <a:extLst>
              <a:ext uri="{FF2B5EF4-FFF2-40B4-BE49-F238E27FC236}">
                <a16:creationId xmlns:a16="http://schemas.microsoft.com/office/drawing/2014/main" id="{F628EDE5-D899-0F0E-75D9-1705622735B2}"/>
              </a:ext>
            </a:extLst>
          </p:cNvPr>
          <p:cNvSpPr/>
          <p:nvPr/>
        </p:nvSpPr>
        <p:spPr>
          <a:xfrm>
            <a:off x="8841204" y="2264610"/>
            <a:ext cx="2476500" cy="33147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200">
              <a:latin typeface="Arial" panose="020B0604020202020204" pitchFamily="34" charset="0"/>
              <a:cs typeface="Arial" panose="020B0604020202020204" pitchFamily="34" charset="0"/>
            </a:endParaRPr>
          </a:p>
        </p:txBody>
      </p:sp>
      <p:sp>
        <p:nvSpPr>
          <p:cNvPr id="31" name="OH3">
            <a:extLst>
              <a:ext uri="{FF2B5EF4-FFF2-40B4-BE49-F238E27FC236}">
                <a16:creationId xmlns:a16="http://schemas.microsoft.com/office/drawing/2014/main" id="{59472340-BB25-FC2C-AAF0-A5BCA900869D}"/>
              </a:ext>
            </a:extLst>
          </p:cNvPr>
          <p:cNvSpPr/>
          <p:nvPr/>
        </p:nvSpPr>
        <p:spPr>
          <a:xfrm>
            <a:off x="8841204" y="2264610"/>
            <a:ext cx="24765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200" b="1" dirty="0">
                <a:solidFill>
                  <a:srgbClr val="FFFFFF"/>
                </a:solidFill>
                <a:latin typeface="Arial" panose="020B0604020202020204" pitchFamily="34" charset="0"/>
                <a:cs typeface="Arial" panose="020B0604020202020204" pitchFamily="34" charset="0"/>
              </a:rPr>
              <a:t>Ensemble</a:t>
            </a:r>
          </a:p>
        </p:txBody>
      </p:sp>
      <p:sp>
        <p:nvSpPr>
          <p:cNvPr id="33" name="OA3">
            <a:extLst>
              <a:ext uri="{FF2B5EF4-FFF2-40B4-BE49-F238E27FC236}">
                <a16:creationId xmlns:a16="http://schemas.microsoft.com/office/drawing/2014/main" id="{DB9BBA51-B7FF-D1D6-D33B-2E4D00F8D469}"/>
              </a:ext>
            </a:extLst>
          </p:cNvPr>
          <p:cNvSpPr/>
          <p:nvPr/>
        </p:nvSpPr>
        <p:spPr>
          <a:xfrm>
            <a:off x="8841204" y="2264610"/>
            <a:ext cx="24765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200">
              <a:latin typeface="Arial" panose="020B0604020202020204" pitchFamily="34" charset="0"/>
              <a:cs typeface="Arial" panose="020B0604020202020204" pitchFamily="34" charset="0"/>
            </a:endParaRPr>
          </a:p>
        </p:txBody>
      </p:sp>
      <p:sp>
        <p:nvSpPr>
          <p:cNvPr id="35" name="OD3">
            <a:extLst>
              <a:ext uri="{FF2B5EF4-FFF2-40B4-BE49-F238E27FC236}">
                <a16:creationId xmlns:a16="http://schemas.microsoft.com/office/drawing/2014/main" id="{4B5F3680-6DFB-060C-6C3E-8AF9C5EDA2F5}"/>
              </a:ext>
            </a:extLst>
          </p:cNvPr>
          <p:cNvSpPr txBox="1"/>
          <p:nvPr/>
        </p:nvSpPr>
        <p:spPr>
          <a:xfrm>
            <a:off x="9044404" y="3001210"/>
            <a:ext cx="2070100" cy="3378200"/>
          </a:xfrm>
          <a:prstGeom prst="rect">
            <a:avLst/>
          </a:prstGeom>
          <a:noFill/>
        </p:spPr>
        <p:txBody>
          <a:bodyPr wrap="square" lIns="0" tIns="0" rIns="0" bIns="0" anchor="t">
            <a:normAutofit/>
          </a:bodyPr>
          <a:lstStyle/>
          <a:p>
            <a:pPr algn="l"/>
            <a:r>
              <a:rPr lang="en-US" sz="2200">
                <a:solidFill>
                  <a:srgbClr val="333333"/>
                </a:solidFill>
                <a:latin typeface="Arial" panose="020B0604020202020204" pitchFamily="34" charset="0"/>
                <a:cs typeface="Arial" panose="020B0604020202020204" pitchFamily="34" charset="0"/>
              </a:rPr>
              <a:t>Combines several models’ forecasts (mean, median, or weighted) — usually the most robust.</a:t>
            </a:r>
            <a:endParaRPr lang="en-US" sz="2200" dirty="0">
              <a:solidFill>
                <a:srgbClr val="333333"/>
              </a:solidFill>
              <a:latin typeface="Arial" panose="020B0604020202020204" pitchFamily="34" charset="0"/>
              <a:cs typeface="Arial" panose="020B0604020202020204" pitchFamily="34" charset="0"/>
            </a:endParaRPr>
          </a:p>
        </p:txBody>
      </p:sp>
      <p:sp>
        <p:nvSpPr>
          <p:cNvPr id="4" name="Shape 16">
            <a:extLst>
              <a:ext uri="{FF2B5EF4-FFF2-40B4-BE49-F238E27FC236}">
                <a16:creationId xmlns:a16="http://schemas.microsoft.com/office/drawing/2014/main" id="{5C64ECAA-8668-CEAA-DE83-49FDA91F6E92}"/>
              </a:ext>
            </a:extLst>
          </p:cNvPr>
          <p:cNvSpPr/>
          <p:nvPr/>
        </p:nvSpPr>
        <p:spPr>
          <a:xfrm>
            <a:off x="740183" y="5741474"/>
            <a:ext cx="7982711" cy="584200"/>
          </a:xfrm>
          <a:prstGeom prst="rightArrow">
            <a:avLst/>
          </a:prstGeom>
          <a:solidFill>
            <a:srgbClr val="ECECEC"/>
          </a:solidFill>
          <a:ln w="12700">
            <a:solidFill>
              <a:srgbClr val="333333"/>
            </a:solidFill>
            <a:prstDash val="solid"/>
          </a:ln>
        </p:spPr>
        <p:txBody>
          <a:bodyPr/>
          <a:lstStyle/>
          <a:p>
            <a:endParaRPr lang="en-US"/>
          </a:p>
        </p:txBody>
      </p:sp>
      <p:sp>
        <p:nvSpPr>
          <p:cNvPr id="8" name="Text 17">
            <a:extLst>
              <a:ext uri="{FF2B5EF4-FFF2-40B4-BE49-F238E27FC236}">
                <a16:creationId xmlns:a16="http://schemas.microsoft.com/office/drawing/2014/main" id="{ACCA27AC-7E43-D19A-12BD-67EE73ACB7E6}"/>
              </a:ext>
            </a:extLst>
          </p:cNvPr>
          <p:cNvSpPr/>
          <p:nvPr/>
        </p:nvSpPr>
        <p:spPr>
          <a:xfrm>
            <a:off x="802104" y="5878126"/>
            <a:ext cx="2926080" cy="310896"/>
          </a:xfrm>
          <a:prstGeom prst="rect">
            <a:avLst/>
          </a:prstGeom>
          <a:noFill/>
          <a:ln/>
        </p:spPr>
        <p:txBody>
          <a:bodyPr wrap="square" rtlCol="0" anchor="ctr"/>
          <a:lstStyle/>
          <a:p>
            <a:pPr marL="0" indent="0" algn="l">
              <a:buNone/>
            </a:pPr>
            <a:r>
              <a:rPr lang="en-US" b="1" dirty="0">
                <a:solidFill>
                  <a:srgbClr val="7030A0"/>
                </a:solidFill>
                <a:latin typeface="Arial" panose="020B0604020202020204" pitchFamily="34" charset="0"/>
                <a:ea typeface="Arial" pitchFamily="34" charset="-122"/>
                <a:cs typeface="Arial" pitchFamily="34" charset="-120"/>
              </a:rPr>
              <a:t>Statistical methods</a:t>
            </a:r>
            <a:endParaRPr lang="en-US" dirty="0"/>
          </a:p>
        </p:txBody>
      </p:sp>
      <p:sp>
        <p:nvSpPr>
          <p:cNvPr id="12" name="Text 1">
            <a:extLst>
              <a:ext uri="{FF2B5EF4-FFF2-40B4-BE49-F238E27FC236}">
                <a16:creationId xmlns:a16="http://schemas.microsoft.com/office/drawing/2014/main" id="{9619B16D-D300-B4BD-DC76-D70C1FE971A4}"/>
              </a:ext>
            </a:extLst>
          </p:cNvPr>
          <p:cNvSpPr/>
          <p:nvPr/>
        </p:nvSpPr>
        <p:spPr>
          <a:xfrm>
            <a:off x="915924" y="1299412"/>
            <a:ext cx="10360152" cy="502920"/>
          </a:xfrm>
          <a:prstGeom prst="rect">
            <a:avLst/>
          </a:prstGeom>
          <a:noFill/>
          <a:ln/>
        </p:spPr>
        <p:txBody>
          <a:bodyPr wrap="square" rtlCol="0" anchor="ctr"/>
          <a:lstStyle/>
          <a:p>
            <a:pPr marL="0" indent="0" algn="ctr">
              <a:buNone/>
            </a:pPr>
            <a:r>
              <a:rPr lang="en-US" sz="2500" dirty="0">
                <a:solidFill>
                  <a:srgbClr val="595959"/>
                </a:solidFill>
                <a:latin typeface="Arial" pitchFamily="34" charset="0"/>
                <a:ea typeface="Arial" pitchFamily="34" charset="-122"/>
                <a:cs typeface="Arial" pitchFamily="34" charset="-120"/>
              </a:rPr>
              <a:t>Infectious disease models span a spectrum, from statistical methods to machine learning and other combined-model approaches.</a:t>
            </a:r>
            <a:endParaRPr lang="en-US" sz="2500" dirty="0"/>
          </a:p>
        </p:txBody>
      </p:sp>
      <p:sp>
        <p:nvSpPr>
          <p:cNvPr id="16" name="Text 18">
            <a:extLst>
              <a:ext uri="{FF2B5EF4-FFF2-40B4-BE49-F238E27FC236}">
                <a16:creationId xmlns:a16="http://schemas.microsoft.com/office/drawing/2014/main" id="{9548C768-9C6C-913C-12C9-4693D49A13C7}"/>
              </a:ext>
            </a:extLst>
          </p:cNvPr>
          <p:cNvSpPr/>
          <p:nvPr/>
        </p:nvSpPr>
        <p:spPr>
          <a:xfrm>
            <a:off x="5342034" y="5883434"/>
            <a:ext cx="3200400" cy="310896"/>
          </a:xfrm>
          <a:prstGeom prst="rect">
            <a:avLst/>
          </a:prstGeom>
          <a:noFill/>
          <a:ln/>
        </p:spPr>
        <p:txBody>
          <a:bodyPr wrap="square" rtlCol="0" anchor="ctr"/>
          <a:lstStyle/>
          <a:p>
            <a:pPr marL="0" indent="0" algn="r">
              <a:buNone/>
            </a:pPr>
            <a:r>
              <a:rPr lang="en-US" b="1" dirty="0">
                <a:solidFill>
                  <a:srgbClr val="12897B"/>
                </a:solidFill>
                <a:latin typeface="Arial" panose="020B0604020202020204" pitchFamily="34" charset="0"/>
                <a:ea typeface="Arial" pitchFamily="34" charset="-122"/>
                <a:cs typeface="Arial" pitchFamily="34" charset="-120"/>
              </a:rPr>
              <a:t>Machine learning &amp; AI</a:t>
            </a:r>
            <a:endParaRPr lang="en-US" dirty="0"/>
          </a:p>
        </p:txBody>
      </p:sp>
      <p:sp>
        <p:nvSpPr>
          <p:cNvPr id="10" name="Rectangle 9">
            <a:extLst>
              <a:ext uri="{FF2B5EF4-FFF2-40B4-BE49-F238E27FC236}">
                <a16:creationId xmlns:a16="http://schemas.microsoft.com/office/drawing/2014/main" id="{F0B87654-D377-C55A-F400-E71BE0C22E17}"/>
              </a:ext>
            </a:extLst>
          </p:cNvPr>
          <p:cNvSpPr/>
          <p:nvPr/>
        </p:nvSpPr>
        <p:spPr>
          <a:xfrm>
            <a:off x="8829172" y="5842030"/>
            <a:ext cx="2512596" cy="365760"/>
          </a:xfrm>
          <a:prstGeom prst="rect">
            <a:avLst/>
          </a:prstGeom>
          <a:solidFill>
            <a:schemeClr val="bg1">
              <a:lumMod val="9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18">
            <a:extLst>
              <a:ext uri="{FF2B5EF4-FFF2-40B4-BE49-F238E27FC236}">
                <a16:creationId xmlns:a16="http://schemas.microsoft.com/office/drawing/2014/main" id="{0C3C9788-29BF-0290-8816-C0CD90DA6243}"/>
              </a:ext>
            </a:extLst>
          </p:cNvPr>
          <p:cNvSpPr/>
          <p:nvPr/>
        </p:nvSpPr>
        <p:spPr>
          <a:xfrm>
            <a:off x="8848824" y="5878126"/>
            <a:ext cx="2468880" cy="310896"/>
          </a:xfrm>
          <a:prstGeom prst="rect">
            <a:avLst/>
          </a:prstGeom>
          <a:noFill/>
          <a:ln/>
        </p:spPr>
        <p:txBody>
          <a:bodyPr wrap="square" rtlCol="0" anchor="ctr"/>
          <a:lstStyle/>
          <a:p>
            <a:pPr marL="0" indent="0" algn="ctr">
              <a:buNone/>
            </a:pPr>
            <a:r>
              <a:rPr lang="en-US" b="1" dirty="0">
                <a:solidFill>
                  <a:schemeClr val="accent2"/>
                </a:solidFill>
                <a:latin typeface="Arial" panose="020B0604020202020204" pitchFamily="34" charset="0"/>
                <a:ea typeface="Arial" pitchFamily="34" charset="-122"/>
                <a:cs typeface="Arial" pitchFamily="34" charset="-120"/>
              </a:rPr>
              <a:t>Combined Approach</a:t>
            </a:r>
            <a:endParaRPr lang="en-US" dirty="0">
              <a:solidFill>
                <a:schemeClr val="accent2"/>
              </a:solidFill>
            </a:endParaRPr>
          </a:p>
        </p:txBody>
      </p:sp>
    </p:spTree>
    <p:extLst>
      <p:ext uri="{BB962C8B-B14F-4D97-AF65-F5344CB8AC3E}">
        <p14:creationId xmlns:p14="http://schemas.microsoft.com/office/powerpoint/2010/main" val="262007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p:bldP spid="13" grpId="0" animBg="1"/>
      <p:bldP spid="15" grpId="0" animBg="1"/>
      <p:bldP spid="17" grpId="0" animBg="1"/>
      <p:bldP spid="19" grpId="0"/>
      <p:bldP spid="21" grpId="0" animBg="1"/>
      <p:bldP spid="23" grpId="0" animBg="1"/>
      <p:bldP spid="25" grpId="0" animBg="1"/>
      <p:bldP spid="27" grpId="0"/>
      <p:bldP spid="29" grpId="0" animBg="1"/>
      <p:bldP spid="31" grpId="0" animBg="1"/>
      <p:bldP spid="33" grpId="0" animBg="1"/>
      <p:bldP spid="35" grpId="0"/>
      <p:bldP spid="4" grpId="0" animBg="1"/>
      <p:bldP spid="8" grpId="0" animBg="1"/>
      <p:bldP spid="16" grpId="0" animBg="1"/>
      <p:bldP spid="10" grpId="0" animBg="1"/>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8B676-ECC6-0D74-68D1-F4C5932C6FD3}"/>
              </a:ext>
            </a:extLst>
          </p:cNvPr>
          <p:cNvSpPr>
            <a:spLocks noGrp="1"/>
          </p:cNvSpPr>
          <p:nvPr>
            <p:ph type="title"/>
          </p:nvPr>
        </p:nvSpPr>
        <p:spPr>
          <a:xfrm>
            <a:off x="838200" y="128253"/>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Example Model Overview(s)</a:t>
            </a:r>
          </a:p>
        </p:txBody>
      </p:sp>
      <p:sp>
        <p:nvSpPr>
          <p:cNvPr id="5" name="OB0">
            <a:extLst>
              <a:ext uri="{FF2B5EF4-FFF2-40B4-BE49-F238E27FC236}">
                <a16:creationId xmlns:a16="http://schemas.microsoft.com/office/drawing/2014/main" id="{4D52B009-A44F-51F8-3F40-548D1117F35B}"/>
              </a:ext>
            </a:extLst>
          </p:cNvPr>
          <p:cNvSpPr/>
          <p:nvPr/>
        </p:nvSpPr>
        <p:spPr>
          <a:xfrm>
            <a:off x="838200" y="1568116"/>
            <a:ext cx="5105400" cy="2006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OH0">
            <a:extLst>
              <a:ext uri="{FF2B5EF4-FFF2-40B4-BE49-F238E27FC236}">
                <a16:creationId xmlns:a16="http://schemas.microsoft.com/office/drawing/2014/main" id="{595F42B6-3825-ACFF-C535-2FB325CC107E}"/>
              </a:ext>
            </a:extLst>
          </p:cNvPr>
          <p:cNvSpPr/>
          <p:nvPr/>
        </p:nvSpPr>
        <p:spPr>
          <a:xfrm>
            <a:off x="838200" y="1568116"/>
            <a:ext cx="51054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300" b="1" dirty="0">
                <a:solidFill>
                  <a:srgbClr val="FFFFFF"/>
                </a:solidFill>
                <a:latin typeface="Arial"/>
                <a:cs typeface="Arial"/>
              </a:rPr>
              <a:t>ARIMA</a:t>
            </a:r>
            <a:r>
              <a:rPr lang="en-US" sz="2300" dirty="0">
                <a:solidFill>
                  <a:srgbClr val="E7DEF3"/>
                </a:solidFill>
                <a:latin typeface="Arial"/>
                <a:cs typeface="Arial"/>
              </a:rPr>
              <a:t>  —  Statistical</a:t>
            </a:r>
          </a:p>
        </p:txBody>
      </p:sp>
      <p:sp>
        <p:nvSpPr>
          <p:cNvPr id="9" name="OA0">
            <a:extLst>
              <a:ext uri="{FF2B5EF4-FFF2-40B4-BE49-F238E27FC236}">
                <a16:creationId xmlns:a16="http://schemas.microsoft.com/office/drawing/2014/main" id="{2F123BAC-3A00-2F70-A6E2-C6454DEB1E6A}"/>
              </a:ext>
            </a:extLst>
          </p:cNvPr>
          <p:cNvSpPr/>
          <p:nvPr/>
        </p:nvSpPr>
        <p:spPr>
          <a:xfrm>
            <a:off x="838200" y="1568116"/>
            <a:ext cx="51054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OD0">
            <a:extLst>
              <a:ext uri="{FF2B5EF4-FFF2-40B4-BE49-F238E27FC236}">
                <a16:creationId xmlns:a16="http://schemas.microsoft.com/office/drawing/2014/main" id="{4F344D47-B8EA-349E-D93A-01E1ADEC6515}"/>
              </a:ext>
            </a:extLst>
          </p:cNvPr>
          <p:cNvSpPr txBox="1"/>
          <p:nvPr/>
        </p:nvSpPr>
        <p:spPr>
          <a:xfrm>
            <a:off x="1041400" y="2304716"/>
            <a:ext cx="4699000" cy="1117600"/>
          </a:xfrm>
          <a:prstGeom prst="rect">
            <a:avLst/>
          </a:prstGeom>
          <a:noFill/>
        </p:spPr>
        <p:txBody>
          <a:bodyPr wrap="square" lIns="0" tIns="0" rIns="0" bIns="0" anchor="t">
            <a:normAutofit/>
          </a:bodyPr>
          <a:lstStyle/>
          <a:p>
            <a:pPr algn="l"/>
            <a:r>
              <a:rPr lang="en-US" sz="2200" dirty="0">
                <a:solidFill>
                  <a:srgbClr val="333333"/>
                </a:solidFill>
                <a:latin typeface="Arial"/>
                <a:cs typeface="Arial"/>
              </a:rPr>
              <a:t>Models a series from its own past — autocorrelation, trend (via differencing), and seasonality.</a:t>
            </a:r>
          </a:p>
          <a:p>
            <a:pPr algn="l"/>
            <a:endParaRPr lang="en-US" sz="2200" b="1" dirty="0">
              <a:solidFill>
                <a:srgbClr val="333333"/>
              </a:solidFill>
              <a:latin typeface="Arial"/>
              <a:cs typeface="Arial"/>
            </a:endParaRPr>
          </a:p>
        </p:txBody>
      </p:sp>
    </p:spTree>
    <p:extLst>
      <p:ext uri="{BB962C8B-B14F-4D97-AF65-F5344CB8AC3E}">
        <p14:creationId xmlns:p14="http://schemas.microsoft.com/office/powerpoint/2010/main" val="18469486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7FDF5-37DF-8B87-DE93-8FA3D6A62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2BA0A-56BD-0723-4B79-7511193D39F3}"/>
              </a:ext>
            </a:extLst>
          </p:cNvPr>
          <p:cNvSpPr>
            <a:spLocks noGrp="1"/>
          </p:cNvSpPr>
          <p:nvPr>
            <p:ph type="title"/>
          </p:nvPr>
        </p:nvSpPr>
        <p:spPr>
          <a:xfrm>
            <a:off x="838200" y="28950"/>
            <a:ext cx="10515600" cy="1325563"/>
          </a:xfrm>
        </p:spPr>
        <p:txBody>
          <a:bodyPr/>
          <a:lstStyle/>
          <a:p>
            <a:pPr algn="ctr"/>
            <a:r>
              <a:rPr lang="en-US" b="1" u="sng" dirty="0" err="1">
                <a:solidFill>
                  <a:srgbClr val="7030A0"/>
                </a:solidFill>
                <a:latin typeface="Arial" panose="020B0604020202020204" pitchFamily="34" charset="0"/>
                <a:cs typeface="Arial" panose="020B0604020202020204" pitchFamily="34" charset="0"/>
              </a:rPr>
              <a:t>A</a:t>
            </a:r>
            <a:r>
              <a:rPr lang="en-US" b="1" dirty="0" err="1">
                <a:solidFill>
                  <a:srgbClr val="7030A0"/>
                </a:solidFill>
                <a:latin typeface="Arial" panose="020B0604020202020204" pitchFamily="34" charset="0"/>
                <a:cs typeface="Arial" panose="020B0604020202020204" pitchFamily="34" charset="0"/>
              </a:rPr>
              <a:t>uto</a:t>
            </a:r>
            <a:r>
              <a:rPr lang="en-US" b="1" u="sng" dirty="0" err="1">
                <a:solidFill>
                  <a:srgbClr val="7030A0"/>
                </a:solidFill>
                <a:latin typeface="Arial" panose="020B0604020202020204" pitchFamily="34" charset="0"/>
                <a:cs typeface="Arial" panose="020B0604020202020204" pitchFamily="34" charset="0"/>
              </a:rPr>
              <a:t>R</a:t>
            </a:r>
            <a:r>
              <a:rPr lang="en-US" b="1" dirty="0" err="1">
                <a:solidFill>
                  <a:srgbClr val="7030A0"/>
                </a:solidFill>
                <a:latin typeface="Arial" panose="020B0604020202020204" pitchFamily="34" charset="0"/>
                <a:cs typeface="Arial" panose="020B0604020202020204" pitchFamily="34" charset="0"/>
              </a:rPr>
              <a:t>egressive</a:t>
            </a:r>
            <a:r>
              <a:rPr lang="en-US" b="1" dirty="0">
                <a:solidFill>
                  <a:srgbClr val="7030A0"/>
                </a:solidFill>
                <a:latin typeface="Arial" panose="020B0604020202020204" pitchFamily="34" charset="0"/>
                <a:cs typeface="Arial" panose="020B0604020202020204" pitchFamily="34" charset="0"/>
              </a:rPr>
              <a:t> Model</a:t>
            </a:r>
            <a:endParaRPr lang="en-US" dirty="0"/>
          </a:p>
        </p:txBody>
      </p:sp>
      <p:sp>
        <p:nvSpPr>
          <p:cNvPr id="3" name="Content Placeholder 2">
            <a:extLst>
              <a:ext uri="{FF2B5EF4-FFF2-40B4-BE49-F238E27FC236}">
                <a16:creationId xmlns:a16="http://schemas.microsoft.com/office/drawing/2014/main" id="{C53FA6B4-04E0-D49C-3D07-87D77F566C91}"/>
              </a:ext>
            </a:extLst>
          </p:cNvPr>
          <p:cNvSpPr>
            <a:spLocks noGrp="1"/>
          </p:cNvSpPr>
          <p:nvPr>
            <p:ph idx="1"/>
          </p:nvPr>
        </p:nvSpPr>
        <p:spPr>
          <a:xfrm>
            <a:off x="838200" y="1510814"/>
            <a:ext cx="10515600" cy="4351338"/>
          </a:xfrm>
        </p:spPr>
        <p:txBody>
          <a:bodyPr>
            <a:normAutofit/>
          </a:bodyPr>
          <a:lstStyle/>
          <a:p>
            <a:r>
              <a:rPr lang="en-US" sz="2500">
                <a:latin typeface="Arial" panose="020B0604020202020204" pitchFamily="34" charset="0"/>
                <a:cs typeface="Arial" panose="020B0604020202020204" pitchFamily="34" charset="0"/>
              </a:rPr>
              <a:t>At its core, an AR model is just </a:t>
            </a:r>
            <a:r>
              <a:rPr lang="en-US" sz="2500" b="1">
                <a:solidFill>
                  <a:schemeClr val="accent2"/>
                </a:solidFill>
                <a:latin typeface="Arial" panose="020B0604020202020204" pitchFamily="34" charset="0"/>
                <a:cs typeface="Arial" panose="020B0604020202020204" pitchFamily="34" charset="0"/>
              </a:rPr>
              <a:t>linear regression</a:t>
            </a:r>
            <a:r>
              <a:rPr lang="en-US" sz="2500">
                <a:latin typeface="Arial" panose="020B0604020202020204" pitchFamily="34" charset="0"/>
                <a:cs typeface="Arial" panose="020B0604020202020204" pitchFamily="34" charset="0"/>
              </a:rPr>
              <a:t> that uses the series' own recent </a:t>
            </a:r>
            <a:r>
              <a:rPr lang="en-US" sz="2500" b="1">
                <a:solidFill>
                  <a:schemeClr val="accent2"/>
                </a:solidFill>
                <a:latin typeface="Arial" panose="020B0604020202020204" pitchFamily="34" charset="0"/>
                <a:cs typeface="Arial" panose="020B0604020202020204" pitchFamily="34" charset="0"/>
              </a:rPr>
              <a:t>values</a:t>
            </a:r>
            <a:r>
              <a:rPr lang="en-US" sz="2500">
                <a:latin typeface="Arial" panose="020B0604020202020204" pitchFamily="34" charset="0"/>
                <a:cs typeface="Arial" panose="020B0604020202020204" pitchFamily="34" charset="0"/>
              </a:rPr>
              <a:t> to predict what comes next.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A74FC49-1B83-94E1-7D58-3AB18E17317D}"/>
                  </a:ext>
                </a:extLst>
              </p:cNvPr>
              <p:cNvSpPr txBox="1"/>
              <p:nvPr/>
            </p:nvSpPr>
            <p:spPr>
              <a:xfrm>
                <a:off x="2659835" y="2710334"/>
                <a:ext cx="6872331" cy="7245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rPr>
                          </m:ctrlPr>
                        </m:sSubPr>
                        <m:e>
                          <m:r>
                            <a:rPr lang="en-US" sz="2700" b="0" i="1" smtClean="0">
                              <a:latin typeface="Cambria Math" panose="02040503050406030204" pitchFamily="18" charset="0"/>
                            </a:rPr>
                            <m:t>𝑌</m:t>
                          </m:r>
                        </m:e>
                        <m:sub>
                          <m:r>
                            <a:rPr lang="en-US" sz="2700" b="0" i="1" smtClean="0">
                              <a:latin typeface="Cambria Math" panose="02040503050406030204" pitchFamily="18" charset="0"/>
                            </a:rPr>
                            <m:t>𝑡</m:t>
                          </m:r>
                        </m:sub>
                      </m:sSub>
                      <m:r>
                        <a:rPr lang="en-US" sz="2700" b="0" i="1" smtClean="0">
                          <a:latin typeface="Cambria Math" panose="02040503050406030204" pitchFamily="18" charset="0"/>
                        </a:rPr>
                        <m:t>=</m:t>
                      </m:r>
                      <m:r>
                        <m:rPr>
                          <m:sty m:val="p"/>
                        </m:rPr>
                        <a:rPr lang="en-US" sz="2700" b="0" i="1" smtClean="0">
                          <a:latin typeface="Cambria Math" panose="02040503050406030204" pitchFamily="18" charset="0"/>
                        </a:rPr>
                        <m:t>α</m:t>
                      </m:r>
                      <m:r>
                        <a:rPr lang="en-US" sz="2700" b="0" i="1" smtClean="0">
                          <a:latin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𝜙</m:t>
                          </m:r>
                        </m:e>
                        <m:sub>
                          <m:r>
                            <a:rPr lang="en-US" sz="2700" b="0" i="1" smtClean="0">
                              <a:latin typeface="Cambria Math" panose="02040503050406030204" pitchFamily="18" charset="0"/>
                              <a:ea typeface="Cambria Math" panose="02040503050406030204" pitchFamily="18" charset="0"/>
                            </a:rPr>
                            <m:t>1</m:t>
                          </m:r>
                        </m:sub>
                      </m:sSub>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𝑌</m:t>
                          </m:r>
                        </m:e>
                        <m:sub>
                          <m:r>
                            <a:rPr lang="en-US" sz="2700" b="0" i="1" smtClean="0">
                              <a:latin typeface="Cambria Math" panose="02040503050406030204" pitchFamily="18" charset="0"/>
                              <a:ea typeface="Cambria Math" panose="02040503050406030204" pitchFamily="18" charset="0"/>
                            </a:rPr>
                            <m:t>𝑡</m:t>
                          </m:r>
                          <m:r>
                            <a:rPr lang="en-US" sz="2700" b="0" i="1" smtClean="0">
                              <a:latin typeface="Cambria Math" panose="02040503050406030204" pitchFamily="18" charset="0"/>
                              <a:ea typeface="Cambria Math" panose="02040503050406030204" pitchFamily="18" charset="0"/>
                            </a:rPr>
                            <m:t>−1</m:t>
                          </m:r>
                        </m:sub>
                      </m:sSub>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𝜙</m:t>
                          </m:r>
                        </m:e>
                        <m:sub>
                          <m:r>
                            <a:rPr lang="en-US" sz="2700" b="0" i="1" smtClean="0">
                              <a:latin typeface="Cambria Math" panose="02040503050406030204" pitchFamily="18" charset="0"/>
                              <a:ea typeface="Cambria Math" panose="02040503050406030204" pitchFamily="18" charset="0"/>
                            </a:rPr>
                            <m:t>2</m:t>
                          </m:r>
                        </m:sub>
                      </m:sSub>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𝑌</m:t>
                          </m:r>
                        </m:e>
                        <m:sub>
                          <m:r>
                            <a:rPr lang="en-US" sz="2700" b="0" i="1" smtClean="0">
                              <a:latin typeface="Cambria Math" panose="02040503050406030204" pitchFamily="18" charset="0"/>
                              <a:ea typeface="Cambria Math" panose="02040503050406030204" pitchFamily="18" charset="0"/>
                            </a:rPr>
                            <m:t>𝑡</m:t>
                          </m:r>
                          <m:r>
                            <a:rPr lang="en-US" sz="2700" b="0" i="1" smtClean="0">
                              <a:latin typeface="Cambria Math" panose="02040503050406030204" pitchFamily="18" charset="0"/>
                              <a:ea typeface="Cambria Math" panose="02040503050406030204" pitchFamily="18" charset="0"/>
                            </a:rPr>
                            <m:t>−2</m:t>
                          </m:r>
                        </m:sub>
                      </m:sSub>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𝜙</m:t>
                          </m:r>
                        </m:e>
                        <m:sub>
                          <m:r>
                            <a:rPr lang="en-US" sz="2700" b="0" i="1" smtClean="0">
                              <a:latin typeface="Cambria Math" panose="02040503050406030204" pitchFamily="18" charset="0"/>
                              <a:ea typeface="Cambria Math" panose="02040503050406030204" pitchFamily="18" charset="0"/>
                            </a:rPr>
                            <m:t>𝑝</m:t>
                          </m:r>
                        </m:sub>
                      </m:sSub>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𝑌</m:t>
                          </m:r>
                        </m:e>
                        <m:sub>
                          <m:r>
                            <a:rPr lang="en-US" sz="2700" b="0" i="1" smtClean="0">
                              <a:latin typeface="Cambria Math" panose="02040503050406030204" pitchFamily="18" charset="0"/>
                              <a:ea typeface="Cambria Math" panose="02040503050406030204" pitchFamily="18" charset="0"/>
                            </a:rPr>
                            <m:t>𝑡</m:t>
                          </m:r>
                          <m:r>
                            <a:rPr lang="en-US" sz="2700" b="0" i="1" smtClean="0">
                              <a:latin typeface="Cambria Math" panose="02040503050406030204" pitchFamily="18" charset="0"/>
                              <a:ea typeface="Cambria Math" panose="02040503050406030204" pitchFamily="18" charset="0"/>
                            </a:rPr>
                            <m:t>−</m:t>
                          </m:r>
                          <m:r>
                            <a:rPr lang="en-US" sz="2700" b="0" i="1" smtClean="0">
                              <a:latin typeface="Cambria Math" panose="02040503050406030204" pitchFamily="18" charset="0"/>
                              <a:ea typeface="Cambria Math" panose="02040503050406030204" pitchFamily="18" charset="0"/>
                            </a:rPr>
                            <m:t>𝑝</m:t>
                          </m:r>
                        </m:sub>
                      </m:sSub>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𝜀</m:t>
                          </m:r>
                        </m:e>
                        <m:sub>
                          <m:r>
                            <a:rPr lang="en-US" sz="2700" b="0" i="1" smtClean="0">
                              <a:latin typeface="Cambria Math" panose="02040503050406030204" pitchFamily="18" charset="0"/>
                              <a:ea typeface="Cambria Math" panose="02040503050406030204" pitchFamily="18" charset="0"/>
                            </a:rPr>
                            <m:t>𝑡</m:t>
                          </m:r>
                        </m:sub>
                      </m:sSub>
                    </m:oMath>
                  </m:oMathPara>
                </a14:m>
                <a:endParaRPr lang="en-US" sz="2700" b="0">
                  <a:ea typeface="Cambria Math" panose="02040503050406030204" pitchFamily="18" charset="0"/>
                </a:endParaRPr>
              </a:p>
              <a:p>
                <a:endParaRPr lang="en-US" b="0"/>
              </a:p>
            </p:txBody>
          </p:sp>
        </mc:Choice>
        <mc:Fallback xmlns="">
          <p:sp>
            <p:nvSpPr>
              <p:cNvPr id="9" name="TextBox 8">
                <a:extLst>
                  <a:ext uri="{FF2B5EF4-FFF2-40B4-BE49-F238E27FC236}">
                    <a16:creationId xmlns:a16="http://schemas.microsoft.com/office/drawing/2014/main" id="{EA74FC49-1B83-94E1-7D58-3AB18E17317D}"/>
                  </a:ext>
                </a:extLst>
              </p:cNvPr>
              <p:cNvSpPr txBox="1">
                <a:spLocks noRot="1" noChangeAspect="1" noMove="1" noResize="1" noEditPoints="1" noAdjustHandles="1" noChangeArrowheads="1" noChangeShapeType="1" noTextEdit="1"/>
              </p:cNvSpPr>
              <p:nvPr/>
            </p:nvSpPr>
            <p:spPr>
              <a:xfrm>
                <a:off x="2659835" y="2710334"/>
                <a:ext cx="6872331" cy="72455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15AAE869-737E-4B6B-A9C3-4E98AFE0B576}"/>
                  </a:ext>
                </a:extLst>
              </p:cNvPr>
              <p:cNvGraphicFramePr>
                <a:graphicFrameLocks noGrp="1"/>
              </p:cNvGraphicFramePr>
              <p:nvPr>
                <p:extLst>
                  <p:ext uri="{D42A27DB-BD31-4B8C-83A1-F6EECF244321}">
                    <p14:modId xmlns:p14="http://schemas.microsoft.com/office/powerpoint/2010/main" val="3909905290"/>
                  </p:ext>
                </p:extLst>
              </p:nvPr>
            </p:nvGraphicFramePr>
            <p:xfrm>
              <a:off x="712694" y="3810038"/>
              <a:ext cx="10766612" cy="2705672"/>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𝑡</m:t>
                                    </m:r>
                                  </m:sub>
                                </m:sSub>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Value </a:t>
                          </a:r>
                          <a:r>
                            <a:rPr lang="en-US" sz="2000" i="1">
                              <a:latin typeface="Arial" panose="020B0604020202020204" pitchFamily="34" charset="0"/>
                              <a:cs typeface="Arial" panose="020B0604020202020204" pitchFamily="34" charset="0"/>
                            </a:rPr>
                            <a:t>Y</a:t>
                          </a:r>
                          <a:r>
                            <a:rPr lang="en-US" sz="2000">
                              <a:latin typeface="Arial" panose="020B0604020202020204" pitchFamily="34" charset="0"/>
                              <a:cs typeface="Arial" panose="020B0604020202020204" pitchFamily="34" charset="0"/>
                            </a:rPr>
                            <a:t> (our outcome) at current time </a:t>
                          </a:r>
                          <a14:m>
                            <m:oMath xmlns:m="http://schemas.openxmlformats.org/officeDocument/2006/math">
                              <m:r>
                                <a:rPr lang="en-US" sz="2000" b="0" i="1" smtClean="0">
                                  <a:latin typeface="Cambria Math" panose="02040503050406030204" pitchFamily="18" charset="0"/>
                                </a:rPr>
                                <m:t>𝑡</m:t>
                              </m:r>
                            </m:oMath>
                          </a14:m>
                          <a:endParaRPr lang="en-US" sz="200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1232624375"/>
                      </a:ext>
                    </a:extLst>
                  </a:tr>
                  <a:tr h="370840">
                    <a:tc>
                      <a:txBody>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𝛼</m:t>
                                </m:r>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Intercept Term; Estimated by model</a:t>
                          </a:r>
                        </a:p>
                      </a:txBody>
                      <a:tcPr>
                        <a:solidFill>
                          <a:schemeClr val="bg1"/>
                        </a:solidFill>
                      </a:tcPr>
                    </a:tc>
                    <a:extLst>
                      <a:ext uri="{0D108BD9-81ED-4DB2-BD59-A6C34878D82A}">
                        <a16:rowId xmlns:a16="http://schemas.microsoft.com/office/drawing/2014/main" val="2974297070"/>
                      </a:ext>
                    </a:extLst>
                  </a:tr>
                  <a:tr h="370840">
                    <a:tc>
                      <a:txBody>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dirty="0">
                              <a:latin typeface="Arial" panose="020B0604020202020204" pitchFamily="34" charset="0"/>
                              <a:cs typeface="Arial" panose="020B0604020202020204" pitchFamily="34" charset="0"/>
                            </a:rPr>
                            <a:t>How many past </a:t>
                          </a:r>
                          <a:r>
                            <a:rPr lang="en-US" sz="2000" i="1" dirty="0">
                              <a:latin typeface="Arial" panose="020B0604020202020204" pitchFamily="34" charset="0"/>
                              <a:cs typeface="Arial" panose="020B0604020202020204" pitchFamily="34" charset="0"/>
                            </a:rPr>
                            <a:t>values</a:t>
                          </a:r>
                          <a:r>
                            <a:rPr lang="en-US" sz="2000" dirty="0">
                              <a:latin typeface="Arial" panose="020B0604020202020204" pitchFamily="34" charset="0"/>
                              <a:cs typeface="Arial" panose="020B0604020202020204" pitchFamily="34" charset="0"/>
                            </a:rPr>
                            <a:t> we look back at</a:t>
                          </a:r>
                        </a:p>
                      </a:txBody>
                      <a:tcPr>
                        <a:solidFill>
                          <a:schemeClr val="bg1"/>
                        </a:solidFill>
                      </a:tcPr>
                    </a:tc>
                    <a:extLst>
                      <a:ext uri="{0D108BD9-81ED-4DB2-BD59-A6C34878D82A}">
                        <a16:rowId xmlns:a16="http://schemas.microsoft.com/office/drawing/2014/main" val="269567317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𝜙</m:t>
                                    </m:r>
                                  </m:e>
                                  <m:sub>
                                    <m:r>
                                      <a:rPr lang="en-US" sz="2000" b="0" i="1" smtClean="0">
                                        <a:latin typeface="Cambria Math" panose="02040503050406030204" pitchFamily="18" charset="0"/>
                                        <a:ea typeface="Cambria Math" panose="02040503050406030204" pitchFamily="18" charset="0"/>
                                      </a:rPr>
                                      <m:t>𝑝</m:t>
                                    </m:r>
                                  </m:sub>
                                </m:sSub>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dirty="0">
                              <a:latin typeface="Arial" panose="020B0604020202020204" pitchFamily="34" charset="0"/>
                              <a:cs typeface="Arial" panose="020B0604020202020204" pitchFamily="34" charset="0"/>
                            </a:rPr>
                            <a:t>Regression coefficient: weight given to the value from </a:t>
                          </a:r>
                          <a14:m>
                            <m:oMath xmlns:m="http://schemas.openxmlformats.org/officeDocument/2006/math">
                              <m:r>
                                <a:rPr lang="en-US" sz="2000" i="1" kern="1200">
                                  <a:solidFill>
                                    <a:schemeClr val="tx1"/>
                                  </a:solidFill>
                                  <a:latin typeface="Cambria Math" panose="02040503050406030204" pitchFamily="18" charset="0"/>
                                  <a:ea typeface="+mn-ea"/>
                                  <a:cs typeface="+mn-cs"/>
                                </a:rPr>
                                <m:t>𝑝</m:t>
                              </m:r>
                              <m:r>
                                <a:rPr lang="en-US" sz="2000" b="0" i="1" kern="1200" smtClean="0">
                                  <a:solidFill>
                                    <a:schemeClr val="tx1"/>
                                  </a:solidFill>
                                  <a:latin typeface="Cambria Math" panose="02040503050406030204" pitchFamily="18" charset="0"/>
                                  <a:ea typeface="+mn-ea"/>
                                  <a:cs typeface="+mn-cs"/>
                                </a:rPr>
                                <m:t> </m:t>
                              </m:r>
                            </m:oMath>
                          </a14:m>
                          <a:r>
                            <a:rPr lang="en-US" sz="2000" dirty="0">
                              <a:latin typeface="Arial" panose="020B0604020202020204" pitchFamily="34" charset="0"/>
                              <a:cs typeface="Arial" panose="020B0604020202020204" pitchFamily="34" charset="0"/>
                            </a:rPr>
                            <a:t>periods back; estimated by the model </a:t>
                          </a:r>
                        </a:p>
                      </a:txBody>
                      <a:tcPr>
                        <a:solidFill>
                          <a:schemeClr val="bg1"/>
                        </a:solidFill>
                      </a:tcPr>
                    </a:tc>
                    <a:extLst>
                      <a:ext uri="{0D108BD9-81ED-4DB2-BD59-A6C34878D82A}">
                        <a16:rowId xmlns:a16="http://schemas.microsoft.com/office/drawing/2014/main" val="116040268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𝑌</m:t>
                                    </m:r>
                                  </m:e>
                                  <m:sub>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𝑝</m:t>
                                    </m:r>
                                  </m:sub>
                                </m:sSub>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Value of </a:t>
                          </a:r>
                          <a:r>
                            <a:rPr lang="en-US" sz="2000" i="1">
                              <a:latin typeface="Arial" panose="020B0604020202020204" pitchFamily="34" charset="0"/>
                              <a:cs typeface="Arial" panose="020B0604020202020204" pitchFamily="34" charset="0"/>
                            </a:rPr>
                            <a:t>Y</a:t>
                          </a:r>
                          <a:r>
                            <a:rPr lang="en-US" sz="2000">
                              <a:latin typeface="Arial" panose="020B0604020202020204" pitchFamily="34" charset="0"/>
                              <a:cs typeface="Arial" panose="020B0604020202020204" pitchFamily="34" charset="0"/>
                            </a:rPr>
                            <a:t> (our outcome) </a:t>
                          </a:r>
                          <a14:m>
                            <m:oMath xmlns:m="http://schemas.openxmlformats.org/officeDocument/2006/math">
                              <m:r>
                                <a:rPr lang="en-US" sz="2000" i="1" kern="1200" smtClean="0">
                                  <a:solidFill>
                                    <a:schemeClr val="tx1"/>
                                  </a:solidFill>
                                  <a:latin typeface="Cambria Math" panose="02040503050406030204" pitchFamily="18" charset="0"/>
                                  <a:ea typeface="+mn-ea"/>
                                  <a:cs typeface="+mn-cs"/>
                                </a:rPr>
                                <m:t>𝑝</m:t>
                              </m:r>
                            </m:oMath>
                          </a14:m>
                          <a:r>
                            <a:rPr lang="en-US" sz="2000">
                              <a:latin typeface="Arial" panose="020B0604020202020204" pitchFamily="34" charset="0"/>
                              <a:cs typeface="Arial" panose="020B0604020202020204" pitchFamily="34" charset="0"/>
                            </a:rPr>
                            <a:t> time steps back</a:t>
                          </a:r>
                        </a:p>
                      </a:txBody>
                      <a:tcPr>
                        <a:solidFill>
                          <a:schemeClr val="bg1"/>
                        </a:solidFill>
                      </a:tcPr>
                    </a:tc>
                    <a:extLst>
                      <a:ext uri="{0D108BD9-81ED-4DB2-BD59-A6C34878D82A}">
                        <a16:rowId xmlns:a16="http://schemas.microsoft.com/office/drawing/2014/main" val="98083641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𝜀</m:t>
                                    </m:r>
                                  </m:e>
                                  <m:sub>
                                    <m:r>
                                      <a:rPr lang="en-US" sz="2000" b="0" i="1" smtClean="0">
                                        <a:latin typeface="Cambria Math" panose="02040503050406030204" pitchFamily="18" charset="0"/>
                                        <a:ea typeface="Cambria Math" panose="02040503050406030204" pitchFamily="18" charset="0"/>
                                      </a:rPr>
                                      <m:t>𝑡</m:t>
                                    </m:r>
                                  </m:sub>
                                </m:sSub>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dirty="0">
                              <a:latin typeface="Arial" panose="020B0604020202020204" pitchFamily="34" charset="0"/>
                              <a:cs typeface="Arial" panose="020B0604020202020204" pitchFamily="34" charset="0"/>
                            </a:rPr>
                            <a:t>The random error at time </a:t>
                          </a:r>
                          <a14:m>
                            <m:oMath xmlns:m="http://schemas.openxmlformats.org/officeDocument/2006/math">
                              <m:r>
                                <a:rPr lang="en-US" sz="2000" i="1" kern="1200">
                                  <a:solidFill>
                                    <a:schemeClr val="tx1"/>
                                  </a:solidFill>
                                  <a:latin typeface="Cambria Math" panose="02040503050406030204" pitchFamily="18" charset="0"/>
                                  <a:ea typeface="+mn-ea"/>
                                  <a:cs typeface="+mn-cs"/>
                                </a:rPr>
                                <m:t>𝑡</m:t>
                              </m:r>
                            </m:oMath>
                          </a14:m>
                          <a:endParaRPr lang="en-US" sz="2000" dirty="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2925398534"/>
                      </a:ext>
                    </a:extLst>
                  </a:tr>
                </a:tbl>
              </a:graphicData>
            </a:graphic>
          </p:graphicFrame>
        </mc:Choice>
        <mc:Fallback xmlns="">
          <p:graphicFrame>
            <p:nvGraphicFramePr>
              <p:cNvPr id="16" name="Table 15">
                <a:extLst>
                  <a:ext uri="{FF2B5EF4-FFF2-40B4-BE49-F238E27FC236}">
                    <a16:creationId xmlns:a16="http://schemas.microsoft.com/office/drawing/2014/main" id="{15AAE869-737E-4B6B-A9C3-4E98AFE0B576}"/>
                  </a:ext>
                </a:extLst>
              </p:cNvPr>
              <p:cNvGraphicFramePr>
                <a:graphicFrameLocks noGrp="1"/>
              </p:cNvGraphicFramePr>
              <p:nvPr>
                <p:extLst>
                  <p:ext uri="{D42A27DB-BD31-4B8C-83A1-F6EECF244321}">
                    <p14:modId xmlns:p14="http://schemas.microsoft.com/office/powerpoint/2010/main" val="3909905290"/>
                  </p:ext>
                </p:extLst>
              </p:nvPr>
            </p:nvGraphicFramePr>
            <p:xfrm>
              <a:off x="712694" y="3810038"/>
              <a:ext cx="10766612" cy="2705672"/>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96240">
                    <a:tc>
                      <a:txBody>
                        <a:bodyPr/>
                        <a:lstStyle/>
                        <a:p>
                          <a:endParaRPr lang="en-US"/>
                        </a:p>
                      </a:txBody>
                      <a:tcPr>
                        <a:blipFill>
                          <a:blip r:embed="rId4"/>
                          <a:stretch>
                            <a:fillRect l="-833" t="-7692" r="-197000" b="-612308"/>
                          </a:stretch>
                        </a:blipFill>
                      </a:tcPr>
                    </a:tc>
                    <a:tc>
                      <a:txBody>
                        <a:bodyPr/>
                        <a:lstStyle/>
                        <a:p>
                          <a:endParaRPr lang="en-US"/>
                        </a:p>
                      </a:txBody>
                      <a:tcPr>
                        <a:blipFill>
                          <a:blip r:embed="rId4"/>
                          <a:stretch>
                            <a:fillRect l="-51798" t="-7692" r="-1199" b="-612308"/>
                          </a:stretch>
                        </a:blipFill>
                      </a:tcPr>
                    </a:tc>
                    <a:extLst>
                      <a:ext uri="{0D108BD9-81ED-4DB2-BD59-A6C34878D82A}">
                        <a16:rowId xmlns:a16="http://schemas.microsoft.com/office/drawing/2014/main" val="1232624375"/>
                      </a:ext>
                    </a:extLst>
                  </a:tr>
                  <a:tr h="396240">
                    <a:tc>
                      <a:txBody>
                        <a:bodyPr/>
                        <a:lstStyle/>
                        <a:p>
                          <a:endParaRPr lang="en-US"/>
                        </a:p>
                      </a:txBody>
                      <a:tcPr>
                        <a:blipFill>
                          <a:blip r:embed="rId4"/>
                          <a:stretch>
                            <a:fillRect l="-833" t="-107692" r="-197000" b="-512308"/>
                          </a:stretch>
                        </a:blipFill>
                      </a:tcPr>
                    </a:tc>
                    <a:tc>
                      <a:txBody>
                        <a:bodyPr/>
                        <a:lstStyle/>
                        <a:p>
                          <a:r>
                            <a:rPr lang="en-US" sz="2000">
                              <a:latin typeface="Arial" panose="020B0604020202020204" pitchFamily="34" charset="0"/>
                              <a:cs typeface="Arial" panose="020B0604020202020204" pitchFamily="34" charset="0"/>
                            </a:rPr>
                            <a:t>Intercept Term; Estimated by model</a:t>
                          </a:r>
                        </a:p>
                      </a:txBody>
                      <a:tcPr>
                        <a:solidFill>
                          <a:schemeClr val="bg1"/>
                        </a:solidFill>
                      </a:tcPr>
                    </a:tc>
                    <a:extLst>
                      <a:ext uri="{0D108BD9-81ED-4DB2-BD59-A6C34878D82A}">
                        <a16:rowId xmlns:a16="http://schemas.microsoft.com/office/drawing/2014/main" val="2974297070"/>
                      </a:ext>
                    </a:extLst>
                  </a:tr>
                  <a:tr h="396240">
                    <a:tc>
                      <a:txBody>
                        <a:bodyPr/>
                        <a:lstStyle/>
                        <a:p>
                          <a:endParaRPr lang="en-US"/>
                        </a:p>
                      </a:txBody>
                      <a:tcPr>
                        <a:blipFill>
                          <a:blip r:embed="rId4"/>
                          <a:stretch>
                            <a:fillRect l="-833" t="-207692" r="-197000" b="-412308"/>
                          </a:stretch>
                        </a:blipFill>
                      </a:tcPr>
                    </a:tc>
                    <a:tc>
                      <a:txBody>
                        <a:bodyPr/>
                        <a:lstStyle/>
                        <a:p>
                          <a:r>
                            <a:rPr lang="en-US" sz="2000" dirty="0">
                              <a:latin typeface="Arial" panose="020B0604020202020204" pitchFamily="34" charset="0"/>
                              <a:cs typeface="Arial" panose="020B0604020202020204" pitchFamily="34" charset="0"/>
                            </a:rPr>
                            <a:t>How many past </a:t>
                          </a:r>
                          <a:r>
                            <a:rPr lang="en-US" sz="2000" i="1" dirty="0">
                              <a:latin typeface="Arial" panose="020B0604020202020204" pitchFamily="34" charset="0"/>
                              <a:cs typeface="Arial" panose="020B0604020202020204" pitchFamily="34" charset="0"/>
                            </a:rPr>
                            <a:t>values</a:t>
                          </a:r>
                          <a:r>
                            <a:rPr lang="en-US" sz="2000" dirty="0">
                              <a:latin typeface="Arial" panose="020B0604020202020204" pitchFamily="34" charset="0"/>
                              <a:cs typeface="Arial" panose="020B0604020202020204" pitchFamily="34" charset="0"/>
                            </a:rPr>
                            <a:t> we look back at</a:t>
                          </a:r>
                        </a:p>
                      </a:txBody>
                      <a:tcPr>
                        <a:solidFill>
                          <a:schemeClr val="bg1"/>
                        </a:solidFill>
                      </a:tcPr>
                    </a:tc>
                    <a:extLst>
                      <a:ext uri="{0D108BD9-81ED-4DB2-BD59-A6C34878D82A}">
                        <a16:rowId xmlns:a16="http://schemas.microsoft.com/office/drawing/2014/main" val="2695673171"/>
                      </a:ext>
                    </a:extLst>
                  </a:tr>
                  <a:tr h="701040">
                    <a:tc>
                      <a:txBody>
                        <a:bodyPr/>
                        <a:lstStyle/>
                        <a:p>
                          <a:endParaRPr lang="en-US"/>
                        </a:p>
                      </a:txBody>
                      <a:tcPr>
                        <a:blipFill>
                          <a:blip r:embed="rId4"/>
                          <a:stretch>
                            <a:fillRect l="-833" t="-173913" r="-197000" b="-133043"/>
                          </a:stretch>
                        </a:blipFill>
                      </a:tcPr>
                    </a:tc>
                    <a:tc>
                      <a:txBody>
                        <a:bodyPr/>
                        <a:lstStyle/>
                        <a:p>
                          <a:endParaRPr lang="en-US"/>
                        </a:p>
                      </a:txBody>
                      <a:tcPr>
                        <a:blipFill>
                          <a:blip r:embed="rId4"/>
                          <a:stretch>
                            <a:fillRect l="-51798" t="-173913" r="-1199" b="-133043"/>
                          </a:stretch>
                        </a:blipFill>
                      </a:tcPr>
                    </a:tc>
                    <a:extLst>
                      <a:ext uri="{0D108BD9-81ED-4DB2-BD59-A6C34878D82A}">
                        <a16:rowId xmlns:a16="http://schemas.microsoft.com/office/drawing/2014/main" val="1160402683"/>
                      </a:ext>
                    </a:extLst>
                  </a:tr>
                  <a:tr h="419672">
                    <a:tc>
                      <a:txBody>
                        <a:bodyPr/>
                        <a:lstStyle/>
                        <a:p>
                          <a:endParaRPr lang="en-US"/>
                        </a:p>
                      </a:txBody>
                      <a:tcPr>
                        <a:blipFill>
                          <a:blip r:embed="rId4"/>
                          <a:stretch>
                            <a:fillRect l="-833" t="-456522" r="-197000" b="-121739"/>
                          </a:stretch>
                        </a:blipFill>
                      </a:tcPr>
                    </a:tc>
                    <a:tc>
                      <a:txBody>
                        <a:bodyPr/>
                        <a:lstStyle/>
                        <a:p>
                          <a:endParaRPr lang="en-US"/>
                        </a:p>
                      </a:txBody>
                      <a:tcPr>
                        <a:blipFill>
                          <a:blip r:embed="rId4"/>
                          <a:stretch>
                            <a:fillRect l="-51798" t="-456522" r="-1199" b="-121739"/>
                          </a:stretch>
                        </a:blipFill>
                      </a:tcPr>
                    </a:tc>
                    <a:extLst>
                      <a:ext uri="{0D108BD9-81ED-4DB2-BD59-A6C34878D82A}">
                        <a16:rowId xmlns:a16="http://schemas.microsoft.com/office/drawing/2014/main" val="980836415"/>
                      </a:ext>
                    </a:extLst>
                  </a:tr>
                  <a:tr h="396240">
                    <a:tc>
                      <a:txBody>
                        <a:bodyPr/>
                        <a:lstStyle/>
                        <a:p>
                          <a:endParaRPr lang="en-US"/>
                        </a:p>
                      </a:txBody>
                      <a:tcPr>
                        <a:blipFill>
                          <a:blip r:embed="rId4"/>
                          <a:stretch>
                            <a:fillRect l="-833" t="-590769" r="-197000" b="-29231"/>
                          </a:stretch>
                        </a:blipFill>
                      </a:tcPr>
                    </a:tc>
                    <a:tc>
                      <a:txBody>
                        <a:bodyPr/>
                        <a:lstStyle/>
                        <a:p>
                          <a:endParaRPr lang="en-US"/>
                        </a:p>
                      </a:txBody>
                      <a:tcPr>
                        <a:blipFill>
                          <a:blip r:embed="rId4"/>
                          <a:stretch>
                            <a:fillRect l="-51798" t="-590769" r="-1199" b="-29231"/>
                          </a:stretch>
                        </a:blipFill>
                      </a:tcPr>
                    </a:tc>
                    <a:extLst>
                      <a:ext uri="{0D108BD9-81ED-4DB2-BD59-A6C34878D82A}">
                        <a16:rowId xmlns:a16="http://schemas.microsoft.com/office/drawing/2014/main" val="2925398534"/>
                      </a:ext>
                    </a:extLst>
                  </a:tr>
                </a:tbl>
              </a:graphicData>
            </a:graphic>
          </p:graphicFrame>
        </mc:Fallback>
      </mc:AlternateContent>
    </p:spTree>
    <p:extLst>
      <p:ext uri="{BB962C8B-B14F-4D97-AF65-F5344CB8AC3E}">
        <p14:creationId xmlns:p14="http://schemas.microsoft.com/office/powerpoint/2010/main" val="554237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6E57C-73F6-E75B-ACC1-4C756F7D8279}"/>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D0FF408-1E99-5E8D-F5FD-8B2FD4EE9C51}"/>
              </a:ext>
            </a:extLst>
          </p:cNvPr>
          <p:cNvSpPr/>
          <p:nvPr/>
        </p:nvSpPr>
        <p:spPr>
          <a:xfrm>
            <a:off x="838200" y="2272553"/>
            <a:ext cx="10515600" cy="2043953"/>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CB8560-2DDD-6ED9-161F-974E4DAB6092}"/>
              </a:ext>
            </a:extLst>
          </p:cNvPr>
          <p:cNvSpPr>
            <a:spLocks noGrp="1"/>
          </p:cNvSpPr>
          <p:nvPr>
            <p:ph type="title"/>
          </p:nvPr>
        </p:nvSpPr>
        <p:spPr>
          <a:xfrm>
            <a:off x="838200" y="28950"/>
            <a:ext cx="10515600" cy="1325563"/>
          </a:xfrm>
        </p:spPr>
        <p:txBody>
          <a:bodyPr/>
          <a:lstStyle/>
          <a:p>
            <a:pPr algn="ctr"/>
            <a:r>
              <a:rPr lang="en-US" b="1" u="sng">
                <a:solidFill>
                  <a:srgbClr val="7030A0"/>
                </a:solidFill>
                <a:latin typeface="Arial" panose="020B0604020202020204" pitchFamily="34" charset="0"/>
                <a:cs typeface="Arial" panose="020B0604020202020204" pitchFamily="34" charset="0"/>
              </a:rPr>
              <a:t>I</a:t>
            </a:r>
            <a:r>
              <a:rPr lang="en-US" b="1">
                <a:solidFill>
                  <a:srgbClr val="7030A0"/>
                </a:solidFill>
                <a:latin typeface="Arial" panose="020B0604020202020204" pitchFamily="34" charset="0"/>
                <a:cs typeface="Arial" panose="020B0604020202020204" pitchFamily="34" charset="0"/>
              </a:rPr>
              <a:t>ntegrated Model</a:t>
            </a:r>
            <a:endParaRPr lang="en-US"/>
          </a:p>
        </p:txBody>
      </p:sp>
      <p:sp>
        <p:nvSpPr>
          <p:cNvPr id="3" name="Content Placeholder 2">
            <a:extLst>
              <a:ext uri="{FF2B5EF4-FFF2-40B4-BE49-F238E27FC236}">
                <a16:creationId xmlns:a16="http://schemas.microsoft.com/office/drawing/2014/main" id="{F3F491EF-359C-A270-C6E8-76841039311F}"/>
              </a:ext>
            </a:extLst>
          </p:cNvPr>
          <p:cNvSpPr>
            <a:spLocks noGrp="1"/>
          </p:cNvSpPr>
          <p:nvPr>
            <p:ph idx="1"/>
          </p:nvPr>
        </p:nvSpPr>
        <p:spPr>
          <a:xfrm>
            <a:off x="838200" y="1510814"/>
            <a:ext cx="10515600" cy="4351338"/>
          </a:xfrm>
        </p:spPr>
        <p:txBody>
          <a:bodyPr>
            <a:normAutofit/>
          </a:bodyPr>
          <a:lstStyle/>
          <a:p>
            <a:pPr>
              <a:spcAft>
                <a:spcPts val="1200"/>
              </a:spcAft>
            </a:pPr>
            <a:r>
              <a:rPr lang="en-US" sz="2500" dirty="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ARIMA requires the time series to be made </a:t>
            </a:r>
            <a:r>
              <a:rPr lang="en-US" sz="2600" b="1" dirty="0">
                <a:solidFill>
                  <a:schemeClr val="accent2"/>
                </a:solidFill>
                <a:latin typeface="Arial" panose="020B0604020202020204" pitchFamily="34" charset="0"/>
                <a:cs typeface="Arial" panose="020B0604020202020204" pitchFamily="34" charset="0"/>
              </a:rPr>
              <a:t>stationary</a:t>
            </a:r>
          </a:p>
          <a:p>
            <a:pPr marL="0" indent="0">
              <a:spcAft>
                <a:spcPts val="1200"/>
              </a:spcAft>
              <a:buNone/>
            </a:pPr>
            <a:endParaRPr lang="en-US" sz="2500" b="1" dirty="0">
              <a:solidFill>
                <a:schemeClr val="accent2"/>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FA70468-9735-A98F-09CE-776AA43C2D21}"/>
              </a:ext>
            </a:extLst>
          </p:cNvPr>
          <p:cNvSpPr txBox="1"/>
          <p:nvPr/>
        </p:nvSpPr>
        <p:spPr>
          <a:xfrm>
            <a:off x="1093695" y="3144115"/>
            <a:ext cx="10004611" cy="861774"/>
          </a:xfrm>
          <a:prstGeom prst="rect">
            <a:avLst/>
          </a:prstGeom>
          <a:noFill/>
        </p:spPr>
        <p:txBody>
          <a:bodyPr wrap="square" rtlCol="0">
            <a:spAutoFit/>
          </a:bodyPr>
          <a:lstStyle/>
          <a:p>
            <a:pPr algn="ctr"/>
            <a:r>
              <a:rPr lang="en-US" sz="2500">
                <a:latin typeface="Arial" panose="020B0604020202020204" pitchFamily="34" charset="0"/>
                <a:cs typeface="Arial" panose="020B0604020202020204" pitchFamily="34" charset="0"/>
              </a:rPr>
              <a:t>A time series is </a:t>
            </a:r>
            <a:r>
              <a:rPr lang="en-US" sz="2500" b="1">
                <a:latin typeface="Arial" panose="020B0604020202020204" pitchFamily="34" charset="0"/>
                <a:cs typeface="Arial" panose="020B0604020202020204" pitchFamily="34" charset="0"/>
              </a:rPr>
              <a:t>stationary</a:t>
            </a:r>
            <a:r>
              <a:rPr lang="en-US" sz="2500">
                <a:latin typeface="Arial" panose="020B0604020202020204" pitchFamily="34" charset="0"/>
                <a:cs typeface="Arial" panose="020B0604020202020204" pitchFamily="34" charset="0"/>
              </a:rPr>
              <a:t> if its statistical behavior doesn't change over time (e.g., constant mean, variance) </a:t>
            </a:r>
          </a:p>
        </p:txBody>
      </p:sp>
      <p:sp>
        <p:nvSpPr>
          <p:cNvPr id="7" name="TextBox 6">
            <a:extLst>
              <a:ext uri="{FF2B5EF4-FFF2-40B4-BE49-F238E27FC236}">
                <a16:creationId xmlns:a16="http://schemas.microsoft.com/office/drawing/2014/main" id="{38E79A0A-CDDC-A0B7-9474-2DE590938545}"/>
              </a:ext>
            </a:extLst>
          </p:cNvPr>
          <p:cNvSpPr txBox="1"/>
          <p:nvPr/>
        </p:nvSpPr>
        <p:spPr>
          <a:xfrm>
            <a:off x="3046880" y="2479983"/>
            <a:ext cx="6098240" cy="507831"/>
          </a:xfrm>
          <a:prstGeom prst="rect">
            <a:avLst/>
          </a:prstGeom>
          <a:noFill/>
        </p:spPr>
        <p:txBody>
          <a:bodyPr wrap="square">
            <a:spAutoFit/>
          </a:bodyPr>
          <a:lstStyle/>
          <a:p>
            <a:pPr algn="ctr"/>
            <a:r>
              <a:rPr lang="en-US" sz="2700" b="1">
                <a:latin typeface="Arial" panose="020B0604020202020204" pitchFamily="34" charset="0"/>
                <a:cs typeface="Arial" panose="020B0604020202020204" pitchFamily="34" charset="0"/>
              </a:rPr>
              <a:t>What is a stationary time series? </a:t>
            </a:r>
            <a:endParaRPr lang="en-US" sz="270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CB512C0-5B3E-4087-A1B9-4CE94E166342}"/>
                  </a:ext>
                </a:extLst>
              </p:cNvPr>
              <p:cNvSpPr txBox="1"/>
              <p:nvPr/>
            </p:nvSpPr>
            <p:spPr>
              <a:xfrm>
                <a:off x="838200" y="4616580"/>
                <a:ext cx="10515600" cy="1800493"/>
              </a:xfrm>
              <a:prstGeom prst="rect">
                <a:avLst/>
              </a:prstGeom>
              <a:noFill/>
            </p:spPr>
            <p:txBody>
              <a:bodyPr wrap="square">
                <a:spAutoFit/>
              </a:bodyPr>
              <a:lstStyle/>
              <a:p>
                <a:pPr marL="457200" indent="-457200">
                  <a:spcAft>
                    <a:spcPts val="600"/>
                  </a:spcAft>
                  <a:buFont typeface="Arial" panose="020B0604020202020204" pitchFamily="34" charset="0"/>
                  <a:buChar char="•"/>
                </a:pPr>
                <a:r>
                  <a:rPr lang="en-US" sz="2600">
                    <a:latin typeface="Arial" panose="020B0604020202020204" pitchFamily="34" charset="0"/>
                    <a:cs typeface="Arial" panose="020B0604020202020204" pitchFamily="34" charset="0"/>
                  </a:rPr>
                  <a:t>Integration means </a:t>
                </a:r>
                <a:r>
                  <a:rPr lang="en-US" sz="2600" b="1">
                    <a:solidFill>
                      <a:schemeClr val="accent2"/>
                    </a:solidFill>
                    <a:latin typeface="Arial" panose="020B0604020202020204" pitchFamily="34" charset="0"/>
                    <a:cs typeface="Arial" panose="020B0604020202020204" pitchFamily="34" charset="0"/>
                  </a:rPr>
                  <a:t>differencing</a:t>
                </a:r>
                <a:r>
                  <a:rPr lang="en-US" sz="2600">
                    <a:latin typeface="Arial" panose="020B0604020202020204" pitchFamily="34" charset="0"/>
                    <a:cs typeface="Arial" panose="020B0604020202020204" pitchFamily="34" charset="0"/>
                  </a:rPr>
                  <a:t> the data: subtracting each value (</a:t>
                </a:r>
                <a14:m>
                  <m:oMath xmlns:m="http://schemas.openxmlformats.org/officeDocument/2006/math">
                    <m:sSub>
                      <m:sSubPr>
                        <m:ctrlPr>
                          <a:rPr lang="en-US" sz="2600" b="0" i="1" smtClean="0">
                            <a:latin typeface="Cambria Math" panose="02040503050406030204" pitchFamily="18" charset="0"/>
                            <a:cs typeface="Arial" panose="020B0604020202020204" pitchFamily="34" charset="0"/>
                          </a:rPr>
                        </m:ctrlPr>
                      </m:sSubPr>
                      <m:e>
                        <m:r>
                          <a:rPr lang="en-US" sz="2600" b="0" i="1" smtClean="0">
                            <a:latin typeface="Cambria Math" panose="02040503050406030204" pitchFamily="18" charset="0"/>
                            <a:cs typeface="Arial" panose="020B0604020202020204" pitchFamily="34" charset="0"/>
                          </a:rPr>
                          <m:t>𝑌</m:t>
                        </m:r>
                      </m:e>
                      <m:sub>
                        <m:r>
                          <a:rPr lang="en-US" sz="2600" b="0" i="1" smtClean="0">
                            <a:latin typeface="Cambria Math" panose="02040503050406030204" pitchFamily="18" charset="0"/>
                            <a:cs typeface="Arial" panose="020B0604020202020204" pitchFamily="34" charset="0"/>
                          </a:rPr>
                          <m:t>𝑡</m:t>
                        </m:r>
                      </m:sub>
                    </m:sSub>
                    <m:r>
                      <a:rPr lang="en-US" sz="2600" b="0" i="1" smtClean="0">
                        <a:latin typeface="Cambria Math" panose="02040503050406030204" pitchFamily="18" charset="0"/>
                        <a:cs typeface="Arial" panose="020B0604020202020204" pitchFamily="34" charset="0"/>
                      </a:rPr>
                      <m:t>)</m:t>
                    </m:r>
                  </m:oMath>
                </a14:m>
                <a:r>
                  <a:rPr lang="en-US" sz="2600">
                    <a:latin typeface="Arial" panose="020B0604020202020204" pitchFamily="34" charset="0"/>
                    <a:cs typeface="Arial" panose="020B0604020202020204" pitchFamily="34" charset="0"/>
                  </a:rPr>
                  <a:t> from the one before it (</a:t>
                </a:r>
                <a14:m>
                  <m:oMath xmlns:m="http://schemas.openxmlformats.org/officeDocument/2006/math">
                    <m:sSub>
                      <m:sSubPr>
                        <m:ctrlPr>
                          <a:rPr lang="en-US" sz="2600" b="0" i="1" smtClean="0">
                            <a:latin typeface="Cambria Math" panose="02040503050406030204" pitchFamily="18" charset="0"/>
                            <a:cs typeface="Arial" panose="020B0604020202020204" pitchFamily="34" charset="0"/>
                          </a:rPr>
                        </m:ctrlPr>
                      </m:sSubPr>
                      <m:e>
                        <m:r>
                          <a:rPr lang="en-US" sz="2600" b="0" i="1" smtClean="0">
                            <a:latin typeface="Cambria Math" panose="02040503050406030204" pitchFamily="18" charset="0"/>
                            <a:cs typeface="Arial" panose="020B0604020202020204" pitchFamily="34" charset="0"/>
                          </a:rPr>
                          <m:t>𝑌</m:t>
                        </m:r>
                      </m:e>
                      <m:sub>
                        <m:r>
                          <a:rPr lang="en-US" sz="2600" b="0" i="1" smtClean="0">
                            <a:latin typeface="Cambria Math" panose="02040503050406030204" pitchFamily="18" charset="0"/>
                            <a:cs typeface="Arial" panose="020B0604020202020204" pitchFamily="34" charset="0"/>
                          </a:rPr>
                          <m:t>𝑡</m:t>
                        </m:r>
                      </m:sub>
                    </m:sSub>
                    <m:r>
                      <a:rPr lang="en-US" sz="2600" b="0" i="1" smtClean="0">
                        <a:latin typeface="Cambria Math" panose="02040503050406030204" pitchFamily="18" charset="0"/>
                        <a:cs typeface="Arial" panose="020B0604020202020204" pitchFamily="34" charset="0"/>
                      </a:rPr>
                      <m:t>−</m:t>
                    </m:r>
                    <m:sSub>
                      <m:sSubPr>
                        <m:ctrlPr>
                          <a:rPr lang="en-US" sz="2600" b="0" i="1" smtClean="0">
                            <a:latin typeface="Cambria Math" panose="02040503050406030204" pitchFamily="18" charset="0"/>
                            <a:cs typeface="Arial" panose="020B0604020202020204" pitchFamily="34" charset="0"/>
                          </a:rPr>
                        </m:ctrlPr>
                      </m:sSubPr>
                      <m:e>
                        <m:r>
                          <a:rPr lang="en-US" sz="2600" b="0" i="1" smtClean="0">
                            <a:latin typeface="Cambria Math" panose="02040503050406030204" pitchFamily="18" charset="0"/>
                            <a:cs typeface="Arial" panose="020B0604020202020204" pitchFamily="34" charset="0"/>
                          </a:rPr>
                          <m:t>𝑌</m:t>
                        </m:r>
                      </m:e>
                      <m:sub>
                        <m:r>
                          <a:rPr lang="en-US" sz="2600" b="0" i="1" smtClean="0">
                            <a:latin typeface="Cambria Math" panose="02040503050406030204" pitchFamily="18" charset="0"/>
                            <a:cs typeface="Arial" panose="020B0604020202020204" pitchFamily="34" charset="0"/>
                          </a:rPr>
                          <m:t>𝑡</m:t>
                        </m:r>
                        <m:r>
                          <a:rPr lang="en-US" sz="2600" b="0" i="1" smtClean="0">
                            <a:latin typeface="Cambria Math" panose="02040503050406030204" pitchFamily="18" charset="0"/>
                            <a:cs typeface="Arial" panose="020B0604020202020204" pitchFamily="34" charset="0"/>
                          </a:rPr>
                          <m:t>−1</m:t>
                        </m:r>
                      </m:sub>
                    </m:sSub>
                  </m:oMath>
                </a14:m>
                <a:r>
                  <a:rPr lang="en-US" sz="2600">
                    <a:latin typeface="Arial" panose="020B0604020202020204" pitchFamily="34" charset="0"/>
                    <a:cs typeface="Arial" panose="020B0604020202020204" pitchFamily="34" charset="0"/>
                  </a:rPr>
                  <a:t>) to strip out trend and make the series stationary.</a:t>
                </a:r>
              </a:p>
              <a:p>
                <a:pPr marL="457200" indent="-457200">
                  <a:buFont typeface="Arial" panose="020B0604020202020204" pitchFamily="34" charset="0"/>
                  <a:buChar char="•"/>
                </a:pPr>
                <a:r>
                  <a:rPr lang="en-US" sz="2800"/>
                  <a:t>Parameter </a:t>
                </a:r>
                <a14:m>
                  <m:oMath xmlns:m="http://schemas.openxmlformats.org/officeDocument/2006/math">
                    <m:r>
                      <a:rPr lang="en-US" sz="2800" i="1" dirty="0" smtClean="0">
                        <a:latin typeface="Cambria Math" panose="02040503050406030204" pitchFamily="18" charset="0"/>
                      </a:rPr>
                      <m:t>𝑑</m:t>
                    </m:r>
                    <m:r>
                      <a:rPr lang="en-US" sz="2800" i="1" dirty="0" smtClean="0">
                        <a:latin typeface="Cambria Math" panose="02040503050406030204" pitchFamily="18" charset="0"/>
                      </a:rPr>
                      <m:t> </m:t>
                    </m:r>
                  </m:oMath>
                </a14:m>
                <a:r>
                  <a:rPr lang="en-US" sz="2800"/>
                  <a:t>indicates how many times you </a:t>
                </a:r>
                <a:r>
                  <a:rPr lang="en-US" sz="2800" b="1">
                    <a:solidFill>
                      <a:schemeClr val="accent2"/>
                    </a:solidFill>
                  </a:rPr>
                  <a:t>difference</a:t>
                </a:r>
                <a:r>
                  <a:rPr lang="en-US" sz="2800"/>
                  <a:t> the data</a:t>
                </a:r>
                <a:endParaRPr lang="en-US" sz="260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0CB512C0-5B3E-4087-A1B9-4CE94E166342}"/>
                  </a:ext>
                </a:extLst>
              </p:cNvPr>
              <p:cNvSpPr txBox="1">
                <a:spLocks noRot="1" noChangeAspect="1" noMove="1" noResize="1" noEditPoints="1" noAdjustHandles="1" noChangeArrowheads="1" noChangeShapeType="1" noTextEdit="1"/>
              </p:cNvSpPr>
              <p:nvPr/>
            </p:nvSpPr>
            <p:spPr>
              <a:xfrm>
                <a:off x="838200" y="4616580"/>
                <a:ext cx="10515600" cy="1800493"/>
              </a:xfrm>
              <a:prstGeom prst="rect">
                <a:avLst/>
              </a:prstGeom>
              <a:blipFill>
                <a:blip r:embed="rId3"/>
                <a:stretch>
                  <a:fillRect l="-1043" t="-3041" b="-8784"/>
                </a:stretch>
              </a:blipFill>
            </p:spPr>
            <p:txBody>
              <a:bodyPr/>
              <a:lstStyle/>
              <a:p>
                <a:r>
                  <a:rPr lang="en-US">
                    <a:noFill/>
                  </a:rPr>
                  <a:t> </a:t>
                </a:r>
              </a:p>
            </p:txBody>
          </p:sp>
        </mc:Fallback>
      </mc:AlternateContent>
    </p:spTree>
    <p:extLst>
      <p:ext uri="{BB962C8B-B14F-4D97-AF65-F5344CB8AC3E}">
        <p14:creationId xmlns:p14="http://schemas.microsoft.com/office/powerpoint/2010/main" val="222085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DAB1A-BF02-E5B7-A263-73FC68811480}"/>
              </a:ext>
            </a:extLst>
          </p:cNvPr>
          <p:cNvSpPr>
            <a:spLocks noGrp="1"/>
          </p:cNvSpPr>
          <p:nvPr>
            <p:ph type="title"/>
          </p:nvPr>
        </p:nvSpPr>
        <p:spPr>
          <a:xfrm>
            <a:off x="838200" y="-1727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Example: Stationary Time series </a:t>
            </a:r>
          </a:p>
        </p:txBody>
      </p:sp>
      <p:pic>
        <p:nvPicPr>
          <p:cNvPr id="5" name="Picture 2" descr="Time Series Analysis with ARIMA: Part 2 - Cisco Blogs">
            <a:extLst>
              <a:ext uri="{FF2B5EF4-FFF2-40B4-BE49-F238E27FC236}">
                <a16:creationId xmlns:a16="http://schemas.microsoft.com/office/drawing/2014/main" id="{9782444D-9E91-58AF-4D0D-C71418C4FB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552"/>
          <a:stretch>
            <a:fillRect/>
          </a:stretch>
        </p:blipFill>
        <p:spPr bwMode="auto">
          <a:xfrm>
            <a:off x="1102437" y="941295"/>
            <a:ext cx="9987127" cy="5539751"/>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FF26C6F-2B53-3056-0185-7F97B06F94C0}"/>
              </a:ext>
            </a:extLst>
          </p:cNvPr>
          <p:cNvSpPr txBox="1"/>
          <p:nvPr/>
        </p:nvSpPr>
        <p:spPr>
          <a:xfrm>
            <a:off x="9251577" y="6494493"/>
            <a:ext cx="3612246" cy="646331"/>
          </a:xfrm>
          <a:prstGeom prst="rect">
            <a:avLst/>
          </a:prstGeom>
          <a:noFill/>
        </p:spPr>
        <p:txBody>
          <a:bodyPr wrap="square" rtlCol="0">
            <a:spAutoFit/>
          </a:bodyPr>
          <a:lstStyle/>
          <a:p>
            <a:r>
              <a:rPr lang="en-US" dirty="0">
                <a:solidFill>
                  <a:schemeClr val="bg2">
                    <a:lumMod val="50000"/>
                  </a:schemeClr>
                </a:solidFill>
                <a:latin typeface="Arial" panose="020B0604020202020204" pitchFamily="34" charset="0"/>
                <a:cs typeface="Arial" panose="020B0604020202020204" pitchFamily="34" charset="0"/>
              </a:rPr>
              <a:t>Wise, </a:t>
            </a:r>
            <a:r>
              <a:rPr lang="en-US" i="1" dirty="0">
                <a:solidFill>
                  <a:schemeClr val="bg2">
                    <a:lumMod val="50000"/>
                  </a:schemeClr>
                </a:solidFill>
                <a:latin typeface="Arial" panose="020B0604020202020204" pitchFamily="34" charset="0"/>
                <a:cs typeface="Arial" panose="020B0604020202020204" pitchFamily="34" charset="0"/>
              </a:rPr>
              <a:t>Time Series…, </a:t>
            </a:r>
            <a:r>
              <a:rPr lang="en-US" dirty="0">
                <a:solidFill>
                  <a:schemeClr val="bg2">
                    <a:lumMod val="50000"/>
                  </a:schemeClr>
                </a:solidFill>
                <a:latin typeface="Arial" panose="020B0604020202020204" pitchFamily="34" charset="0"/>
                <a:cs typeface="Arial" panose="020B0604020202020204" pitchFamily="34" charset="0"/>
              </a:rPr>
              <a:t>2020</a:t>
            </a:r>
          </a:p>
          <a:p>
            <a:endParaRPr lang="en-US" dirty="0"/>
          </a:p>
        </p:txBody>
      </p:sp>
    </p:spTree>
    <p:extLst>
      <p:ext uri="{BB962C8B-B14F-4D97-AF65-F5344CB8AC3E}">
        <p14:creationId xmlns:p14="http://schemas.microsoft.com/office/powerpoint/2010/main" val="2566674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08DBC-BE9A-CC43-84DB-B7090A9F0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55FC4-5908-D705-CC6F-588E15867A1D}"/>
              </a:ext>
            </a:extLst>
          </p:cNvPr>
          <p:cNvSpPr>
            <a:spLocks noGrp="1"/>
          </p:cNvSpPr>
          <p:nvPr>
            <p:ph type="title"/>
          </p:nvPr>
        </p:nvSpPr>
        <p:spPr>
          <a:xfrm>
            <a:off x="838200" y="28950"/>
            <a:ext cx="10515600" cy="1325563"/>
          </a:xfrm>
        </p:spPr>
        <p:txBody>
          <a:bodyPr/>
          <a:lstStyle/>
          <a:p>
            <a:pPr algn="ctr"/>
            <a:r>
              <a:rPr lang="en-US" b="1" u="sng">
                <a:solidFill>
                  <a:srgbClr val="7030A0"/>
                </a:solidFill>
                <a:latin typeface="Arial" panose="020B0604020202020204" pitchFamily="34" charset="0"/>
                <a:cs typeface="Arial" panose="020B0604020202020204" pitchFamily="34" charset="0"/>
              </a:rPr>
              <a:t>M</a:t>
            </a:r>
            <a:r>
              <a:rPr lang="en-US" b="1">
                <a:solidFill>
                  <a:srgbClr val="7030A0"/>
                </a:solidFill>
                <a:latin typeface="Arial" panose="020B0604020202020204" pitchFamily="34" charset="0"/>
                <a:cs typeface="Arial" panose="020B0604020202020204" pitchFamily="34" charset="0"/>
              </a:rPr>
              <a:t>oving </a:t>
            </a:r>
            <a:r>
              <a:rPr lang="en-US" b="1" u="sng">
                <a:solidFill>
                  <a:srgbClr val="7030A0"/>
                </a:solidFill>
                <a:latin typeface="Arial" panose="020B0604020202020204" pitchFamily="34" charset="0"/>
                <a:cs typeface="Arial" panose="020B0604020202020204" pitchFamily="34" charset="0"/>
              </a:rPr>
              <a:t>A</a:t>
            </a:r>
            <a:r>
              <a:rPr lang="en-US" b="1">
                <a:solidFill>
                  <a:srgbClr val="7030A0"/>
                </a:solidFill>
                <a:latin typeface="Arial" panose="020B0604020202020204" pitchFamily="34" charset="0"/>
                <a:cs typeface="Arial" panose="020B0604020202020204" pitchFamily="34" charset="0"/>
              </a:rPr>
              <a:t>verage Models </a:t>
            </a:r>
            <a:endParaRPr lang="en-US"/>
          </a:p>
        </p:txBody>
      </p:sp>
      <p:sp>
        <p:nvSpPr>
          <p:cNvPr id="3" name="Content Placeholder 2">
            <a:extLst>
              <a:ext uri="{FF2B5EF4-FFF2-40B4-BE49-F238E27FC236}">
                <a16:creationId xmlns:a16="http://schemas.microsoft.com/office/drawing/2014/main" id="{3A6EBDF2-6F9D-CC35-EC5F-3A58A3A72461}"/>
              </a:ext>
            </a:extLst>
          </p:cNvPr>
          <p:cNvSpPr>
            <a:spLocks noGrp="1"/>
          </p:cNvSpPr>
          <p:nvPr>
            <p:ph idx="1"/>
          </p:nvPr>
        </p:nvSpPr>
        <p:spPr>
          <a:xfrm>
            <a:off x="838200" y="1510814"/>
            <a:ext cx="10515600" cy="4351338"/>
          </a:xfrm>
        </p:spPr>
        <p:txBody>
          <a:bodyPr>
            <a:normAutofit/>
          </a:bodyPr>
          <a:lstStyle/>
          <a:p>
            <a:r>
              <a:rPr lang="en-US" sz="2500">
                <a:latin typeface="Arial" panose="020B0604020202020204" pitchFamily="34" charset="0"/>
                <a:cs typeface="Arial" panose="020B0604020202020204" pitchFamily="34" charset="0"/>
              </a:rPr>
              <a:t>In an MA model, the current value is a </a:t>
            </a:r>
            <a:r>
              <a:rPr lang="en-US" sz="2500" b="1">
                <a:solidFill>
                  <a:schemeClr val="accent2"/>
                </a:solidFill>
                <a:latin typeface="Arial" panose="020B0604020202020204" pitchFamily="34" charset="0"/>
                <a:cs typeface="Arial" panose="020B0604020202020204" pitchFamily="34" charset="0"/>
              </a:rPr>
              <a:t>linear</a:t>
            </a:r>
            <a:r>
              <a:rPr lang="en-US" sz="2500">
                <a:latin typeface="Arial" panose="020B0604020202020204" pitchFamily="34" charset="0"/>
                <a:cs typeface="Arial" panose="020B0604020202020204" pitchFamily="34" charset="0"/>
              </a:rPr>
              <a:t> combination of recent (current and past) random errors ("white noise").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0362153-CBA4-9F74-3A1B-082EDD1CAC8A}"/>
                  </a:ext>
                </a:extLst>
              </p:cNvPr>
              <p:cNvSpPr txBox="1"/>
              <p:nvPr/>
            </p:nvSpPr>
            <p:spPr>
              <a:xfrm>
                <a:off x="2848188" y="2737228"/>
                <a:ext cx="6495624" cy="4475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700" b="0" i="1" smtClean="0">
                              <a:latin typeface="Cambria Math" panose="02040503050406030204" pitchFamily="18" charset="0"/>
                            </a:rPr>
                          </m:ctrlPr>
                        </m:sSubPr>
                        <m:e>
                          <m:r>
                            <a:rPr lang="en-US" sz="2700" b="0" i="1" smtClean="0">
                              <a:latin typeface="Cambria Math" panose="02040503050406030204" pitchFamily="18" charset="0"/>
                            </a:rPr>
                            <m:t>𝑌</m:t>
                          </m:r>
                        </m:e>
                        <m:sub>
                          <m:r>
                            <a:rPr lang="en-US" sz="2700" b="0" i="1" smtClean="0">
                              <a:latin typeface="Cambria Math" panose="02040503050406030204" pitchFamily="18" charset="0"/>
                            </a:rPr>
                            <m:t>𝑡</m:t>
                          </m:r>
                        </m:sub>
                      </m:sSub>
                      <m:r>
                        <a:rPr lang="en-US" sz="2700" b="0" i="1" smtClean="0">
                          <a:latin typeface="Cambria Math" panose="02040503050406030204" pitchFamily="18" charset="0"/>
                        </a:rPr>
                        <m:t>=</m:t>
                      </m:r>
                      <m:r>
                        <m:rPr>
                          <m:sty m:val="p"/>
                        </m:rPr>
                        <a:rPr lang="en-US" sz="2700" b="0" i="1" smtClean="0">
                          <a:latin typeface="Cambria Math" panose="02040503050406030204" pitchFamily="18" charset="0"/>
                        </a:rPr>
                        <m:t>α</m:t>
                      </m:r>
                      <m:r>
                        <a:rPr lang="en-US" sz="2700" b="0" i="1" smtClean="0">
                          <a:latin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𝜀</m:t>
                          </m:r>
                        </m:e>
                        <m:sub>
                          <m:r>
                            <a:rPr lang="en-US" sz="2700" b="0" i="1" smtClean="0">
                              <a:latin typeface="Cambria Math" panose="02040503050406030204" pitchFamily="18" charset="0"/>
                              <a:ea typeface="Cambria Math" panose="02040503050406030204" pitchFamily="18" charset="0"/>
                            </a:rPr>
                            <m:t>𝑡</m:t>
                          </m:r>
                        </m:sub>
                      </m:sSub>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𝜃</m:t>
                          </m:r>
                        </m:e>
                        <m:sub>
                          <m:r>
                            <a:rPr lang="en-US" sz="2700" b="0" i="1" smtClean="0">
                              <a:latin typeface="Cambria Math" panose="02040503050406030204" pitchFamily="18" charset="0"/>
                              <a:ea typeface="Cambria Math" panose="02040503050406030204" pitchFamily="18" charset="0"/>
                            </a:rPr>
                            <m:t>1</m:t>
                          </m:r>
                        </m:sub>
                      </m:sSub>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𝜀</m:t>
                          </m:r>
                        </m:e>
                        <m:sub>
                          <m:r>
                            <a:rPr lang="en-US" sz="2700" b="0" i="1" smtClean="0">
                              <a:latin typeface="Cambria Math" panose="02040503050406030204" pitchFamily="18" charset="0"/>
                              <a:ea typeface="Cambria Math" panose="02040503050406030204" pitchFamily="18" charset="0"/>
                            </a:rPr>
                            <m:t>𝑡</m:t>
                          </m:r>
                          <m:r>
                            <a:rPr lang="en-US" sz="2700" b="0" i="1" smtClean="0">
                              <a:latin typeface="Cambria Math" panose="02040503050406030204" pitchFamily="18" charset="0"/>
                              <a:ea typeface="Cambria Math" panose="02040503050406030204" pitchFamily="18" charset="0"/>
                            </a:rPr>
                            <m:t>−1</m:t>
                          </m:r>
                        </m:sub>
                      </m:sSub>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𝜃</m:t>
                          </m:r>
                        </m:e>
                        <m:sub>
                          <m:r>
                            <a:rPr lang="en-US" sz="2700" b="0" i="1" smtClean="0">
                              <a:latin typeface="Cambria Math" panose="02040503050406030204" pitchFamily="18" charset="0"/>
                              <a:ea typeface="Cambria Math" panose="02040503050406030204" pitchFamily="18" charset="0"/>
                            </a:rPr>
                            <m:t>2</m:t>
                          </m:r>
                        </m:sub>
                      </m:sSub>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𝜀</m:t>
                          </m:r>
                        </m:e>
                        <m:sub>
                          <m:r>
                            <a:rPr lang="en-US" sz="2700" b="0" i="1" smtClean="0">
                              <a:latin typeface="Cambria Math" panose="02040503050406030204" pitchFamily="18" charset="0"/>
                              <a:ea typeface="Cambria Math" panose="02040503050406030204" pitchFamily="18" charset="0"/>
                            </a:rPr>
                            <m:t>𝑡</m:t>
                          </m:r>
                          <m:r>
                            <a:rPr lang="en-US" sz="2700" b="0" i="1" smtClean="0">
                              <a:latin typeface="Cambria Math" panose="02040503050406030204" pitchFamily="18" charset="0"/>
                              <a:ea typeface="Cambria Math" panose="02040503050406030204" pitchFamily="18" charset="0"/>
                            </a:rPr>
                            <m:t>−2</m:t>
                          </m:r>
                        </m:sub>
                      </m:sSub>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𝜃</m:t>
                          </m:r>
                        </m:e>
                        <m:sub>
                          <m:r>
                            <a:rPr lang="en-US" sz="2700" b="0" i="1" smtClean="0">
                              <a:latin typeface="Cambria Math" panose="02040503050406030204" pitchFamily="18" charset="0"/>
                              <a:ea typeface="Cambria Math" panose="02040503050406030204" pitchFamily="18" charset="0"/>
                            </a:rPr>
                            <m:t>𝑞</m:t>
                          </m:r>
                        </m:sub>
                      </m:sSub>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𝜀</m:t>
                          </m:r>
                        </m:e>
                        <m:sub>
                          <m:r>
                            <a:rPr lang="en-US" sz="2700" b="0" i="1" smtClean="0">
                              <a:latin typeface="Cambria Math" panose="02040503050406030204" pitchFamily="18" charset="0"/>
                              <a:ea typeface="Cambria Math" panose="02040503050406030204" pitchFamily="18" charset="0"/>
                            </a:rPr>
                            <m:t>𝑡</m:t>
                          </m:r>
                          <m:r>
                            <a:rPr lang="en-US" sz="2700" b="0" i="1" smtClean="0">
                              <a:latin typeface="Cambria Math" panose="02040503050406030204" pitchFamily="18" charset="0"/>
                              <a:ea typeface="Cambria Math" panose="02040503050406030204" pitchFamily="18" charset="0"/>
                            </a:rPr>
                            <m:t>−</m:t>
                          </m:r>
                          <m:r>
                            <a:rPr lang="en-US" sz="2700" b="0" i="1" smtClean="0">
                              <a:latin typeface="Cambria Math" panose="02040503050406030204" pitchFamily="18" charset="0"/>
                              <a:ea typeface="Cambria Math" panose="02040503050406030204" pitchFamily="18" charset="0"/>
                            </a:rPr>
                            <m:t>𝑞</m:t>
                          </m:r>
                        </m:sub>
                      </m:sSub>
                    </m:oMath>
                  </m:oMathPara>
                </a14:m>
                <a:endParaRPr lang="en-US" sz="2700" b="0" i="1">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A0362153-CBA4-9F74-3A1B-082EDD1CAC8A}"/>
                  </a:ext>
                </a:extLst>
              </p:cNvPr>
              <p:cNvSpPr txBox="1">
                <a:spLocks noRot="1" noChangeAspect="1" noMove="1" noResize="1" noEditPoints="1" noAdjustHandles="1" noChangeArrowheads="1" noChangeShapeType="1" noTextEdit="1"/>
              </p:cNvSpPr>
              <p:nvPr/>
            </p:nvSpPr>
            <p:spPr>
              <a:xfrm>
                <a:off x="2848188" y="2737228"/>
                <a:ext cx="6495624" cy="447558"/>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D004AE79-4BF1-1AF8-F840-590F86007EFD}"/>
                  </a:ext>
                </a:extLst>
              </p:cNvPr>
              <p:cNvGraphicFramePr>
                <a:graphicFrameLocks noGrp="1"/>
              </p:cNvGraphicFramePr>
              <p:nvPr>
                <p:extLst>
                  <p:ext uri="{D42A27DB-BD31-4B8C-83A1-F6EECF244321}">
                    <p14:modId xmlns:p14="http://schemas.microsoft.com/office/powerpoint/2010/main" val="3116440401"/>
                  </p:ext>
                </p:extLst>
              </p:nvPr>
            </p:nvGraphicFramePr>
            <p:xfrm>
              <a:off x="712694" y="3756250"/>
              <a:ext cx="10766612" cy="2705672"/>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𝑡</m:t>
                                    </m:r>
                                  </m:sub>
                                </m:sSub>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Value </a:t>
                          </a:r>
                          <a:r>
                            <a:rPr lang="en-US" sz="2000" i="1">
                              <a:latin typeface="Arial" panose="020B0604020202020204" pitchFamily="34" charset="0"/>
                              <a:cs typeface="Arial" panose="020B0604020202020204" pitchFamily="34" charset="0"/>
                            </a:rPr>
                            <a:t>Y</a:t>
                          </a:r>
                          <a:r>
                            <a:rPr lang="en-US" sz="2000">
                              <a:latin typeface="Arial" panose="020B0604020202020204" pitchFamily="34" charset="0"/>
                              <a:cs typeface="Arial" panose="020B0604020202020204" pitchFamily="34" charset="0"/>
                            </a:rPr>
                            <a:t> (our outcome) at current time </a:t>
                          </a:r>
                          <a14:m>
                            <m:oMath xmlns:m="http://schemas.openxmlformats.org/officeDocument/2006/math">
                              <m:r>
                                <a:rPr lang="en-US" sz="2000" b="0" i="1" smtClean="0">
                                  <a:latin typeface="Cambria Math" panose="02040503050406030204" pitchFamily="18" charset="0"/>
                                </a:rPr>
                                <m:t>𝑡</m:t>
                              </m:r>
                            </m:oMath>
                          </a14:m>
                          <a:endParaRPr lang="en-US" sz="200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1232624375"/>
                      </a:ext>
                    </a:extLst>
                  </a:tr>
                  <a:tr h="370840">
                    <a:tc>
                      <a:txBody>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𝛼</m:t>
                                </m:r>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Intercept Term; Estimated by model</a:t>
                          </a:r>
                        </a:p>
                      </a:txBody>
                      <a:tcPr>
                        <a:solidFill>
                          <a:schemeClr val="bg1"/>
                        </a:solidFill>
                      </a:tcPr>
                    </a:tc>
                    <a:extLst>
                      <a:ext uri="{0D108BD9-81ED-4DB2-BD59-A6C34878D82A}">
                        <a16:rowId xmlns:a16="http://schemas.microsoft.com/office/drawing/2014/main" val="2974297070"/>
                      </a:ext>
                    </a:extLst>
                  </a:tr>
                  <a:tr h="370840">
                    <a:tc>
                      <a:txBody>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anose="020B0604020202020204" pitchFamily="34" charset="0"/>
                                  </a:rPr>
                                  <m:t>𝑞</m:t>
                                </m:r>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How many past </a:t>
                          </a:r>
                          <a:r>
                            <a:rPr lang="en-US" sz="2000" i="1">
                              <a:latin typeface="Arial" panose="020B0604020202020204" pitchFamily="34" charset="0"/>
                              <a:cs typeface="Arial" panose="020B0604020202020204" pitchFamily="34" charset="0"/>
                            </a:rPr>
                            <a:t>errors</a:t>
                          </a:r>
                          <a:r>
                            <a:rPr lang="en-US" sz="2000">
                              <a:latin typeface="Arial" panose="020B0604020202020204" pitchFamily="34" charset="0"/>
                              <a:cs typeface="Arial" panose="020B0604020202020204" pitchFamily="34" charset="0"/>
                            </a:rPr>
                            <a:t> we look back at.</a:t>
                          </a:r>
                        </a:p>
                      </a:txBody>
                      <a:tcPr>
                        <a:solidFill>
                          <a:schemeClr val="bg1"/>
                        </a:solidFill>
                      </a:tcPr>
                    </a:tc>
                    <a:extLst>
                      <a:ext uri="{0D108BD9-81ED-4DB2-BD59-A6C34878D82A}">
                        <a16:rowId xmlns:a16="http://schemas.microsoft.com/office/drawing/2014/main" val="269567317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𝜃</m:t>
                                    </m:r>
                                  </m:e>
                                  <m:sub>
                                    <m:r>
                                      <a:rPr lang="en-US" sz="2000" b="0" i="1" smtClean="0">
                                        <a:latin typeface="Cambria Math" panose="02040503050406030204" pitchFamily="18" charset="0"/>
                                        <a:ea typeface="Cambria Math" panose="02040503050406030204" pitchFamily="18" charset="0"/>
                                      </a:rPr>
                                      <m:t>𝑞</m:t>
                                    </m:r>
                                  </m:sub>
                                </m:sSub>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dirty="0">
                              <a:latin typeface="Arial" panose="020B0604020202020204" pitchFamily="34" charset="0"/>
                              <a:cs typeface="Arial" panose="020B0604020202020204" pitchFamily="34" charset="0"/>
                            </a:rPr>
                            <a:t>Regression coefficient: weight given to the errors from </a:t>
                          </a:r>
                          <a14:m>
                            <m:oMath xmlns:m="http://schemas.openxmlformats.org/officeDocument/2006/math">
                              <m:r>
                                <a:rPr lang="en-US" sz="2000" i="1" dirty="0" smtClean="0">
                                  <a:latin typeface="Cambria Math" panose="02040503050406030204" pitchFamily="18" charset="0"/>
                                  <a:cs typeface="Arial" panose="020B0604020202020204" pitchFamily="34" charset="0"/>
                                </a:rPr>
                                <m:t>𝑞</m:t>
                              </m:r>
                              <m:r>
                                <a:rPr lang="en-US" sz="2000" b="0" i="1" kern="1200" smtClean="0">
                                  <a:solidFill>
                                    <a:schemeClr val="tx1"/>
                                  </a:solidFill>
                                  <a:latin typeface="Cambria Math" panose="02040503050406030204" pitchFamily="18" charset="0"/>
                                  <a:ea typeface="+mn-ea"/>
                                  <a:cs typeface="+mn-cs"/>
                                </a:rPr>
                                <m:t> </m:t>
                              </m:r>
                            </m:oMath>
                          </a14:m>
                          <a:r>
                            <a:rPr lang="en-US" sz="2000" dirty="0">
                              <a:latin typeface="Arial" panose="020B0604020202020204" pitchFamily="34" charset="0"/>
                              <a:cs typeface="Arial" panose="020B0604020202020204" pitchFamily="34" charset="0"/>
                            </a:rPr>
                            <a:t>periods back; estimated by the model </a:t>
                          </a:r>
                        </a:p>
                      </a:txBody>
                      <a:tcPr>
                        <a:solidFill>
                          <a:schemeClr val="bg1"/>
                        </a:solidFill>
                      </a:tcPr>
                    </a:tc>
                    <a:extLst>
                      <a:ext uri="{0D108BD9-81ED-4DB2-BD59-A6C34878D82A}">
                        <a16:rowId xmlns:a16="http://schemas.microsoft.com/office/drawing/2014/main" val="116040268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𝜀</m:t>
                                    </m:r>
                                  </m:e>
                                  <m:sub>
                                    <m:r>
                                      <a:rPr lang="en-US" sz="2000" b="0" i="1" smtClean="0">
                                        <a:latin typeface="Cambria Math" panose="02040503050406030204" pitchFamily="18" charset="0"/>
                                        <a:ea typeface="Cambria Math" panose="02040503050406030204" pitchFamily="18" charset="0"/>
                                      </a:rPr>
                                      <m:t>𝑡</m:t>
                                    </m:r>
                                  </m:sub>
                                </m:sSub>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The random error at time </a:t>
                          </a:r>
                          <a14:m>
                            <m:oMath xmlns:m="http://schemas.openxmlformats.org/officeDocument/2006/math">
                              <m:r>
                                <a:rPr lang="en-US" sz="2000" i="1" kern="1200">
                                  <a:solidFill>
                                    <a:schemeClr val="tx1"/>
                                  </a:solidFill>
                                  <a:latin typeface="Cambria Math" panose="02040503050406030204" pitchFamily="18" charset="0"/>
                                  <a:ea typeface="+mn-ea"/>
                                  <a:cs typeface="+mn-cs"/>
                                </a:rPr>
                                <m:t>𝑡</m:t>
                              </m:r>
                            </m:oMath>
                          </a14:m>
                          <a:endParaRPr lang="en-US" sz="200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98083641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𝜀</m:t>
                                    </m:r>
                                  </m:e>
                                  <m:sub>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𝑞</m:t>
                                    </m:r>
                                  </m:sub>
                                </m:sSub>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dirty="0">
                              <a:latin typeface="Arial" panose="020B0604020202020204" pitchFamily="34" charset="0"/>
                              <a:cs typeface="Arial" panose="020B0604020202020204" pitchFamily="34" charset="0"/>
                            </a:rPr>
                            <a:t>The random</a:t>
                          </a:r>
                          <a:r>
                            <a:rPr lang="en-US" sz="2000" baseline="0" dirty="0">
                              <a:latin typeface="Arial" panose="020B0604020202020204" pitchFamily="34" charset="0"/>
                              <a:cs typeface="Arial" panose="020B0604020202020204" pitchFamily="34" charset="0"/>
                            </a:rPr>
                            <a:t> error</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b="0" i="1" smtClean="0">
                                  <a:latin typeface="Cambria Math" panose="02040503050406030204" pitchFamily="18" charset="0"/>
                                  <a:cs typeface="Arial" panose="020B0604020202020204" pitchFamily="34" charset="0"/>
                                </a:rPr>
                                <m:t>𝑞</m:t>
                              </m:r>
                            </m:oMath>
                          </a14:m>
                          <a:r>
                            <a:rPr lang="en-US" sz="2000" dirty="0">
                              <a:latin typeface="Arial" panose="020B0604020202020204" pitchFamily="34" charset="0"/>
                              <a:cs typeface="Arial" panose="020B0604020202020204" pitchFamily="34" charset="0"/>
                            </a:rPr>
                            <a:t> time steps back</a:t>
                          </a:r>
                        </a:p>
                      </a:txBody>
                      <a:tcPr>
                        <a:solidFill>
                          <a:schemeClr val="bg1"/>
                        </a:solidFill>
                      </a:tcPr>
                    </a:tc>
                    <a:extLst>
                      <a:ext uri="{0D108BD9-81ED-4DB2-BD59-A6C34878D82A}">
                        <a16:rowId xmlns:a16="http://schemas.microsoft.com/office/drawing/2014/main" val="2925398534"/>
                      </a:ext>
                    </a:extLst>
                  </a:tr>
                </a:tbl>
              </a:graphicData>
            </a:graphic>
          </p:graphicFrame>
        </mc:Choice>
        <mc:Fallback xmlns="">
          <p:graphicFrame>
            <p:nvGraphicFramePr>
              <p:cNvPr id="16" name="Table 15">
                <a:extLst>
                  <a:ext uri="{FF2B5EF4-FFF2-40B4-BE49-F238E27FC236}">
                    <a16:creationId xmlns:a16="http://schemas.microsoft.com/office/drawing/2014/main" id="{D004AE79-4BF1-1AF8-F840-590F86007EFD}"/>
                  </a:ext>
                </a:extLst>
              </p:cNvPr>
              <p:cNvGraphicFramePr>
                <a:graphicFrameLocks noGrp="1"/>
              </p:cNvGraphicFramePr>
              <p:nvPr>
                <p:extLst>
                  <p:ext uri="{D42A27DB-BD31-4B8C-83A1-F6EECF244321}">
                    <p14:modId xmlns:p14="http://schemas.microsoft.com/office/powerpoint/2010/main" val="3116440401"/>
                  </p:ext>
                </p:extLst>
              </p:nvPr>
            </p:nvGraphicFramePr>
            <p:xfrm>
              <a:off x="712694" y="3756250"/>
              <a:ext cx="10766612" cy="2705672"/>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96240">
                    <a:tc>
                      <a:txBody>
                        <a:bodyPr/>
                        <a:lstStyle/>
                        <a:p>
                          <a:endParaRPr lang="en-US"/>
                        </a:p>
                      </a:txBody>
                      <a:tcPr>
                        <a:blipFill>
                          <a:blip r:embed="rId4"/>
                          <a:stretch>
                            <a:fillRect l="-833" t="-7692" r="-197000" b="-606154"/>
                          </a:stretch>
                        </a:blipFill>
                      </a:tcPr>
                    </a:tc>
                    <a:tc>
                      <a:txBody>
                        <a:bodyPr/>
                        <a:lstStyle/>
                        <a:p>
                          <a:endParaRPr lang="en-US"/>
                        </a:p>
                      </a:txBody>
                      <a:tcPr>
                        <a:blipFill>
                          <a:blip r:embed="rId4"/>
                          <a:stretch>
                            <a:fillRect l="-51798" t="-7692" r="-1199" b="-606154"/>
                          </a:stretch>
                        </a:blipFill>
                      </a:tcPr>
                    </a:tc>
                    <a:extLst>
                      <a:ext uri="{0D108BD9-81ED-4DB2-BD59-A6C34878D82A}">
                        <a16:rowId xmlns:a16="http://schemas.microsoft.com/office/drawing/2014/main" val="1232624375"/>
                      </a:ext>
                    </a:extLst>
                  </a:tr>
                  <a:tr h="396240">
                    <a:tc>
                      <a:txBody>
                        <a:bodyPr/>
                        <a:lstStyle/>
                        <a:p>
                          <a:endParaRPr lang="en-US"/>
                        </a:p>
                      </a:txBody>
                      <a:tcPr>
                        <a:blipFill>
                          <a:blip r:embed="rId4"/>
                          <a:stretch>
                            <a:fillRect l="-833" t="-107692" r="-197000" b="-506154"/>
                          </a:stretch>
                        </a:blipFill>
                      </a:tcPr>
                    </a:tc>
                    <a:tc>
                      <a:txBody>
                        <a:bodyPr/>
                        <a:lstStyle/>
                        <a:p>
                          <a:r>
                            <a:rPr lang="en-US" sz="2000">
                              <a:latin typeface="Arial" panose="020B0604020202020204" pitchFamily="34" charset="0"/>
                              <a:cs typeface="Arial" panose="020B0604020202020204" pitchFamily="34" charset="0"/>
                            </a:rPr>
                            <a:t>Intercept Term; Estimated by model</a:t>
                          </a:r>
                        </a:p>
                      </a:txBody>
                      <a:tcPr>
                        <a:solidFill>
                          <a:schemeClr val="bg1"/>
                        </a:solidFill>
                      </a:tcPr>
                    </a:tc>
                    <a:extLst>
                      <a:ext uri="{0D108BD9-81ED-4DB2-BD59-A6C34878D82A}">
                        <a16:rowId xmlns:a16="http://schemas.microsoft.com/office/drawing/2014/main" val="2974297070"/>
                      </a:ext>
                    </a:extLst>
                  </a:tr>
                  <a:tr h="396240">
                    <a:tc>
                      <a:txBody>
                        <a:bodyPr/>
                        <a:lstStyle/>
                        <a:p>
                          <a:endParaRPr lang="en-US"/>
                        </a:p>
                      </a:txBody>
                      <a:tcPr>
                        <a:blipFill>
                          <a:blip r:embed="rId4"/>
                          <a:stretch>
                            <a:fillRect l="-833" t="-204545" r="-197000" b="-398485"/>
                          </a:stretch>
                        </a:blipFill>
                      </a:tcPr>
                    </a:tc>
                    <a:tc>
                      <a:txBody>
                        <a:bodyPr/>
                        <a:lstStyle/>
                        <a:p>
                          <a:r>
                            <a:rPr lang="en-US" sz="2000">
                              <a:latin typeface="Arial" panose="020B0604020202020204" pitchFamily="34" charset="0"/>
                              <a:cs typeface="Arial" panose="020B0604020202020204" pitchFamily="34" charset="0"/>
                            </a:rPr>
                            <a:t>How many past </a:t>
                          </a:r>
                          <a:r>
                            <a:rPr lang="en-US" sz="2000" i="1">
                              <a:latin typeface="Arial" panose="020B0604020202020204" pitchFamily="34" charset="0"/>
                              <a:cs typeface="Arial" panose="020B0604020202020204" pitchFamily="34" charset="0"/>
                            </a:rPr>
                            <a:t>errors</a:t>
                          </a:r>
                          <a:r>
                            <a:rPr lang="en-US" sz="2000">
                              <a:latin typeface="Arial" panose="020B0604020202020204" pitchFamily="34" charset="0"/>
                              <a:cs typeface="Arial" panose="020B0604020202020204" pitchFamily="34" charset="0"/>
                            </a:rPr>
                            <a:t> we look back at.</a:t>
                          </a:r>
                        </a:p>
                      </a:txBody>
                      <a:tcPr>
                        <a:solidFill>
                          <a:schemeClr val="bg1"/>
                        </a:solidFill>
                      </a:tcPr>
                    </a:tc>
                    <a:extLst>
                      <a:ext uri="{0D108BD9-81ED-4DB2-BD59-A6C34878D82A}">
                        <a16:rowId xmlns:a16="http://schemas.microsoft.com/office/drawing/2014/main" val="2695673171"/>
                      </a:ext>
                    </a:extLst>
                  </a:tr>
                  <a:tr h="701040">
                    <a:tc>
                      <a:txBody>
                        <a:bodyPr/>
                        <a:lstStyle/>
                        <a:p>
                          <a:endParaRPr lang="en-US"/>
                        </a:p>
                      </a:txBody>
                      <a:tcPr>
                        <a:blipFill>
                          <a:blip r:embed="rId4"/>
                          <a:stretch>
                            <a:fillRect l="-833" t="-174783" r="-197000" b="-128696"/>
                          </a:stretch>
                        </a:blipFill>
                      </a:tcPr>
                    </a:tc>
                    <a:tc>
                      <a:txBody>
                        <a:bodyPr/>
                        <a:lstStyle/>
                        <a:p>
                          <a:endParaRPr lang="en-US"/>
                        </a:p>
                      </a:txBody>
                      <a:tcPr>
                        <a:blipFill>
                          <a:blip r:embed="rId4"/>
                          <a:stretch>
                            <a:fillRect l="-51798" t="-174783" r="-1199" b="-128696"/>
                          </a:stretch>
                        </a:blipFill>
                      </a:tcPr>
                    </a:tc>
                    <a:extLst>
                      <a:ext uri="{0D108BD9-81ED-4DB2-BD59-A6C34878D82A}">
                        <a16:rowId xmlns:a16="http://schemas.microsoft.com/office/drawing/2014/main" val="1160402683"/>
                      </a:ext>
                    </a:extLst>
                  </a:tr>
                  <a:tr h="396240">
                    <a:tc>
                      <a:txBody>
                        <a:bodyPr/>
                        <a:lstStyle/>
                        <a:p>
                          <a:endParaRPr lang="en-US"/>
                        </a:p>
                      </a:txBody>
                      <a:tcPr>
                        <a:blipFill>
                          <a:blip r:embed="rId4"/>
                          <a:stretch>
                            <a:fillRect l="-833" t="-486154" r="-197000" b="-127692"/>
                          </a:stretch>
                        </a:blipFill>
                      </a:tcPr>
                    </a:tc>
                    <a:tc>
                      <a:txBody>
                        <a:bodyPr/>
                        <a:lstStyle/>
                        <a:p>
                          <a:endParaRPr lang="en-US"/>
                        </a:p>
                      </a:txBody>
                      <a:tcPr>
                        <a:blipFill>
                          <a:blip r:embed="rId4"/>
                          <a:stretch>
                            <a:fillRect l="-51798" t="-486154" r="-1199" b="-127692"/>
                          </a:stretch>
                        </a:blipFill>
                      </a:tcPr>
                    </a:tc>
                    <a:extLst>
                      <a:ext uri="{0D108BD9-81ED-4DB2-BD59-A6C34878D82A}">
                        <a16:rowId xmlns:a16="http://schemas.microsoft.com/office/drawing/2014/main" val="980836415"/>
                      </a:ext>
                    </a:extLst>
                  </a:tr>
                  <a:tr h="419672">
                    <a:tc>
                      <a:txBody>
                        <a:bodyPr/>
                        <a:lstStyle/>
                        <a:p>
                          <a:endParaRPr lang="en-US"/>
                        </a:p>
                      </a:txBody>
                      <a:tcPr>
                        <a:blipFill>
                          <a:blip r:embed="rId4"/>
                          <a:stretch>
                            <a:fillRect l="-833" t="-552174" r="-197000" b="-20290"/>
                          </a:stretch>
                        </a:blipFill>
                      </a:tcPr>
                    </a:tc>
                    <a:tc>
                      <a:txBody>
                        <a:bodyPr/>
                        <a:lstStyle/>
                        <a:p>
                          <a:endParaRPr lang="en-US"/>
                        </a:p>
                      </a:txBody>
                      <a:tcPr>
                        <a:blipFill>
                          <a:blip r:embed="rId4"/>
                          <a:stretch>
                            <a:fillRect l="-51798" t="-552174" r="-1199" b="-20290"/>
                          </a:stretch>
                        </a:blipFill>
                      </a:tcPr>
                    </a:tc>
                    <a:extLst>
                      <a:ext uri="{0D108BD9-81ED-4DB2-BD59-A6C34878D82A}">
                        <a16:rowId xmlns:a16="http://schemas.microsoft.com/office/drawing/2014/main" val="2925398534"/>
                      </a:ext>
                    </a:extLst>
                  </a:tr>
                </a:tbl>
              </a:graphicData>
            </a:graphic>
          </p:graphicFrame>
        </mc:Fallback>
      </mc:AlternateContent>
    </p:spTree>
    <p:extLst>
      <p:ext uri="{BB962C8B-B14F-4D97-AF65-F5344CB8AC3E}">
        <p14:creationId xmlns:p14="http://schemas.microsoft.com/office/powerpoint/2010/main" val="295767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1C2EC-7EE7-40C0-737E-DADF9EF84194}"/>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3251793-92B7-284D-3689-D625DB2F63F2}"/>
              </a:ext>
            </a:extLst>
          </p:cNvPr>
          <p:cNvSpPr/>
          <p:nvPr/>
        </p:nvSpPr>
        <p:spPr>
          <a:xfrm>
            <a:off x="712694" y="5032841"/>
            <a:ext cx="10766612" cy="1556218"/>
          </a:xfrm>
          <a:prstGeom prst="round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FB3E8E-AF11-EC5D-2425-AE7B8FF3C4C4}"/>
              </a:ext>
            </a:extLst>
          </p:cNvPr>
          <p:cNvSpPr>
            <a:spLocks noGrp="1"/>
          </p:cNvSpPr>
          <p:nvPr>
            <p:ph type="title"/>
          </p:nvPr>
        </p:nvSpPr>
        <p:spPr>
          <a:xfrm>
            <a:off x="838200" y="28950"/>
            <a:ext cx="10515600" cy="1325563"/>
          </a:xfrm>
        </p:spPr>
        <p:txBody>
          <a:bodyPr/>
          <a:lstStyle/>
          <a:p>
            <a:pPr algn="ctr"/>
            <a:r>
              <a:rPr lang="en-US" b="1" u="sng">
                <a:solidFill>
                  <a:srgbClr val="7030A0"/>
                </a:solidFill>
                <a:latin typeface="Arial" panose="020B0604020202020204" pitchFamily="34" charset="0"/>
                <a:cs typeface="Arial" panose="020B0604020202020204" pitchFamily="34" charset="0"/>
              </a:rPr>
              <a:t>ARIMA</a:t>
            </a:r>
            <a:r>
              <a:rPr lang="en-US" b="1">
                <a:solidFill>
                  <a:srgbClr val="7030A0"/>
                </a:solidFill>
                <a:latin typeface="Arial" panose="020B0604020202020204" pitchFamily="34" charset="0"/>
                <a:cs typeface="Arial" panose="020B0604020202020204" pitchFamily="34" charset="0"/>
              </a:rPr>
              <a:t> Models</a:t>
            </a:r>
            <a:endParaRPr lang="en-US"/>
          </a:p>
        </p:txBody>
      </p:sp>
      <p:sp>
        <p:nvSpPr>
          <p:cNvPr id="3" name="Content Placeholder 2">
            <a:extLst>
              <a:ext uri="{FF2B5EF4-FFF2-40B4-BE49-F238E27FC236}">
                <a16:creationId xmlns:a16="http://schemas.microsoft.com/office/drawing/2014/main" id="{37999F7E-296F-354F-30E6-231D3E3474CE}"/>
              </a:ext>
            </a:extLst>
          </p:cNvPr>
          <p:cNvSpPr>
            <a:spLocks noGrp="1"/>
          </p:cNvSpPr>
          <p:nvPr>
            <p:ph idx="1"/>
          </p:nvPr>
        </p:nvSpPr>
        <p:spPr>
          <a:xfrm>
            <a:off x="838199" y="1430131"/>
            <a:ext cx="10766611" cy="1590937"/>
          </a:xfrm>
        </p:spPr>
        <p:txBody>
          <a:bodyPr>
            <a:normAutofit/>
          </a:bodyPr>
          <a:lstStyle/>
          <a:p>
            <a:r>
              <a:rPr lang="en-US" sz="2500" b="1" dirty="0">
                <a:latin typeface="Arial" panose="020B0604020202020204" pitchFamily="34" charset="0"/>
                <a:cs typeface="Arial" panose="020B0604020202020204" pitchFamily="34" charset="0"/>
              </a:rPr>
              <a:t>ARIMA: </a:t>
            </a:r>
            <a:r>
              <a:rPr lang="en-US" sz="2500" dirty="0">
                <a:latin typeface="Arial" panose="020B0604020202020204" pitchFamily="34" charset="0"/>
                <a:cs typeface="Arial" panose="020B0604020202020204" pitchFamily="34" charset="0"/>
              </a:rPr>
              <a:t>Autoregressive Integrated Moving Average</a:t>
            </a:r>
          </a:p>
          <a:p>
            <a:r>
              <a:rPr lang="en-US" sz="2500" dirty="0">
                <a:latin typeface="Arial" panose="020B0604020202020204" pitchFamily="34" charset="0"/>
                <a:cs typeface="Arial" panose="020B0604020202020204" pitchFamily="34" charset="0"/>
              </a:rPr>
              <a:t>All three components combine to create an </a:t>
            </a:r>
            <a:r>
              <a:rPr lang="en-US" sz="2500" b="1" dirty="0">
                <a:solidFill>
                  <a:schemeClr val="accent2"/>
                </a:solidFill>
                <a:latin typeface="Arial" panose="020B0604020202020204" pitchFamily="34" charset="0"/>
                <a:cs typeface="Arial" panose="020B0604020202020204" pitchFamily="34" charset="0"/>
              </a:rPr>
              <a:t>ARIMA</a:t>
            </a:r>
            <a:r>
              <a:rPr lang="en-US" sz="2500" dirty="0">
                <a:latin typeface="Arial" panose="020B0604020202020204" pitchFamily="34" charset="0"/>
                <a:cs typeface="Arial" panose="020B0604020202020204" pitchFamily="34" charset="0"/>
              </a:rPr>
              <a:t> model (</a:t>
            </a:r>
            <a:r>
              <a:rPr lang="en-US" sz="2500" i="1" dirty="0">
                <a:latin typeface="Arial" panose="020B0604020202020204" pitchFamily="34" charset="0"/>
                <a:cs typeface="Arial" panose="020B0604020202020204" pitchFamily="34" charset="0"/>
              </a:rPr>
              <a:t>AR + I + MA</a:t>
            </a:r>
            <a:r>
              <a:rPr lang="en-US" sz="2500" dirty="0">
                <a:latin typeface="Arial" panose="020B0604020202020204" pitchFamily="34" charset="0"/>
                <a:cs typeface="Arial" panose="020B0604020202020204" pitchFamily="34" charset="0"/>
              </a:rPr>
              <a:t>).</a:t>
            </a:r>
          </a:p>
          <a:p>
            <a:endParaRPr lang="en-US" sz="2500" dirty="0">
              <a:latin typeface="Arial" panose="020B0604020202020204" pitchFamily="34" charset="0"/>
              <a:cs typeface="Arial" panose="020B0604020202020204" pitchFamily="34" charset="0"/>
            </a:endParaRPr>
          </a:p>
          <a:p>
            <a:endParaRPr lang="en-US" sz="2500" dirty="0">
              <a:latin typeface="Arial" panose="020B0604020202020204" pitchFamily="34" charset="0"/>
              <a:cs typeface="Arial" panose="020B0604020202020204" pitchFamily="34" charset="0"/>
            </a:endParaRPr>
          </a:p>
          <a:p>
            <a:endParaRPr lang="en-US" sz="2500" dirty="0">
              <a:latin typeface="Arial" panose="020B0604020202020204" pitchFamily="34" charset="0"/>
              <a:cs typeface="Arial" panose="020B0604020202020204" pitchFamily="34" charset="0"/>
            </a:endParaRPr>
          </a:p>
          <a:p>
            <a:endParaRPr lang="en-US" sz="2500" dirty="0">
              <a:latin typeface="Arial" panose="020B0604020202020204" pitchFamily="34" charset="0"/>
              <a:cs typeface="Arial" panose="020B0604020202020204" pitchFamily="34" charset="0"/>
            </a:endParaRPr>
          </a:p>
          <a:p>
            <a:endParaRPr lang="en-US" sz="2500" dirty="0">
              <a:latin typeface="Arial" panose="020B0604020202020204" pitchFamily="34" charset="0"/>
              <a:cs typeface="Arial" panose="020B0604020202020204" pitchFamily="34" charset="0"/>
            </a:endParaRPr>
          </a:p>
          <a:p>
            <a:pPr marL="0" indent="0">
              <a:buNone/>
            </a:pPr>
            <a:endParaRPr lang="en-US" sz="2500" dirty="0">
              <a:latin typeface="Arial" panose="020B0604020202020204" pitchFamily="34" charset="0"/>
              <a:cs typeface="Arial" panose="020B0604020202020204" pitchFamily="34" charset="0"/>
            </a:endParaRPr>
          </a:p>
          <a:p>
            <a:pPr marL="0" indent="0">
              <a:buNone/>
            </a:pPr>
            <a:endParaRPr lang="en-US" sz="25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F47DDB4-4669-4022-193F-5010ED48D1A3}"/>
                  </a:ext>
                </a:extLst>
              </p:cNvPr>
              <p:cNvSpPr txBox="1"/>
              <p:nvPr/>
            </p:nvSpPr>
            <p:spPr>
              <a:xfrm>
                <a:off x="1642152" y="2533169"/>
                <a:ext cx="8761116" cy="447558"/>
              </a:xfrm>
              <a:prstGeom prst="rect">
                <a:avLst/>
              </a:prstGeom>
              <a:noFill/>
            </p:spPr>
            <p:txBody>
              <a:bodyPr wrap="none" lIns="0" tIns="0" rIns="0" bIns="0" rtlCol="0">
                <a:spAutoFit/>
              </a:bodyPr>
              <a:lstStyle/>
              <a:p>
                <a14:m>
                  <m:oMath xmlns:m="http://schemas.openxmlformats.org/officeDocument/2006/math">
                    <m:sSub>
                      <m:sSubPr>
                        <m:ctrlPr>
                          <a:rPr lang="en-US" sz="2700" b="0" i="1" smtClean="0">
                            <a:latin typeface="Cambria Math" panose="02040503050406030204" pitchFamily="18" charset="0"/>
                          </a:rPr>
                        </m:ctrlPr>
                      </m:sSubPr>
                      <m:e>
                        <m:r>
                          <a:rPr lang="en-US" sz="2700" b="0" i="1" smtClean="0">
                            <a:latin typeface="Cambria Math" panose="02040503050406030204" pitchFamily="18" charset="0"/>
                          </a:rPr>
                          <m:t>𝑌</m:t>
                        </m:r>
                      </m:e>
                      <m:sub>
                        <m:r>
                          <a:rPr lang="en-US" sz="2700" b="0" i="1" smtClean="0">
                            <a:latin typeface="Cambria Math" panose="02040503050406030204" pitchFamily="18" charset="0"/>
                          </a:rPr>
                          <m:t>𝑡</m:t>
                        </m:r>
                      </m:sub>
                    </m:sSub>
                    <m:r>
                      <a:rPr lang="en-US" sz="2700" b="0" i="1" smtClean="0">
                        <a:latin typeface="Cambria Math" panose="02040503050406030204" pitchFamily="18" charset="0"/>
                      </a:rPr>
                      <m:t>′=</m:t>
                    </m:r>
                    <m:r>
                      <m:rPr>
                        <m:sty m:val="p"/>
                      </m:rPr>
                      <a:rPr lang="en-US" sz="2700" b="0" i="1" smtClean="0">
                        <a:latin typeface="Cambria Math" panose="02040503050406030204" pitchFamily="18" charset="0"/>
                      </a:rPr>
                      <m:t>α</m:t>
                    </m:r>
                    <m:r>
                      <a:rPr lang="en-US" sz="2700" b="0" i="1" smtClean="0">
                        <a:latin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𝜙</m:t>
                        </m:r>
                      </m:e>
                      <m:sub>
                        <m:r>
                          <a:rPr lang="en-US" sz="2700" b="0" i="1" smtClean="0">
                            <a:latin typeface="Cambria Math" panose="02040503050406030204" pitchFamily="18" charset="0"/>
                            <a:ea typeface="Cambria Math" panose="02040503050406030204" pitchFamily="18" charset="0"/>
                          </a:rPr>
                          <m:t>1</m:t>
                        </m:r>
                      </m:sub>
                    </m:sSub>
                    <m:sSubSup>
                      <m:sSubSupPr>
                        <m:ctrlPr>
                          <a:rPr lang="en-US" sz="2700" b="0" i="1" smtClean="0">
                            <a:latin typeface="Cambria Math" panose="02040503050406030204" pitchFamily="18" charset="0"/>
                            <a:ea typeface="Cambria Math" panose="02040503050406030204" pitchFamily="18" charset="0"/>
                          </a:rPr>
                        </m:ctrlPr>
                      </m:sSubSupPr>
                      <m:e>
                        <m:r>
                          <a:rPr lang="en-US" sz="2700" b="0" i="1" smtClean="0">
                            <a:latin typeface="Cambria Math" panose="02040503050406030204" pitchFamily="18" charset="0"/>
                            <a:ea typeface="Cambria Math" panose="02040503050406030204" pitchFamily="18" charset="0"/>
                          </a:rPr>
                          <m:t>𝑌</m:t>
                        </m:r>
                      </m:e>
                      <m:sub>
                        <m:r>
                          <a:rPr lang="en-US" sz="2700" b="0" i="1" smtClean="0">
                            <a:latin typeface="Cambria Math" panose="02040503050406030204" pitchFamily="18" charset="0"/>
                            <a:ea typeface="Cambria Math" panose="02040503050406030204" pitchFamily="18" charset="0"/>
                          </a:rPr>
                          <m:t>𝑡</m:t>
                        </m:r>
                        <m:r>
                          <a:rPr lang="en-US" sz="2700" b="0" i="1" smtClean="0">
                            <a:latin typeface="Cambria Math" panose="02040503050406030204" pitchFamily="18" charset="0"/>
                            <a:ea typeface="Cambria Math" panose="02040503050406030204" pitchFamily="18" charset="0"/>
                          </a:rPr>
                          <m:t>−1</m:t>
                        </m:r>
                      </m:sub>
                      <m:sup>
                        <m:r>
                          <a:rPr lang="en-US" sz="2700" b="0" i="1" smtClean="0">
                            <a:latin typeface="Cambria Math" panose="02040503050406030204" pitchFamily="18" charset="0"/>
                            <a:ea typeface="Cambria Math" panose="02040503050406030204" pitchFamily="18" charset="0"/>
                          </a:rPr>
                          <m:t>′</m:t>
                        </m:r>
                      </m:sup>
                    </m:sSubSup>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𝜙</m:t>
                        </m:r>
                      </m:e>
                      <m:sub>
                        <m:r>
                          <a:rPr lang="en-US" sz="2700" b="0" i="1" smtClean="0">
                            <a:latin typeface="Cambria Math" panose="02040503050406030204" pitchFamily="18" charset="0"/>
                            <a:ea typeface="Cambria Math" panose="02040503050406030204" pitchFamily="18" charset="0"/>
                          </a:rPr>
                          <m:t>𝑝</m:t>
                        </m:r>
                      </m:sub>
                    </m:sSub>
                    <m:sSubSup>
                      <m:sSubSupPr>
                        <m:ctrlPr>
                          <a:rPr lang="en-US" sz="2700" b="0" i="1" smtClean="0">
                            <a:latin typeface="Cambria Math" panose="02040503050406030204" pitchFamily="18" charset="0"/>
                            <a:ea typeface="Cambria Math" panose="02040503050406030204" pitchFamily="18" charset="0"/>
                          </a:rPr>
                        </m:ctrlPr>
                      </m:sSubSupPr>
                      <m:e>
                        <m:r>
                          <a:rPr lang="en-US" sz="2700" b="0" i="1" smtClean="0">
                            <a:latin typeface="Cambria Math" panose="02040503050406030204" pitchFamily="18" charset="0"/>
                            <a:ea typeface="Cambria Math" panose="02040503050406030204" pitchFamily="18" charset="0"/>
                          </a:rPr>
                          <m:t>𝑌</m:t>
                        </m:r>
                      </m:e>
                      <m:sub>
                        <m:r>
                          <a:rPr lang="en-US" sz="2700" b="0" i="1" smtClean="0">
                            <a:latin typeface="Cambria Math" panose="02040503050406030204" pitchFamily="18" charset="0"/>
                            <a:ea typeface="Cambria Math" panose="02040503050406030204" pitchFamily="18" charset="0"/>
                          </a:rPr>
                          <m:t>𝑡</m:t>
                        </m:r>
                        <m:r>
                          <a:rPr lang="en-US" sz="2700" b="0" i="1" smtClean="0">
                            <a:latin typeface="Cambria Math" panose="02040503050406030204" pitchFamily="18" charset="0"/>
                            <a:ea typeface="Cambria Math" panose="02040503050406030204" pitchFamily="18" charset="0"/>
                          </a:rPr>
                          <m:t>−</m:t>
                        </m:r>
                        <m:r>
                          <a:rPr lang="en-US" sz="2700" b="0" i="1" smtClean="0">
                            <a:latin typeface="Cambria Math" panose="02040503050406030204" pitchFamily="18" charset="0"/>
                            <a:ea typeface="Cambria Math" panose="02040503050406030204" pitchFamily="18" charset="0"/>
                          </a:rPr>
                          <m:t>𝑝</m:t>
                        </m:r>
                      </m:sub>
                      <m:sup>
                        <m:r>
                          <a:rPr lang="en-US" sz="2700" b="0" i="1" smtClean="0">
                            <a:latin typeface="Cambria Math" panose="02040503050406030204" pitchFamily="18" charset="0"/>
                            <a:ea typeface="Cambria Math" panose="02040503050406030204" pitchFamily="18" charset="0"/>
                          </a:rPr>
                          <m:t>′</m:t>
                        </m:r>
                      </m:sup>
                    </m:sSubSup>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𝜀</m:t>
                        </m:r>
                      </m:e>
                      <m:sub>
                        <m:r>
                          <a:rPr lang="en-US" sz="2700" b="0" i="1" smtClean="0">
                            <a:latin typeface="Cambria Math" panose="02040503050406030204" pitchFamily="18" charset="0"/>
                            <a:ea typeface="Cambria Math" panose="02040503050406030204" pitchFamily="18" charset="0"/>
                          </a:rPr>
                          <m:t>𝑡</m:t>
                        </m:r>
                      </m:sub>
                    </m:sSub>
                  </m:oMath>
                </a14:m>
                <a:r>
                  <a:rPr lang="en-US" sz="2700" b="0" dirty="0">
                    <a:ea typeface="Cambria Math" panose="02040503050406030204" pitchFamily="18" charset="0"/>
                  </a:rPr>
                  <a:t> </a:t>
                </a:r>
                <a14:m>
                  <m:oMath xmlns:m="http://schemas.openxmlformats.org/officeDocument/2006/math">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𝜃</m:t>
                        </m:r>
                      </m:e>
                      <m:sub>
                        <m:r>
                          <a:rPr lang="en-US" sz="2700" b="0" i="1" smtClean="0">
                            <a:latin typeface="Cambria Math" panose="02040503050406030204" pitchFamily="18" charset="0"/>
                            <a:ea typeface="Cambria Math" panose="02040503050406030204" pitchFamily="18" charset="0"/>
                          </a:rPr>
                          <m:t>1</m:t>
                        </m:r>
                      </m:sub>
                    </m:sSub>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𝜀</m:t>
                        </m:r>
                      </m:e>
                      <m:sub>
                        <m:r>
                          <a:rPr lang="en-US" sz="2700" b="0" i="1" smtClean="0">
                            <a:latin typeface="Cambria Math" panose="02040503050406030204" pitchFamily="18" charset="0"/>
                            <a:ea typeface="Cambria Math" panose="02040503050406030204" pitchFamily="18" charset="0"/>
                          </a:rPr>
                          <m:t>𝑡</m:t>
                        </m:r>
                        <m:r>
                          <a:rPr lang="en-US" sz="2700" b="0" i="1" smtClean="0">
                            <a:latin typeface="Cambria Math" panose="02040503050406030204" pitchFamily="18" charset="0"/>
                            <a:ea typeface="Cambria Math" panose="02040503050406030204" pitchFamily="18" charset="0"/>
                          </a:rPr>
                          <m:t>−1</m:t>
                        </m:r>
                      </m:sub>
                    </m:sSub>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𝜃</m:t>
                        </m:r>
                      </m:e>
                      <m:sub>
                        <m:r>
                          <a:rPr lang="en-US" sz="2700" b="0" i="1" smtClean="0">
                            <a:latin typeface="Cambria Math" panose="02040503050406030204" pitchFamily="18" charset="0"/>
                            <a:ea typeface="Cambria Math" panose="02040503050406030204" pitchFamily="18" charset="0"/>
                          </a:rPr>
                          <m:t>𝑞</m:t>
                        </m:r>
                      </m:sub>
                    </m:sSub>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𝜀</m:t>
                        </m:r>
                      </m:e>
                      <m:sub>
                        <m:r>
                          <a:rPr lang="en-US" sz="2700" b="0" i="1" smtClean="0">
                            <a:latin typeface="Cambria Math" panose="02040503050406030204" pitchFamily="18" charset="0"/>
                            <a:ea typeface="Cambria Math" panose="02040503050406030204" pitchFamily="18" charset="0"/>
                          </a:rPr>
                          <m:t>𝑡</m:t>
                        </m:r>
                        <m:r>
                          <a:rPr lang="en-US" sz="2700" b="0" i="1" smtClean="0">
                            <a:latin typeface="Cambria Math" panose="02040503050406030204" pitchFamily="18" charset="0"/>
                            <a:ea typeface="Cambria Math" panose="02040503050406030204" pitchFamily="18" charset="0"/>
                          </a:rPr>
                          <m:t>−</m:t>
                        </m:r>
                        <m:r>
                          <a:rPr lang="en-US" sz="2700" b="0" i="1" smtClean="0">
                            <a:latin typeface="Cambria Math" panose="02040503050406030204" pitchFamily="18" charset="0"/>
                            <a:ea typeface="Cambria Math" panose="02040503050406030204" pitchFamily="18" charset="0"/>
                          </a:rPr>
                          <m:t>𝑞</m:t>
                        </m:r>
                      </m:sub>
                    </m:sSub>
                  </m:oMath>
                </a14:m>
                <a:endParaRPr lang="en-US" sz="2700" b="0" i="1" dirty="0">
                  <a:latin typeface="Cambria Math" panose="02040503050406030204" pitchFamily="18" charset="0"/>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0F47DDB4-4669-4022-193F-5010ED48D1A3}"/>
                  </a:ext>
                </a:extLst>
              </p:cNvPr>
              <p:cNvSpPr txBox="1">
                <a:spLocks noRot="1" noChangeAspect="1" noMove="1" noResize="1" noEditPoints="1" noAdjustHandles="1" noChangeArrowheads="1" noChangeShapeType="1" noTextEdit="1"/>
              </p:cNvSpPr>
              <p:nvPr/>
            </p:nvSpPr>
            <p:spPr>
              <a:xfrm>
                <a:off x="1642152" y="2533169"/>
                <a:ext cx="8761116" cy="447558"/>
              </a:xfrm>
              <a:prstGeom prst="rect">
                <a:avLst/>
              </a:prstGeom>
              <a:blipFill>
                <a:blip r:embed="rId3"/>
                <a:stretch>
                  <a:fillRect b="-13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1E9ACCBD-FE65-7FF6-AAAB-5BA8F2AC3FB0}"/>
                  </a:ext>
                </a:extLst>
              </p:cNvPr>
              <p:cNvGraphicFramePr>
                <a:graphicFrameLocks noGrp="1"/>
              </p:cNvGraphicFramePr>
              <p:nvPr/>
            </p:nvGraphicFramePr>
            <p:xfrm>
              <a:off x="712694" y="3433522"/>
              <a:ext cx="10766612" cy="1341057"/>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70840">
                    <a:tc gridSpan="2">
                      <a:txBody>
                        <a:bodyPr/>
                        <a:lstStyle/>
                        <a:p>
                          <a:pPr algn="ctr"/>
                          <a:r>
                            <a:rPr lang="en-US" sz="2200" b="1">
                              <a:latin typeface="Arial" panose="020B0604020202020204" pitchFamily="34" charset="0"/>
                              <a:cs typeface="Arial" panose="020B0604020202020204" pitchFamily="34" charset="0"/>
                            </a:rPr>
                            <a:t>New Notation </a:t>
                          </a:r>
                        </a:p>
                      </a:txBody>
                      <a:tcPr anchor="ctr">
                        <a:solidFill>
                          <a:schemeClr val="bg1"/>
                        </a:solidFill>
                      </a:tcPr>
                    </a:tc>
                    <a:tc hMerge="1">
                      <a:txBody>
                        <a:bodyPr/>
                        <a:lstStyle/>
                        <a:p>
                          <a:endParaRPr lang="en-US" sz="200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384086019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300" b="0" i="1" smtClean="0">
                                        <a:latin typeface="Cambria Math" panose="02040503050406030204" pitchFamily="18" charset="0"/>
                                      </a:rPr>
                                    </m:ctrlPr>
                                  </m:sSubPr>
                                  <m:e>
                                    <m:r>
                                      <a:rPr lang="en-US" sz="2300" b="0" i="1" smtClean="0">
                                        <a:latin typeface="Cambria Math" panose="02040503050406030204" pitchFamily="18" charset="0"/>
                                      </a:rPr>
                                      <m:t>𝑌</m:t>
                                    </m:r>
                                    <m:r>
                                      <a:rPr lang="en-US" sz="2300" b="0" i="1" smtClean="0">
                                        <a:latin typeface="Cambria Math" panose="02040503050406030204" pitchFamily="18" charset="0"/>
                                      </a:rPr>
                                      <m:t>′</m:t>
                                    </m:r>
                                  </m:e>
                                  <m:sub>
                                    <m:r>
                                      <a:rPr lang="en-US" sz="2300" b="0" i="1" smtClean="0">
                                        <a:latin typeface="Cambria Math" panose="02040503050406030204" pitchFamily="18" charset="0"/>
                                      </a:rPr>
                                      <m:t>𝑡</m:t>
                                    </m:r>
                                  </m:sub>
                                </m:sSub>
                              </m:oMath>
                            </m:oMathPara>
                          </a14:m>
                          <a:endParaRPr lang="en-US" sz="2300">
                            <a:latin typeface="Arial" panose="020B0604020202020204" pitchFamily="34" charset="0"/>
                            <a:cs typeface="Arial" panose="020B0604020202020204" pitchFamily="34" charset="0"/>
                          </a:endParaRPr>
                        </a:p>
                      </a:txBody>
                      <a:tcPr>
                        <a:solidFill>
                          <a:schemeClr val="bg1"/>
                        </a:solidFill>
                      </a:tcPr>
                    </a:tc>
                    <a:tc>
                      <a:txBody>
                        <a:bodyPr/>
                        <a:lstStyle/>
                        <a:p>
                          <a:r>
                            <a:rPr lang="en-US" sz="2300">
                              <a:latin typeface="Arial" panose="020B0604020202020204" pitchFamily="34" charset="0"/>
                              <a:cs typeface="Arial" panose="020B0604020202020204" pitchFamily="34" charset="0"/>
                            </a:rPr>
                            <a:t>The value of the </a:t>
                          </a:r>
                          <a:r>
                            <a:rPr lang="en-US" sz="2300" i="1">
                              <a:latin typeface="Arial" panose="020B0604020202020204" pitchFamily="34" charset="0"/>
                              <a:cs typeface="Arial" panose="020B0604020202020204" pitchFamily="34" charset="0"/>
                            </a:rPr>
                            <a:t>differenced</a:t>
                          </a:r>
                          <a:r>
                            <a:rPr lang="en-US" sz="2300" baseline="0">
                              <a:latin typeface="Arial" panose="020B0604020202020204" pitchFamily="34" charset="0"/>
                              <a:cs typeface="Arial" panose="020B0604020202020204" pitchFamily="34" charset="0"/>
                            </a:rPr>
                            <a:t> series at </a:t>
                          </a:r>
                          <a:r>
                            <a:rPr lang="en-US" sz="2300">
                              <a:latin typeface="Arial" panose="020B0604020202020204" pitchFamily="34" charset="0"/>
                              <a:cs typeface="Arial" panose="020B0604020202020204" pitchFamily="34" charset="0"/>
                            </a:rPr>
                            <a:t>current time </a:t>
                          </a:r>
                          <a14:m>
                            <m:oMath xmlns:m="http://schemas.openxmlformats.org/officeDocument/2006/math">
                              <m:r>
                                <a:rPr lang="en-US" sz="2300" b="0" i="1" smtClean="0">
                                  <a:latin typeface="Cambria Math" panose="02040503050406030204" pitchFamily="18" charset="0"/>
                                </a:rPr>
                                <m:t>𝑡</m:t>
                              </m:r>
                            </m:oMath>
                          </a14:m>
                          <a:endParaRPr lang="en-US" sz="230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1232624375"/>
                      </a:ext>
                    </a:extLst>
                  </a:tr>
                  <a:tr h="370840">
                    <a:tc>
                      <a:txBody>
                        <a:bodyPr/>
                        <a:lstStyle/>
                        <a:p>
                          <a:pPr/>
                          <a14:m>
                            <m:oMathPara xmlns:m="http://schemas.openxmlformats.org/officeDocument/2006/math">
                              <m:oMathParaPr>
                                <m:jc m:val="centerGroup"/>
                              </m:oMathParaPr>
                              <m:oMath xmlns:m="http://schemas.openxmlformats.org/officeDocument/2006/math">
                                <m:sSubSup>
                                  <m:sSubSupPr>
                                    <m:ctrlPr>
                                      <a:rPr lang="en-US" sz="2300" b="0" i="1" smtClean="0">
                                        <a:latin typeface="Cambria Math" panose="02040503050406030204" pitchFamily="18" charset="0"/>
                                        <a:ea typeface="Cambria Math" panose="02040503050406030204" pitchFamily="18" charset="0"/>
                                      </a:rPr>
                                    </m:ctrlPr>
                                  </m:sSubSupPr>
                                  <m:e>
                                    <m:r>
                                      <a:rPr lang="en-US" sz="2300" b="0" i="1" smtClean="0">
                                        <a:latin typeface="Cambria Math" panose="02040503050406030204" pitchFamily="18" charset="0"/>
                                        <a:ea typeface="Cambria Math" panose="02040503050406030204" pitchFamily="18" charset="0"/>
                                      </a:rPr>
                                      <m:t>𝑌</m:t>
                                    </m:r>
                                  </m:e>
                                  <m:sub>
                                    <m:r>
                                      <a:rPr lang="en-US" sz="2300" b="0" i="1" smtClean="0">
                                        <a:latin typeface="Cambria Math" panose="02040503050406030204" pitchFamily="18" charset="0"/>
                                        <a:ea typeface="Cambria Math" panose="02040503050406030204" pitchFamily="18" charset="0"/>
                                      </a:rPr>
                                      <m:t>𝑡</m:t>
                                    </m:r>
                                    <m:r>
                                      <a:rPr lang="en-US" sz="2300" b="0" i="1" smtClean="0">
                                        <a:latin typeface="Cambria Math" panose="02040503050406030204" pitchFamily="18" charset="0"/>
                                        <a:ea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𝑝</m:t>
                                    </m:r>
                                  </m:sub>
                                  <m:sup>
                                    <m:r>
                                      <a:rPr lang="en-US" sz="2300" b="0" i="1" smtClean="0">
                                        <a:latin typeface="Cambria Math" panose="02040503050406030204" pitchFamily="18" charset="0"/>
                                        <a:ea typeface="Cambria Math" panose="02040503050406030204" pitchFamily="18" charset="0"/>
                                      </a:rPr>
                                      <m:t>′</m:t>
                                    </m:r>
                                  </m:sup>
                                </m:sSubSup>
                              </m:oMath>
                            </m:oMathPara>
                          </a14:m>
                          <a:endParaRPr lang="en-US" sz="2300">
                            <a:latin typeface="Arial" panose="020B0604020202020204" pitchFamily="34" charset="0"/>
                            <a:cs typeface="Arial" panose="020B0604020202020204" pitchFamily="34" charset="0"/>
                          </a:endParaRPr>
                        </a:p>
                      </a:txBody>
                      <a:tcPr>
                        <a:solidFill>
                          <a:schemeClr val="bg1"/>
                        </a:solidFill>
                      </a:tcPr>
                    </a:tc>
                    <a:tc>
                      <a:txBody>
                        <a:bodyPr/>
                        <a:lstStyle/>
                        <a:p>
                          <a:r>
                            <a:rPr lang="en-US" sz="2300">
                              <a:latin typeface="Arial" panose="020B0604020202020204" pitchFamily="34" charset="0"/>
                              <a:cs typeface="Arial" panose="020B0604020202020204" pitchFamily="34" charset="0"/>
                            </a:rPr>
                            <a:t>Value of </a:t>
                          </a:r>
                          <a:r>
                            <a:rPr lang="en-US" sz="2300" i="1">
                              <a:latin typeface="Arial" panose="020B0604020202020204" pitchFamily="34" charset="0"/>
                              <a:cs typeface="Arial" panose="020B0604020202020204" pitchFamily="34" charset="0"/>
                            </a:rPr>
                            <a:t>the differenced</a:t>
                          </a:r>
                          <a:r>
                            <a:rPr lang="en-US" sz="2300" i="0" baseline="0">
                              <a:latin typeface="Arial" panose="020B0604020202020204" pitchFamily="34" charset="0"/>
                              <a:cs typeface="Arial" panose="020B0604020202020204" pitchFamily="34" charset="0"/>
                            </a:rPr>
                            <a:t> series</a:t>
                          </a:r>
                          <a:r>
                            <a:rPr lang="en-US" sz="2300" i="0">
                              <a:latin typeface="Arial" panose="020B0604020202020204" pitchFamily="34" charset="0"/>
                              <a:cs typeface="Arial" panose="020B0604020202020204" pitchFamily="34" charset="0"/>
                            </a:rPr>
                            <a:t> </a:t>
                          </a:r>
                          <a14:m>
                            <m:oMath xmlns:m="http://schemas.openxmlformats.org/officeDocument/2006/math">
                              <m:r>
                                <a:rPr lang="en-US" sz="2300" i="1" kern="1200" smtClean="0">
                                  <a:solidFill>
                                    <a:schemeClr val="tx1"/>
                                  </a:solidFill>
                                  <a:latin typeface="Cambria Math" panose="02040503050406030204" pitchFamily="18" charset="0"/>
                                  <a:ea typeface="+mn-ea"/>
                                  <a:cs typeface="+mn-cs"/>
                                </a:rPr>
                                <m:t>𝑝</m:t>
                              </m:r>
                            </m:oMath>
                          </a14:m>
                          <a:r>
                            <a:rPr lang="en-US" sz="2300">
                              <a:latin typeface="Arial" panose="020B0604020202020204" pitchFamily="34" charset="0"/>
                              <a:cs typeface="Arial" panose="020B0604020202020204" pitchFamily="34" charset="0"/>
                            </a:rPr>
                            <a:t> time steps back</a:t>
                          </a:r>
                        </a:p>
                      </a:txBody>
                      <a:tcPr>
                        <a:solidFill>
                          <a:schemeClr val="bg1"/>
                        </a:solidFill>
                      </a:tcPr>
                    </a:tc>
                    <a:extLst>
                      <a:ext uri="{0D108BD9-81ED-4DB2-BD59-A6C34878D82A}">
                        <a16:rowId xmlns:a16="http://schemas.microsoft.com/office/drawing/2014/main" val="1160402683"/>
                      </a:ext>
                    </a:extLst>
                  </a:tr>
                </a:tbl>
              </a:graphicData>
            </a:graphic>
          </p:graphicFrame>
        </mc:Choice>
        <mc:Fallback xmlns="">
          <p:graphicFrame>
            <p:nvGraphicFramePr>
              <p:cNvPr id="16" name="Table 15">
                <a:extLst>
                  <a:ext uri="{FF2B5EF4-FFF2-40B4-BE49-F238E27FC236}">
                    <a16:creationId xmlns:a16="http://schemas.microsoft.com/office/drawing/2014/main" id="{1E9ACCBD-FE65-7FF6-AAAB-5BA8F2AC3FB0}"/>
                  </a:ext>
                </a:extLst>
              </p:cNvPr>
              <p:cNvGraphicFramePr>
                <a:graphicFrameLocks noGrp="1"/>
              </p:cNvGraphicFramePr>
              <p:nvPr/>
            </p:nvGraphicFramePr>
            <p:xfrm>
              <a:off x="712694" y="3433522"/>
              <a:ext cx="10766612" cy="1341057"/>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426720">
                    <a:tc gridSpan="2">
                      <a:txBody>
                        <a:bodyPr/>
                        <a:lstStyle/>
                        <a:p>
                          <a:pPr algn="ctr"/>
                          <a:r>
                            <a:rPr lang="en-US" sz="2200" b="1">
                              <a:latin typeface="Arial" panose="020B0604020202020204" pitchFamily="34" charset="0"/>
                              <a:cs typeface="Arial" panose="020B0604020202020204" pitchFamily="34" charset="0"/>
                            </a:rPr>
                            <a:t>New Notation </a:t>
                          </a:r>
                        </a:p>
                      </a:txBody>
                      <a:tcPr anchor="ctr">
                        <a:solidFill>
                          <a:schemeClr val="bg1"/>
                        </a:solidFill>
                      </a:tcPr>
                    </a:tc>
                    <a:tc hMerge="1">
                      <a:txBody>
                        <a:bodyPr/>
                        <a:lstStyle/>
                        <a:p>
                          <a:endParaRPr lang="en-US" sz="200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3840860190"/>
                      </a:ext>
                    </a:extLst>
                  </a:tr>
                  <a:tr h="441960">
                    <a:tc>
                      <a:txBody>
                        <a:bodyPr/>
                        <a:lstStyle/>
                        <a:p>
                          <a:endParaRPr lang="en-US"/>
                        </a:p>
                      </a:txBody>
                      <a:tcPr>
                        <a:blipFill>
                          <a:blip r:embed="rId4"/>
                          <a:stretch>
                            <a:fillRect l="-833" t="-104110" r="-197000" b="-130137"/>
                          </a:stretch>
                        </a:blipFill>
                      </a:tcPr>
                    </a:tc>
                    <a:tc>
                      <a:txBody>
                        <a:bodyPr/>
                        <a:lstStyle/>
                        <a:p>
                          <a:endParaRPr lang="en-US"/>
                        </a:p>
                      </a:txBody>
                      <a:tcPr>
                        <a:blipFill>
                          <a:blip r:embed="rId4"/>
                          <a:stretch>
                            <a:fillRect l="-51798" t="-104110" r="-1199" b="-130137"/>
                          </a:stretch>
                        </a:blipFill>
                      </a:tcPr>
                    </a:tc>
                    <a:extLst>
                      <a:ext uri="{0D108BD9-81ED-4DB2-BD59-A6C34878D82A}">
                        <a16:rowId xmlns:a16="http://schemas.microsoft.com/office/drawing/2014/main" val="1232624375"/>
                      </a:ext>
                    </a:extLst>
                  </a:tr>
                  <a:tr h="472377">
                    <a:tc>
                      <a:txBody>
                        <a:bodyPr/>
                        <a:lstStyle/>
                        <a:p>
                          <a:endParaRPr lang="en-US"/>
                        </a:p>
                      </a:txBody>
                      <a:tcPr>
                        <a:blipFill>
                          <a:blip r:embed="rId4"/>
                          <a:stretch>
                            <a:fillRect l="-833" t="-191026" r="-197000" b="-21795"/>
                          </a:stretch>
                        </a:blipFill>
                      </a:tcPr>
                    </a:tc>
                    <a:tc>
                      <a:txBody>
                        <a:bodyPr/>
                        <a:lstStyle/>
                        <a:p>
                          <a:endParaRPr lang="en-US"/>
                        </a:p>
                      </a:txBody>
                      <a:tcPr>
                        <a:blipFill>
                          <a:blip r:embed="rId4"/>
                          <a:stretch>
                            <a:fillRect l="-51798" t="-191026" r="-1199" b="-21795"/>
                          </a:stretch>
                        </a:blipFill>
                      </a:tcPr>
                    </a:tc>
                    <a:extLst>
                      <a:ext uri="{0D108BD9-81ED-4DB2-BD59-A6C34878D82A}">
                        <a16:rowId xmlns:a16="http://schemas.microsoft.com/office/drawing/2014/main" val="1160402683"/>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39028AF-5F5B-6CD3-A440-BF6B60BBF792}"/>
                  </a:ext>
                </a:extLst>
              </p:cNvPr>
              <p:cNvSpPr txBox="1"/>
              <p:nvPr/>
            </p:nvSpPr>
            <p:spPr>
              <a:xfrm>
                <a:off x="775447" y="5194205"/>
                <a:ext cx="10641106" cy="1246495"/>
              </a:xfrm>
              <a:prstGeom prst="rect">
                <a:avLst/>
              </a:prstGeom>
              <a:noFill/>
            </p:spPr>
            <p:txBody>
              <a:bodyPr wrap="square">
                <a:spAutoFit/>
              </a:bodyPr>
              <a:lstStyle/>
              <a:p>
                <a:pPr algn="ctr"/>
                <a:r>
                  <a:rPr lang="en-US" sz="2500" b="1" dirty="0">
                    <a:latin typeface="Arial" panose="020B0604020202020204" pitchFamily="34" charset="0"/>
                    <a:cs typeface="Arial" panose="020B0604020202020204" pitchFamily="34" charset="0"/>
                  </a:rPr>
                  <a:t>In words:</a:t>
                </a:r>
                <a:r>
                  <a:rPr lang="en-US" sz="2500" dirty="0">
                    <a:latin typeface="Arial" panose="020B0604020202020204" pitchFamily="34" charset="0"/>
                    <a:cs typeface="Arial" panose="020B0604020202020204" pitchFamily="34" charset="0"/>
                  </a:rPr>
                  <a:t> Predicted differenced value at time </a:t>
                </a:r>
                <a14:m>
                  <m:oMath xmlns:m="http://schemas.openxmlformats.org/officeDocument/2006/math">
                    <m:r>
                      <a:rPr lang="en-US" sz="2500" i="1">
                        <a:latin typeface="Cambria Math" panose="02040503050406030204" pitchFamily="18" charset="0"/>
                      </a:rPr>
                      <m:t>𝑡</m:t>
                    </m:r>
                  </m:oMath>
                </a14:m>
                <a:r>
                  <a:rPr lang="en-US" sz="2500" dirty="0">
                    <a:latin typeface="Arial" panose="020B0604020202020204" pitchFamily="34" charset="0"/>
                    <a:cs typeface="Arial" panose="020B0604020202020204" pitchFamily="34" charset="0"/>
                  </a:rPr>
                  <a:t> = constant + linear combination of recent (differenced) values + linear combination of recent forecast errors</a:t>
                </a:r>
              </a:p>
            </p:txBody>
          </p:sp>
        </mc:Choice>
        <mc:Fallback xmlns="">
          <p:sp>
            <p:nvSpPr>
              <p:cNvPr id="7" name="TextBox 6">
                <a:extLst>
                  <a:ext uri="{FF2B5EF4-FFF2-40B4-BE49-F238E27FC236}">
                    <a16:creationId xmlns:a16="http://schemas.microsoft.com/office/drawing/2014/main" id="{D39028AF-5F5B-6CD3-A440-BF6B60BBF792}"/>
                  </a:ext>
                </a:extLst>
              </p:cNvPr>
              <p:cNvSpPr txBox="1">
                <a:spLocks noRot="1" noChangeAspect="1" noMove="1" noResize="1" noEditPoints="1" noAdjustHandles="1" noChangeArrowheads="1" noChangeShapeType="1" noTextEdit="1"/>
              </p:cNvSpPr>
              <p:nvPr/>
            </p:nvSpPr>
            <p:spPr>
              <a:xfrm>
                <a:off x="775447" y="5194205"/>
                <a:ext cx="10641106" cy="1246495"/>
              </a:xfrm>
              <a:prstGeom prst="rect">
                <a:avLst/>
              </a:prstGeom>
              <a:blipFill>
                <a:blip r:embed="rId5"/>
                <a:stretch>
                  <a:fillRect t="-3415" r="-458" b="-10732"/>
                </a:stretch>
              </a:blipFill>
            </p:spPr>
            <p:txBody>
              <a:bodyPr/>
              <a:lstStyle/>
              <a:p>
                <a:r>
                  <a:rPr lang="en-US">
                    <a:noFill/>
                  </a:rPr>
                  <a:t> </a:t>
                </a:r>
              </a:p>
            </p:txBody>
          </p:sp>
        </mc:Fallback>
      </mc:AlternateContent>
    </p:spTree>
    <p:extLst>
      <p:ext uri="{BB962C8B-B14F-4D97-AF65-F5344CB8AC3E}">
        <p14:creationId xmlns:p14="http://schemas.microsoft.com/office/powerpoint/2010/main" val="1827740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DDDB8-1C80-5269-9E32-BA1202BE1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0537A2-F423-B199-10F8-B8FEA6214D30}"/>
              </a:ext>
            </a:extLst>
          </p:cNvPr>
          <p:cNvSpPr>
            <a:spLocks noGrp="1"/>
          </p:cNvSpPr>
          <p:nvPr>
            <p:ph type="title"/>
          </p:nvPr>
        </p:nvSpPr>
        <p:spPr>
          <a:xfrm>
            <a:off x="838200" y="28950"/>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Parameters {</a:t>
            </a:r>
            <a:r>
              <a:rPr lang="en-US" b="1" i="1">
                <a:solidFill>
                  <a:srgbClr val="7030A0"/>
                </a:solidFill>
                <a:latin typeface="Arial" panose="020B0604020202020204" pitchFamily="34" charset="0"/>
                <a:cs typeface="Arial" panose="020B0604020202020204" pitchFamily="34" charset="0"/>
              </a:rPr>
              <a:t>p, d, q</a:t>
            </a:r>
            <a:r>
              <a:rPr lang="en-US" b="1">
                <a:solidFill>
                  <a:srgbClr val="7030A0"/>
                </a:solidFill>
                <a:latin typeface="Arial" panose="020B0604020202020204" pitchFamily="34" charset="0"/>
                <a:cs typeface="Arial" panose="020B0604020202020204" pitchFamily="34" charset="0"/>
              </a:rPr>
              <a:t>}</a:t>
            </a:r>
            <a:endParaRPr lang="en-US"/>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B06AA3A8-F2D0-2BF4-F67E-FF4D54EC6B52}"/>
                  </a:ext>
                </a:extLst>
              </p:cNvPr>
              <p:cNvGraphicFramePr>
                <a:graphicFrameLocks noGrp="1"/>
              </p:cNvGraphicFramePr>
              <p:nvPr/>
            </p:nvGraphicFramePr>
            <p:xfrm>
              <a:off x="838200" y="1502430"/>
              <a:ext cx="10515600" cy="3063240"/>
            </p:xfrm>
            <a:graphic>
              <a:graphicData uri="http://schemas.openxmlformats.org/drawingml/2006/table">
                <a:tbl>
                  <a:tblPr firstRow="1" bandRow="1">
                    <a:tableStyleId>{5940675A-B579-460E-94D1-54222C63F5DA}</a:tableStyleId>
                  </a:tblPr>
                  <a:tblGrid>
                    <a:gridCol w="2268072">
                      <a:extLst>
                        <a:ext uri="{9D8B030D-6E8A-4147-A177-3AD203B41FA5}">
                          <a16:colId xmlns:a16="http://schemas.microsoft.com/office/drawing/2014/main" val="559891334"/>
                        </a:ext>
                      </a:extLst>
                    </a:gridCol>
                    <a:gridCol w="2743200">
                      <a:extLst>
                        <a:ext uri="{9D8B030D-6E8A-4147-A177-3AD203B41FA5}">
                          <a16:colId xmlns:a16="http://schemas.microsoft.com/office/drawing/2014/main" val="1923835770"/>
                        </a:ext>
                      </a:extLst>
                    </a:gridCol>
                    <a:gridCol w="5504328">
                      <a:extLst>
                        <a:ext uri="{9D8B030D-6E8A-4147-A177-3AD203B41FA5}">
                          <a16:colId xmlns:a16="http://schemas.microsoft.com/office/drawing/2014/main" val="3946620459"/>
                        </a:ext>
                      </a:extLst>
                    </a:gridCol>
                  </a:tblGrid>
                  <a:tr h="370840">
                    <a:tc>
                      <a:txBody>
                        <a:bodyPr/>
                        <a:lstStyle/>
                        <a:p>
                          <a:pPr algn="ctr"/>
                          <a:r>
                            <a:rPr lang="en-US" sz="2700" b="1">
                              <a:solidFill>
                                <a:schemeClr val="tx1"/>
                              </a:solidFill>
                              <a:latin typeface="Arial" panose="020B0604020202020204" pitchFamily="34" charset="0"/>
                              <a:cs typeface="Arial" panose="020B0604020202020204" pitchFamily="34" charset="0"/>
                            </a:rPr>
                            <a:t>Parameter</a:t>
                          </a:r>
                        </a:p>
                      </a:txBody>
                      <a:tcPr anchor="ctr">
                        <a:solidFill>
                          <a:schemeClr val="bg1">
                            <a:lumMod val="95000"/>
                          </a:schemeClr>
                        </a:solidFill>
                      </a:tcPr>
                    </a:tc>
                    <a:tc>
                      <a:txBody>
                        <a:bodyPr/>
                        <a:lstStyle/>
                        <a:p>
                          <a:pPr algn="ctr"/>
                          <a:r>
                            <a:rPr lang="en-US" sz="2700" b="1">
                              <a:solidFill>
                                <a:schemeClr val="tx1"/>
                              </a:solidFill>
                              <a:latin typeface="Arial" panose="020B0604020202020204" pitchFamily="34" charset="0"/>
                              <a:cs typeface="Arial" panose="020B0604020202020204" pitchFamily="34" charset="0"/>
                            </a:rPr>
                            <a:t>Model</a:t>
                          </a:r>
                        </a:p>
                      </a:txBody>
                      <a:tcPr anchor="ctr">
                        <a:solidFill>
                          <a:schemeClr val="bg1">
                            <a:lumMod val="95000"/>
                          </a:schemeClr>
                        </a:solidFill>
                      </a:tcPr>
                    </a:tc>
                    <a:tc>
                      <a:txBody>
                        <a:bodyPr/>
                        <a:lstStyle/>
                        <a:p>
                          <a:pPr algn="ctr"/>
                          <a:r>
                            <a:rPr lang="en-US" sz="2700" b="1">
                              <a:solidFill>
                                <a:schemeClr val="tx1"/>
                              </a:solidFill>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845744514"/>
                      </a:ext>
                    </a:extLst>
                  </a:tr>
                  <a:tr h="370840">
                    <a:tc>
                      <a:txBody>
                        <a:bodyPr/>
                        <a:lstStyle/>
                        <a:p>
                          <a:pPr algn="ctr"/>
                          <a14:m>
                            <m:oMathPara xmlns:m="http://schemas.openxmlformats.org/officeDocument/2006/math">
                              <m:oMathParaPr>
                                <m:jc m:val="centerGroup"/>
                              </m:oMathParaPr>
                              <m:oMath xmlns:m="http://schemas.openxmlformats.org/officeDocument/2006/math">
                                <m:r>
                                  <a:rPr lang="en-US" sz="2500" i="1" dirty="0" smtClean="0">
                                    <a:solidFill>
                                      <a:schemeClr val="tx1"/>
                                    </a:solidFill>
                                    <a:latin typeface="Cambria Math" panose="02040503050406030204" pitchFamily="18" charset="0"/>
                                  </a:rPr>
                                  <m:t>𝑝</m:t>
                                </m:r>
                              </m:oMath>
                            </m:oMathPara>
                          </a14:m>
                          <a:endParaRPr/>
                        </a:p>
                      </a:txBody>
                      <a:tcPr anchor="ctr"/>
                    </a:tc>
                    <a:tc>
                      <a:txBody>
                        <a:bodyPr/>
                        <a:lstStyle/>
                        <a:p>
                          <a:pPr algn="ctr"/>
                          <a:r>
                            <a:rPr lang="en-US" sz="2500">
                              <a:solidFill>
                                <a:schemeClr val="tx1"/>
                              </a:solidFill>
                              <a:latin typeface="Arial" panose="020B0604020202020204" pitchFamily="34" charset="0"/>
                              <a:cs typeface="Arial" panose="020B0604020202020204" pitchFamily="34" charset="0"/>
                            </a:rPr>
                            <a:t>AR</a:t>
                          </a:r>
                        </a:p>
                      </a:txBody>
                      <a:tcPr anchor="ctr"/>
                    </a:tc>
                    <a:tc>
                      <a:txBody>
                        <a:bodyPr/>
                        <a:lstStyle/>
                        <a:p>
                          <a:pPr algn="ctr"/>
                          <a:r>
                            <a:rPr lang="en-US" sz="2500">
                              <a:solidFill>
                                <a:schemeClr val="tx1"/>
                              </a:solidFill>
                              <a:latin typeface="Arial" panose="020B0604020202020204" pitchFamily="34" charset="0"/>
                              <a:cs typeface="Arial" panose="020B0604020202020204" pitchFamily="34" charset="0"/>
                            </a:rPr>
                            <a:t>How many </a:t>
                          </a:r>
                          <a:r>
                            <a:rPr lang="en-US" sz="2500" b="1">
                              <a:solidFill>
                                <a:schemeClr val="accent2"/>
                              </a:solidFill>
                              <a:latin typeface="Arial" panose="020B0604020202020204" pitchFamily="34" charset="0"/>
                              <a:cs typeface="Arial" panose="020B0604020202020204" pitchFamily="34" charset="0"/>
                            </a:rPr>
                            <a:t>past values</a:t>
                          </a:r>
                          <a:r>
                            <a:rPr lang="en-US" sz="2500">
                              <a:solidFill>
                                <a:schemeClr val="tx1"/>
                              </a:solidFill>
                              <a:latin typeface="Arial" panose="020B0604020202020204" pitchFamily="34" charset="0"/>
                              <a:cs typeface="Arial" panose="020B0604020202020204" pitchFamily="34" charset="0"/>
                            </a:rPr>
                            <a:t> we look back at.</a:t>
                          </a:r>
                        </a:p>
                      </a:txBody>
                      <a:tcPr anchor="ctr"/>
                    </a:tc>
                    <a:extLst>
                      <a:ext uri="{0D108BD9-81ED-4DB2-BD59-A6C34878D82A}">
                        <a16:rowId xmlns:a16="http://schemas.microsoft.com/office/drawing/2014/main" val="2062716632"/>
                      </a:ext>
                    </a:extLst>
                  </a:tr>
                  <a:tr h="370840">
                    <a:tc>
                      <a:txBody>
                        <a:bodyPr/>
                        <a:lstStyle/>
                        <a:p>
                          <a:pPr algn="ctr"/>
                          <a14:m>
                            <m:oMathPara xmlns:m="http://schemas.openxmlformats.org/officeDocument/2006/math">
                              <m:oMathParaPr>
                                <m:jc m:val="centerGroup"/>
                              </m:oMathParaPr>
                              <m:oMath xmlns:m="http://schemas.openxmlformats.org/officeDocument/2006/math">
                                <m:r>
                                  <a:rPr lang="en-US" sz="2500" i="1" dirty="0" smtClean="0">
                                    <a:solidFill>
                                      <a:schemeClr val="tx1"/>
                                    </a:solidFill>
                                    <a:latin typeface="Cambria Math" panose="02040503050406030204" pitchFamily="18" charset="0"/>
                                  </a:rPr>
                                  <m:t>𝑑</m:t>
                                </m:r>
                              </m:oMath>
                            </m:oMathPara>
                          </a14:m>
                          <a:endParaRPr/>
                        </a:p>
                      </a:txBody>
                      <a:tcPr anchor="ctr"/>
                    </a:tc>
                    <a:tc>
                      <a:txBody>
                        <a:bodyPr/>
                        <a:lstStyle/>
                        <a:p>
                          <a:pPr algn="ctr"/>
                          <a:r>
                            <a:rPr lang="en-US" sz="2500">
                              <a:solidFill>
                                <a:schemeClr val="tx1"/>
                              </a:solidFill>
                              <a:latin typeface="Arial" panose="020B0604020202020204" pitchFamily="34" charset="0"/>
                              <a:cs typeface="Arial" panose="020B0604020202020204" pitchFamily="34" charset="0"/>
                            </a:rPr>
                            <a:t>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500">
                              <a:solidFill>
                                <a:schemeClr val="tx1"/>
                              </a:solidFill>
                              <a:latin typeface="Arial" panose="020B0604020202020204" pitchFamily="34" charset="0"/>
                              <a:cs typeface="Arial" panose="020B0604020202020204" pitchFamily="34" charset="0"/>
                            </a:rPr>
                            <a:t>How many </a:t>
                          </a:r>
                          <a:r>
                            <a:rPr lang="en-US" sz="2500" b="1">
                              <a:solidFill>
                                <a:schemeClr val="accent2"/>
                              </a:solidFill>
                              <a:latin typeface="Arial" panose="020B0604020202020204" pitchFamily="34" charset="0"/>
                              <a:cs typeface="Arial" panose="020B0604020202020204" pitchFamily="34" charset="0"/>
                            </a:rPr>
                            <a:t>differences </a:t>
                          </a:r>
                          <a:r>
                            <a:rPr lang="en-US" sz="2500">
                              <a:solidFill>
                                <a:schemeClr val="tx1"/>
                              </a:solidFill>
                              <a:latin typeface="Arial" panose="020B0604020202020204" pitchFamily="34" charset="0"/>
                              <a:cs typeface="Arial" panose="020B0604020202020204" pitchFamily="34" charset="0"/>
                            </a:rPr>
                            <a:t>are needed to make the time series </a:t>
                          </a:r>
                          <a:r>
                            <a:rPr lang="en-US" sz="2500" b="1">
                              <a:solidFill>
                                <a:schemeClr val="accent2"/>
                              </a:solidFill>
                              <a:latin typeface="Arial" panose="020B0604020202020204" pitchFamily="34" charset="0"/>
                              <a:cs typeface="Arial" panose="020B0604020202020204" pitchFamily="34" charset="0"/>
                            </a:rPr>
                            <a:t>stationary. </a:t>
                          </a:r>
                        </a:p>
                      </a:txBody>
                      <a:tcPr anchor="ctr"/>
                    </a:tc>
                    <a:extLst>
                      <a:ext uri="{0D108BD9-81ED-4DB2-BD59-A6C34878D82A}">
                        <a16:rowId xmlns:a16="http://schemas.microsoft.com/office/drawing/2014/main" val="1098306896"/>
                      </a:ext>
                    </a:extLst>
                  </a:tr>
                  <a:tr h="370840">
                    <a:tc>
                      <a:txBody>
                        <a:bodyPr/>
                        <a:lstStyle/>
                        <a:p>
                          <a:pPr algn="ctr"/>
                          <a14:m>
                            <m:oMathPara xmlns:m="http://schemas.openxmlformats.org/officeDocument/2006/math">
                              <m:oMathParaPr>
                                <m:jc m:val="centerGroup"/>
                              </m:oMathParaPr>
                              <m:oMath xmlns:m="http://schemas.openxmlformats.org/officeDocument/2006/math">
                                <m:r>
                                  <a:rPr lang="en-US" sz="2500" i="1" dirty="0" smtClean="0">
                                    <a:solidFill>
                                      <a:schemeClr val="tx1"/>
                                    </a:solidFill>
                                    <a:latin typeface="Cambria Math" panose="02040503050406030204" pitchFamily="18" charset="0"/>
                                  </a:rPr>
                                  <m:t>𝑞</m:t>
                                </m:r>
                              </m:oMath>
                            </m:oMathPara>
                          </a14:m>
                          <a:endParaRPr/>
                        </a:p>
                      </a:txBody>
                      <a:tcPr anchor="ctr"/>
                    </a:tc>
                    <a:tc>
                      <a:txBody>
                        <a:bodyPr/>
                        <a:lstStyle/>
                        <a:p>
                          <a:pPr algn="ctr"/>
                          <a:r>
                            <a:rPr lang="en-US" sz="2500">
                              <a:solidFill>
                                <a:schemeClr val="tx1"/>
                              </a:solidFill>
                              <a:latin typeface="Arial" panose="020B0604020202020204" pitchFamily="34" charset="0"/>
                              <a:cs typeface="Arial" panose="020B0604020202020204" pitchFamily="34" charset="0"/>
                            </a:rPr>
                            <a:t>MA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500">
                              <a:solidFill>
                                <a:schemeClr val="tx1"/>
                              </a:solidFill>
                              <a:latin typeface="Arial" panose="020B0604020202020204" pitchFamily="34" charset="0"/>
                              <a:cs typeface="Arial" panose="020B0604020202020204" pitchFamily="34" charset="0"/>
                            </a:rPr>
                            <a:t>How many </a:t>
                          </a:r>
                          <a:r>
                            <a:rPr lang="en-US" sz="2500" b="1">
                              <a:solidFill>
                                <a:schemeClr val="accent2"/>
                              </a:solidFill>
                              <a:latin typeface="Arial" panose="020B0604020202020204" pitchFamily="34" charset="0"/>
                              <a:cs typeface="Arial" panose="020B0604020202020204" pitchFamily="34" charset="0"/>
                            </a:rPr>
                            <a:t>past errors </a:t>
                          </a:r>
                          <a:r>
                            <a:rPr lang="en-US" sz="2500">
                              <a:solidFill>
                                <a:schemeClr val="tx1"/>
                              </a:solidFill>
                              <a:latin typeface="Arial" panose="020B0604020202020204" pitchFamily="34" charset="0"/>
                              <a:cs typeface="Arial" panose="020B0604020202020204" pitchFamily="34" charset="0"/>
                            </a:rPr>
                            <a:t>we look back at.</a:t>
                          </a:r>
                        </a:p>
                      </a:txBody>
                      <a:tcPr anchor="ctr"/>
                    </a:tc>
                    <a:extLst>
                      <a:ext uri="{0D108BD9-81ED-4DB2-BD59-A6C34878D82A}">
                        <a16:rowId xmlns:a16="http://schemas.microsoft.com/office/drawing/2014/main" val="1232025290"/>
                      </a:ext>
                    </a:extLst>
                  </a:tr>
                </a:tbl>
              </a:graphicData>
            </a:graphic>
          </p:graphicFrame>
        </mc:Choice>
        <mc:Fallback xmlns="">
          <p:graphicFrame>
            <p:nvGraphicFramePr>
              <p:cNvPr id="6" name="Table 5">
                <a:extLst>
                  <a:ext uri="{FF2B5EF4-FFF2-40B4-BE49-F238E27FC236}">
                    <a16:creationId xmlns:a16="http://schemas.microsoft.com/office/drawing/2014/main" id="{B06AA3A8-F2D0-2BF4-F67E-FF4D54EC6B52}"/>
                  </a:ext>
                </a:extLst>
              </p:cNvPr>
              <p:cNvGraphicFramePr>
                <a:graphicFrameLocks noGrp="1"/>
              </p:cNvGraphicFramePr>
              <p:nvPr/>
            </p:nvGraphicFramePr>
            <p:xfrm>
              <a:off x="838200" y="1502430"/>
              <a:ext cx="10515600" cy="3063240"/>
            </p:xfrm>
            <a:graphic>
              <a:graphicData uri="http://schemas.openxmlformats.org/drawingml/2006/table">
                <a:tbl>
                  <a:tblPr firstRow="1" bandRow="1">
                    <a:tableStyleId>{5940675A-B579-460E-94D1-54222C63F5DA}</a:tableStyleId>
                  </a:tblPr>
                  <a:tblGrid>
                    <a:gridCol w="2268072">
                      <a:extLst>
                        <a:ext uri="{9D8B030D-6E8A-4147-A177-3AD203B41FA5}">
                          <a16:colId xmlns:a16="http://schemas.microsoft.com/office/drawing/2014/main" val="559891334"/>
                        </a:ext>
                      </a:extLst>
                    </a:gridCol>
                    <a:gridCol w="2743200">
                      <a:extLst>
                        <a:ext uri="{9D8B030D-6E8A-4147-A177-3AD203B41FA5}">
                          <a16:colId xmlns:a16="http://schemas.microsoft.com/office/drawing/2014/main" val="1923835770"/>
                        </a:ext>
                      </a:extLst>
                    </a:gridCol>
                    <a:gridCol w="5504328">
                      <a:extLst>
                        <a:ext uri="{9D8B030D-6E8A-4147-A177-3AD203B41FA5}">
                          <a16:colId xmlns:a16="http://schemas.microsoft.com/office/drawing/2014/main" val="3946620459"/>
                        </a:ext>
                      </a:extLst>
                    </a:gridCol>
                  </a:tblGrid>
                  <a:tr h="502920">
                    <a:tc>
                      <a:txBody>
                        <a:bodyPr/>
                        <a:lstStyle/>
                        <a:p>
                          <a:pPr algn="ctr"/>
                          <a:r>
                            <a:rPr lang="en-US" sz="2700" b="1">
                              <a:solidFill>
                                <a:schemeClr val="tx1"/>
                              </a:solidFill>
                              <a:latin typeface="Arial" panose="020B0604020202020204" pitchFamily="34" charset="0"/>
                              <a:cs typeface="Arial" panose="020B0604020202020204" pitchFamily="34" charset="0"/>
                            </a:rPr>
                            <a:t>Parameter</a:t>
                          </a:r>
                        </a:p>
                      </a:txBody>
                      <a:tcPr anchor="ctr">
                        <a:solidFill>
                          <a:schemeClr val="bg1">
                            <a:lumMod val="95000"/>
                          </a:schemeClr>
                        </a:solidFill>
                      </a:tcPr>
                    </a:tc>
                    <a:tc>
                      <a:txBody>
                        <a:bodyPr/>
                        <a:lstStyle/>
                        <a:p>
                          <a:pPr algn="ctr"/>
                          <a:r>
                            <a:rPr lang="en-US" sz="2700" b="1">
                              <a:solidFill>
                                <a:schemeClr val="tx1"/>
                              </a:solidFill>
                              <a:latin typeface="Arial" panose="020B0604020202020204" pitchFamily="34" charset="0"/>
                              <a:cs typeface="Arial" panose="020B0604020202020204" pitchFamily="34" charset="0"/>
                            </a:rPr>
                            <a:t>Model</a:t>
                          </a:r>
                        </a:p>
                      </a:txBody>
                      <a:tcPr anchor="ctr">
                        <a:solidFill>
                          <a:schemeClr val="bg1">
                            <a:lumMod val="95000"/>
                          </a:schemeClr>
                        </a:solidFill>
                      </a:tcPr>
                    </a:tc>
                    <a:tc>
                      <a:txBody>
                        <a:bodyPr/>
                        <a:lstStyle/>
                        <a:p>
                          <a:pPr algn="ctr"/>
                          <a:r>
                            <a:rPr lang="en-US" sz="2700" b="1">
                              <a:solidFill>
                                <a:schemeClr val="tx1"/>
                              </a:solidFill>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845744514"/>
                      </a:ext>
                    </a:extLst>
                  </a:tr>
                  <a:tr h="853440">
                    <a:tc>
                      <a:txBody>
                        <a:bodyPr/>
                        <a:lstStyle/>
                        <a:p>
                          <a:endParaRPr lang="en-US"/>
                        </a:p>
                      </a:txBody>
                      <a:tcPr anchor="ctr">
                        <a:blipFill>
                          <a:blip r:embed="rId3"/>
                          <a:stretch>
                            <a:fillRect l="-269" t="-65000" r="-364516" b="-217143"/>
                          </a:stretch>
                        </a:blipFill>
                      </a:tcPr>
                    </a:tc>
                    <a:tc>
                      <a:txBody>
                        <a:bodyPr/>
                        <a:lstStyle/>
                        <a:p>
                          <a:pPr algn="ctr"/>
                          <a:r>
                            <a:rPr lang="en-US" sz="2500">
                              <a:solidFill>
                                <a:schemeClr val="tx1"/>
                              </a:solidFill>
                              <a:latin typeface="Arial" panose="020B0604020202020204" pitchFamily="34" charset="0"/>
                              <a:cs typeface="Arial" panose="020B0604020202020204" pitchFamily="34" charset="0"/>
                            </a:rPr>
                            <a:t>AR</a:t>
                          </a:r>
                        </a:p>
                      </a:txBody>
                      <a:tcPr anchor="ctr"/>
                    </a:tc>
                    <a:tc>
                      <a:txBody>
                        <a:bodyPr/>
                        <a:lstStyle/>
                        <a:p>
                          <a:pPr algn="ctr"/>
                          <a:r>
                            <a:rPr lang="en-US" sz="2500">
                              <a:solidFill>
                                <a:schemeClr val="tx1"/>
                              </a:solidFill>
                              <a:latin typeface="Arial" panose="020B0604020202020204" pitchFamily="34" charset="0"/>
                              <a:cs typeface="Arial" panose="020B0604020202020204" pitchFamily="34" charset="0"/>
                            </a:rPr>
                            <a:t>How many </a:t>
                          </a:r>
                          <a:r>
                            <a:rPr lang="en-US" sz="2500" b="1">
                              <a:solidFill>
                                <a:schemeClr val="accent2"/>
                              </a:solidFill>
                              <a:latin typeface="Arial" panose="020B0604020202020204" pitchFamily="34" charset="0"/>
                              <a:cs typeface="Arial" panose="020B0604020202020204" pitchFamily="34" charset="0"/>
                            </a:rPr>
                            <a:t>past values</a:t>
                          </a:r>
                          <a:r>
                            <a:rPr lang="en-US" sz="2500">
                              <a:solidFill>
                                <a:schemeClr val="tx1"/>
                              </a:solidFill>
                              <a:latin typeface="Arial" panose="020B0604020202020204" pitchFamily="34" charset="0"/>
                              <a:cs typeface="Arial" panose="020B0604020202020204" pitchFamily="34" charset="0"/>
                            </a:rPr>
                            <a:t> we look back at.</a:t>
                          </a:r>
                        </a:p>
                      </a:txBody>
                      <a:tcPr anchor="ctr"/>
                    </a:tc>
                    <a:extLst>
                      <a:ext uri="{0D108BD9-81ED-4DB2-BD59-A6C34878D82A}">
                        <a16:rowId xmlns:a16="http://schemas.microsoft.com/office/drawing/2014/main" val="2062716632"/>
                      </a:ext>
                    </a:extLst>
                  </a:tr>
                  <a:tr h="853440">
                    <a:tc>
                      <a:txBody>
                        <a:bodyPr/>
                        <a:lstStyle/>
                        <a:p>
                          <a:endParaRPr lang="en-US"/>
                        </a:p>
                      </a:txBody>
                      <a:tcPr anchor="ctr">
                        <a:blipFill>
                          <a:blip r:embed="rId3"/>
                          <a:stretch>
                            <a:fillRect l="-269" t="-165000" r="-364516" b="-117143"/>
                          </a:stretch>
                        </a:blipFill>
                      </a:tcPr>
                    </a:tc>
                    <a:tc>
                      <a:txBody>
                        <a:bodyPr/>
                        <a:lstStyle/>
                        <a:p>
                          <a:pPr algn="ctr"/>
                          <a:r>
                            <a:rPr lang="en-US" sz="2500">
                              <a:solidFill>
                                <a:schemeClr val="tx1"/>
                              </a:solidFill>
                              <a:latin typeface="Arial" panose="020B0604020202020204" pitchFamily="34" charset="0"/>
                              <a:cs typeface="Arial" panose="020B0604020202020204" pitchFamily="34" charset="0"/>
                            </a:rPr>
                            <a:t>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500">
                              <a:solidFill>
                                <a:schemeClr val="tx1"/>
                              </a:solidFill>
                              <a:latin typeface="Arial" panose="020B0604020202020204" pitchFamily="34" charset="0"/>
                              <a:cs typeface="Arial" panose="020B0604020202020204" pitchFamily="34" charset="0"/>
                            </a:rPr>
                            <a:t>How many </a:t>
                          </a:r>
                          <a:r>
                            <a:rPr lang="en-US" sz="2500" b="1">
                              <a:solidFill>
                                <a:schemeClr val="accent2"/>
                              </a:solidFill>
                              <a:latin typeface="Arial" panose="020B0604020202020204" pitchFamily="34" charset="0"/>
                              <a:cs typeface="Arial" panose="020B0604020202020204" pitchFamily="34" charset="0"/>
                            </a:rPr>
                            <a:t>differences </a:t>
                          </a:r>
                          <a:r>
                            <a:rPr lang="en-US" sz="2500">
                              <a:solidFill>
                                <a:schemeClr val="tx1"/>
                              </a:solidFill>
                              <a:latin typeface="Arial" panose="020B0604020202020204" pitchFamily="34" charset="0"/>
                              <a:cs typeface="Arial" panose="020B0604020202020204" pitchFamily="34" charset="0"/>
                            </a:rPr>
                            <a:t>are needed to make the time series </a:t>
                          </a:r>
                          <a:r>
                            <a:rPr lang="en-US" sz="2500" b="1">
                              <a:solidFill>
                                <a:schemeClr val="accent2"/>
                              </a:solidFill>
                              <a:latin typeface="Arial" panose="020B0604020202020204" pitchFamily="34" charset="0"/>
                              <a:cs typeface="Arial" panose="020B0604020202020204" pitchFamily="34" charset="0"/>
                            </a:rPr>
                            <a:t>stationary. </a:t>
                          </a:r>
                        </a:p>
                      </a:txBody>
                      <a:tcPr anchor="ctr"/>
                    </a:tc>
                    <a:extLst>
                      <a:ext uri="{0D108BD9-81ED-4DB2-BD59-A6C34878D82A}">
                        <a16:rowId xmlns:a16="http://schemas.microsoft.com/office/drawing/2014/main" val="1098306896"/>
                      </a:ext>
                    </a:extLst>
                  </a:tr>
                  <a:tr h="853440">
                    <a:tc>
                      <a:txBody>
                        <a:bodyPr/>
                        <a:lstStyle/>
                        <a:p>
                          <a:endParaRPr lang="en-US"/>
                        </a:p>
                      </a:txBody>
                      <a:tcPr anchor="ctr">
                        <a:blipFill>
                          <a:blip r:embed="rId3"/>
                          <a:stretch>
                            <a:fillRect l="-269" t="-265000" r="-364516" b="-17143"/>
                          </a:stretch>
                        </a:blipFill>
                      </a:tcPr>
                    </a:tc>
                    <a:tc>
                      <a:txBody>
                        <a:bodyPr/>
                        <a:lstStyle/>
                        <a:p>
                          <a:pPr algn="ctr"/>
                          <a:r>
                            <a:rPr lang="en-US" sz="2500">
                              <a:solidFill>
                                <a:schemeClr val="tx1"/>
                              </a:solidFill>
                              <a:latin typeface="Arial" panose="020B0604020202020204" pitchFamily="34" charset="0"/>
                              <a:cs typeface="Arial" panose="020B0604020202020204" pitchFamily="34" charset="0"/>
                            </a:rPr>
                            <a:t>MA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500">
                              <a:solidFill>
                                <a:schemeClr val="tx1"/>
                              </a:solidFill>
                              <a:latin typeface="Arial" panose="020B0604020202020204" pitchFamily="34" charset="0"/>
                              <a:cs typeface="Arial" panose="020B0604020202020204" pitchFamily="34" charset="0"/>
                            </a:rPr>
                            <a:t>How many </a:t>
                          </a:r>
                          <a:r>
                            <a:rPr lang="en-US" sz="2500" b="1">
                              <a:solidFill>
                                <a:schemeClr val="accent2"/>
                              </a:solidFill>
                              <a:latin typeface="Arial" panose="020B0604020202020204" pitchFamily="34" charset="0"/>
                              <a:cs typeface="Arial" panose="020B0604020202020204" pitchFamily="34" charset="0"/>
                            </a:rPr>
                            <a:t>past errors </a:t>
                          </a:r>
                          <a:r>
                            <a:rPr lang="en-US" sz="2500">
                              <a:solidFill>
                                <a:schemeClr val="tx1"/>
                              </a:solidFill>
                              <a:latin typeface="Arial" panose="020B0604020202020204" pitchFamily="34" charset="0"/>
                              <a:cs typeface="Arial" panose="020B0604020202020204" pitchFamily="34" charset="0"/>
                            </a:rPr>
                            <a:t>we look back at.</a:t>
                          </a:r>
                        </a:p>
                      </a:txBody>
                      <a:tcPr anchor="ctr"/>
                    </a:tc>
                    <a:extLst>
                      <a:ext uri="{0D108BD9-81ED-4DB2-BD59-A6C34878D82A}">
                        <a16:rowId xmlns:a16="http://schemas.microsoft.com/office/drawing/2014/main" val="1232025290"/>
                      </a:ext>
                    </a:extLst>
                  </a:tr>
                </a:tbl>
              </a:graphicData>
            </a:graphic>
          </p:graphicFrame>
        </mc:Fallback>
      </mc:AlternateContent>
      <p:sp>
        <p:nvSpPr>
          <p:cNvPr id="10" name="Rectangle: Rounded Corners 9">
            <a:extLst>
              <a:ext uri="{FF2B5EF4-FFF2-40B4-BE49-F238E27FC236}">
                <a16:creationId xmlns:a16="http://schemas.microsoft.com/office/drawing/2014/main" id="{DC69D5D9-15A0-D396-A0D9-401860D85738}"/>
              </a:ext>
            </a:extLst>
          </p:cNvPr>
          <p:cNvSpPr/>
          <p:nvPr/>
        </p:nvSpPr>
        <p:spPr>
          <a:xfrm>
            <a:off x="712694" y="4952159"/>
            <a:ext cx="10766612" cy="1556218"/>
          </a:xfrm>
          <a:prstGeom prst="roundRect">
            <a:avLst/>
          </a:prstGeom>
          <a:solidFill>
            <a:srgbClr val="F4F9FE"/>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022B9B2-C171-4B1A-A06F-B7AF7539BCD9}"/>
              </a:ext>
            </a:extLst>
          </p:cNvPr>
          <p:cNvSpPr txBox="1"/>
          <p:nvPr/>
        </p:nvSpPr>
        <p:spPr>
          <a:xfrm>
            <a:off x="775447" y="5113523"/>
            <a:ext cx="10641106" cy="1292662"/>
          </a:xfrm>
          <a:prstGeom prst="rect">
            <a:avLst/>
          </a:prstGeom>
          <a:solidFill>
            <a:srgbClr val="F4F9FE"/>
          </a:solidFill>
          <a:ln>
            <a:noFill/>
          </a:ln>
        </p:spPr>
        <p:txBody>
          <a:bodyPr wrap="square">
            <a:spAutoFit/>
          </a:bodyPr>
          <a:lstStyle/>
          <a:p>
            <a:pPr algn="ctr"/>
            <a:r>
              <a:rPr lang="en-US" sz="2500">
                <a:latin typeface="Arial" panose="020B0604020202020204" pitchFamily="34" charset="0"/>
                <a:cs typeface="Arial" panose="020B0604020202020204" pitchFamily="34" charset="0"/>
              </a:rPr>
              <a:t>We will be using the </a:t>
            </a:r>
            <a:r>
              <a:rPr lang="en-US" sz="2500" err="1">
                <a:latin typeface="Courier New" panose="02070309020205020404" pitchFamily="49" charset="0"/>
                <a:cs typeface="Courier New" panose="02070309020205020404" pitchFamily="49" charset="0"/>
              </a:rPr>
              <a:t>auto.arima</a:t>
            </a:r>
            <a:r>
              <a:rPr lang="en-US" sz="2500">
                <a:latin typeface="Courier New" panose="02070309020205020404" pitchFamily="49" charset="0"/>
                <a:cs typeface="Courier New" panose="02070309020205020404" pitchFamily="49" charset="0"/>
              </a:rPr>
              <a:t>()</a:t>
            </a:r>
            <a:r>
              <a:rPr lang="en-US" sz="2500">
                <a:latin typeface="Arial" panose="020B0604020202020204" pitchFamily="34" charset="0"/>
                <a:cs typeface="Arial" panose="020B0604020202020204" pitchFamily="34" charset="0"/>
              </a:rPr>
              <a:t> function from the </a:t>
            </a:r>
            <a:r>
              <a:rPr lang="en-US" sz="2500">
                <a:latin typeface="Courier New" panose="02070309020205020404" pitchFamily="49" charset="0"/>
                <a:cs typeface="Courier New" panose="02070309020205020404" pitchFamily="49" charset="0"/>
              </a:rPr>
              <a:t>forecast</a:t>
            </a:r>
            <a:r>
              <a:rPr lang="en-US" sz="2500">
                <a:latin typeface="Arial" panose="020B0604020202020204" pitchFamily="34" charset="0"/>
                <a:cs typeface="Arial" panose="020B0604020202020204" pitchFamily="34" charset="0"/>
              </a:rPr>
              <a:t> package. Therefore, the parameter values will automatically be selected via the </a:t>
            </a:r>
            <a:r>
              <a:rPr lang="en-US" sz="2500" b="1">
                <a:solidFill>
                  <a:schemeClr val="accent2"/>
                </a:solidFill>
                <a:latin typeface="Arial" panose="020B0604020202020204" pitchFamily="34" charset="0"/>
                <a:cs typeface="Arial" panose="020B0604020202020204" pitchFamily="34" charset="0"/>
              </a:rPr>
              <a:t>Hyndman-Khandakar Algorithm</a:t>
            </a:r>
            <a:r>
              <a:rPr lang="en-US" sz="2500" b="1">
                <a:latin typeface="Arial" panose="020B0604020202020204" pitchFamily="34" charset="0"/>
                <a:cs typeface="Arial" panose="020B0604020202020204" pitchFamily="34" charset="0"/>
              </a:rPr>
              <a:t>.</a:t>
            </a:r>
            <a:endParaRPr lang="en-US" sz="25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3962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A6970-3797-E5F0-36DF-916850C770C3}"/>
              </a:ext>
            </a:extLst>
          </p:cNvPr>
          <p:cNvSpPr>
            <a:spLocks noGrp="1"/>
          </p:cNvSpPr>
          <p:nvPr>
            <p:ph type="title"/>
          </p:nvPr>
        </p:nvSpPr>
        <p:spPr>
          <a:xfrm>
            <a:off x="4974771" y="567711"/>
            <a:ext cx="6574972" cy="1450757"/>
          </a:xfrm>
        </p:spPr>
        <p:txBody>
          <a:bodyPr>
            <a:normAutofit/>
          </a:bodyPr>
          <a:lstStyle/>
          <a:p>
            <a:pPr algn="ctr"/>
            <a:r>
              <a:rPr lang="en-US" b="1">
                <a:solidFill>
                  <a:srgbClr val="7030A0"/>
                </a:solidFill>
                <a:latin typeface="Arial" panose="020B0604020202020204" pitchFamily="34" charset="0"/>
                <a:cs typeface="Arial" panose="020B0604020202020204" pitchFamily="34" charset="0"/>
              </a:rPr>
              <a:t>Hyndman-Khandakar Algorithm</a:t>
            </a:r>
          </a:p>
        </p:txBody>
      </p:sp>
      <p:pic>
        <p:nvPicPr>
          <p:cNvPr id="1026" name="Picture 2" descr="General process for forecasting using an ARIMA model.">
            <a:extLst>
              <a:ext uri="{FF2B5EF4-FFF2-40B4-BE49-F238E27FC236}">
                <a16:creationId xmlns:a16="http://schemas.microsoft.com/office/drawing/2014/main" id="{15813C05-5B7C-8D8F-11B4-2590194C18F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4435" y="640080"/>
            <a:ext cx="4087678" cy="5798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717D14-D1DE-AC08-273B-BB508050F907}"/>
                  </a:ext>
                </a:extLst>
              </p:cNvPr>
              <p:cNvSpPr>
                <a:spLocks noGrp="1"/>
              </p:cNvSpPr>
              <p:nvPr>
                <p:ph idx="1"/>
              </p:nvPr>
            </p:nvSpPr>
            <p:spPr>
              <a:xfrm>
                <a:off x="4974769" y="2198913"/>
                <a:ext cx="6574973" cy="4091375"/>
              </a:xfrm>
            </p:spPr>
            <p:txBody>
              <a:bodyPr>
                <a:noAutofit/>
              </a:bodyPr>
              <a:lstStyle/>
              <a:p>
                <a:pPr>
                  <a:spcAft>
                    <a:spcPts val="600"/>
                  </a:spcAft>
                  <a:buFont typeface="+mj-lt"/>
                  <a:buAutoNum type="arabicPeriod"/>
                </a:pPr>
                <a:r>
                  <a:rPr lang="en-US" sz="2000" b="0" i="0">
                    <a:effectLst/>
                    <a:latin typeface="Arial" panose="020B0604020202020204" pitchFamily="34" charset="0"/>
                    <a:cs typeface="Arial" panose="020B0604020202020204" pitchFamily="34" charset="0"/>
                  </a:rPr>
                  <a:t> The number of differences </a:t>
                </a:r>
                <a14:m>
                  <m:oMath xmlns:m="http://schemas.openxmlformats.org/officeDocument/2006/math">
                    <m:r>
                      <a:rPr lang="en-US" sz="2000" b="0" i="1" smtClean="0">
                        <a:effectLst/>
                        <a:latin typeface="Cambria Math" panose="02040503050406030204" pitchFamily="18" charset="0"/>
                      </a:rPr>
                      <m:t>0</m:t>
                    </m:r>
                    <m:r>
                      <a:rPr lang="en-US" sz="2000" b="0" i="1" smtClean="0">
                        <a:effectLst/>
                        <a:latin typeface="Cambria Math" panose="02040503050406030204" pitchFamily="18" charset="0"/>
                        <a:ea typeface="Cambria Math" panose="02040503050406030204" pitchFamily="18" charset="0"/>
                      </a:rPr>
                      <m:t>≤</m:t>
                    </m:r>
                    <m:r>
                      <a:rPr lang="en-US" sz="2000" b="0" i="1" smtClean="0">
                        <a:effectLst/>
                        <a:latin typeface="Cambria Math" panose="02040503050406030204" pitchFamily="18" charset="0"/>
                        <a:ea typeface="Cambria Math" panose="02040503050406030204" pitchFamily="18" charset="0"/>
                      </a:rPr>
                      <m:t>𝑑</m:t>
                    </m:r>
                    <m:r>
                      <a:rPr lang="en-US" sz="2000" b="0" i="1" smtClean="0">
                        <a:effectLst/>
                        <a:latin typeface="Cambria Math" panose="02040503050406030204" pitchFamily="18" charset="0"/>
                        <a:ea typeface="Cambria Math" panose="02040503050406030204" pitchFamily="18" charset="0"/>
                      </a:rPr>
                      <m:t>≤2</m:t>
                    </m:r>
                  </m:oMath>
                </a14:m>
                <a:r>
                  <a:rPr lang="en-US" sz="2000" b="0" i="0">
                    <a:effectLst/>
                    <a:latin typeface="Arial" panose="020B0604020202020204" pitchFamily="34" charset="0"/>
                    <a:cs typeface="Arial" panose="020B0604020202020204" pitchFamily="34" charset="0"/>
                  </a:rPr>
                  <a:t> is determined using repeated KPSS tests (checks stationarity). </a:t>
                </a:r>
              </a:p>
              <a:p>
                <a:pPr>
                  <a:spcAft>
                    <a:spcPts val="600"/>
                  </a:spcAft>
                  <a:buFont typeface="+mj-lt"/>
                  <a:buAutoNum type="arabicPeriod"/>
                </a:pPr>
                <a:r>
                  <a:rPr lang="en-US" sz="2000" i="1">
                    <a:latin typeface="Arial" panose="020B0604020202020204" pitchFamily="34" charset="0"/>
                    <a:cs typeface="Arial" panose="020B0604020202020204" pitchFamily="34" charset="0"/>
                  </a:rPr>
                  <a:t> p</a:t>
                </a:r>
                <a:r>
                  <a:rPr lang="en-US" sz="2000">
                    <a:latin typeface="Arial" panose="020B0604020202020204" pitchFamily="34" charset="0"/>
                    <a:cs typeface="Arial" panose="020B0604020202020204" pitchFamily="34" charset="0"/>
                  </a:rPr>
                  <a:t> and </a:t>
                </a:r>
                <a:r>
                  <a:rPr lang="en-US" sz="2000" i="1">
                    <a:latin typeface="Arial" panose="020B0604020202020204" pitchFamily="34" charset="0"/>
                    <a:cs typeface="Arial" panose="020B0604020202020204" pitchFamily="34" charset="0"/>
                  </a:rPr>
                  <a:t>q</a:t>
                </a:r>
                <a:r>
                  <a:rPr lang="en-US" sz="2000">
                    <a:latin typeface="Arial" panose="020B0604020202020204" pitchFamily="34" charset="0"/>
                    <a:cs typeface="Arial" panose="020B0604020202020204" pitchFamily="34" charset="0"/>
                  </a:rPr>
                  <a:t> are selected by looking for the combination of parameters (stepwise process) which produce the smallest </a:t>
                </a:r>
                <a:r>
                  <a:rPr lang="en-US" sz="2000" err="1">
                    <a:latin typeface="Arial" panose="020B0604020202020204" pitchFamily="34" charset="0"/>
                    <a:cs typeface="Arial" panose="020B0604020202020204" pitchFamily="34" charset="0"/>
                  </a:rPr>
                  <a:t>AICc</a:t>
                </a:r>
                <a:r>
                  <a:rPr lang="en-US" sz="2000">
                    <a:latin typeface="Arial" panose="020B0604020202020204" pitchFamily="34" charset="0"/>
                    <a:cs typeface="Arial" panose="020B0604020202020204" pitchFamily="34" charset="0"/>
                  </a:rPr>
                  <a:t> after differencing the data </a:t>
                </a:r>
                <a:r>
                  <a:rPr lang="en-US" sz="2000" i="1">
                    <a:latin typeface="Arial" panose="020B0604020202020204" pitchFamily="34" charset="0"/>
                    <a:cs typeface="Arial" panose="020B0604020202020204" pitchFamily="34" charset="0"/>
                  </a:rPr>
                  <a:t>d</a:t>
                </a:r>
                <a:r>
                  <a:rPr lang="en-US" sz="2000">
                    <a:latin typeface="Arial" panose="020B0604020202020204" pitchFamily="34" charset="0"/>
                    <a:cs typeface="Arial" panose="020B0604020202020204" pitchFamily="34" charset="0"/>
                  </a:rPr>
                  <a:t> times. </a:t>
                </a:r>
              </a:p>
              <a:p>
                <a:pPr>
                  <a:spcAft>
                    <a:spcPts val="600"/>
                  </a:spcAft>
                  <a:buFont typeface="+mj-lt"/>
                  <a:buAutoNum type="arabicPeriod"/>
                </a:pPr>
                <a:r>
                  <a:rPr lang="en-US" sz="2000">
                    <a:latin typeface="Arial" panose="020B0604020202020204" pitchFamily="34" charset="0"/>
                    <a:cs typeface="Arial" panose="020B0604020202020204" pitchFamily="34" charset="0"/>
                  </a:rPr>
                  <a:t> Four models are fit initially. </a:t>
                </a:r>
              </a:p>
              <a:p>
                <a:pPr lvl="1">
                  <a:spcAft>
                    <a:spcPts val="600"/>
                  </a:spcAft>
                  <a:buFont typeface="+mj-lt"/>
                  <a:buAutoNum type="arabicPeriod"/>
                </a:pPr>
                <a:r>
                  <a:rPr lang="en-US" sz="2000" b="0" i="0">
                    <a:effectLst/>
                    <a:latin typeface="Arial" panose="020B0604020202020204" pitchFamily="34" charset="0"/>
                    <a:cs typeface="Arial" panose="020B0604020202020204" pitchFamily="34" charset="0"/>
                  </a:rPr>
                  <a:t>The model from (1) with the smallest </a:t>
                </a:r>
                <a:r>
                  <a:rPr lang="en-US" sz="2000" b="0" i="0" err="1">
                    <a:effectLst/>
                    <a:latin typeface="Arial" panose="020B0604020202020204" pitchFamily="34" charset="0"/>
                    <a:cs typeface="Arial" panose="020B0604020202020204" pitchFamily="34" charset="0"/>
                  </a:rPr>
                  <a:t>AICc</a:t>
                </a:r>
                <a:r>
                  <a:rPr lang="en-US" sz="2000" b="0" i="0">
                    <a:effectLst/>
                    <a:latin typeface="Arial" panose="020B0604020202020204" pitchFamily="34" charset="0"/>
                    <a:cs typeface="Arial" panose="020B0604020202020204" pitchFamily="34" charset="0"/>
                  </a:rPr>
                  <a:t> is considered the “current” model.</a:t>
                </a:r>
              </a:p>
              <a:p>
                <a:pPr lvl="1">
                  <a:spcAft>
                    <a:spcPts val="600"/>
                  </a:spcAft>
                  <a:buFont typeface="+mj-lt"/>
                  <a:buAutoNum type="arabicPeriod"/>
                </a:pPr>
                <a:r>
                  <a:rPr lang="en-US" sz="2000" b="0" i="0">
                    <a:effectLst/>
                    <a:latin typeface="Arial" panose="020B0604020202020204" pitchFamily="34" charset="0"/>
                    <a:cs typeface="Arial" panose="020B0604020202020204" pitchFamily="34" charset="0"/>
                  </a:rPr>
                  <a:t>The current model is varied, and if a better model arises it becomes the “current” model.</a:t>
                </a:r>
              </a:p>
              <a:p>
                <a:pPr lvl="1">
                  <a:buFont typeface="+mj-lt"/>
                  <a:buAutoNum type="arabicPeriod"/>
                </a:pPr>
                <a:r>
                  <a:rPr lang="en-US" sz="2000">
                    <a:latin typeface="Arial" panose="020B0604020202020204" pitchFamily="34" charset="0"/>
                    <a:cs typeface="Arial" panose="020B0604020202020204" pitchFamily="34" charset="0"/>
                  </a:rPr>
                  <a:t>Repeat (3.2) until no lower </a:t>
                </a:r>
                <a:r>
                  <a:rPr lang="en-US" sz="2000" err="1">
                    <a:latin typeface="Arial" panose="020B0604020202020204" pitchFamily="34" charset="0"/>
                    <a:cs typeface="Arial" panose="020B0604020202020204" pitchFamily="34" charset="0"/>
                  </a:rPr>
                  <a:t>AICc</a:t>
                </a:r>
                <a:r>
                  <a:rPr lang="en-US" sz="2000">
                    <a:latin typeface="Arial" panose="020B0604020202020204" pitchFamily="34" charset="0"/>
                    <a:cs typeface="Arial" panose="020B0604020202020204" pitchFamily="34" charset="0"/>
                  </a:rPr>
                  <a:t> is found.</a:t>
                </a:r>
                <a:endParaRPr lang="en-US" sz="2000" b="0" i="0">
                  <a:effectLst/>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88717D14-D1DE-AC08-273B-BB508050F907}"/>
                  </a:ext>
                </a:extLst>
              </p:cNvPr>
              <p:cNvSpPr>
                <a:spLocks noGrp="1" noRot="1" noChangeAspect="1" noMove="1" noResize="1" noEditPoints="1" noAdjustHandles="1" noChangeArrowheads="1" noChangeShapeType="1" noTextEdit="1"/>
              </p:cNvSpPr>
              <p:nvPr>
                <p:ph idx="1"/>
              </p:nvPr>
            </p:nvSpPr>
            <p:spPr>
              <a:xfrm>
                <a:off x="4974769" y="2198913"/>
                <a:ext cx="6574973" cy="4091375"/>
              </a:xfrm>
              <a:blipFill>
                <a:blip r:embed="rId4"/>
                <a:stretch>
                  <a:fillRect l="-834" t="-1490" r="-101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9F71976-157B-8D85-EE6F-7B29D5CEB1A0}"/>
              </a:ext>
            </a:extLst>
          </p:cNvPr>
          <p:cNvSpPr txBox="1"/>
          <p:nvPr/>
        </p:nvSpPr>
        <p:spPr>
          <a:xfrm>
            <a:off x="7417622" y="6438206"/>
            <a:ext cx="5370531" cy="338554"/>
          </a:xfrm>
          <a:prstGeom prst="rect">
            <a:avLst/>
          </a:prstGeom>
          <a:noFill/>
        </p:spPr>
        <p:txBody>
          <a:bodyPr wrap="square">
            <a:spAutoFit/>
          </a:bodyPr>
          <a:lstStyle/>
          <a:p>
            <a:r>
              <a:rPr lang="en-US" sz="1600" i="0" dirty="0">
                <a:solidFill>
                  <a:schemeClr val="bg2">
                    <a:lumMod val="50000"/>
                  </a:schemeClr>
                </a:solidFill>
                <a:effectLst/>
                <a:latin typeface="Arial" panose="020B0604020202020204" pitchFamily="34" charset="0"/>
                <a:cs typeface="Arial" panose="020B0604020202020204" pitchFamily="34" charset="0"/>
              </a:rPr>
              <a:t>Hyndman </a:t>
            </a:r>
            <a:r>
              <a:rPr lang="en-US" sz="1600" dirty="0">
                <a:solidFill>
                  <a:schemeClr val="bg2">
                    <a:lumMod val="50000"/>
                  </a:schemeClr>
                </a:solidFill>
                <a:latin typeface="Arial" panose="020B0604020202020204" pitchFamily="34" charset="0"/>
                <a:cs typeface="Arial" panose="020B0604020202020204" pitchFamily="34" charset="0"/>
              </a:rPr>
              <a:t>&amp; </a:t>
            </a:r>
            <a:r>
              <a:rPr lang="en-US" sz="1600" i="0" dirty="0">
                <a:solidFill>
                  <a:schemeClr val="bg2">
                    <a:lumMod val="50000"/>
                  </a:schemeClr>
                </a:solidFill>
                <a:effectLst/>
                <a:latin typeface="Arial" panose="020B0604020202020204" pitchFamily="34" charset="0"/>
                <a:cs typeface="Arial" panose="020B0604020202020204" pitchFamily="34" charset="0"/>
              </a:rPr>
              <a:t>Athanasopoulos, </a:t>
            </a:r>
            <a:r>
              <a:rPr lang="en-US" sz="1600" i="1" dirty="0">
                <a:solidFill>
                  <a:schemeClr val="bg2">
                    <a:lumMod val="50000"/>
                  </a:schemeClr>
                </a:solidFill>
                <a:latin typeface="Arial" panose="020B0604020202020204" pitchFamily="34" charset="0"/>
                <a:cs typeface="Arial" panose="020B0604020202020204" pitchFamily="34" charset="0"/>
              </a:rPr>
              <a:t>Forecasting…</a:t>
            </a:r>
            <a:r>
              <a:rPr lang="en-US" sz="1600" dirty="0">
                <a:solidFill>
                  <a:schemeClr val="bg2">
                    <a:lumMod val="50000"/>
                  </a:schemeClr>
                </a:solidFill>
                <a:latin typeface="Arial" panose="020B0604020202020204" pitchFamily="34" charset="0"/>
                <a:cs typeface="Arial" panose="020B0604020202020204" pitchFamily="34" charset="0"/>
              </a:rPr>
              <a:t>, 2026</a:t>
            </a:r>
          </a:p>
        </p:txBody>
      </p:sp>
    </p:spTree>
    <p:extLst>
      <p:ext uri="{BB962C8B-B14F-4D97-AF65-F5344CB8AC3E}">
        <p14:creationId xmlns:p14="http://schemas.microsoft.com/office/powerpoint/2010/main" val="1127881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6A444-60D0-F99D-C1D0-771C3155B8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4E7A9-C9F3-157E-B60D-EEBA5A4B47BE}"/>
              </a:ext>
            </a:extLst>
          </p:cNvPr>
          <p:cNvSpPr>
            <a:spLocks noGrp="1"/>
          </p:cNvSpPr>
          <p:nvPr>
            <p:ph type="title"/>
          </p:nvPr>
        </p:nvSpPr>
        <p:spPr>
          <a:xfrm>
            <a:off x="838200" y="128253"/>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Example Model Overview(s)</a:t>
            </a:r>
          </a:p>
        </p:txBody>
      </p:sp>
      <p:sp>
        <p:nvSpPr>
          <p:cNvPr id="5" name="OB0">
            <a:extLst>
              <a:ext uri="{FF2B5EF4-FFF2-40B4-BE49-F238E27FC236}">
                <a16:creationId xmlns:a16="http://schemas.microsoft.com/office/drawing/2014/main" id="{17AB1C80-4D3F-FBB1-3C68-6ED0321F1D54}"/>
              </a:ext>
            </a:extLst>
          </p:cNvPr>
          <p:cNvSpPr/>
          <p:nvPr/>
        </p:nvSpPr>
        <p:spPr>
          <a:xfrm>
            <a:off x="838200" y="1568116"/>
            <a:ext cx="5105400" cy="2006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OH0">
            <a:extLst>
              <a:ext uri="{FF2B5EF4-FFF2-40B4-BE49-F238E27FC236}">
                <a16:creationId xmlns:a16="http://schemas.microsoft.com/office/drawing/2014/main" id="{4FC3CEAF-42C8-DA01-2368-1A5AE9BD80D8}"/>
              </a:ext>
            </a:extLst>
          </p:cNvPr>
          <p:cNvSpPr/>
          <p:nvPr/>
        </p:nvSpPr>
        <p:spPr>
          <a:xfrm>
            <a:off x="838200" y="1568116"/>
            <a:ext cx="51054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300" b="1" dirty="0">
                <a:solidFill>
                  <a:srgbClr val="FFFFFF"/>
                </a:solidFill>
                <a:latin typeface="Arial"/>
                <a:cs typeface="Arial"/>
              </a:rPr>
              <a:t>ARIMA</a:t>
            </a:r>
            <a:r>
              <a:rPr lang="en-US" sz="2300" dirty="0">
                <a:solidFill>
                  <a:srgbClr val="E7DEF3"/>
                </a:solidFill>
                <a:latin typeface="Arial"/>
                <a:cs typeface="Arial"/>
              </a:rPr>
              <a:t>  —  Statistical</a:t>
            </a:r>
          </a:p>
        </p:txBody>
      </p:sp>
      <p:sp>
        <p:nvSpPr>
          <p:cNvPr id="9" name="OA0">
            <a:extLst>
              <a:ext uri="{FF2B5EF4-FFF2-40B4-BE49-F238E27FC236}">
                <a16:creationId xmlns:a16="http://schemas.microsoft.com/office/drawing/2014/main" id="{3B488A77-10A3-4843-0B48-D0953C48A1D4}"/>
              </a:ext>
            </a:extLst>
          </p:cNvPr>
          <p:cNvSpPr/>
          <p:nvPr/>
        </p:nvSpPr>
        <p:spPr>
          <a:xfrm>
            <a:off x="838200" y="1568116"/>
            <a:ext cx="51054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OD0">
            <a:extLst>
              <a:ext uri="{FF2B5EF4-FFF2-40B4-BE49-F238E27FC236}">
                <a16:creationId xmlns:a16="http://schemas.microsoft.com/office/drawing/2014/main" id="{6487983A-1F07-05BE-927A-1A90868929C4}"/>
              </a:ext>
            </a:extLst>
          </p:cNvPr>
          <p:cNvSpPr txBox="1"/>
          <p:nvPr/>
        </p:nvSpPr>
        <p:spPr>
          <a:xfrm>
            <a:off x="1041400" y="2304716"/>
            <a:ext cx="4699000" cy="1117600"/>
          </a:xfrm>
          <a:prstGeom prst="rect">
            <a:avLst/>
          </a:prstGeom>
          <a:noFill/>
        </p:spPr>
        <p:txBody>
          <a:bodyPr wrap="square" lIns="0" tIns="0" rIns="0" bIns="0" anchor="t">
            <a:normAutofit/>
          </a:bodyPr>
          <a:lstStyle/>
          <a:p>
            <a:pPr algn="l"/>
            <a:r>
              <a:rPr lang="en-US" sz="2200" dirty="0">
                <a:solidFill>
                  <a:srgbClr val="333333"/>
                </a:solidFill>
                <a:latin typeface="Arial"/>
                <a:cs typeface="Arial"/>
              </a:rPr>
              <a:t>Models a series from its own past — autocorrelation, trend (via differencing), and seasonality.</a:t>
            </a:r>
          </a:p>
        </p:txBody>
      </p:sp>
      <p:sp>
        <p:nvSpPr>
          <p:cNvPr id="13" name="OB1">
            <a:extLst>
              <a:ext uri="{FF2B5EF4-FFF2-40B4-BE49-F238E27FC236}">
                <a16:creationId xmlns:a16="http://schemas.microsoft.com/office/drawing/2014/main" id="{3585ACEC-916F-D012-2690-692465D01BC6}"/>
              </a:ext>
            </a:extLst>
          </p:cNvPr>
          <p:cNvSpPr/>
          <p:nvPr/>
        </p:nvSpPr>
        <p:spPr>
          <a:xfrm>
            <a:off x="6248400" y="1568116"/>
            <a:ext cx="5105400" cy="2006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OH1">
            <a:extLst>
              <a:ext uri="{FF2B5EF4-FFF2-40B4-BE49-F238E27FC236}">
                <a16:creationId xmlns:a16="http://schemas.microsoft.com/office/drawing/2014/main" id="{E49E21AE-454F-63E8-8F30-D01EE172D5C2}"/>
              </a:ext>
            </a:extLst>
          </p:cNvPr>
          <p:cNvSpPr/>
          <p:nvPr/>
        </p:nvSpPr>
        <p:spPr>
          <a:xfrm>
            <a:off x="6248400" y="1568116"/>
            <a:ext cx="51054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300" b="1" dirty="0">
                <a:solidFill>
                  <a:srgbClr val="FFFFFF"/>
                </a:solidFill>
                <a:latin typeface="Arial"/>
                <a:cs typeface="Arial"/>
              </a:rPr>
              <a:t>GAM</a:t>
            </a:r>
            <a:r>
              <a:rPr lang="en-US" sz="2300" dirty="0">
                <a:solidFill>
                  <a:srgbClr val="E7DEF3"/>
                </a:solidFill>
                <a:latin typeface="Arial"/>
                <a:cs typeface="Arial"/>
              </a:rPr>
              <a:t>  —  Statistical</a:t>
            </a:r>
          </a:p>
        </p:txBody>
      </p:sp>
      <p:sp>
        <p:nvSpPr>
          <p:cNvPr id="17" name="OA1">
            <a:extLst>
              <a:ext uri="{FF2B5EF4-FFF2-40B4-BE49-F238E27FC236}">
                <a16:creationId xmlns:a16="http://schemas.microsoft.com/office/drawing/2014/main" id="{AC36F248-A93A-56AD-3833-CB93F2A907D5}"/>
              </a:ext>
            </a:extLst>
          </p:cNvPr>
          <p:cNvSpPr/>
          <p:nvPr/>
        </p:nvSpPr>
        <p:spPr>
          <a:xfrm>
            <a:off x="6248400" y="1568116"/>
            <a:ext cx="51054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OD1">
            <a:extLst>
              <a:ext uri="{FF2B5EF4-FFF2-40B4-BE49-F238E27FC236}">
                <a16:creationId xmlns:a16="http://schemas.microsoft.com/office/drawing/2014/main" id="{00339687-3278-49BE-ECC5-EF9BF5AD6B68}"/>
              </a:ext>
            </a:extLst>
          </p:cNvPr>
          <p:cNvSpPr txBox="1"/>
          <p:nvPr/>
        </p:nvSpPr>
        <p:spPr>
          <a:xfrm>
            <a:off x="6451600" y="2304716"/>
            <a:ext cx="4699000" cy="1117600"/>
          </a:xfrm>
          <a:prstGeom prst="rect">
            <a:avLst/>
          </a:prstGeom>
          <a:noFill/>
        </p:spPr>
        <p:txBody>
          <a:bodyPr wrap="square" lIns="0" tIns="0" rIns="0" bIns="0" anchor="t">
            <a:normAutofit/>
          </a:bodyPr>
          <a:lstStyle/>
          <a:p>
            <a:pPr algn="l"/>
            <a:r>
              <a:rPr lang="en-US" sz="2200" dirty="0">
                <a:solidFill>
                  <a:srgbClr val="333333"/>
                </a:solidFill>
                <a:latin typeface="Arial"/>
                <a:cs typeface="Arial"/>
              </a:rPr>
              <a:t>Flexible regression using smooth spline terms to capture nonlinear trends and seasonality.</a:t>
            </a:r>
          </a:p>
        </p:txBody>
      </p:sp>
    </p:spTree>
    <p:extLst>
      <p:ext uri="{BB962C8B-B14F-4D97-AF65-F5344CB8AC3E}">
        <p14:creationId xmlns:p14="http://schemas.microsoft.com/office/powerpoint/2010/main" val="42086017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42A75-F9E5-FA96-446B-C3BE960F06B0}"/>
              </a:ext>
            </a:extLst>
          </p:cNvPr>
          <p:cNvSpPr>
            <a:spLocks noGrp="1"/>
          </p:cNvSpPr>
          <p:nvPr>
            <p:ph type="title"/>
          </p:nvPr>
        </p:nvSpPr>
        <p:spPr>
          <a:xfrm>
            <a:off x="838200" y="97211"/>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Generalized Additive Models </a:t>
            </a:r>
          </a:p>
        </p:txBody>
      </p:sp>
      <p:sp>
        <p:nvSpPr>
          <p:cNvPr id="3" name="Content Placeholder 2">
            <a:extLst>
              <a:ext uri="{FF2B5EF4-FFF2-40B4-BE49-F238E27FC236}">
                <a16:creationId xmlns:a16="http://schemas.microsoft.com/office/drawing/2014/main" id="{43777C07-742E-9AD0-BB04-8108D8D4A183}"/>
              </a:ext>
            </a:extLst>
          </p:cNvPr>
          <p:cNvSpPr>
            <a:spLocks noGrp="1"/>
          </p:cNvSpPr>
          <p:nvPr>
            <p:ph idx="1"/>
          </p:nvPr>
        </p:nvSpPr>
        <p:spPr>
          <a:xfrm>
            <a:off x="712695" y="1422774"/>
            <a:ext cx="10641105" cy="1325563"/>
          </a:xfrm>
        </p:spPr>
        <p:txBody>
          <a:bodyPr/>
          <a:lstStyle/>
          <a:p>
            <a:pPr>
              <a:spcAft>
                <a:spcPts val="1200"/>
              </a:spcAft>
            </a:pPr>
            <a:r>
              <a:rPr lang="en-US" sz="2500" dirty="0">
                <a:latin typeface="Arial" panose="020B0604020202020204" pitchFamily="34" charset="0"/>
                <a:cs typeface="Arial" panose="020B0604020202020204" pitchFamily="34" charset="0"/>
              </a:rPr>
              <a:t>Very similar to Generalized Linear Models (GLM) but allows for modeling of more complex data trends (i.e., non-linear data) via “smoothing” functions (splines, we will cover these shortly). </a:t>
            </a:r>
            <a:endParaRPr lang="en-US" dirty="0"/>
          </a:p>
          <a:p>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AFC7637-9ACB-0F41-1657-F1057FEF99A3}"/>
                  </a:ext>
                </a:extLst>
              </p:cNvPr>
              <p:cNvSpPr txBox="1"/>
              <p:nvPr/>
            </p:nvSpPr>
            <p:spPr>
              <a:xfrm>
                <a:off x="2945971" y="3046720"/>
                <a:ext cx="6300058" cy="477247"/>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r>
                        <a:rPr lang="en-US" sz="2700" b="0" i="1" smtClean="0">
                          <a:latin typeface="Cambria Math" panose="02040503050406030204" pitchFamily="18" charset="0"/>
                        </a:rPr>
                        <m:t>𝑔</m:t>
                      </m:r>
                      <m:d>
                        <m:dPr>
                          <m:ctrlPr>
                            <a:rPr lang="en-US" sz="2700" b="0" i="1" smtClean="0">
                              <a:latin typeface="Cambria Math" panose="02040503050406030204" pitchFamily="18" charset="0"/>
                            </a:rPr>
                          </m:ctrlPr>
                        </m:dPr>
                        <m:e>
                          <m:r>
                            <a:rPr lang="en-US" sz="2700" b="0" i="1" smtClean="0">
                              <a:latin typeface="Cambria Math" panose="02040503050406030204" pitchFamily="18" charset="0"/>
                              <a:ea typeface="Cambria Math" panose="02040503050406030204" pitchFamily="18" charset="0"/>
                            </a:rPr>
                            <m:t>𝜇</m:t>
                          </m:r>
                        </m:e>
                      </m:d>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𝛽</m:t>
                          </m:r>
                        </m:e>
                        <m:sub>
                          <m:r>
                            <a:rPr lang="en-US" sz="2700" b="0" i="1" smtClean="0">
                              <a:latin typeface="Cambria Math" panose="02040503050406030204" pitchFamily="18" charset="0"/>
                              <a:ea typeface="Cambria Math" panose="02040503050406030204" pitchFamily="18" charset="0"/>
                            </a:rPr>
                            <m:t>0</m:t>
                          </m:r>
                        </m:sub>
                      </m:sSub>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𝑓</m:t>
                          </m:r>
                        </m:e>
                        <m:sub>
                          <m:r>
                            <a:rPr lang="en-US" sz="2700" b="0" i="1" smtClean="0">
                              <a:latin typeface="Cambria Math" panose="02040503050406030204" pitchFamily="18" charset="0"/>
                              <a:ea typeface="Cambria Math" panose="02040503050406030204" pitchFamily="18" charset="0"/>
                            </a:rPr>
                            <m:t>1</m:t>
                          </m:r>
                        </m:sub>
                      </m:sSub>
                      <m:d>
                        <m:dPr>
                          <m:ctrlPr>
                            <a:rPr lang="en-US" sz="2700" b="0" i="1" smtClean="0">
                              <a:latin typeface="Cambria Math" panose="02040503050406030204" pitchFamily="18" charset="0"/>
                              <a:ea typeface="Cambria Math" panose="02040503050406030204" pitchFamily="18" charset="0"/>
                            </a:rPr>
                          </m:ctrlPr>
                        </m:dPr>
                        <m:e>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𝑥</m:t>
                              </m:r>
                            </m:e>
                            <m:sub>
                              <m:r>
                                <a:rPr lang="en-US" sz="2700" b="0" i="1" smtClean="0">
                                  <a:latin typeface="Cambria Math" panose="02040503050406030204" pitchFamily="18" charset="0"/>
                                  <a:ea typeface="Cambria Math" panose="02040503050406030204" pitchFamily="18" charset="0"/>
                                </a:rPr>
                                <m:t>1</m:t>
                              </m:r>
                            </m:sub>
                          </m:sSub>
                        </m:e>
                      </m:d>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𝑓</m:t>
                          </m:r>
                        </m:e>
                        <m:sub>
                          <m:r>
                            <a:rPr lang="en-US" sz="2700" b="0" i="1" smtClean="0">
                              <a:latin typeface="Cambria Math" panose="02040503050406030204" pitchFamily="18" charset="0"/>
                              <a:ea typeface="Cambria Math" panose="02040503050406030204" pitchFamily="18" charset="0"/>
                            </a:rPr>
                            <m:t>2</m:t>
                          </m:r>
                        </m:sub>
                      </m:sSub>
                      <m:d>
                        <m:dPr>
                          <m:ctrlPr>
                            <a:rPr lang="en-US" sz="2700" b="0" i="1" smtClean="0">
                              <a:latin typeface="Cambria Math" panose="02040503050406030204" pitchFamily="18" charset="0"/>
                              <a:ea typeface="Cambria Math" panose="02040503050406030204" pitchFamily="18" charset="0"/>
                            </a:rPr>
                          </m:ctrlPr>
                        </m:dPr>
                        <m:e>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𝑥</m:t>
                              </m:r>
                            </m:e>
                            <m:sub>
                              <m:r>
                                <a:rPr lang="en-US" sz="2700" b="0" i="1" smtClean="0">
                                  <a:latin typeface="Cambria Math" panose="02040503050406030204" pitchFamily="18" charset="0"/>
                                  <a:ea typeface="Cambria Math" panose="02040503050406030204" pitchFamily="18" charset="0"/>
                                </a:rPr>
                                <m:t>2</m:t>
                              </m:r>
                            </m:sub>
                          </m:sSub>
                        </m:e>
                      </m:d>
                      <m:r>
                        <a:rPr lang="en-US" sz="2700" b="0" i="1" smtClean="0">
                          <a:latin typeface="Cambria Math" panose="02040503050406030204" pitchFamily="18" charset="0"/>
                          <a:ea typeface="Cambria Math" panose="02040503050406030204" pitchFamily="18" charset="0"/>
                        </a:rPr>
                        <m:t>+…+</m:t>
                      </m:r>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𝑓</m:t>
                          </m:r>
                        </m:e>
                        <m:sub>
                          <m:r>
                            <a:rPr lang="en-US" sz="2700" b="0" i="1" smtClean="0">
                              <a:latin typeface="Cambria Math" panose="02040503050406030204" pitchFamily="18" charset="0"/>
                              <a:ea typeface="Cambria Math" panose="02040503050406030204" pitchFamily="18" charset="0"/>
                            </a:rPr>
                            <m:t>𝑝</m:t>
                          </m:r>
                        </m:sub>
                      </m:sSub>
                      <m:d>
                        <m:dPr>
                          <m:ctrlPr>
                            <a:rPr lang="en-US" sz="2700" b="0" i="1" smtClean="0">
                              <a:latin typeface="Cambria Math" panose="02040503050406030204" pitchFamily="18" charset="0"/>
                              <a:ea typeface="Cambria Math" panose="02040503050406030204" pitchFamily="18" charset="0"/>
                            </a:rPr>
                          </m:ctrlPr>
                        </m:dPr>
                        <m:e>
                          <m:sSub>
                            <m:sSubPr>
                              <m:ctrlPr>
                                <a:rPr lang="en-US" sz="2700" b="0" i="1" smtClean="0">
                                  <a:latin typeface="Cambria Math" panose="02040503050406030204" pitchFamily="18" charset="0"/>
                                  <a:ea typeface="Cambria Math" panose="02040503050406030204" pitchFamily="18" charset="0"/>
                                </a:rPr>
                              </m:ctrlPr>
                            </m:sSubPr>
                            <m:e>
                              <m:r>
                                <a:rPr lang="en-US" sz="2700" b="0" i="1" smtClean="0">
                                  <a:latin typeface="Cambria Math" panose="02040503050406030204" pitchFamily="18" charset="0"/>
                                  <a:ea typeface="Cambria Math" panose="02040503050406030204" pitchFamily="18" charset="0"/>
                                </a:rPr>
                                <m:t>𝑥</m:t>
                              </m:r>
                            </m:e>
                            <m:sub>
                              <m:r>
                                <a:rPr lang="en-US" sz="2700" b="0" i="1" smtClean="0">
                                  <a:latin typeface="Cambria Math" panose="02040503050406030204" pitchFamily="18" charset="0"/>
                                  <a:ea typeface="Cambria Math" panose="02040503050406030204" pitchFamily="18" charset="0"/>
                                </a:rPr>
                                <m:t>𝑝</m:t>
                              </m:r>
                            </m:sub>
                          </m:sSub>
                        </m:e>
                      </m:d>
                    </m:oMath>
                  </m:oMathPara>
                </a14:m>
                <a:endParaRPr lang="en-US" sz="2700" dirty="0"/>
              </a:p>
            </p:txBody>
          </p:sp>
        </mc:Choice>
        <mc:Fallback xmlns="">
          <p:sp>
            <p:nvSpPr>
              <p:cNvPr id="4" name="TextBox 3">
                <a:extLst>
                  <a:ext uri="{FF2B5EF4-FFF2-40B4-BE49-F238E27FC236}">
                    <a16:creationId xmlns:a16="http://schemas.microsoft.com/office/drawing/2014/main" id="{2AFC7637-9ACB-0F41-1657-F1057FEF99A3}"/>
                  </a:ext>
                </a:extLst>
              </p:cNvPr>
              <p:cNvSpPr txBox="1">
                <a:spLocks noRot="1" noChangeAspect="1" noMove="1" noResize="1" noEditPoints="1" noAdjustHandles="1" noChangeArrowheads="1" noChangeShapeType="1" noTextEdit="1"/>
              </p:cNvSpPr>
              <p:nvPr/>
            </p:nvSpPr>
            <p:spPr>
              <a:xfrm>
                <a:off x="2945971" y="3046720"/>
                <a:ext cx="6300058" cy="47724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F91D5E68-7247-3982-FCF3-52BBA208CCF6}"/>
                  </a:ext>
                </a:extLst>
              </p:cNvPr>
              <p:cNvGraphicFramePr>
                <a:graphicFrameLocks noGrp="1"/>
              </p:cNvGraphicFramePr>
              <p:nvPr>
                <p:extLst>
                  <p:ext uri="{D42A27DB-BD31-4B8C-83A1-F6EECF244321}">
                    <p14:modId xmlns:p14="http://schemas.microsoft.com/office/powerpoint/2010/main" val="288984424"/>
                  </p:ext>
                </p:extLst>
              </p:nvPr>
            </p:nvGraphicFramePr>
            <p:xfrm>
              <a:off x="712694" y="4109664"/>
              <a:ext cx="10766612" cy="2028064"/>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𝜇</m:t>
                                </m:r>
                              </m:oMath>
                            </m:oMathPara>
                          </a14:m>
                          <a:endParaRPr lang="en-US" sz="2000" dirty="0">
                            <a:latin typeface="Arial" panose="020B0604020202020204" pitchFamily="34" charset="0"/>
                            <a:cs typeface="Arial" panose="020B0604020202020204" pitchFamily="34" charset="0"/>
                          </a:endParaRPr>
                        </a:p>
                      </a:txBody>
                      <a:tcPr>
                        <a:solidFill>
                          <a:schemeClr val="bg1"/>
                        </a:solidFill>
                      </a:tcPr>
                    </a:tc>
                    <a:tc>
                      <a:txBody>
                        <a:bodyPr/>
                        <a:lstStyle/>
                        <a:p>
                          <a:r>
                            <a:rPr lang="en-US" sz="2000" dirty="0">
                              <a:latin typeface="Arial" panose="020B0604020202020204" pitchFamily="34" charset="0"/>
                              <a:cs typeface="Arial" panose="020B0604020202020204" pitchFamily="34" charset="0"/>
                            </a:rPr>
                            <a:t>The value we expect for the outcome.</a:t>
                          </a:r>
                        </a:p>
                      </a:txBody>
                      <a:tcPr>
                        <a:solidFill>
                          <a:schemeClr val="bg1"/>
                        </a:solidFill>
                      </a:tcPr>
                    </a:tc>
                    <a:extLst>
                      <a:ext uri="{0D108BD9-81ED-4DB2-BD59-A6C34878D82A}">
                        <a16:rowId xmlns:a16="http://schemas.microsoft.com/office/drawing/2014/main" val="1232624375"/>
                      </a:ext>
                    </a:extLst>
                  </a:tr>
                  <a:tr h="370840">
                    <a:tc>
                      <a:txBody>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anose="020B0604020202020204" pitchFamily="34" charset="0"/>
                                  </a:rPr>
                                  <m:t>𝑔</m:t>
                                </m:r>
                                <m:r>
                                  <a:rPr lang="en-US" sz="2000" b="0" i="1" smtClean="0">
                                    <a:latin typeface="Cambria Math" panose="02040503050406030204" pitchFamily="18" charset="0"/>
                                    <a:cs typeface="Arial" panose="020B0604020202020204" pitchFamily="34" charset="0"/>
                                  </a:rPr>
                                  <m:t>(∙)</m:t>
                                </m:r>
                              </m:oMath>
                            </m:oMathPara>
                          </a14:m>
                          <a:endParaRPr lang="en-US" sz="2000" dirty="0">
                            <a:latin typeface="Arial" panose="020B0604020202020204" pitchFamily="34" charset="0"/>
                            <a:cs typeface="Arial" panose="020B0604020202020204" pitchFamily="34" charset="0"/>
                          </a:endParaRPr>
                        </a:p>
                      </a:txBody>
                      <a:tcPr>
                        <a:solidFill>
                          <a:schemeClr val="bg1"/>
                        </a:solidFill>
                      </a:tcPr>
                    </a:tc>
                    <a:tc>
                      <a:txBody>
                        <a:bodyPr/>
                        <a:lstStyle/>
                        <a:p>
                          <a:r>
                            <a:rPr lang="en-US" sz="2000" dirty="0">
                              <a:latin typeface="Arial" panose="020B0604020202020204" pitchFamily="34" charset="0"/>
                              <a:cs typeface="Arial" panose="020B0604020202020204" pitchFamily="34" charset="0"/>
                            </a:rPr>
                            <a:t>The link function connecting predictors to the mean outcome.</a:t>
                          </a:r>
                        </a:p>
                      </a:txBody>
                      <a:tcPr>
                        <a:solidFill>
                          <a:schemeClr val="bg1"/>
                        </a:solidFill>
                      </a:tcPr>
                    </a:tc>
                    <a:extLst>
                      <a:ext uri="{0D108BD9-81ED-4DB2-BD59-A6C34878D82A}">
                        <a16:rowId xmlns:a16="http://schemas.microsoft.com/office/drawing/2014/main" val="297429707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𝛽</m:t>
                                    </m:r>
                                  </m:e>
                                  <m:sub>
                                    <m:r>
                                      <a:rPr lang="en-US" sz="2000" b="0" i="1" smtClean="0">
                                        <a:latin typeface="Cambria Math" panose="02040503050406030204" pitchFamily="18" charset="0"/>
                                        <a:cs typeface="Arial" panose="020B0604020202020204" pitchFamily="34" charset="0"/>
                                      </a:rPr>
                                      <m:t>0</m:t>
                                    </m:r>
                                  </m:sub>
                                </m:sSub>
                              </m:oMath>
                            </m:oMathPara>
                          </a14:m>
                          <a:endParaRPr lang="en-US" sz="2000" dirty="0">
                            <a:latin typeface="Arial" panose="020B0604020202020204" pitchFamily="34" charset="0"/>
                            <a:cs typeface="Arial" panose="020B0604020202020204" pitchFamily="34" charset="0"/>
                          </a:endParaRPr>
                        </a:p>
                      </a:txBody>
                      <a:tcPr>
                        <a:solidFill>
                          <a:schemeClr val="bg1"/>
                        </a:solidFill>
                      </a:tcPr>
                    </a:tc>
                    <a:tc>
                      <a:txBody>
                        <a:bodyPr/>
                        <a:lstStyle/>
                        <a:p>
                          <a:r>
                            <a:rPr lang="en-US" sz="2000" dirty="0">
                              <a:latin typeface="Arial" panose="020B0604020202020204" pitchFamily="34" charset="0"/>
                              <a:cs typeface="Arial" panose="020B0604020202020204" pitchFamily="34" charset="0"/>
                            </a:rPr>
                            <a:t>The intercept, or baseline value the model estimates.</a:t>
                          </a:r>
                        </a:p>
                      </a:txBody>
                      <a:tcPr>
                        <a:solidFill>
                          <a:schemeClr val="bg1"/>
                        </a:solidFill>
                      </a:tcPr>
                    </a:tc>
                    <a:extLst>
                      <a:ext uri="{0D108BD9-81ED-4DB2-BD59-A6C34878D82A}">
                        <a16:rowId xmlns:a16="http://schemas.microsoft.com/office/drawing/2014/main" val="269567317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𝑓</m:t>
                                    </m:r>
                                  </m:e>
                                  <m:sub>
                                    <m:r>
                                      <a:rPr lang="en-US" sz="2000" b="0" i="1" smtClean="0">
                                        <a:latin typeface="Cambria Math" panose="02040503050406030204" pitchFamily="18" charset="0"/>
                                        <a:ea typeface="Cambria Math" panose="02040503050406030204" pitchFamily="18" charset="0"/>
                                      </a:rPr>
                                      <m:t>𝑝</m:t>
                                    </m:r>
                                  </m:sub>
                                </m:sSub>
                                <m:r>
                                  <a:rPr lang="en-US" sz="2000" b="0" i="1" smtClean="0">
                                    <a:latin typeface="Cambria Math" panose="02040503050406030204" pitchFamily="18" charset="0"/>
                                    <a:ea typeface="Cambria Math" panose="02040503050406030204" pitchFamily="18" charset="0"/>
                                  </a:rPr>
                                  <m:t>(∙)</m:t>
                                </m:r>
                              </m:oMath>
                            </m:oMathPara>
                          </a14:m>
                          <a:endParaRPr lang="en-US" sz="2000" dirty="0">
                            <a:latin typeface="Arial" panose="020B0604020202020204" pitchFamily="34" charset="0"/>
                            <a:cs typeface="Arial" panose="020B0604020202020204" pitchFamily="34" charset="0"/>
                          </a:endParaRPr>
                        </a:p>
                      </a:txBody>
                      <a:tcPr>
                        <a:solidFill>
                          <a:schemeClr val="bg1"/>
                        </a:solidFill>
                      </a:tcPr>
                    </a:tc>
                    <a:tc>
                      <a:txBody>
                        <a:bodyPr/>
                        <a:lstStyle/>
                        <a:p>
                          <a:r>
                            <a:rPr lang="en-US" sz="2000" dirty="0">
                              <a:latin typeface="Arial" panose="020B0604020202020204" pitchFamily="34" charset="0"/>
                              <a:cs typeface="Arial" panose="020B0604020202020204" pitchFamily="34" charset="0"/>
                            </a:rPr>
                            <a:t>Smooth curves (splines) the model learns for each predictor.</a:t>
                          </a:r>
                        </a:p>
                      </a:txBody>
                      <a:tcPr>
                        <a:solidFill>
                          <a:schemeClr val="bg1"/>
                        </a:solidFill>
                      </a:tcPr>
                    </a:tc>
                    <a:extLst>
                      <a:ext uri="{0D108BD9-81ED-4DB2-BD59-A6C34878D82A}">
                        <a16:rowId xmlns:a16="http://schemas.microsoft.com/office/drawing/2014/main" val="116040268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𝑝</m:t>
                                    </m:r>
                                  </m:sub>
                                </m:sSub>
                              </m:oMath>
                            </m:oMathPara>
                          </a14:m>
                          <a:endParaRPr lang="en-US" sz="2000" dirty="0">
                            <a:latin typeface="Arial" panose="020B0604020202020204" pitchFamily="34" charset="0"/>
                            <a:cs typeface="Arial" panose="020B0604020202020204" pitchFamily="34" charset="0"/>
                          </a:endParaRPr>
                        </a:p>
                      </a:txBody>
                      <a:tcPr>
                        <a:solidFill>
                          <a:schemeClr val="bg1"/>
                        </a:solidFill>
                      </a:tcPr>
                    </a:tc>
                    <a:tc>
                      <a:txBody>
                        <a:bodyPr/>
                        <a:lstStyle/>
                        <a:p>
                          <a:r>
                            <a:rPr lang="en-US" sz="2000" dirty="0">
                              <a:latin typeface="Arial" panose="020B0604020202020204" pitchFamily="34" charset="0"/>
                              <a:cs typeface="Arial" panose="020B0604020202020204" pitchFamily="34" charset="0"/>
                            </a:rPr>
                            <a:t>A predictor variable, an input used to explain the outcome.</a:t>
                          </a:r>
                        </a:p>
                      </a:txBody>
                      <a:tcPr>
                        <a:solidFill>
                          <a:schemeClr val="bg1"/>
                        </a:solidFill>
                      </a:tcPr>
                    </a:tc>
                    <a:extLst>
                      <a:ext uri="{0D108BD9-81ED-4DB2-BD59-A6C34878D82A}">
                        <a16:rowId xmlns:a16="http://schemas.microsoft.com/office/drawing/2014/main" val="980836415"/>
                      </a:ext>
                    </a:extLst>
                  </a:tr>
                </a:tbl>
              </a:graphicData>
            </a:graphic>
          </p:graphicFrame>
        </mc:Choice>
        <mc:Fallback xmlns="">
          <p:graphicFrame>
            <p:nvGraphicFramePr>
              <p:cNvPr id="8" name="Table 7">
                <a:extLst>
                  <a:ext uri="{FF2B5EF4-FFF2-40B4-BE49-F238E27FC236}">
                    <a16:creationId xmlns:a16="http://schemas.microsoft.com/office/drawing/2014/main" id="{F91D5E68-7247-3982-FCF3-52BBA208CCF6}"/>
                  </a:ext>
                </a:extLst>
              </p:cNvPr>
              <p:cNvGraphicFramePr>
                <a:graphicFrameLocks noGrp="1"/>
              </p:cNvGraphicFramePr>
              <p:nvPr>
                <p:extLst>
                  <p:ext uri="{D42A27DB-BD31-4B8C-83A1-F6EECF244321}">
                    <p14:modId xmlns:p14="http://schemas.microsoft.com/office/powerpoint/2010/main" val="288984424"/>
                  </p:ext>
                </p:extLst>
              </p:nvPr>
            </p:nvGraphicFramePr>
            <p:xfrm>
              <a:off x="712694" y="4109664"/>
              <a:ext cx="10766612" cy="2028064"/>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96240">
                    <a:tc>
                      <a:txBody>
                        <a:bodyPr/>
                        <a:lstStyle/>
                        <a:p>
                          <a:endParaRPr lang="en-US"/>
                        </a:p>
                      </a:txBody>
                      <a:tcPr>
                        <a:blipFill>
                          <a:blip r:embed="rId4"/>
                          <a:stretch>
                            <a:fillRect l="-833" t="-7692" r="-197000" b="-435385"/>
                          </a:stretch>
                        </a:blipFill>
                      </a:tcPr>
                    </a:tc>
                    <a:tc>
                      <a:txBody>
                        <a:bodyPr/>
                        <a:lstStyle/>
                        <a:p>
                          <a:r>
                            <a:rPr lang="en-US" sz="2000" dirty="0">
                              <a:latin typeface="Arial" panose="020B0604020202020204" pitchFamily="34" charset="0"/>
                              <a:cs typeface="Arial" panose="020B0604020202020204" pitchFamily="34" charset="0"/>
                            </a:rPr>
                            <a:t>The value we expect for the outcome.</a:t>
                          </a:r>
                        </a:p>
                      </a:txBody>
                      <a:tcPr>
                        <a:solidFill>
                          <a:schemeClr val="bg1"/>
                        </a:solidFill>
                      </a:tcPr>
                    </a:tc>
                    <a:extLst>
                      <a:ext uri="{0D108BD9-81ED-4DB2-BD59-A6C34878D82A}">
                        <a16:rowId xmlns:a16="http://schemas.microsoft.com/office/drawing/2014/main" val="1232624375"/>
                      </a:ext>
                    </a:extLst>
                  </a:tr>
                  <a:tr h="396240">
                    <a:tc>
                      <a:txBody>
                        <a:bodyPr/>
                        <a:lstStyle/>
                        <a:p>
                          <a:endParaRPr lang="en-US"/>
                        </a:p>
                      </a:txBody>
                      <a:tcPr>
                        <a:blipFill>
                          <a:blip r:embed="rId4"/>
                          <a:stretch>
                            <a:fillRect l="-833" t="-107692" r="-197000" b="-335385"/>
                          </a:stretch>
                        </a:blipFill>
                      </a:tcPr>
                    </a:tc>
                    <a:tc>
                      <a:txBody>
                        <a:bodyPr/>
                        <a:lstStyle/>
                        <a:p>
                          <a:r>
                            <a:rPr lang="en-US" sz="2000" dirty="0">
                              <a:latin typeface="Arial" panose="020B0604020202020204" pitchFamily="34" charset="0"/>
                              <a:cs typeface="Arial" panose="020B0604020202020204" pitchFamily="34" charset="0"/>
                            </a:rPr>
                            <a:t>The link function connecting predictors to the mean outcome.</a:t>
                          </a:r>
                        </a:p>
                      </a:txBody>
                      <a:tcPr>
                        <a:solidFill>
                          <a:schemeClr val="bg1"/>
                        </a:solidFill>
                      </a:tcPr>
                    </a:tc>
                    <a:extLst>
                      <a:ext uri="{0D108BD9-81ED-4DB2-BD59-A6C34878D82A}">
                        <a16:rowId xmlns:a16="http://schemas.microsoft.com/office/drawing/2014/main" val="2974297070"/>
                      </a:ext>
                    </a:extLst>
                  </a:tr>
                  <a:tr h="396240">
                    <a:tc>
                      <a:txBody>
                        <a:bodyPr/>
                        <a:lstStyle/>
                        <a:p>
                          <a:endParaRPr lang="en-US"/>
                        </a:p>
                      </a:txBody>
                      <a:tcPr>
                        <a:blipFill>
                          <a:blip r:embed="rId4"/>
                          <a:stretch>
                            <a:fillRect l="-833" t="-207692" r="-197000" b="-235385"/>
                          </a:stretch>
                        </a:blipFill>
                      </a:tcPr>
                    </a:tc>
                    <a:tc>
                      <a:txBody>
                        <a:bodyPr/>
                        <a:lstStyle/>
                        <a:p>
                          <a:r>
                            <a:rPr lang="en-US" sz="2000" dirty="0">
                              <a:latin typeface="Arial" panose="020B0604020202020204" pitchFamily="34" charset="0"/>
                              <a:cs typeface="Arial" panose="020B0604020202020204" pitchFamily="34" charset="0"/>
                            </a:rPr>
                            <a:t>The intercept, or baseline value the model estimates.</a:t>
                          </a:r>
                        </a:p>
                      </a:txBody>
                      <a:tcPr>
                        <a:solidFill>
                          <a:schemeClr val="bg1"/>
                        </a:solidFill>
                      </a:tcPr>
                    </a:tc>
                    <a:extLst>
                      <a:ext uri="{0D108BD9-81ED-4DB2-BD59-A6C34878D82A}">
                        <a16:rowId xmlns:a16="http://schemas.microsoft.com/office/drawing/2014/main" val="2695673171"/>
                      </a:ext>
                    </a:extLst>
                  </a:tr>
                  <a:tr h="419672">
                    <a:tc>
                      <a:txBody>
                        <a:bodyPr/>
                        <a:lstStyle/>
                        <a:p>
                          <a:endParaRPr lang="en-US"/>
                        </a:p>
                      </a:txBody>
                      <a:tcPr>
                        <a:blipFill>
                          <a:blip r:embed="rId4"/>
                          <a:stretch>
                            <a:fillRect l="-833" t="-289855" r="-197000" b="-121739"/>
                          </a:stretch>
                        </a:blipFill>
                      </a:tcPr>
                    </a:tc>
                    <a:tc>
                      <a:txBody>
                        <a:bodyPr/>
                        <a:lstStyle/>
                        <a:p>
                          <a:r>
                            <a:rPr lang="en-US" sz="2000" dirty="0">
                              <a:latin typeface="Arial" panose="020B0604020202020204" pitchFamily="34" charset="0"/>
                              <a:cs typeface="Arial" panose="020B0604020202020204" pitchFamily="34" charset="0"/>
                            </a:rPr>
                            <a:t>Smooth curves (splines) the model learns for each predictor.</a:t>
                          </a:r>
                        </a:p>
                      </a:txBody>
                      <a:tcPr>
                        <a:solidFill>
                          <a:schemeClr val="bg1"/>
                        </a:solidFill>
                      </a:tcPr>
                    </a:tc>
                    <a:extLst>
                      <a:ext uri="{0D108BD9-81ED-4DB2-BD59-A6C34878D82A}">
                        <a16:rowId xmlns:a16="http://schemas.microsoft.com/office/drawing/2014/main" val="1160402683"/>
                      </a:ext>
                    </a:extLst>
                  </a:tr>
                  <a:tr h="419672">
                    <a:tc>
                      <a:txBody>
                        <a:bodyPr/>
                        <a:lstStyle/>
                        <a:p>
                          <a:endParaRPr lang="en-US"/>
                        </a:p>
                      </a:txBody>
                      <a:tcPr>
                        <a:blipFill>
                          <a:blip r:embed="rId4"/>
                          <a:stretch>
                            <a:fillRect l="-833" t="-389855" r="-197000" b="-21739"/>
                          </a:stretch>
                        </a:blipFill>
                      </a:tcPr>
                    </a:tc>
                    <a:tc>
                      <a:txBody>
                        <a:bodyPr/>
                        <a:lstStyle/>
                        <a:p>
                          <a:r>
                            <a:rPr lang="en-US" sz="2000" dirty="0">
                              <a:latin typeface="Arial" panose="020B0604020202020204" pitchFamily="34" charset="0"/>
                              <a:cs typeface="Arial" panose="020B0604020202020204" pitchFamily="34" charset="0"/>
                            </a:rPr>
                            <a:t>A predictor variable, an input used to explain the outcome.</a:t>
                          </a:r>
                        </a:p>
                      </a:txBody>
                      <a:tcPr>
                        <a:solidFill>
                          <a:schemeClr val="bg1"/>
                        </a:solidFill>
                      </a:tcPr>
                    </a:tc>
                    <a:extLst>
                      <a:ext uri="{0D108BD9-81ED-4DB2-BD59-A6C34878D82A}">
                        <a16:rowId xmlns:a16="http://schemas.microsoft.com/office/drawing/2014/main" val="980836415"/>
                      </a:ext>
                    </a:extLst>
                  </a:tr>
                </a:tbl>
              </a:graphicData>
            </a:graphic>
          </p:graphicFrame>
        </mc:Fallback>
      </mc:AlternateContent>
    </p:spTree>
    <p:extLst>
      <p:ext uri="{BB962C8B-B14F-4D97-AF65-F5344CB8AC3E}">
        <p14:creationId xmlns:p14="http://schemas.microsoft.com/office/powerpoint/2010/main" val="1526705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03E44-02BD-BB1F-AB19-CB4809CF8BC3}"/>
              </a:ext>
            </a:extLst>
          </p:cNvPr>
          <p:cNvSpPr>
            <a:spLocks noGrp="1"/>
          </p:cNvSpPr>
          <p:nvPr>
            <p:ph type="title"/>
          </p:nvPr>
        </p:nvSpPr>
        <p:spPr>
          <a:xfrm>
            <a:off x="838198" y="-93844"/>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What are splines?</a:t>
            </a:r>
          </a:p>
        </p:txBody>
      </p:sp>
      <p:sp>
        <p:nvSpPr>
          <p:cNvPr id="3" name="Content Placeholder 2">
            <a:extLst>
              <a:ext uri="{FF2B5EF4-FFF2-40B4-BE49-F238E27FC236}">
                <a16:creationId xmlns:a16="http://schemas.microsoft.com/office/drawing/2014/main" id="{D32E4E18-C2BE-C021-9A7D-280A1DEE4323}"/>
              </a:ext>
            </a:extLst>
          </p:cNvPr>
          <p:cNvSpPr>
            <a:spLocks noGrp="1"/>
          </p:cNvSpPr>
          <p:nvPr>
            <p:ph idx="1"/>
          </p:nvPr>
        </p:nvSpPr>
        <p:spPr>
          <a:xfrm>
            <a:off x="838198" y="1102571"/>
            <a:ext cx="10515600" cy="4351338"/>
          </a:xfrm>
        </p:spPr>
        <p:txBody>
          <a:bodyPr/>
          <a:lstStyle/>
          <a:p>
            <a:r>
              <a:rPr lang="en-US" dirty="0"/>
              <a:t>Smooth, flexible curves made by joining simple polynomial pieces (usually </a:t>
            </a:r>
            <a:r>
              <a:rPr lang="en-US" dirty="0" err="1"/>
              <a:t>cubics</a:t>
            </a:r>
            <a:r>
              <a:rPr lang="en-US" dirty="0"/>
              <a:t>) at points called knots, so it can bend to fit data without kinks.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C386912-265B-16FB-0CFF-53FFD403392E}"/>
                  </a:ext>
                </a:extLst>
              </p:cNvPr>
              <p:cNvSpPr txBox="1"/>
              <p:nvPr/>
            </p:nvSpPr>
            <p:spPr>
              <a:xfrm>
                <a:off x="4573240" y="2359310"/>
                <a:ext cx="3045513" cy="1168333"/>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r>
                        <a:rPr lang="en-US" sz="2700" b="0" i="1" smtClean="0">
                          <a:latin typeface="Cambria Math" panose="02040503050406030204" pitchFamily="18" charset="0"/>
                        </a:rPr>
                        <m:t>𝑓</m:t>
                      </m:r>
                      <m:r>
                        <a:rPr lang="en-US" sz="2700" b="0" i="1" smtClean="0">
                          <a:latin typeface="Cambria Math" panose="02040503050406030204" pitchFamily="18" charset="0"/>
                        </a:rPr>
                        <m:t>(</m:t>
                      </m:r>
                      <m:r>
                        <a:rPr lang="en-US" sz="2700" b="0" i="1" smtClean="0">
                          <a:latin typeface="Cambria Math" panose="02040503050406030204" pitchFamily="18" charset="0"/>
                        </a:rPr>
                        <m:t>𝑥</m:t>
                      </m:r>
                      <m:r>
                        <a:rPr lang="en-US" sz="2700" b="0" i="1" smtClean="0">
                          <a:latin typeface="Cambria Math" panose="02040503050406030204" pitchFamily="18" charset="0"/>
                        </a:rPr>
                        <m:t>)=</m:t>
                      </m:r>
                      <m:nary>
                        <m:naryPr>
                          <m:chr m:val="∑"/>
                          <m:ctrlPr>
                            <a:rPr lang="en-US" sz="2700" b="0" i="1" smtClean="0">
                              <a:latin typeface="Cambria Math" panose="02040503050406030204" pitchFamily="18" charset="0"/>
                            </a:rPr>
                          </m:ctrlPr>
                        </m:naryPr>
                        <m:sub>
                          <m:r>
                            <m:rPr>
                              <m:brk m:alnAt="23"/>
                            </m:rPr>
                            <a:rPr lang="en-US" sz="2700" b="0" i="1" smtClean="0">
                              <a:latin typeface="Cambria Math" panose="02040503050406030204" pitchFamily="18" charset="0"/>
                            </a:rPr>
                            <m:t>𝑘</m:t>
                          </m:r>
                          <m:r>
                            <a:rPr lang="en-US" sz="2700" b="0" i="1" smtClean="0">
                              <a:latin typeface="Cambria Math" panose="02040503050406030204" pitchFamily="18" charset="0"/>
                            </a:rPr>
                            <m:t>=1</m:t>
                          </m:r>
                        </m:sub>
                        <m:sup>
                          <m:r>
                            <a:rPr lang="en-US" sz="2700" b="0" i="1" smtClean="0">
                              <a:latin typeface="Cambria Math" panose="02040503050406030204" pitchFamily="18" charset="0"/>
                            </a:rPr>
                            <m:t>𝐾</m:t>
                          </m:r>
                        </m:sup>
                        <m:e>
                          <m:sSub>
                            <m:sSubPr>
                              <m:ctrlPr>
                                <a:rPr lang="en-US" sz="2700" b="0" i="1" smtClean="0">
                                  <a:latin typeface="Cambria Math" panose="02040503050406030204" pitchFamily="18" charset="0"/>
                                </a:rPr>
                              </m:ctrlPr>
                            </m:sSubPr>
                            <m:e>
                              <m:r>
                                <a:rPr lang="en-US" sz="2700" b="0" i="1" smtClean="0">
                                  <a:latin typeface="Cambria Math" panose="02040503050406030204" pitchFamily="18" charset="0"/>
                                </a:rPr>
                                <m:t>𝛽</m:t>
                              </m:r>
                            </m:e>
                            <m:sub>
                              <m:r>
                                <a:rPr lang="en-US" sz="2700" b="0" i="1" smtClean="0">
                                  <a:latin typeface="Cambria Math" panose="02040503050406030204" pitchFamily="18" charset="0"/>
                                </a:rPr>
                                <m:t>𝑘</m:t>
                              </m:r>
                            </m:sub>
                          </m:sSub>
                          <m:sSub>
                            <m:sSubPr>
                              <m:ctrlPr>
                                <a:rPr lang="en-US" sz="2700" b="0" i="1" smtClean="0">
                                  <a:latin typeface="Cambria Math" panose="02040503050406030204" pitchFamily="18" charset="0"/>
                                </a:rPr>
                              </m:ctrlPr>
                            </m:sSubPr>
                            <m:e>
                              <m:r>
                                <a:rPr lang="en-US" sz="2700" b="0" i="1" smtClean="0">
                                  <a:latin typeface="Cambria Math" panose="02040503050406030204" pitchFamily="18" charset="0"/>
                                </a:rPr>
                                <m:t>𝑏</m:t>
                              </m:r>
                            </m:e>
                            <m:sub>
                              <m:r>
                                <a:rPr lang="en-US" sz="2700" b="0" i="1" smtClean="0">
                                  <a:latin typeface="Cambria Math" panose="02040503050406030204" pitchFamily="18" charset="0"/>
                                </a:rPr>
                                <m:t>𝑘</m:t>
                              </m:r>
                            </m:sub>
                          </m:sSub>
                          <m:r>
                            <a:rPr lang="en-US" sz="2700" b="0" i="1" smtClean="0">
                              <a:latin typeface="Cambria Math" panose="02040503050406030204" pitchFamily="18" charset="0"/>
                            </a:rPr>
                            <m:t>(</m:t>
                          </m:r>
                          <m:r>
                            <a:rPr lang="en-US" sz="2700" b="0" i="1" smtClean="0">
                              <a:latin typeface="Cambria Math" panose="02040503050406030204" pitchFamily="18" charset="0"/>
                            </a:rPr>
                            <m:t>𝑥</m:t>
                          </m:r>
                          <m:r>
                            <a:rPr lang="en-US" sz="2700" b="0" i="1" smtClean="0">
                              <a:latin typeface="Cambria Math" panose="02040503050406030204" pitchFamily="18" charset="0"/>
                            </a:rPr>
                            <m:t>)</m:t>
                          </m:r>
                        </m:e>
                      </m:nary>
                    </m:oMath>
                  </m:oMathPara>
                </a14:m>
                <a:endParaRPr lang="en-US" sz="2700" dirty="0"/>
              </a:p>
            </p:txBody>
          </p:sp>
        </mc:Choice>
        <mc:Fallback xmlns="">
          <p:sp>
            <p:nvSpPr>
              <p:cNvPr id="5" name="TextBox 4">
                <a:extLst>
                  <a:ext uri="{FF2B5EF4-FFF2-40B4-BE49-F238E27FC236}">
                    <a16:creationId xmlns:a16="http://schemas.microsoft.com/office/drawing/2014/main" id="{0C386912-265B-16FB-0CFF-53FFD403392E}"/>
                  </a:ext>
                </a:extLst>
              </p:cNvPr>
              <p:cNvSpPr txBox="1">
                <a:spLocks noRot="1" noChangeAspect="1" noMove="1" noResize="1" noEditPoints="1" noAdjustHandles="1" noChangeArrowheads="1" noChangeShapeType="1" noTextEdit="1"/>
              </p:cNvSpPr>
              <p:nvPr/>
            </p:nvSpPr>
            <p:spPr>
              <a:xfrm>
                <a:off x="4573240" y="2359310"/>
                <a:ext cx="3045513" cy="116833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99F6FBE-5A37-5F43-9C34-0AD3CF3B9350}"/>
                  </a:ext>
                </a:extLst>
              </p:cNvPr>
              <p:cNvGraphicFramePr>
                <a:graphicFrameLocks noGrp="1"/>
              </p:cNvGraphicFramePr>
              <p:nvPr>
                <p:extLst>
                  <p:ext uri="{D42A27DB-BD31-4B8C-83A1-F6EECF244321}">
                    <p14:modId xmlns:p14="http://schemas.microsoft.com/office/powerpoint/2010/main" val="873715978"/>
                  </p:ext>
                </p:extLst>
              </p:nvPr>
            </p:nvGraphicFramePr>
            <p:xfrm>
              <a:off x="712691" y="3907125"/>
              <a:ext cx="10766612" cy="2743199"/>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434897">
                    <a:tc>
                      <a:txBody>
                        <a:bodyPr/>
                        <a:lstStyle/>
                        <a:p>
                          <a:pPr algn="ct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𝑓</m:t>
                                </m:r>
                                <m:r>
                                  <a:rPr lang="en-US" sz="1900" b="0" i="1" smtClean="0">
                                    <a:latin typeface="Cambria Math" panose="02040503050406030204" pitchFamily="18" charset="0"/>
                                  </a:rPr>
                                  <m:t>(</m:t>
                                </m:r>
                                <m:r>
                                  <a:rPr lang="en-US" sz="1900" b="0" i="1" smtClean="0">
                                    <a:latin typeface="Cambria Math" panose="02040503050406030204" pitchFamily="18" charset="0"/>
                                  </a:rPr>
                                  <m:t>𝑥</m:t>
                                </m:r>
                                <m:r>
                                  <a:rPr lang="en-US" sz="1900" b="0" i="1" smtClean="0">
                                    <a:latin typeface="Cambria Math" panose="02040503050406030204" pitchFamily="18" charset="0"/>
                                  </a:rPr>
                                  <m:t>)</m:t>
                                </m:r>
                              </m:oMath>
                            </m:oMathPara>
                          </a14:m>
                          <a:endParaRPr lang="en-US" sz="19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l"/>
                          <a:r>
                            <a:rPr lang="en-US" sz="1900" dirty="0">
                              <a:latin typeface="Arial" panose="020B0604020202020204" pitchFamily="34" charset="0"/>
                              <a:cs typeface="Arial" panose="020B0604020202020204" pitchFamily="34" charset="0"/>
                            </a:rPr>
                            <a:t>The overall smooth curve we fit to a predictor.</a:t>
                          </a:r>
                        </a:p>
                      </a:txBody>
                      <a:tcPr anchor="ctr">
                        <a:solidFill>
                          <a:schemeClr val="bg1"/>
                        </a:solidFill>
                      </a:tcPr>
                    </a:tc>
                    <a:extLst>
                      <a:ext uri="{0D108BD9-81ED-4DB2-BD59-A6C34878D82A}">
                        <a16:rowId xmlns:a16="http://schemas.microsoft.com/office/drawing/2014/main" val="1232624375"/>
                      </a:ext>
                    </a:extLst>
                  </a:tr>
                  <a:tr h="769434">
                    <a:tc>
                      <a:txBody>
                        <a:bodyPr/>
                        <a:lstStyle/>
                        <a:p>
                          <a:pPr algn="ct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cs typeface="Arial" panose="020B0604020202020204" pitchFamily="34" charset="0"/>
                                  </a:rPr>
                                  <m:t>𝐾</m:t>
                                </m:r>
                              </m:oMath>
                            </m:oMathPara>
                          </a14:m>
                          <a:endParaRPr lang="en-US" sz="19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l"/>
                          <a:r>
                            <a:rPr lang="en-US" sz="1900" dirty="0">
                              <a:latin typeface="Arial" panose="020B0604020202020204" pitchFamily="34" charset="0"/>
                              <a:cs typeface="Arial" panose="020B0604020202020204" pitchFamily="34" charset="0"/>
                            </a:rPr>
                            <a:t>The basis dimension: roughly how many basis functions, or how wiggly the curve is allowed to be.</a:t>
                          </a:r>
                        </a:p>
                      </a:txBody>
                      <a:tcPr anchor="ctr">
                        <a:solidFill>
                          <a:schemeClr val="bg1"/>
                        </a:solidFill>
                      </a:tcPr>
                    </a:tc>
                    <a:extLst>
                      <a:ext uri="{0D108BD9-81ED-4DB2-BD59-A6C34878D82A}">
                        <a16:rowId xmlns:a16="http://schemas.microsoft.com/office/drawing/2014/main" val="2974297070"/>
                      </a:ext>
                    </a:extLst>
                  </a:tr>
                  <a:tr h="769434">
                    <a:tc>
                      <a:txBody>
                        <a:bodyPr/>
                        <a:lstStyle/>
                        <a:p>
                          <a:pPr algn="ctr"/>
                          <a14:m>
                            <m:oMathPara xmlns:m="http://schemas.openxmlformats.org/officeDocument/2006/math">
                              <m:oMathParaPr>
                                <m:jc m:val="centerGroup"/>
                              </m:oMathParaPr>
                              <m:oMath xmlns:m="http://schemas.openxmlformats.org/officeDocument/2006/math">
                                <m:sSub>
                                  <m:sSubPr>
                                    <m:ctrlPr>
                                      <a:rPr lang="en-US" sz="1900" b="0" i="1" smtClean="0">
                                        <a:latin typeface="Cambria Math" panose="02040503050406030204" pitchFamily="18" charset="0"/>
                                        <a:cs typeface="Arial" panose="020B0604020202020204" pitchFamily="34" charset="0"/>
                                      </a:rPr>
                                    </m:ctrlPr>
                                  </m:sSubPr>
                                  <m:e>
                                    <m:r>
                                      <a:rPr lang="en-US" sz="1900" b="0" i="1" smtClean="0">
                                        <a:latin typeface="Cambria Math" panose="02040503050406030204" pitchFamily="18" charset="0"/>
                                        <a:cs typeface="Arial" panose="020B0604020202020204" pitchFamily="34" charset="0"/>
                                      </a:rPr>
                                      <m:t>𝛽</m:t>
                                    </m:r>
                                  </m:e>
                                  <m:sub>
                                    <m:r>
                                      <a:rPr lang="en-US" sz="1900" b="0" i="1" smtClean="0">
                                        <a:latin typeface="Cambria Math" panose="02040503050406030204" pitchFamily="18" charset="0"/>
                                        <a:cs typeface="Arial" panose="020B0604020202020204" pitchFamily="34" charset="0"/>
                                      </a:rPr>
                                      <m:t>𝑘</m:t>
                                    </m:r>
                                  </m:sub>
                                </m:sSub>
                              </m:oMath>
                            </m:oMathPara>
                          </a14:m>
                          <a:endParaRPr lang="en-US" sz="19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l"/>
                          <a:r>
                            <a:rPr lang="en-US" sz="1900" dirty="0">
                              <a:latin typeface="Arial" panose="020B0604020202020204" pitchFamily="34" charset="0"/>
                              <a:cs typeface="Arial" panose="020B0604020202020204" pitchFamily="34" charset="0"/>
                            </a:rPr>
                            <a:t>The coefficients the model estimates. They set how much each basis function contributes (i.e., how much each piece bends).</a:t>
                          </a:r>
                        </a:p>
                      </a:txBody>
                      <a:tcPr anchor="ctr">
                        <a:solidFill>
                          <a:schemeClr val="bg1"/>
                        </a:solidFill>
                      </a:tcPr>
                    </a:tc>
                    <a:extLst>
                      <a:ext uri="{0D108BD9-81ED-4DB2-BD59-A6C34878D82A}">
                        <a16:rowId xmlns:a16="http://schemas.microsoft.com/office/drawing/2014/main" val="2695673171"/>
                      </a:ext>
                    </a:extLst>
                  </a:tr>
                  <a:tr h="769434">
                    <a:tc>
                      <a:txBody>
                        <a:bodyPr/>
                        <a:lstStyle/>
                        <a:p>
                          <a:pPr algn="ctr"/>
                          <a14:m>
                            <m:oMathPara xmlns:m="http://schemas.openxmlformats.org/officeDocument/2006/math">
                              <m:oMathParaPr>
                                <m:jc m:val="centerGroup"/>
                              </m:oMathParaPr>
                              <m:oMath xmlns:m="http://schemas.openxmlformats.org/officeDocument/2006/math">
                                <m:sSub>
                                  <m:sSubPr>
                                    <m:ctrlPr>
                                      <a:rPr lang="en-US" sz="1900" b="0" i="1" smtClean="0">
                                        <a:latin typeface="Cambria Math" panose="02040503050406030204" pitchFamily="18" charset="0"/>
                                        <a:ea typeface="Cambria Math" panose="02040503050406030204" pitchFamily="18" charset="0"/>
                                      </a:rPr>
                                    </m:ctrlPr>
                                  </m:sSubPr>
                                  <m:e>
                                    <m:r>
                                      <a:rPr lang="en-US" sz="1900" b="0" i="1" smtClean="0">
                                        <a:latin typeface="Cambria Math" panose="02040503050406030204" pitchFamily="18" charset="0"/>
                                        <a:ea typeface="Cambria Math" panose="02040503050406030204" pitchFamily="18" charset="0"/>
                                      </a:rPr>
                                      <m:t>𝑏</m:t>
                                    </m:r>
                                  </m:e>
                                  <m:sub>
                                    <m:r>
                                      <a:rPr lang="en-US" sz="1900" b="0" i="1" smtClean="0">
                                        <a:latin typeface="Cambria Math" panose="02040503050406030204" pitchFamily="18" charset="0"/>
                                        <a:ea typeface="Cambria Math" panose="02040503050406030204" pitchFamily="18" charset="0"/>
                                      </a:rPr>
                                      <m:t>𝑘</m:t>
                                    </m:r>
                                  </m:sub>
                                </m:sSub>
                              </m:oMath>
                            </m:oMathPara>
                          </a14:m>
                          <a:endParaRPr lang="en-US" sz="19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l"/>
                          <a:r>
                            <a:rPr lang="en-US" sz="1900" dirty="0">
                              <a:latin typeface="Arial" panose="020B0604020202020204" pitchFamily="34" charset="0"/>
                              <a:cs typeface="Arial" panose="020B0604020202020204" pitchFamily="34" charset="0"/>
                            </a:rPr>
                            <a:t>The fixed basis functions (e.g., B-splines or thin-plate). They encode the pieces and knot placement.</a:t>
                          </a:r>
                        </a:p>
                      </a:txBody>
                      <a:tcPr anchor="ctr">
                        <a:solidFill>
                          <a:schemeClr val="bg1"/>
                        </a:solidFill>
                      </a:tcPr>
                    </a:tc>
                    <a:extLst>
                      <a:ext uri="{0D108BD9-81ED-4DB2-BD59-A6C34878D82A}">
                        <a16:rowId xmlns:a16="http://schemas.microsoft.com/office/drawing/2014/main" val="1160402683"/>
                      </a:ext>
                    </a:extLst>
                  </a:tr>
                </a:tbl>
              </a:graphicData>
            </a:graphic>
          </p:graphicFrame>
        </mc:Choice>
        <mc:Fallback xmlns="">
          <p:graphicFrame>
            <p:nvGraphicFramePr>
              <p:cNvPr id="6" name="Table 5">
                <a:extLst>
                  <a:ext uri="{FF2B5EF4-FFF2-40B4-BE49-F238E27FC236}">
                    <a16:creationId xmlns:a16="http://schemas.microsoft.com/office/drawing/2014/main" id="{799F6FBE-5A37-5F43-9C34-0AD3CF3B9350}"/>
                  </a:ext>
                </a:extLst>
              </p:cNvPr>
              <p:cNvGraphicFramePr>
                <a:graphicFrameLocks noGrp="1"/>
              </p:cNvGraphicFramePr>
              <p:nvPr>
                <p:extLst>
                  <p:ext uri="{D42A27DB-BD31-4B8C-83A1-F6EECF244321}">
                    <p14:modId xmlns:p14="http://schemas.microsoft.com/office/powerpoint/2010/main" val="873715978"/>
                  </p:ext>
                </p:extLst>
              </p:nvPr>
            </p:nvGraphicFramePr>
            <p:xfrm>
              <a:off x="712691" y="3907125"/>
              <a:ext cx="10766612" cy="2743199"/>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434897">
                    <a:tc>
                      <a:txBody>
                        <a:bodyPr/>
                        <a:lstStyle/>
                        <a:p>
                          <a:endParaRPr lang="en-US"/>
                        </a:p>
                      </a:txBody>
                      <a:tcPr anchor="ctr">
                        <a:blipFill>
                          <a:blip r:embed="rId3"/>
                          <a:stretch>
                            <a:fillRect l="-833" t="-7042" r="-197000" b="-556338"/>
                          </a:stretch>
                        </a:blipFill>
                      </a:tcPr>
                    </a:tc>
                    <a:tc>
                      <a:txBody>
                        <a:bodyPr/>
                        <a:lstStyle/>
                        <a:p>
                          <a:pPr algn="l"/>
                          <a:r>
                            <a:rPr lang="en-US" sz="1900" dirty="0">
                              <a:latin typeface="Arial" panose="020B0604020202020204" pitchFamily="34" charset="0"/>
                              <a:cs typeface="Arial" panose="020B0604020202020204" pitchFamily="34" charset="0"/>
                            </a:rPr>
                            <a:t>The overall smooth curve we fit to a predictor.</a:t>
                          </a:r>
                        </a:p>
                      </a:txBody>
                      <a:tcPr anchor="ctr">
                        <a:solidFill>
                          <a:schemeClr val="bg1"/>
                        </a:solidFill>
                      </a:tcPr>
                    </a:tc>
                    <a:extLst>
                      <a:ext uri="{0D108BD9-81ED-4DB2-BD59-A6C34878D82A}">
                        <a16:rowId xmlns:a16="http://schemas.microsoft.com/office/drawing/2014/main" val="1232624375"/>
                      </a:ext>
                    </a:extLst>
                  </a:tr>
                  <a:tr h="769434">
                    <a:tc>
                      <a:txBody>
                        <a:bodyPr/>
                        <a:lstStyle/>
                        <a:p>
                          <a:endParaRPr lang="en-US"/>
                        </a:p>
                      </a:txBody>
                      <a:tcPr anchor="ctr">
                        <a:blipFill>
                          <a:blip r:embed="rId3"/>
                          <a:stretch>
                            <a:fillRect l="-833" t="-59843" r="-197000" b="-211024"/>
                          </a:stretch>
                        </a:blipFill>
                      </a:tcPr>
                    </a:tc>
                    <a:tc>
                      <a:txBody>
                        <a:bodyPr/>
                        <a:lstStyle/>
                        <a:p>
                          <a:pPr algn="l"/>
                          <a:r>
                            <a:rPr lang="en-US" sz="1900" dirty="0">
                              <a:latin typeface="Arial" panose="020B0604020202020204" pitchFamily="34" charset="0"/>
                              <a:cs typeface="Arial" panose="020B0604020202020204" pitchFamily="34" charset="0"/>
                            </a:rPr>
                            <a:t>The basis dimension: roughly how many basis functions, or how wiggly the curve is allowed to be.</a:t>
                          </a:r>
                        </a:p>
                      </a:txBody>
                      <a:tcPr anchor="ctr">
                        <a:solidFill>
                          <a:schemeClr val="bg1"/>
                        </a:solidFill>
                      </a:tcPr>
                    </a:tc>
                    <a:extLst>
                      <a:ext uri="{0D108BD9-81ED-4DB2-BD59-A6C34878D82A}">
                        <a16:rowId xmlns:a16="http://schemas.microsoft.com/office/drawing/2014/main" val="2974297070"/>
                      </a:ext>
                    </a:extLst>
                  </a:tr>
                  <a:tr h="769434">
                    <a:tc>
                      <a:txBody>
                        <a:bodyPr/>
                        <a:lstStyle/>
                        <a:p>
                          <a:endParaRPr lang="en-US"/>
                        </a:p>
                      </a:txBody>
                      <a:tcPr anchor="ctr">
                        <a:blipFill>
                          <a:blip r:embed="rId3"/>
                          <a:stretch>
                            <a:fillRect l="-833" t="-161111" r="-197000" b="-112698"/>
                          </a:stretch>
                        </a:blipFill>
                      </a:tcPr>
                    </a:tc>
                    <a:tc>
                      <a:txBody>
                        <a:bodyPr/>
                        <a:lstStyle/>
                        <a:p>
                          <a:pPr algn="l"/>
                          <a:r>
                            <a:rPr lang="en-US" sz="1900" dirty="0">
                              <a:latin typeface="Arial" panose="020B0604020202020204" pitchFamily="34" charset="0"/>
                              <a:cs typeface="Arial" panose="020B0604020202020204" pitchFamily="34" charset="0"/>
                            </a:rPr>
                            <a:t>The coefficients the model estimates. They set how much each basis function contributes (i.e., how much each piece bends).</a:t>
                          </a:r>
                        </a:p>
                      </a:txBody>
                      <a:tcPr anchor="ctr">
                        <a:solidFill>
                          <a:schemeClr val="bg1"/>
                        </a:solidFill>
                      </a:tcPr>
                    </a:tc>
                    <a:extLst>
                      <a:ext uri="{0D108BD9-81ED-4DB2-BD59-A6C34878D82A}">
                        <a16:rowId xmlns:a16="http://schemas.microsoft.com/office/drawing/2014/main" val="2695673171"/>
                      </a:ext>
                    </a:extLst>
                  </a:tr>
                  <a:tr h="769434">
                    <a:tc>
                      <a:txBody>
                        <a:bodyPr/>
                        <a:lstStyle/>
                        <a:p>
                          <a:endParaRPr lang="en-US"/>
                        </a:p>
                      </a:txBody>
                      <a:tcPr anchor="ctr">
                        <a:blipFill>
                          <a:blip r:embed="rId3"/>
                          <a:stretch>
                            <a:fillRect l="-833" t="-259055" r="-197000" b="-11811"/>
                          </a:stretch>
                        </a:blipFill>
                      </a:tcPr>
                    </a:tc>
                    <a:tc>
                      <a:txBody>
                        <a:bodyPr/>
                        <a:lstStyle/>
                        <a:p>
                          <a:pPr algn="l"/>
                          <a:r>
                            <a:rPr lang="en-US" sz="1900" dirty="0">
                              <a:latin typeface="Arial" panose="020B0604020202020204" pitchFamily="34" charset="0"/>
                              <a:cs typeface="Arial" panose="020B0604020202020204" pitchFamily="34" charset="0"/>
                            </a:rPr>
                            <a:t>The fixed basis functions (e.g., B-splines or thin-plate). They encode the pieces and knot placement.</a:t>
                          </a:r>
                        </a:p>
                      </a:txBody>
                      <a:tcPr anchor="ctr">
                        <a:solidFill>
                          <a:schemeClr val="bg1"/>
                        </a:solidFill>
                      </a:tcPr>
                    </a:tc>
                    <a:extLst>
                      <a:ext uri="{0D108BD9-81ED-4DB2-BD59-A6C34878D82A}">
                        <a16:rowId xmlns:a16="http://schemas.microsoft.com/office/drawing/2014/main" val="1160402683"/>
                      </a:ext>
                    </a:extLst>
                  </a:tr>
                </a:tbl>
              </a:graphicData>
            </a:graphic>
          </p:graphicFrame>
        </mc:Fallback>
      </mc:AlternateContent>
    </p:spTree>
    <p:extLst>
      <p:ext uri="{BB962C8B-B14F-4D97-AF65-F5344CB8AC3E}">
        <p14:creationId xmlns:p14="http://schemas.microsoft.com/office/powerpoint/2010/main" val="3472123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plines: how do they work? – Tamás P. Papp">
            <a:extLst>
              <a:ext uri="{FF2B5EF4-FFF2-40B4-BE49-F238E27FC236}">
                <a16:creationId xmlns:a16="http://schemas.microsoft.com/office/drawing/2014/main" id="{CE4F2B0C-EE4A-3C9C-91BE-6116D8DB925A}"/>
              </a:ext>
            </a:extLst>
          </p:cNvPr>
          <p:cNvPicPr>
            <a:picLocks noChangeAspect="1"/>
          </p:cNvPicPr>
          <p:nvPr/>
        </p:nvPicPr>
        <p:blipFill>
          <a:blip r:embed="rId3"/>
          <a:stretch>
            <a:fillRect/>
          </a:stretch>
        </p:blipFill>
        <p:spPr>
          <a:xfrm>
            <a:off x="716280" y="1404046"/>
            <a:ext cx="4814241" cy="5147188"/>
          </a:xfrm>
          <a:prstGeom prst="rect">
            <a:avLst/>
          </a:prstGeom>
          <a:ln>
            <a:solidFill>
              <a:schemeClr val="bg1">
                <a:lumMod val="75000"/>
              </a:schemeClr>
            </a:solidFill>
          </a:ln>
        </p:spPr>
      </p:pic>
      <p:sp>
        <p:nvSpPr>
          <p:cNvPr id="5" name="Title 1">
            <a:extLst>
              <a:ext uri="{FF2B5EF4-FFF2-40B4-BE49-F238E27FC236}">
                <a16:creationId xmlns:a16="http://schemas.microsoft.com/office/drawing/2014/main" id="{E4AC4BDD-6E9E-C586-F3AB-0A3461E72E49}"/>
              </a:ext>
            </a:extLst>
          </p:cNvPr>
          <p:cNvSpPr>
            <a:spLocks noGrp="1"/>
          </p:cNvSpPr>
          <p:nvPr>
            <p:ph type="title"/>
          </p:nvPr>
        </p:nvSpPr>
        <p:spPr>
          <a:xfrm>
            <a:off x="716280" y="0"/>
            <a:ext cx="10893549" cy="1325563"/>
          </a:xfrm>
        </p:spPr>
        <p:txBody>
          <a:bodyPr/>
          <a:lstStyle/>
          <a:p>
            <a:pPr algn="ctr"/>
            <a:r>
              <a:rPr lang="en-US" b="1" dirty="0">
                <a:solidFill>
                  <a:srgbClr val="7030A0"/>
                </a:solidFill>
                <a:latin typeface="Arial" panose="020B0604020202020204" pitchFamily="34" charset="0"/>
                <a:cs typeface="Arial" panose="020B0604020202020204" pitchFamily="34" charset="0"/>
              </a:rPr>
              <a:t>History of Splines</a:t>
            </a:r>
          </a:p>
        </p:txBody>
      </p:sp>
      <p:sp>
        <p:nvSpPr>
          <p:cNvPr id="7" name="TextBox 6">
            <a:extLst>
              <a:ext uri="{FF2B5EF4-FFF2-40B4-BE49-F238E27FC236}">
                <a16:creationId xmlns:a16="http://schemas.microsoft.com/office/drawing/2014/main" id="{C2F7CC68-417D-EAE7-6EE9-135197777F95}"/>
              </a:ext>
            </a:extLst>
          </p:cNvPr>
          <p:cNvSpPr txBox="1"/>
          <p:nvPr/>
        </p:nvSpPr>
        <p:spPr>
          <a:xfrm>
            <a:off x="6096000" y="1507733"/>
            <a:ext cx="5493258" cy="4939814"/>
          </a:xfrm>
          <a:prstGeom prst="rect">
            <a:avLst/>
          </a:prstGeom>
          <a:noFill/>
        </p:spPr>
        <p:txBody>
          <a:bodyPr wrap="square">
            <a:spAutoFit/>
          </a:bodyPr>
          <a:lstStyle/>
          <a:p>
            <a:r>
              <a:rPr lang="en-US" sz="2100" i="1" dirty="0">
                <a:latin typeface="Arial" panose="020B0604020202020204" pitchFamily="34" charset="0"/>
                <a:cs typeface="Arial" panose="020B0604020202020204" pitchFamily="34" charset="0"/>
              </a:rPr>
              <a:t>Long before splines were math, they were wood. To draw the sweeping curves of a ship's hull, draftsmen worked in the shipyard's </a:t>
            </a:r>
            <a:r>
              <a:rPr lang="en-US" sz="2100" i="1" dirty="0" err="1">
                <a:latin typeface="Arial" panose="020B0604020202020204" pitchFamily="34" charset="0"/>
                <a:cs typeface="Arial" panose="020B0604020202020204" pitchFamily="34" charset="0"/>
              </a:rPr>
              <a:t>mould</a:t>
            </a:r>
            <a:r>
              <a:rPr lang="en-US" sz="2100" i="1" dirty="0">
                <a:latin typeface="Arial" panose="020B0604020202020204" pitchFamily="34" charset="0"/>
                <a:cs typeface="Arial" panose="020B0604020202020204" pitchFamily="34" charset="0"/>
              </a:rPr>
              <a:t> loft, using a </a:t>
            </a:r>
            <a:r>
              <a:rPr lang="en-US" sz="2100" b="1" i="1" dirty="0">
                <a:latin typeface="Arial" panose="020B0604020202020204" pitchFamily="34" charset="0"/>
                <a:cs typeface="Arial" panose="020B0604020202020204" pitchFamily="34" charset="0"/>
              </a:rPr>
              <a:t>spline, </a:t>
            </a:r>
            <a:r>
              <a:rPr lang="en-US" sz="2100" i="1" dirty="0">
                <a:latin typeface="Arial" panose="020B0604020202020204" pitchFamily="34" charset="0"/>
                <a:cs typeface="Arial" panose="020B0604020202020204" pitchFamily="34" charset="0"/>
              </a:rPr>
              <a:t>a thin, flexible strip of wood bent to pass through a set of fixed points. The strip was pinned down by heavy weights called </a:t>
            </a:r>
            <a:r>
              <a:rPr lang="en-US" sz="2100" b="1" i="1" dirty="0">
                <a:latin typeface="Arial" panose="020B0604020202020204" pitchFamily="34" charset="0"/>
                <a:cs typeface="Arial" panose="020B0604020202020204" pitchFamily="34" charset="0"/>
              </a:rPr>
              <a:t>"ducks,"</a:t>
            </a:r>
            <a:r>
              <a:rPr lang="en-US" sz="2100" i="1" dirty="0">
                <a:latin typeface="Arial" panose="020B0604020202020204" pitchFamily="34" charset="0"/>
                <a:cs typeface="Arial" panose="020B0604020202020204" pitchFamily="34" charset="0"/>
              </a:rPr>
              <a:t> and between those points it relaxed into the smoothest curve on its own, because a bending strip naturally settles into the shape that stores the least bending energy. Mathematicians later formalized exactly that idea and kept the name: a spline is the curve that passes through the points while bending as little as possible.</a:t>
            </a:r>
          </a:p>
        </p:txBody>
      </p:sp>
      <p:sp>
        <p:nvSpPr>
          <p:cNvPr id="9" name="TextBox 8">
            <a:extLst>
              <a:ext uri="{FF2B5EF4-FFF2-40B4-BE49-F238E27FC236}">
                <a16:creationId xmlns:a16="http://schemas.microsoft.com/office/drawing/2014/main" id="{EA9E49D3-52D4-1FD7-3DCC-5A7EC53DD6D6}"/>
              </a:ext>
            </a:extLst>
          </p:cNvPr>
          <p:cNvSpPr txBox="1"/>
          <p:nvPr/>
        </p:nvSpPr>
        <p:spPr>
          <a:xfrm>
            <a:off x="6304267" y="6519446"/>
            <a:ext cx="5887733" cy="338554"/>
          </a:xfrm>
          <a:prstGeom prst="rect">
            <a:avLst/>
          </a:prstGeom>
          <a:noFill/>
        </p:spPr>
        <p:txBody>
          <a:bodyPr wrap="square">
            <a:spAutoFit/>
          </a:bodyPr>
          <a:lstStyle/>
          <a:p>
            <a:r>
              <a:rPr lang="en-US" sz="1600" i="0" dirty="0">
                <a:solidFill>
                  <a:schemeClr val="bg2">
                    <a:lumMod val="50000"/>
                  </a:schemeClr>
                </a:solidFill>
                <a:effectLst/>
                <a:latin typeface="Arial" panose="020B0604020202020204" pitchFamily="34" charset="0"/>
                <a:cs typeface="Arial" panose="020B0604020202020204" pitchFamily="34" charset="0"/>
              </a:rPr>
              <a:t>Papp, </a:t>
            </a:r>
            <a:r>
              <a:rPr lang="en-US" sz="1600" i="1" dirty="0">
                <a:solidFill>
                  <a:schemeClr val="bg2">
                    <a:lumMod val="50000"/>
                  </a:schemeClr>
                </a:solidFill>
                <a:effectLst/>
                <a:latin typeface="Arial" panose="020B0604020202020204" pitchFamily="34" charset="0"/>
                <a:cs typeface="Arial" panose="020B0604020202020204" pitchFamily="34" charset="0"/>
              </a:rPr>
              <a:t>Splines:</a:t>
            </a:r>
            <a:r>
              <a:rPr lang="en-US" sz="1600" i="1" dirty="0">
                <a:solidFill>
                  <a:schemeClr val="bg2">
                    <a:lumMod val="50000"/>
                  </a:schemeClr>
                </a:solidFill>
                <a:latin typeface="Arial" panose="020B0604020202020204" pitchFamily="34" charset="0"/>
                <a:cs typeface="Arial" panose="020B0604020202020204" pitchFamily="34" charset="0"/>
              </a:rPr>
              <a:t> how do they work</a:t>
            </a:r>
            <a:r>
              <a:rPr lang="en-US" sz="1600" dirty="0">
                <a:solidFill>
                  <a:schemeClr val="bg2">
                    <a:lumMod val="50000"/>
                  </a:schemeClr>
                </a:solidFill>
                <a:latin typeface="Arial" panose="020B0604020202020204" pitchFamily="34" charset="0"/>
                <a:cs typeface="Arial" panose="020B0604020202020204" pitchFamily="34" charset="0"/>
              </a:rPr>
              <a:t>,</a:t>
            </a:r>
            <a:r>
              <a:rPr lang="en-US" sz="1600" i="0" dirty="0">
                <a:solidFill>
                  <a:schemeClr val="bg2">
                    <a:lumMod val="50000"/>
                  </a:schemeClr>
                </a:solidFill>
                <a:effectLst/>
                <a:latin typeface="Arial" panose="020B0604020202020204" pitchFamily="34" charset="0"/>
                <a:cs typeface="Arial" panose="020B0604020202020204" pitchFamily="34" charset="0"/>
              </a:rPr>
              <a:t> 2020; WIKI, </a:t>
            </a:r>
            <a:r>
              <a:rPr lang="en-US" sz="1600" i="1" dirty="0">
                <a:solidFill>
                  <a:schemeClr val="bg2">
                    <a:lumMod val="50000"/>
                  </a:schemeClr>
                </a:solidFill>
                <a:effectLst/>
                <a:latin typeface="Arial" panose="020B0604020202020204" pitchFamily="34" charset="0"/>
                <a:cs typeface="Arial" panose="020B0604020202020204" pitchFamily="34" charset="0"/>
              </a:rPr>
              <a:t>Flat spline</a:t>
            </a:r>
            <a:r>
              <a:rPr lang="en-US" sz="1600" i="0" dirty="0">
                <a:solidFill>
                  <a:schemeClr val="bg2">
                    <a:lumMod val="50000"/>
                  </a:schemeClr>
                </a:solidFill>
                <a:effectLst/>
                <a:latin typeface="Arial" panose="020B0604020202020204" pitchFamily="34" charset="0"/>
                <a:cs typeface="Arial" panose="020B0604020202020204" pitchFamily="34" charset="0"/>
              </a:rPr>
              <a:t>, 2025 </a:t>
            </a:r>
            <a:endParaRPr lang="en-US" sz="1600" dirty="0">
              <a:solidFill>
                <a:schemeClr val="bg2">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82816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D5E6D54D-03C1-02F8-F89F-1D71A6C82EC9}"/>
              </a:ext>
            </a:extLst>
          </p:cNvPr>
          <p:cNvSpPr/>
          <p:nvPr/>
        </p:nvSpPr>
        <p:spPr>
          <a:xfrm>
            <a:off x="566928" y="1344168"/>
            <a:ext cx="11112855" cy="1152144"/>
          </a:xfrm>
          <a:prstGeom prst="roundRect">
            <a:avLst/>
          </a:prstGeom>
          <a:solidFill>
            <a:srgbClr val="FEEF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457352" y="329184"/>
            <a:ext cx="11277295" cy="685800"/>
          </a:xfrm>
          <a:prstGeom prst="rect">
            <a:avLst/>
          </a:prstGeom>
          <a:noFill/>
          <a:ln/>
        </p:spPr>
        <p:txBody>
          <a:bodyPr wrap="square" rtlCol="0" anchor="ctr"/>
          <a:lstStyle/>
          <a:p>
            <a:pPr marL="0" indent="0" algn="ctr">
              <a:buNone/>
            </a:pPr>
            <a:r>
              <a:rPr lang="en-US" sz="4400" b="1" dirty="0">
                <a:solidFill>
                  <a:srgbClr val="7030A0"/>
                </a:solidFill>
                <a:latin typeface="Arial" panose="020B0604020202020204" pitchFamily="34" charset="0"/>
                <a:ea typeface="Calibri" pitchFamily="34" charset="-122"/>
                <a:cs typeface="Arial" panose="020B0604020202020204" pitchFamily="34" charset="0"/>
              </a:rPr>
              <a:t>Putting It All Together</a:t>
            </a:r>
            <a:endParaRPr lang="en-US" sz="4400" dirty="0">
              <a:latin typeface="Arial" panose="020B0604020202020204" pitchFamily="34" charset="0"/>
              <a:cs typeface="Arial" panose="020B0604020202020204" pitchFamily="34" charset="0"/>
            </a:endParaRPr>
          </a:p>
        </p:txBody>
      </p:sp>
      <p:sp>
        <p:nvSpPr>
          <p:cNvPr id="3" name="Text 1"/>
          <p:cNvSpPr/>
          <p:nvPr/>
        </p:nvSpPr>
        <p:spPr>
          <a:xfrm>
            <a:off x="714679" y="1353312"/>
            <a:ext cx="10817352" cy="1143000"/>
          </a:xfrm>
          <a:prstGeom prst="rect">
            <a:avLst/>
          </a:prstGeom>
          <a:noFill/>
          <a:ln/>
        </p:spPr>
        <p:txBody>
          <a:bodyPr wrap="square" rtlCol="0" anchor="ctr"/>
          <a:lstStyle/>
          <a:p>
            <a:pPr marL="0" indent="0" algn="ctr">
              <a:buNone/>
            </a:pPr>
            <a:r>
              <a:rPr lang="en-US" sz="2300" dirty="0">
                <a:solidFill>
                  <a:srgbClr val="444444"/>
                </a:solidFill>
                <a:latin typeface="Arial" panose="020B0604020202020204" pitchFamily="34" charset="0"/>
                <a:ea typeface="Calibri" pitchFamily="34" charset="-122"/>
                <a:cs typeface="Arial" panose="020B0604020202020204" pitchFamily="34" charset="0"/>
              </a:rPr>
              <a:t>A GAM is only as good as the smooth curves inside it, and a curve flexible enough to be useful is flexible enough to go wrong (</a:t>
            </a:r>
            <a:r>
              <a:rPr lang="en-US" sz="2300" b="1" dirty="0">
                <a:solidFill>
                  <a:srgbClr val="444444"/>
                </a:solidFill>
                <a:latin typeface="Arial" panose="020B0604020202020204" pitchFamily="34" charset="0"/>
                <a:ea typeface="Calibri" pitchFamily="34" charset="-122"/>
                <a:cs typeface="Arial" panose="020B0604020202020204" pitchFamily="34" charset="0"/>
              </a:rPr>
              <a:t>Hint:</a:t>
            </a:r>
            <a:r>
              <a:rPr lang="en-US" sz="2300" dirty="0">
                <a:solidFill>
                  <a:srgbClr val="444444"/>
                </a:solidFill>
                <a:latin typeface="Arial" panose="020B0604020202020204" pitchFamily="34" charset="0"/>
                <a:ea typeface="Calibri" pitchFamily="34" charset="-122"/>
                <a:cs typeface="Arial" panose="020B0604020202020204" pitchFamily="34" charset="0"/>
              </a:rPr>
              <a:t> </a:t>
            </a:r>
            <a:r>
              <a:rPr lang="en-US" sz="2300" dirty="0" err="1">
                <a:solidFill>
                  <a:srgbClr val="444444"/>
                </a:solidFill>
                <a:latin typeface="Arial" panose="020B0604020202020204" pitchFamily="34" charset="0"/>
                <a:ea typeface="Calibri" pitchFamily="34" charset="-122"/>
                <a:cs typeface="Arial" panose="020B0604020202020204" pitchFamily="34" charset="0"/>
              </a:rPr>
              <a:t>wiggliness</a:t>
            </a:r>
            <a:r>
              <a:rPr lang="en-US" sz="2300" dirty="0">
                <a:solidFill>
                  <a:srgbClr val="444444"/>
                </a:solidFill>
                <a:latin typeface="Arial" panose="020B0604020202020204" pitchFamily="34" charset="0"/>
                <a:ea typeface="Calibri" pitchFamily="34" charset="-122"/>
                <a:cs typeface="Arial" panose="020B0604020202020204" pitchFamily="34" charset="0"/>
              </a:rPr>
              <a:t> vs overfitting).</a:t>
            </a:r>
            <a:endParaRPr lang="en-US" sz="2300" dirty="0">
              <a:latin typeface="Arial" panose="020B0604020202020204" pitchFamily="34" charset="0"/>
              <a:cs typeface="Arial" panose="020B0604020202020204" pitchFamily="34" charset="0"/>
            </a:endParaRPr>
          </a:p>
        </p:txBody>
      </p:sp>
      <p:sp>
        <p:nvSpPr>
          <p:cNvPr id="4" name="Shape 2"/>
          <p:cNvSpPr/>
          <p:nvPr/>
        </p:nvSpPr>
        <p:spPr>
          <a:xfrm>
            <a:off x="566928" y="2800328"/>
            <a:ext cx="3383280" cy="3694176"/>
          </a:xfrm>
          <a:prstGeom prst="roundRect">
            <a:avLst>
              <a:gd name="adj" fmla="val 3380"/>
            </a:avLst>
          </a:prstGeom>
          <a:solidFill>
            <a:srgbClr val="F5F4F7"/>
          </a:solidFill>
          <a:ln w="12700">
            <a:solidFill>
              <a:srgbClr val="E4E2E8"/>
            </a:solidFill>
            <a:prstDash val="solid"/>
          </a:ln>
          <a:effectLst>
            <a:outerShdw blurRad="76200" dist="25400" dir="5400000" algn="bl" rotWithShape="0">
              <a:srgbClr val="8A8A8A">
                <a:alpha val="28000"/>
              </a:srgbClr>
            </a:outerShdw>
          </a:effectLst>
        </p:spPr>
        <p:txBody>
          <a:bodyPr/>
          <a:lstStyle/>
          <a:p>
            <a:endParaRPr lang="en-US"/>
          </a:p>
        </p:txBody>
      </p:sp>
      <p:sp>
        <p:nvSpPr>
          <p:cNvPr id="5" name="Shape 3"/>
          <p:cNvSpPr/>
          <p:nvPr/>
        </p:nvSpPr>
        <p:spPr>
          <a:xfrm>
            <a:off x="768096" y="2983208"/>
            <a:ext cx="384048" cy="384048"/>
          </a:xfrm>
          <a:prstGeom prst="ellipse">
            <a:avLst/>
          </a:prstGeom>
          <a:solidFill>
            <a:srgbClr val="7030A0"/>
          </a:solidFill>
          <a:ln/>
        </p:spPr>
        <p:txBody>
          <a:bodyPr/>
          <a:lstStyle/>
          <a:p>
            <a:endParaRPr lang="en-US"/>
          </a:p>
        </p:txBody>
      </p:sp>
      <p:sp>
        <p:nvSpPr>
          <p:cNvPr id="6" name="Text 4"/>
          <p:cNvSpPr/>
          <p:nvPr/>
        </p:nvSpPr>
        <p:spPr>
          <a:xfrm>
            <a:off x="768096" y="298320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pic>
        <p:nvPicPr>
          <p:cNvPr id="7" name="Image 0" descr="preencoded.png"/>
          <p:cNvPicPr>
            <a:picLocks noChangeAspect="1"/>
          </p:cNvPicPr>
          <p:nvPr/>
        </p:nvPicPr>
        <p:blipFill>
          <a:blip r:embed="rId3"/>
          <a:stretch>
            <a:fillRect/>
          </a:stretch>
        </p:blipFill>
        <p:spPr>
          <a:xfrm>
            <a:off x="744827" y="3330680"/>
            <a:ext cx="3008061" cy="1453896"/>
          </a:xfrm>
          <a:prstGeom prst="rect">
            <a:avLst/>
          </a:prstGeom>
        </p:spPr>
      </p:pic>
      <p:sp>
        <p:nvSpPr>
          <p:cNvPr id="8" name="Text 5"/>
          <p:cNvSpPr/>
          <p:nvPr/>
        </p:nvSpPr>
        <p:spPr>
          <a:xfrm>
            <a:off x="598774" y="4785264"/>
            <a:ext cx="3383280" cy="411480"/>
          </a:xfrm>
          <a:prstGeom prst="rect">
            <a:avLst/>
          </a:prstGeom>
          <a:noFill/>
          <a:ln/>
        </p:spPr>
        <p:txBody>
          <a:bodyPr wrap="square" rtlCol="0" anchor="ctr"/>
          <a:lstStyle/>
          <a:p>
            <a:pPr marL="0" indent="0" algn="ctr">
              <a:buNone/>
            </a:pPr>
            <a:r>
              <a:rPr lang="en-US" b="1" dirty="0">
                <a:solidFill>
                  <a:srgbClr val="7030A0"/>
                </a:solidFill>
                <a:latin typeface="Arial" panose="020B0604020202020204" pitchFamily="34" charset="0"/>
                <a:ea typeface="Calibri" pitchFamily="34" charset="-122"/>
                <a:cs typeface="Arial" panose="020B0604020202020204" pitchFamily="34" charset="0"/>
              </a:rPr>
              <a:t>A GAM is a sum of smooths</a:t>
            </a:r>
            <a:endParaRPr lang="en-US" dirty="0">
              <a:latin typeface="Arial" panose="020B0604020202020204" pitchFamily="34" charset="0"/>
              <a:cs typeface="Arial" panose="020B0604020202020204" pitchFamily="34" charset="0"/>
            </a:endParaRPr>
          </a:p>
        </p:txBody>
      </p:sp>
      <p:sp>
        <p:nvSpPr>
          <p:cNvPr id="9" name="Text 6"/>
          <p:cNvSpPr/>
          <p:nvPr/>
        </p:nvSpPr>
        <p:spPr>
          <a:xfrm>
            <a:off x="818230" y="5204282"/>
            <a:ext cx="2944368" cy="941832"/>
          </a:xfrm>
          <a:prstGeom prst="rect">
            <a:avLst/>
          </a:prstGeom>
          <a:noFill/>
          <a:ln/>
        </p:spPr>
        <p:txBody>
          <a:bodyPr wrap="square" rtlCol="0" anchor="t"/>
          <a:lstStyle/>
          <a:p>
            <a:pPr marL="0" indent="0" algn="ctr">
              <a:lnSpc>
                <a:spcPct val="105000"/>
              </a:lnSpc>
              <a:buNone/>
            </a:pPr>
            <a:r>
              <a:rPr lang="en-US" dirty="0">
                <a:solidFill>
                  <a:srgbClr val="1A1A1A"/>
                </a:solidFill>
                <a:latin typeface="Arial" panose="020B0604020202020204" pitchFamily="34" charset="0"/>
                <a:ea typeface="Calibri" pitchFamily="34" charset="-122"/>
                <a:cs typeface="Arial" panose="020B0604020202020204" pitchFamily="34" charset="0"/>
              </a:rPr>
              <a:t>Each predictor gets its own flexible curve, not a straight line.</a:t>
            </a:r>
            <a:endParaRPr lang="en-US" dirty="0">
              <a:latin typeface="Arial" panose="020B0604020202020204" pitchFamily="34" charset="0"/>
              <a:cs typeface="Arial" panose="020B0604020202020204" pitchFamily="34" charset="0"/>
            </a:endParaRPr>
          </a:p>
        </p:txBody>
      </p:sp>
      <p:sp>
        <p:nvSpPr>
          <p:cNvPr id="10" name="Shape 7"/>
          <p:cNvSpPr/>
          <p:nvPr/>
        </p:nvSpPr>
        <p:spPr>
          <a:xfrm>
            <a:off x="4407408" y="2800328"/>
            <a:ext cx="3383280" cy="3695700"/>
          </a:xfrm>
          <a:prstGeom prst="roundRect">
            <a:avLst>
              <a:gd name="adj" fmla="val 3380"/>
            </a:avLst>
          </a:prstGeom>
          <a:solidFill>
            <a:srgbClr val="F5F4F7"/>
          </a:solidFill>
          <a:ln w="12700">
            <a:solidFill>
              <a:srgbClr val="E4E2E8"/>
            </a:solidFill>
            <a:prstDash val="solid"/>
          </a:ln>
          <a:effectLst>
            <a:outerShdw blurRad="76200" dist="25400" dir="5400000" algn="bl" rotWithShape="0">
              <a:srgbClr val="8A8A8A">
                <a:alpha val="28000"/>
              </a:srgbClr>
            </a:outerShdw>
          </a:effectLst>
        </p:spPr>
        <p:txBody>
          <a:bodyPr/>
          <a:lstStyle/>
          <a:p>
            <a:endParaRPr lang="en-US"/>
          </a:p>
        </p:txBody>
      </p:sp>
      <p:sp>
        <p:nvSpPr>
          <p:cNvPr id="11" name="Shape 8"/>
          <p:cNvSpPr/>
          <p:nvPr/>
        </p:nvSpPr>
        <p:spPr>
          <a:xfrm>
            <a:off x="4608576" y="2983208"/>
            <a:ext cx="384048" cy="384048"/>
          </a:xfrm>
          <a:prstGeom prst="ellipse">
            <a:avLst/>
          </a:prstGeom>
          <a:solidFill>
            <a:srgbClr val="7030A0"/>
          </a:solidFill>
          <a:ln/>
        </p:spPr>
        <p:txBody>
          <a:bodyPr/>
          <a:lstStyle/>
          <a:p>
            <a:endParaRPr lang="en-US"/>
          </a:p>
        </p:txBody>
      </p:sp>
      <p:sp>
        <p:nvSpPr>
          <p:cNvPr id="12" name="Text 9"/>
          <p:cNvSpPr/>
          <p:nvPr/>
        </p:nvSpPr>
        <p:spPr>
          <a:xfrm>
            <a:off x="4608576" y="298320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pic>
        <p:nvPicPr>
          <p:cNvPr id="13" name="Image 1" descr="preencoded.png"/>
          <p:cNvPicPr>
            <a:picLocks noChangeAspect="1"/>
          </p:cNvPicPr>
          <p:nvPr/>
        </p:nvPicPr>
        <p:blipFill>
          <a:blip r:embed="rId4"/>
          <a:stretch>
            <a:fillRect/>
          </a:stretch>
        </p:blipFill>
        <p:spPr>
          <a:xfrm>
            <a:off x="4580930" y="3300315"/>
            <a:ext cx="3036236" cy="1467514"/>
          </a:xfrm>
          <a:prstGeom prst="rect">
            <a:avLst/>
          </a:prstGeom>
        </p:spPr>
      </p:pic>
      <p:sp>
        <p:nvSpPr>
          <p:cNvPr id="14" name="Text 10"/>
          <p:cNvSpPr/>
          <p:nvPr/>
        </p:nvSpPr>
        <p:spPr>
          <a:xfrm>
            <a:off x="4605527" y="4780413"/>
            <a:ext cx="2980944" cy="411480"/>
          </a:xfrm>
          <a:prstGeom prst="rect">
            <a:avLst/>
          </a:prstGeom>
          <a:noFill/>
          <a:ln/>
        </p:spPr>
        <p:txBody>
          <a:bodyPr wrap="square" rtlCol="0" anchor="ctr"/>
          <a:lstStyle/>
          <a:p>
            <a:pPr marL="0" indent="0" algn="ctr">
              <a:buNone/>
            </a:pPr>
            <a:r>
              <a:rPr lang="en-US" sz="1800" b="1" dirty="0">
                <a:solidFill>
                  <a:srgbClr val="7030A0"/>
                </a:solidFill>
                <a:latin typeface="Arial" panose="020B0604020202020204" pitchFamily="34" charset="0"/>
                <a:ea typeface="Calibri" pitchFamily="34" charset="-122"/>
                <a:cs typeface="Arial" panose="020B0604020202020204" pitchFamily="34" charset="0"/>
              </a:rPr>
              <a:t>Each smooth is a spline</a:t>
            </a:r>
          </a:p>
        </p:txBody>
      </p:sp>
      <p:sp>
        <p:nvSpPr>
          <p:cNvPr id="15" name="Text 11"/>
          <p:cNvSpPr/>
          <p:nvPr/>
        </p:nvSpPr>
        <p:spPr>
          <a:xfrm>
            <a:off x="4645152" y="5180340"/>
            <a:ext cx="2944368" cy="1206500"/>
          </a:xfrm>
          <a:prstGeom prst="rect">
            <a:avLst/>
          </a:prstGeom>
          <a:noFill/>
          <a:ln/>
        </p:spPr>
        <p:txBody>
          <a:bodyPr wrap="square" rtlCol="0" anchor="t"/>
          <a:lstStyle/>
          <a:p>
            <a:pPr marL="0" indent="0" algn="ctr">
              <a:lnSpc>
                <a:spcPct val="105000"/>
              </a:lnSpc>
              <a:buNone/>
            </a:pPr>
            <a:r>
              <a:rPr lang="en-US" sz="1800" dirty="0">
                <a:solidFill>
                  <a:srgbClr val="1A1A1A"/>
                </a:solidFill>
                <a:latin typeface="Arial" panose="020B0604020202020204" pitchFamily="34" charset="0"/>
                <a:ea typeface="Calibri" pitchFamily="34" charset="-122"/>
                <a:cs typeface="Arial" panose="020B0604020202020204" pitchFamily="34" charset="0"/>
              </a:rPr>
              <a:t>That flexibility comes from joining simple pieces, like the shipyard strip bending through its points.</a:t>
            </a:r>
          </a:p>
        </p:txBody>
      </p:sp>
      <p:sp>
        <p:nvSpPr>
          <p:cNvPr id="16" name="Shape 12"/>
          <p:cNvSpPr/>
          <p:nvPr/>
        </p:nvSpPr>
        <p:spPr>
          <a:xfrm>
            <a:off x="8247888" y="2800328"/>
            <a:ext cx="3383280" cy="3695700"/>
          </a:xfrm>
          <a:prstGeom prst="roundRect">
            <a:avLst>
              <a:gd name="adj" fmla="val 3380"/>
            </a:avLst>
          </a:prstGeom>
          <a:solidFill>
            <a:srgbClr val="F5F4F7"/>
          </a:solidFill>
          <a:ln w="12700">
            <a:solidFill>
              <a:srgbClr val="E4E2E8"/>
            </a:solidFill>
            <a:prstDash val="solid"/>
          </a:ln>
          <a:effectLst>
            <a:outerShdw blurRad="76200" dist="25400" dir="5400000" algn="bl" rotWithShape="0">
              <a:srgbClr val="8A8A8A">
                <a:alpha val="28000"/>
              </a:srgbClr>
            </a:outerShdw>
          </a:effectLst>
        </p:spPr>
        <p:txBody>
          <a:bodyPr/>
          <a:lstStyle/>
          <a:p>
            <a:endParaRPr lang="en-US"/>
          </a:p>
        </p:txBody>
      </p:sp>
      <p:sp>
        <p:nvSpPr>
          <p:cNvPr id="17" name="Shape 13"/>
          <p:cNvSpPr/>
          <p:nvPr/>
        </p:nvSpPr>
        <p:spPr>
          <a:xfrm>
            <a:off x="8449056" y="2983208"/>
            <a:ext cx="384048" cy="384048"/>
          </a:xfrm>
          <a:prstGeom prst="ellipse">
            <a:avLst/>
          </a:prstGeom>
          <a:solidFill>
            <a:srgbClr val="7030A0"/>
          </a:solidFill>
          <a:ln/>
        </p:spPr>
        <p:txBody>
          <a:bodyPr/>
          <a:lstStyle/>
          <a:p>
            <a:endParaRPr lang="en-US"/>
          </a:p>
        </p:txBody>
      </p:sp>
      <p:sp>
        <p:nvSpPr>
          <p:cNvPr id="18" name="Text 14"/>
          <p:cNvSpPr/>
          <p:nvPr/>
        </p:nvSpPr>
        <p:spPr>
          <a:xfrm>
            <a:off x="8449056" y="298320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pic>
        <p:nvPicPr>
          <p:cNvPr id="19" name="Image 2" descr="preencoded.png"/>
          <p:cNvPicPr>
            <a:picLocks noChangeAspect="1"/>
          </p:cNvPicPr>
          <p:nvPr/>
        </p:nvPicPr>
        <p:blipFill>
          <a:blip r:embed="rId5"/>
          <a:stretch>
            <a:fillRect/>
          </a:stretch>
        </p:blipFill>
        <p:spPr>
          <a:xfrm>
            <a:off x="8428321" y="3274727"/>
            <a:ext cx="2995583" cy="1447865"/>
          </a:xfrm>
          <a:prstGeom prst="rect">
            <a:avLst/>
          </a:prstGeom>
        </p:spPr>
      </p:pic>
      <p:sp>
        <p:nvSpPr>
          <p:cNvPr id="20" name="Text 15"/>
          <p:cNvSpPr/>
          <p:nvPr/>
        </p:nvSpPr>
        <p:spPr>
          <a:xfrm>
            <a:off x="8435640" y="4792802"/>
            <a:ext cx="2980944" cy="411480"/>
          </a:xfrm>
          <a:prstGeom prst="rect">
            <a:avLst/>
          </a:prstGeom>
          <a:noFill/>
          <a:ln/>
        </p:spPr>
        <p:txBody>
          <a:bodyPr wrap="square" rtlCol="0" anchor="ctr"/>
          <a:lstStyle/>
          <a:p>
            <a:pPr marL="0" indent="0" algn="ctr">
              <a:buNone/>
            </a:pPr>
            <a:r>
              <a:rPr lang="en-US" sz="1800" b="1" dirty="0">
                <a:solidFill>
                  <a:srgbClr val="7030A0"/>
                </a:solidFill>
                <a:latin typeface="Arial" panose="020B0604020202020204" pitchFamily="34" charset="0"/>
                <a:ea typeface="Calibri" pitchFamily="34" charset="-122"/>
                <a:cs typeface="Arial" panose="020B0604020202020204" pitchFamily="34" charset="0"/>
              </a:rPr>
              <a:t>Flexibility cuts both ways</a:t>
            </a:r>
          </a:p>
        </p:txBody>
      </p:sp>
      <p:sp>
        <p:nvSpPr>
          <p:cNvPr id="21" name="Text 16"/>
          <p:cNvSpPr/>
          <p:nvPr/>
        </p:nvSpPr>
        <p:spPr>
          <a:xfrm>
            <a:off x="8380476" y="5168034"/>
            <a:ext cx="3118104" cy="1258332"/>
          </a:xfrm>
          <a:prstGeom prst="rect">
            <a:avLst/>
          </a:prstGeom>
          <a:noFill/>
          <a:ln/>
        </p:spPr>
        <p:txBody>
          <a:bodyPr wrap="square" rtlCol="0" anchor="t"/>
          <a:lstStyle/>
          <a:p>
            <a:pPr marL="0" indent="0" algn="ctr">
              <a:lnSpc>
                <a:spcPct val="105000"/>
              </a:lnSpc>
              <a:buNone/>
            </a:pPr>
            <a:r>
              <a:rPr lang="en-US" sz="1800" dirty="0">
                <a:solidFill>
                  <a:srgbClr val="1A1A1A"/>
                </a:solidFill>
                <a:latin typeface="Arial" panose="020B0604020202020204" pitchFamily="34" charset="0"/>
                <a:ea typeface="Calibri" pitchFamily="34" charset="-122"/>
                <a:cs typeface="Arial" panose="020B0604020202020204" pitchFamily="34" charset="0"/>
              </a:rPr>
              <a:t>Too wiggly overfits; too smooth misses the signal. A penalty (λ), fit automatically, finds the right balance.</a:t>
            </a:r>
          </a:p>
        </p:txBody>
      </p:sp>
      <p:sp>
        <p:nvSpPr>
          <p:cNvPr id="22" name="Text 17"/>
          <p:cNvSpPr/>
          <p:nvPr/>
        </p:nvSpPr>
        <p:spPr>
          <a:xfrm>
            <a:off x="3904488" y="4011908"/>
            <a:ext cx="548640" cy="548640"/>
          </a:xfrm>
          <a:prstGeom prst="rect">
            <a:avLst/>
          </a:prstGeom>
          <a:noFill/>
          <a:ln/>
        </p:spPr>
        <p:txBody>
          <a:bodyPr wrap="square" lIns="0" tIns="0" rIns="0" bIns="0" rtlCol="0" anchor="ctr"/>
          <a:lstStyle/>
          <a:p>
            <a:pPr marL="0" indent="0" algn="ctr">
              <a:buNone/>
            </a:pPr>
            <a:r>
              <a:rPr lang="en-US" sz="3000" b="1" dirty="0">
                <a:solidFill>
                  <a:srgbClr val="9AA0A6"/>
                </a:solidFill>
                <a:latin typeface="Calibri" pitchFamily="34" charset="0"/>
                <a:ea typeface="Calibri" pitchFamily="34" charset="-122"/>
                <a:cs typeface="Calibri" pitchFamily="34" charset="-120"/>
              </a:rPr>
              <a:t>→</a:t>
            </a:r>
            <a:endParaRPr lang="en-US" sz="3000" dirty="0"/>
          </a:p>
        </p:txBody>
      </p:sp>
      <p:sp>
        <p:nvSpPr>
          <p:cNvPr id="23" name="Text 18"/>
          <p:cNvSpPr/>
          <p:nvPr/>
        </p:nvSpPr>
        <p:spPr>
          <a:xfrm>
            <a:off x="7744968" y="4011908"/>
            <a:ext cx="548640" cy="548640"/>
          </a:xfrm>
          <a:prstGeom prst="rect">
            <a:avLst/>
          </a:prstGeom>
          <a:noFill/>
          <a:ln/>
        </p:spPr>
        <p:txBody>
          <a:bodyPr wrap="square" lIns="0" tIns="0" rIns="0" bIns="0" rtlCol="0" anchor="ctr"/>
          <a:lstStyle/>
          <a:p>
            <a:pPr marL="0" indent="0" algn="ctr">
              <a:buNone/>
            </a:pPr>
            <a:r>
              <a:rPr lang="en-US" sz="3000" b="1" dirty="0">
                <a:solidFill>
                  <a:srgbClr val="9AA0A6"/>
                </a:solidFill>
                <a:latin typeface="Calibri" pitchFamily="34" charset="0"/>
                <a:ea typeface="Calibri" pitchFamily="34" charset="-122"/>
                <a:cs typeface="Calibri" pitchFamily="34" charset="-120"/>
              </a:rPr>
              <a:t>→</a:t>
            </a:r>
            <a:endParaRPr lang="en-US" sz="3000" dirty="0"/>
          </a:p>
        </p:txBody>
      </p:sp>
    </p:spTree>
    <p:extLst>
      <p:ext uri="{BB962C8B-B14F-4D97-AF65-F5344CB8AC3E}">
        <p14:creationId xmlns:p14="http://schemas.microsoft.com/office/powerpoint/2010/main" val="12916902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E65C434-4B61-6017-8BA2-CBEAE1EA1A5C}"/>
              </a:ext>
            </a:extLst>
          </p:cNvPr>
          <p:cNvSpPr txBox="1"/>
          <p:nvPr/>
        </p:nvSpPr>
        <p:spPr>
          <a:xfrm>
            <a:off x="6494506" y="6550223"/>
            <a:ext cx="5627281" cy="615553"/>
          </a:xfrm>
          <a:prstGeom prst="rect">
            <a:avLst/>
          </a:prstGeom>
          <a:noFill/>
        </p:spPr>
        <p:txBody>
          <a:bodyPr wrap="square" rtlCol="0">
            <a:spAutoFit/>
          </a:bodyPr>
          <a:lstStyle/>
          <a:p>
            <a:pPr algn="r"/>
            <a:r>
              <a:rPr lang="en-US" sz="1600" dirty="0">
                <a:solidFill>
                  <a:schemeClr val="bg2">
                    <a:lumMod val="50000"/>
                  </a:schemeClr>
                </a:solidFill>
                <a:latin typeface="Arial" panose="020B0604020202020204" pitchFamily="34" charset="0"/>
                <a:cs typeface="Arial" panose="020B0604020202020204" pitchFamily="34" charset="0"/>
              </a:rPr>
              <a:t>Generated with Claude, for illustration purposes only. </a:t>
            </a:r>
          </a:p>
          <a:p>
            <a:endParaRPr lang="en-US" dirty="0"/>
          </a:p>
        </p:txBody>
      </p:sp>
      <p:pic>
        <p:nvPicPr>
          <p:cNvPr id="12" name="Picture 11">
            <a:extLst>
              <a:ext uri="{FF2B5EF4-FFF2-40B4-BE49-F238E27FC236}">
                <a16:creationId xmlns:a16="http://schemas.microsoft.com/office/drawing/2014/main" id="{7A58107E-5D06-BAD0-6176-FD0DAA1B8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717" y="108154"/>
            <a:ext cx="11452567" cy="6442069"/>
          </a:xfrm>
          <a:prstGeom prst="rect">
            <a:avLst/>
          </a:prstGeom>
        </p:spPr>
      </p:pic>
    </p:spTree>
    <p:extLst>
      <p:ext uri="{BB962C8B-B14F-4D97-AF65-F5344CB8AC3E}">
        <p14:creationId xmlns:p14="http://schemas.microsoft.com/office/powerpoint/2010/main" val="4692705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F3DDA-5F73-9977-40A4-F536C2622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E312B-8160-8708-56C6-72D32A424B42}"/>
              </a:ext>
            </a:extLst>
          </p:cNvPr>
          <p:cNvSpPr>
            <a:spLocks noGrp="1"/>
          </p:cNvSpPr>
          <p:nvPr>
            <p:ph type="title"/>
          </p:nvPr>
        </p:nvSpPr>
        <p:spPr>
          <a:xfrm>
            <a:off x="838200" y="128253"/>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Example Model Overview(s)</a:t>
            </a:r>
          </a:p>
        </p:txBody>
      </p:sp>
      <p:sp>
        <p:nvSpPr>
          <p:cNvPr id="5" name="OB0">
            <a:extLst>
              <a:ext uri="{FF2B5EF4-FFF2-40B4-BE49-F238E27FC236}">
                <a16:creationId xmlns:a16="http://schemas.microsoft.com/office/drawing/2014/main" id="{CE5454A2-39D9-D8F8-CCD8-ED56774D0321}"/>
              </a:ext>
            </a:extLst>
          </p:cNvPr>
          <p:cNvSpPr/>
          <p:nvPr/>
        </p:nvSpPr>
        <p:spPr>
          <a:xfrm>
            <a:off x="838200" y="1568116"/>
            <a:ext cx="5105400" cy="2006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OH0">
            <a:extLst>
              <a:ext uri="{FF2B5EF4-FFF2-40B4-BE49-F238E27FC236}">
                <a16:creationId xmlns:a16="http://schemas.microsoft.com/office/drawing/2014/main" id="{2DA4662F-2D6B-61AA-41F2-A8EBCF9FA818}"/>
              </a:ext>
            </a:extLst>
          </p:cNvPr>
          <p:cNvSpPr/>
          <p:nvPr/>
        </p:nvSpPr>
        <p:spPr>
          <a:xfrm>
            <a:off x="838200" y="1568116"/>
            <a:ext cx="51054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300" b="1" dirty="0">
                <a:solidFill>
                  <a:srgbClr val="FFFFFF"/>
                </a:solidFill>
                <a:latin typeface="Arial"/>
                <a:cs typeface="Arial"/>
              </a:rPr>
              <a:t>ARIMA</a:t>
            </a:r>
            <a:r>
              <a:rPr lang="en-US" sz="2300" dirty="0">
                <a:solidFill>
                  <a:srgbClr val="E7DEF3"/>
                </a:solidFill>
                <a:latin typeface="Arial"/>
                <a:cs typeface="Arial"/>
              </a:rPr>
              <a:t>  —  Statistical</a:t>
            </a:r>
          </a:p>
        </p:txBody>
      </p:sp>
      <p:sp>
        <p:nvSpPr>
          <p:cNvPr id="9" name="OA0">
            <a:extLst>
              <a:ext uri="{FF2B5EF4-FFF2-40B4-BE49-F238E27FC236}">
                <a16:creationId xmlns:a16="http://schemas.microsoft.com/office/drawing/2014/main" id="{A23D73DA-7946-5A1C-CD7F-59A06B2EDD4B}"/>
              </a:ext>
            </a:extLst>
          </p:cNvPr>
          <p:cNvSpPr/>
          <p:nvPr/>
        </p:nvSpPr>
        <p:spPr>
          <a:xfrm>
            <a:off x="838200" y="1568116"/>
            <a:ext cx="51054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OD0">
            <a:extLst>
              <a:ext uri="{FF2B5EF4-FFF2-40B4-BE49-F238E27FC236}">
                <a16:creationId xmlns:a16="http://schemas.microsoft.com/office/drawing/2014/main" id="{DF5FD7DA-AC43-EAE4-1BA0-93959E875DCA}"/>
              </a:ext>
            </a:extLst>
          </p:cNvPr>
          <p:cNvSpPr txBox="1"/>
          <p:nvPr/>
        </p:nvSpPr>
        <p:spPr>
          <a:xfrm>
            <a:off x="1041400" y="2304716"/>
            <a:ext cx="4699000" cy="1117600"/>
          </a:xfrm>
          <a:prstGeom prst="rect">
            <a:avLst/>
          </a:prstGeom>
          <a:noFill/>
        </p:spPr>
        <p:txBody>
          <a:bodyPr wrap="square" lIns="0" tIns="0" rIns="0" bIns="0" anchor="t">
            <a:normAutofit/>
          </a:bodyPr>
          <a:lstStyle/>
          <a:p>
            <a:pPr algn="l"/>
            <a:r>
              <a:rPr lang="en-US" sz="2200" dirty="0">
                <a:solidFill>
                  <a:srgbClr val="333333"/>
                </a:solidFill>
                <a:latin typeface="Arial"/>
                <a:cs typeface="Arial"/>
              </a:rPr>
              <a:t>Models a series from its own past — autocorrelation, trend (via differencing), and seasonality.</a:t>
            </a:r>
          </a:p>
        </p:txBody>
      </p:sp>
      <p:sp>
        <p:nvSpPr>
          <p:cNvPr id="13" name="OB1">
            <a:extLst>
              <a:ext uri="{FF2B5EF4-FFF2-40B4-BE49-F238E27FC236}">
                <a16:creationId xmlns:a16="http://schemas.microsoft.com/office/drawing/2014/main" id="{AF0C0E30-7C28-93CC-7F0C-418E4051CE2A}"/>
              </a:ext>
            </a:extLst>
          </p:cNvPr>
          <p:cNvSpPr/>
          <p:nvPr/>
        </p:nvSpPr>
        <p:spPr>
          <a:xfrm>
            <a:off x="6248400" y="1568116"/>
            <a:ext cx="5105400" cy="2006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OH1">
            <a:extLst>
              <a:ext uri="{FF2B5EF4-FFF2-40B4-BE49-F238E27FC236}">
                <a16:creationId xmlns:a16="http://schemas.microsoft.com/office/drawing/2014/main" id="{D6970BF1-C5F7-350C-E982-910E553377BE}"/>
              </a:ext>
            </a:extLst>
          </p:cNvPr>
          <p:cNvSpPr/>
          <p:nvPr/>
        </p:nvSpPr>
        <p:spPr>
          <a:xfrm>
            <a:off x="6248400" y="1568116"/>
            <a:ext cx="51054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300" b="1" dirty="0">
                <a:solidFill>
                  <a:srgbClr val="FFFFFF"/>
                </a:solidFill>
                <a:latin typeface="Arial"/>
                <a:cs typeface="Arial"/>
              </a:rPr>
              <a:t>GAM</a:t>
            </a:r>
            <a:r>
              <a:rPr lang="en-US" sz="2300" dirty="0">
                <a:solidFill>
                  <a:srgbClr val="E7DEF3"/>
                </a:solidFill>
                <a:latin typeface="Arial"/>
                <a:cs typeface="Arial"/>
              </a:rPr>
              <a:t>  —  Statistical</a:t>
            </a:r>
          </a:p>
        </p:txBody>
      </p:sp>
      <p:sp>
        <p:nvSpPr>
          <p:cNvPr id="17" name="OA1">
            <a:extLst>
              <a:ext uri="{FF2B5EF4-FFF2-40B4-BE49-F238E27FC236}">
                <a16:creationId xmlns:a16="http://schemas.microsoft.com/office/drawing/2014/main" id="{1E1902CD-B627-B5D6-0FF4-1468D30B22D8}"/>
              </a:ext>
            </a:extLst>
          </p:cNvPr>
          <p:cNvSpPr/>
          <p:nvPr/>
        </p:nvSpPr>
        <p:spPr>
          <a:xfrm>
            <a:off x="6248400" y="1568116"/>
            <a:ext cx="51054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OD1">
            <a:extLst>
              <a:ext uri="{FF2B5EF4-FFF2-40B4-BE49-F238E27FC236}">
                <a16:creationId xmlns:a16="http://schemas.microsoft.com/office/drawing/2014/main" id="{47669527-7704-842D-A361-EBDE250E80CD}"/>
              </a:ext>
            </a:extLst>
          </p:cNvPr>
          <p:cNvSpPr txBox="1"/>
          <p:nvPr/>
        </p:nvSpPr>
        <p:spPr>
          <a:xfrm>
            <a:off x="6451600" y="2304716"/>
            <a:ext cx="4699000" cy="1117600"/>
          </a:xfrm>
          <a:prstGeom prst="rect">
            <a:avLst/>
          </a:prstGeom>
          <a:noFill/>
        </p:spPr>
        <p:txBody>
          <a:bodyPr wrap="square" lIns="0" tIns="0" rIns="0" bIns="0" anchor="t">
            <a:normAutofit/>
          </a:bodyPr>
          <a:lstStyle/>
          <a:p>
            <a:pPr algn="l"/>
            <a:r>
              <a:rPr lang="en-US" sz="2200" dirty="0">
                <a:solidFill>
                  <a:srgbClr val="333333"/>
                </a:solidFill>
                <a:latin typeface="Arial"/>
                <a:cs typeface="Arial"/>
              </a:rPr>
              <a:t>Flexible regression using smooth spline terms to capture nonlinear trends and seasonality.</a:t>
            </a:r>
          </a:p>
        </p:txBody>
      </p:sp>
      <p:sp>
        <p:nvSpPr>
          <p:cNvPr id="21" name="OB2">
            <a:extLst>
              <a:ext uri="{FF2B5EF4-FFF2-40B4-BE49-F238E27FC236}">
                <a16:creationId xmlns:a16="http://schemas.microsoft.com/office/drawing/2014/main" id="{B20169D7-927B-BA48-5762-222EDC484AA3}"/>
              </a:ext>
            </a:extLst>
          </p:cNvPr>
          <p:cNvSpPr/>
          <p:nvPr/>
        </p:nvSpPr>
        <p:spPr>
          <a:xfrm>
            <a:off x="838200" y="4140200"/>
            <a:ext cx="5105400" cy="2006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OH2">
            <a:extLst>
              <a:ext uri="{FF2B5EF4-FFF2-40B4-BE49-F238E27FC236}">
                <a16:creationId xmlns:a16="http://schemas.microsoft.com/office/drawing/2014/main" id="{33E62196-ADF8-BFE5-BD55-6DAC8F424687}"/>
              </a:ext>
            </a:extLst>
          </p:cNvPr>
          <p:cNvSpPr/>
          <p:nvPr/>
        </p:nvSpPr>
        <p:spPr>
          <a:xfrm>
            <a:off x="838200" y="4140200"/>
            <a:ext cx="51054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300" b="1" dirty="0" err="1">
                <a:solidFill>
                  <a:srgbClr val="FFFFFF"/>
                </a:solidFill>
                <a:latin typeface="Arial"/>
                <a:cs typeface="Arial"/>
              </a:rPr>
              <a:t>XGBoost</a:t>
            </a:r>
            <a:r>
              <a:rPr lang="en-US" sz="2300" dirty="0">
                <a:solidFill>
                  <a:srgbClr val="E7DEF3"/>
                </a:solidFill>
                <a:latin typeface="Arial"/>
                <a:cs typeface="Arial"/>
              </a:rPr>
              <a:t>  —  Machine learning</a:t>
            </a:r>
          </a:p>
        </p:txBody>
      </p:sp>
      <p:sp>
        <p:nvSpPr>
          <p:cNvPr id="25" name="OA2">
            <a:extLst>
              <a:ext uri="{FF2B5EF4-FFF2-40B4-BE49-F238E27FC236}">
                <a16:creationId xmlns:a16="http://schemas.microsoft.com/office/drawing/2014/main" id="{23EC673F-E56F-47B8-3C92-FB8798D39F60}"/>
              </a:ext>
            </a:extLst>
          </p:cNvPr>
          <p:cNvSpPr/>
          <p:nvPr/>
        </p:nvSpPr>
        <p:spPr>
          <a:xfrm>
            <a:off x="838200" y="4079641"/>
            <a:ext cx="51054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OD2">
            <a:extLst>
              <a:ext uri="{FF2B5EF4-FFF2-40B4-BE49-F238E27FC236}">
                <a16:creationId xmlns:a16="http://schemas.microsoft.com/office/drawing/2014/main" id="{37FCDFC5-D782-9F28-D2C5-87F7630902FD}"/>
              </a:ext>
            </a:extLst>
          </p:cNvPr>
          <p:cNvSpPr txBox="1"/>
          <p:nvPr/>
        </p:nvSpPr>
        <p:spPr>
          <a:xfrm>
            <a:off x="1041400" y="4876800"/>
            <a:ext cx="4699000" cy="1117600"/>
          </a:xfrm>
          <a:prstGeom prst="rect">
            <a:avLst/>
          </a:prstGeom>
          <a:noFill/>
        </p:spPr>
        <p:txBody>
          <a:bodyPr wrap="square" lIns="0" tIns="0" rIns="0" bIns="0" anchor="t">
            <a:normAutofit/>
          </a:bodyPr>
          <a:lstStyle/>
          <a:p>
            <a:pPr algn="l"/>
            <a:r>
              <a:rPr lang="en-US" sz="2200" dirty="0">
                <a:solidFill>
                  <a:srgbClr val="333333"/>
                </a:solidFill>
                <a:latin typeface="Arial"/>
                <a:cs typeface="Arial"/>
              </a:rPr>
              <a:t>Gradient-boosted decision trees that learn from engineered features and lagged predictors.</a:t>
            </a:r>
          </a:p>
        </p:txBody>
      </p:sp>
    </p:spTree>
    <p:extLst>
      <p:ext uri="{BB962C8B-B14F-4D97-AF65-F5344CB8AC3E}">
        <p14:creationId xmlns:p14="http://schemas.microsoft.com/office/powerpoint/2010/main" val="1560390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66F9F-96F7-C63F-8F8C-40BC461CFFAE}"/>
              </a:ext>
            </a:extLst>
          </p:cNvPr>
          <p:cNvSpPr>
            <a:spLocks noGrp="1"/>
          </p:cNvSpPr>
          <p:nvPr>
            <p:ph type="title"/>
          </p:nvPr>
        </p:nvSpPr>
        <p:spPr/>
        <p:txBody>
          <a:bodyPr/>
          <a:lstStyle/>
          <a:p>
            <a:pPr algn="l"/>
            <a:r>
              <a:rPr lang="en-US" sz="3000" b="1">
                <a:solidFill>
                  <a:srgbClr val="1A1A2E"/>
                </a:solidFill>
                <a:latin typeface="Arial"/>
                <a:cs typeface="Arial"/>
              </a:rPr>
              <a:t>XGBoost: Boosting Intuition</a:t>
            </a:r>
          </a:p>
        </p:txBody>
      </p:sp>
      <p:sp>
        <p:nvSpPr>
          <p:cNvPr id="3" name="Content Placeholder 2">
            <a:extLst>
              <a:ext uri="{FF2B5EF4-FFF2-40B4-BE49-F238E27FC236}">
                <a16:creationId xmlns:a16="http://schemas.microsoft.com/office/drawing/2014/main" id="{096B1A6D-825D-411F-EC16-3282D5969B92}"/>
              </a:ext>
            </a:extLst>
          </p:cNvPr>
          <p:cNvSpPr>
            <a:spLocks noGrp="1"/>
          </p:cNvSpPr>
          <p:nvPr>
            <p:ph idx="1"/>
          </p:nvPr>
        </p:nvSpPr>
        <p:spPr>
          <a:xfrm>
            <a:off x="762000" y="1905000"/>
            <a:ext cx="6070600" cy="3759200"/>
          </a:xfrm>
        </p:spPr>
        <p:txBody>
          <a:bodyPr>
            <a:normAutofit fontScale="92500" lnSpcReduction="20000"/>
          </a:bodyPr>
          <a:lstStyle/>
          <a:p>
            <a:pPr marL="0" indent="0" algn="l">
              <a:lnSpc>
                <a:spcPct val="110000"/>
              </a:lnSpc>
              <a:spcBef>
                <a:spcPts val="0"/>
              </a:spcBef>
              <a:spcAft>
                <a:spcPts val="1200"/>
              </a:spcAft>
              <a:buNone/>
            </a:pPr>
            <a:r>
              <a:rPr lang="en-US" sz="1800" dirty="0" err="1">
                <a:solidFill>
                  <a:srgbClr val="333333"/>
                </a:solidFill>
                <a:latin typeface="Arial"/>
                <a:cs typeface="Arial"/>
              </a:rPr>
              <a:t>XGBoost</a:t>
            </a:r>
            <a:r>
              <a:rPr lang="en-US" sz="1800" dirty="0">
                <a:solidFill>
                  <a:srgbClr val="333333"/>
                </a:solidFill>
                <a:latin typeface="Arial"/>
                <a:cs typeface="Arial"/>
              </a:rPr>
              <a:t> builds its forecast from many small decision trees, added one at a time:</a:t>
            </a:r>
          </a:p>
          <a:p>
            <a:pPr marL="0" indent="0" algn="l">
              <a:lnSpc>
                <a:spcPct val="110000"/>
              </a:lnSpc>
              <a:spcBef>
                <a:spcPts val="0"/>
              </a:spcBef>
              <a:buNone/>
            </a:pPr>
            <a:r>
              <a:rPr lang="en-US" sz="1800" b="1" dirty="0">
                <a:solidFill>
                  <a:srgbClr val="522D80"/>
                </a:solidFill>
                <a:latin typeface="Arial"/>
                <a:cs typeface="Arial"/>
              </a:rPr>
              <a:t>Start rough, then correct</a:t>
            </a:r>
          </a:p>
          <a:p>
            <a:pPr marL="0" indent="0" algn="l">
              <a:lnSpc>
                <a:spcPct val="110000"/>
              </a:lnSpc>
              <a:spcBef>
                <a:spcPts val="0"/>
              </a:spcBef>
              <a:spcAft>
                <a:spcPts val="1200"/>
              </a:spcAft>
              <a:buNone/>
            </a:pPr>
            <a:r>
              <a:rPr lang="en-US" sz="1700" dirty="0">
                <a:solidFill>
                  <a:srgbClr val="444444"/>
                </a:solidFill>
                <a:latin typeface="Arial"/>
                <a:cs typeface="Arial"/>
              </a:rPr>
              <a:t>Begin with a simple guess. Each new tree focuses on what the model still gets wrong (the residuals) and nudges the prediction closer to the truth.</a:t>
            </a:r>
            <a:endParaRPr lang="en-US" sz="1800" b="1" dirty="0">
              <a:solidFill>
                <a:srgbClr val="522D80"/>
              </a:solidFill>
              <a:latin typeface="Arial"/>
              <a:cs typeface="Arial"/>
            </a:endParaRPr>
          </a:p>
          <a:p>
            <a:pPr marL="0" indent="0" algn="l">
              <a:lnSpc>
                <a:spcPct val="110000"/>
              </a:lnSpc>
              <a:spcBef>
                <a:spcPts val="0"/>
              </a:spcBef>
              <a:buNone/>
            </a:pPr>
            <a:r>
              <a:rPr lang="en-US" sz="1800" b="1" dirty="0">
                <a:solidFill>
                  <a:srgbClr val="522D80"/>
                </a:solidFill>
                <a:latin typeface="Arial"/>
                <a:cs typeface="Arial"/>
              </a:rPr>
              <a:t>Trees are the building blocks</a:t>
            </a:r>
          </a:p>
          <a:p>
            <a:pPr marL="0" indent="0" algn="l">
              <a:lnSpc>
                <a:spcPct val="110000"/>
              </a:lnSpc>
              <a:spcBef>
                <a:spcPts val="0"/>
              </a:spcBef>
              <a:spcAft>
                <a:spcPts val="1200"/>
              </a:spcAft>
              <a:buNone/>
            </a:pPr>
            <a:r>
              <a:rPr lang="en-US" sz="1700" dirty="0">
                <a:solidFill>
                  <a:srgbClr val="444444"/>
                </a:solidFill>
                <a:latin typeface="Arial"/>
                <a:cs typeface="Arial"/>
              </a:rPr>
              <a:t>A decision tree asks simple yes/no questions (e.g. “was last week high?”) and predicts a value for each group it creates.</a:t>
            </a:r>
            <a:endParaRPr lang="en-US" sz="1800" b="1" dirty="0">
              <a:solidFill>
                <a:srgbClr val="522D80"/>
              </a:solidFill>
              <a:latin typeface="Arial"/>
              <a:cs typeface="Arial"/>
            </a:endParaRPr>
          </a:p>
          <a:p>
            <a:pPr marL="0" indent="0" algn="l">
              <a:lnSpc>
                <a:spcPct val="110000"/>
              </a:lnSpc>
              <a:spcBef>
                <a:spcPts val="0"/>
              </a:spcBef>
              <a:buNone/>
            </a:pPr>
            <a:r>
              <a:rPr lang="en-US" sz="1800" b="1" dirty="0">
                <a:solidFill>
                  <a:srgbClr val="522D80"/>
                </a:solidFill>
                <a:latin typeface="Arial"/>
                <a:cs typeface="Arial"/>
              </a:rPr>
              <a:t>Two dials keep it honest</a:t>
            </a:r>
          </a:p>
          <a:p>
            <a:pPr marL="0" indent="0" algn="l">
              <a:lnSpc>
                <a:spcPct val="110000"/>
              </a:lnSpc>
              <a:spcBef>
                <a:spcPts val="0"/>
              </a:spcBef>
              <a:spcAft>
                <a:spcPts val="1200"/>
              </a:spcAft>
              <a:buNone/>
            </a:pPr>
            <a:r>
              <a:rPr lang="en-US" sz="1700" b="1" dirty="0">
                <a:solidFill>
                  <a:srgbClr val="444444"/>
                </a:solidFill>
                <a:latin typeface="Arial"/>
                <a:cs typeface="Arial"/>
              </a:rPr>
              <a:t>Learning rate η </a:t>
            </a:r>
            <a:r>
              <a:rPr lang="en-US" sz="1700" dirty="0">
                <a:solidFill>
                  <a:srgbClr val="444444"/>
                </a:solidFill>
                <a:latin typeface="Arial"/>
                <a:cs typeface="Arial"/>
              </a:rPr>
              <a:t>sets how big each correction step is (small steps generalize better); </a:t>
            </a:r>
            <a:r>
              <a:rPr lang="en-US" sz="1700" b="1" dirty="0">
                <a:solidFill>
                  <a:srgbClr val="444444"/>
                </a:solidFill>
                <a:latin typeface="Arial"/>
                <a:cs typeface="Arial"/>
              </a:rPr>
              <a:t>regularization </a:t>
            </a:r>
            <a:r>
              <a:rPr lang="en-US" sz="1700" dirty="0">
                <a:solidFill>
                  <a:srgbClr val="444444"/>
                </a:solidFill>
                <a:latin typeface="Arial"/>
                <a:cs typeface="Arial"/>
              </a:rPr>
              <a:t>penalizes overly complex trees to prevent overfitting.</a:t>
            </a:r>
          </a:p>
        </p:txBody>
      </p:sp>
      <p:sp>
        <p:nvSpPr>
          <p:cNvPr id="4" name="TitleBar">
            <a:extLst>
              <a:ext uri="{FF2B5EF4-FFF2-40B4-BE49-F238E27FC236}">
                <a16:creationId xmlns:a16="http://schemas.microsoft.com/office/drawing/2014/main" id="{5881CCBB-0CC4-4903-80BB-1234332D1D10}"/>
              </a:ext>
            </a:extLst>
          </p:cNvPr>
          <p:cNvSpPr/>
          <p:nvPr/>
        </p:nvSpPr>
        <p:spPr>
          <a:xfrm>
            <a:off x="533400" y="457200"/>
            <a:ext cx="101600" cy="11176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DGCard">
            <a:extLst>
              <a:ext uri="{FF2B5EF4-FFF2-40B4-BE49-F238E27FC236}">
                <a16:creationId xmlns:a16="http://schemas.microsoft.com/office/drawing/2014/main" id="{CCAFB0E8-2DDF-4B38-864D-59D03787D489}"/>
              </a:ext>
            </a:extLst>
          </p:cNvPr>
          <p:cNvSpPr/>
          <p:nvPr/>
        </p:nvSpPr>
        <p:spPr>
          <a:xfrm>
            <a:off x="7061200" y="1905000"/>
            <a:ext cx="4419600" cy="3810000"/>
          </a:xfrm>
          <a:prstGeom prst="rect">
            <a:avLst/>
          </a:prstGeom>
          <a:solidFill>
            <a:srgbClr val="F3F0F7"/>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DGStrip">
            <a:extLst>
              <a:ext uri="{FF2B5EF4-FFF2-40B4-BE49-F238E27FC236}">
                <a16:creationId xmlns:a16="http://schemas.microsoft.com/office/drawing/2014/main" id="{3D76F733-181D-4AED-8AF3-1AD1F9D5B1B6}"/>
              </a:ext>
            </a:extLst>
          </p:cNvPr>
          <p:cNvSpPr/>
          <p:nvPr/>
        </p:nvSpPr>
        <p:spPr>
          <a:xfrm>
            <a:off x="7061200" y="1905000"/>
            <a:ext cx="44196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DGhead">
            <a:extLst>
              <a:ext uri="{FF2B5EF4-FFF2-40B4-BE49-F238E27FC236}">
                <a16:creationId xmlns:a16="http://schemas.microsoft.com/office/drawing/2014/main" id="{B2305DEA-1B69-42FF-BAAA-385F060CE227}"/>
              </a:ext>
            </a:extLst>
          </p:cNvPr>
          <p:cNvSpPr txBox="1"/>
          <p:nvPr/>
        </p:nvSpPr>
        <p:spPr>
          <a:xfrm>
            <a:off x="7264400" y="2082800"/>
            <a:ext cx="4064000" cy="304800"/>
          </a:xfrm>
          <a:prstGeom prst="rect">
            <a:avLst/>
          </a:prstGeom>
          <a:noFill/>
        </p:spPr>
        <p:txBody>
          <a:bodyPr vertOverflow="overflow" vert="horz" wrap="square" rtlCol="0" anchor="t">
            <a:spAutoFit/>
          </a:bodyPr>
          <a:lstStyle/>
          <a:p>
            <a:pPr algn="l"/>
            <a:r>
              <a:rPr lang="en-US" sz="1400" b="1">
                <a:solidFill>
                  <a:srgbClr val="522D80"/>
                </a:solidFill>
                <a:latin typeface="Arial"/>
                <a:cs typeface="Arial"/>
              </a:rPr>
              <a:t>Each tree fixes the last one’s errors</a:t>
            </a:r>
          </a:p>
        </p:txBody>
      </p:sp>
      <p:sp>
        <p:nvSpPr>
          <p:cNvPr id="8" name="DG_Tree1">
            <a:extLst>
              <a:ext uri="{FF2B5EF4-FFF2-40B4-BE49-F238E27FC236}">
                <a16:creationId xmlns:a16="http://schemas.microsoft.com/office/drawing/2014/main" id="{7C70C225-AB45-4F4A-83D1-31B1F0FEAAC0}"/>
              </a:ext>
            </a:extLst>
          </p:cNvPr>
          <p:cNvSpPr/>
          <p:nvPr/>
        </p:nvSpPr>
        <p:spPr>
          <a:xfrm>
            <a:off x="7315200" y="2717800"/>
            <a:ext cx="939800" cy="533400"/>
          </a:xfrm>
          <a:prstGeom prst="round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Arial"/>
                <a:cs typeface="Arial"/>
              </a:rPr>
              <a:t>Tree 1</a:t>
            </a:r>
          </a:p>
        </p:txBody>
      </p:sp>
      <p:sp>
        <p:nvSpPr>
          <p:cNvPr id="9" name="DG_Tree2">
            <a:extLst>
              <a:ext uri="{FF2B5EF4-FFF2-40B4-BE49-F238E27FC236}">
                <a16:creationId xmlns:a16="http://schemas.microsoft.com/office/drawing/2014/main" id="{08D43702-28C3-47CC-AC42-CC23CC2B437A}"/>
              </a:ext>
            </a:extLst>
          </p:cNvPr>
          <p:cNvSpPr/>
          <p:nvPr/>
        </p:nvSpPr>
        <p:spPr>
          <a:xfrm>
            <a:off x="8534400" y="2717800"/>
            <a:ext cx="939800" cy="533400"/>
          </a:xfrm>
          <a:prstGeom prst="round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Arial"/>
                <a:cs typeface="Arial"/>
              </a:rPr>
              <a:t>Tree 2</a:t>
            </a:r>
          </a:p>
        </p:txBody>
      </p:sp>
      <p:sp>
        <p:nvSpPr>
          <p:cNvPr id="10" name="DG_Tree3">
            <a:extLst>
              <a:ext uri="{FF2B5EF4-FFF2-40B4-BE49-F238E27FC236}">
                <a16:creationId xmlns:a16="http://schemas.microsoft.com/office/drawing/2014/main" id="{A5579476-E83E-431F-A906-5CCAE18E4ABB}"/>
              </a:ext>
            </a:extLst>
          </p:cNvPr>
          <p:cNvSpPr/>
          <p:nvPr/>
        </p:nvSpPr>
        <p:spPr>
          <a:xfrm>
            <a:off x="9753600" y="2717800"/>
            <a:ext cx="939800" cy="533400"/>
          </a:xfrm>
          <a:prstGeom prst="round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Arial"/>
                <a:cs typeface="Arial"/>
              </a:rPr>
              <a:t>Tree 3</a:t>
            </a:r>
          </a:p>
        </p:txBody>
      </p:sp>
      <p:sp>
        <p:nvSpPr>
          <p:cNvPr id="11" name="DGa1">
            <a:extLst>
              <a:ext uri="{FF2B5EF4-FFF2-40B4-BE49-F238E27FC236}">
                <a16:creationId xmlns:a16="http://schemas.microsoft.com/office/drawing/2014/main" id="{13C51C19-5CFE-4380-990C-C0EDA671068E}"/>
              </a:ext>
            </a:extLst>
          </p:cNvPr>
          <p:cNvSpPr/>
          <p:nvPr/>
        </p:nvSpPr>
        <p:spPr>
          <a:xfrm>
            <a:off x="8280400" y="2870200"/>
            <a:ext cx="228600" cy="203200"/>
          </a:xfrm>
          <a:prstGeom prst="rightArrow">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DGa2">
            <a:extLst>
              <a:ext uri="{FF2B5EF4-FFF2-40B4-BE49-F238E27FC236}">
                <a16:creationId xmlns:a16="http://schemas.microsoft.com/office/drawing/2014/main" id="{74307CA1-4009-449D-98D2-3D2C7B595CD6}"/>
              </a:ext>
            </a:extLst>
          </p:cNvPr>
          <p:cNvSpPr/>
          <p:nvPr/>
        </p:nvSpPr>
        <p:spPr>
          <a:xfrm>
            <a:off x="9499600" y="2870200"/>
            <a:ext cx="228600" cy="203200"/>
          </a:xfrm>
          <a:prstGeom prst="rightArrow">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DGbar0">
            <a:extLst>
              <a:ext uri="{FF2B5EF4-FFF2-40B4-BE49-F238E27FC236}">
                <a16:creationId xmlns:a16="http://schemas.microsoft.com/office/drawing/2014/main" id="{972D6500-63F2-483E-A87F-9741F7549688}"/>
              </a:ext>
            </a:extLst>
          </p:cNvPr>
          <p:cNvSpPr/>
          <p:nvPr/>
        </p:nvSpPr>
        <p:spPr>
          <a:xfrm>
            <a:off x="7708900" y="3759200"/>
            <a:ext cx="177800" cy="736600"/>
          </a:xfrm>
          <a:prstGeom prst="rect">
            <a:avLst/>
          </a:prstGeom>
          <a:solidFill>
            <a:srgbClr val="F6A4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DGbar1">
            <a:extLst>
              <a:ext uri="{FF2B5EF4-FFF2-40B4-BE49-F238E27FC236}">
                <a16:creationId xmlns:a16="http://schemas.microsoft.com/office/drawing/2014/main" id="{19E527C4-F87C-4B5B-BEBF-B2A472902220}"/>
              </a:ext>
            </a:extLst>
          </p:cNvPr>
          <p:cNvSpPr/>
          <p:nvPr/>
        </p:nvSpPr>
        <p:spPr>
          <a:xfrm>
            <a:off x="8928100" y="3962400"/>
            <a:ext cx="177800" cy="533400"/>
          </a:xfrm>
          <a:prstGeom prst="rect">
            <a:avLst/>
          </a:prstGeom>
          <a:solidFill>
            <a:srgbClr val="F6A4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DGbar2">
            <a:extLst>
              <a:ext uri="{FF2B5EF4-FFF2-40B4-BE49-F238E27FC236}">
                <a16:creationId xmlns:a16="http://schemas.microsoft.com/office/drawing/2014/main" id="{77F5BA33-ACBA-4261-AFC1-8BF216B8B113}"/>
              </a:ext>
            </a:extLst>
          </p:cNvPr>
          <p:cNvSpPr/>
          <p:nvPr/>
        </p:nvSpPr>
        <p:spPr>
          <a:xfrm>
            <a:off x="10147300" y="4191000"/>
            <a:ext cx="177800" cy="304800"/>
          </a:xfrm>
          <a:prstGeom prst="rect">
            <a:avLst/>
          </a:prstGeom>
          <a:solidFill>
            <a:srgbClr val="F6A46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DGbase">
            <a:extLst>
              <a:ext uri="{FF2B5EF4-FFF2-40B4-BE49-F238E27FC236}">
                <a16:creationId xmlns:a16="http://schemas.microsoft.com/office/drawing/2014/main" id="{747C8CC3-287B-4EEC-967F-4AD814DE1404}"/>
              </a:ext>
            </a:extLst>
          </p:cNvPr>
          <p:cNvSpPr/>
          <p:nvPr/>
        </p:nvSpPr>
        <p:spPr>
          <a:xfrm>
            <a:off x="7315200" y="4495800"/>
            <a:ext cx="3683000" cy="25400"/>
          </a:xfrm>
          <a:prstGeom prst="rect">
            <a:avLst/>
          </a:prstGeom>
          <a:solidFill>
            <a:srgbClr val="C9C3D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DGcap">
            <a:extLst>
              <a:ext uri="{FF2B5EF4-FFF2-40B4-BE49-F238E27FC236}">
                <a16:creationId xmlns:a16="http://schemas.microsoft.com/office/drawing/2014/main" id="{4EFE5AC4-03F8-40F6-9EF9-37976671DFB2}"/>
              </a:ext>
            </a:extLst>
          </p:cNvPr>
          <p:cNvSpPr txBox="1"/>
          <p:nvPr/>
        </p:nvSpPr>
        <p:spPr>
          <a:xfrm>
            <a:off x="7315200" y="4622800"/>
            <a:ext cx="3911600" cy="939800"/>
          </a:xfrm>
          <a:prstGeom prst="rect">
            <a:avLst/>
          </a:prstGeom>
          <a:noFill/>
        </p:spPr>
        <p:txBody>
          <a:bodyPr vertOverflow="overflow" vert="horz" wrap="square" rtlCol="0" anchor="t">
            <a:spAutoFit/>
          </a:bodyPr>
          <a:lstStyle/>
          <a:p>
            <a:pPr algn="l"/>
            <a:r>
              <a:rPr lang="en-US" sz="1400">
                <a:solidFill>
                  <a:srgbClr val="595959"/>
                </a:solidFill>
                <a:latin typeface="Arial"/>
                <a:cs typeface="Arial"/>
              </a:rPr>
              <a:t>Add trees step by step (Tree 1 + Tree 2 + …). The orange bars show the remaining error shrinking with each tree.</a:t>
            </a:r>
          </a:p>
        </p:txBody>
      </p:sp>
      <p:sp>
        <p:nvSpPr>
          <p:cNvPr id="18" name="LegendDiv">
            <a:extLst>
              <a:ext uri="{FF2B5EF4-FFF2-40B4-BE49-F238E27FC236}">
                <a16:creationId xmlns:a16="http://schemas.microsoft.com/office/drawing/2014/main" id="{78C58607-1055-4F13-80FF-393DE2C72FF4}"/>
              </a:ext>
            </a:extLst>
          </p:cNvPr>
          <p:cNvSpPr/>
          <p:nvPr/>
        </p:nvSpPr>
        <p:spPr>
          <a:xfrm>
            <a:off x="762000" y="5740400"/>
            <a:ext cx="10668000" cy="25400"/>
          </a:xfrm>
          <a:prstGeom prst="rect">
            <a:avLst/>
          </a:prstGeom>
          <a:solidFill>
            <a:srgbClr val="E2E0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Legend">
            <a:extLst>
              <a:ext uri="{FF2B5EF4-FFF2-40B4-BE49-F238E27FC236}">
                <a16:creationId xmlns:a16="http://schemas.microsoft.com/office/drawing/2014/main" id="{284727C4-ABA6-4331-95B0-D12776AF6E56}"/>
              </a:ext>
            </a:extLst>
          </p:cNvPr>
          <p:cNvSpPr txBox="1"/>
          <p:nvPr/>
        </p:nvSpPr>
        <p:spPr>
          <a:xfrm>
            <a:off x="762000" y="5842000"/>
            <a:ext cx="10668000" cy="838200"/>
          </a:xfrm>
          <a:prstGeom prst="rect">
            <a:avLst/>
          </a:prstGeom>
          <a:noFill/>
        </p:spPr>
        <p:txBody>
          <a:bodyPr vertOverflow="overflow" vert="horz" wrap="square" rtlCol="0" anchor="t">
            <a:spAutoFit/>
          </a:bodyPr>
          <a:lstStyle/>
          <a:p>
            <a:pPr algn="l"/>
            <a:r>
              <a:rPr lang="en-US" sz="1600" b="1">
                <a:solidFill>
                  <a:srgbClr val="522D80"/>
                </a:solidFill>
                <a:latin typeface="Arial"/>
                <a:cs typeface="Arial"/>
              </a:rPr>
              <a:t>residual </a:t>
            </a:r>
            <a:r>
              <a:rPr lang="en-US" sz="1600">
                <a:solidFill>
                  <a:srgbClr val="595959"/>
                </a:solidFill>
                <a:latin typeface="Arial"/>
                <a:cs typeface="Arial"/>
              </a:rPr>
              <a:t>what the model still gets wrong    ·    </a:t>
            </a:r>
            <a:r>
              <a:rPr lang="en-US" sz="1600" b="1">
                <a:solidFill>
                  <a:srgbClr val="522D80"/>
                </a:solidFill>
                <a:latin typeface="Arial"/>
                <a:cs typeface="Arial"/>
              </a:rPr>
              <a:t>tree </a:t>
            </a:r>
            <a:r>
              <a:rPr lang="en-US" sz="1600">
                <a:solidFill>
                  <a:srgbClr val="595959"/>
                </a:solidFill>
                <a:latin typeface="Arial"/>
                <a:cs typeface="Arial"/>
              </a:rPr>
              <a:t>a simple yes/no prediction rule    ·    </a:t>
            </a:r>
            <a:r>
              <a:rPr lang="en-US" sz="1600" b="1">
                <a:solidFill>
                  <a:srgbClr val="522D80"/>
                </a:solidFill>
                <a:latin typeface="Arial"/>
                <a:cs typeface="Arial"/>
              </a:rPr>
              <a:t>η </a:t>
            </a:r>
            <a:r>
              <a:rPr lang="en-US" sz="1600">
                <a:solidFill>
                  <a:srgbClr val="595959"/>
                </a:solidFill>
                <a:latin typeface="Arial"/>
                <a:cs typeface="Arial"/>
              </a:rPr>
              <a:t>learning rate (step size)    ·    </a:t>
            </a:r>
            <a:r>
              <a:rPr lang="en-US" sz="1600" b="1">
                <a:solidFill>
                  <a:srgbClr val="522D80"/>
                </a:solidFill>
                <a:latin typeface="Arial"/>
                <a:cs typeface="Arial"/>
              </a:rPr>
              <a:t>regularization </a:t>
            </a:r>
            <a:r>
              <a:rPr lang="en-US" sz="1600">
                <a:solidFill>
                  <a:srgbClr val="595959"/>
                </a:solidFill>
                <a:latin typeface="Arial"/>
                <a:cs typeface="Arial"/>
              </a:rPr>
              <a:t>penalty that keeps trees simple</a:t>
            </a:r>
          </a:p>
        </p:txBody>
      </p:sp>
    </p:spTree>
    <p:extLst>
      <p:ext uri="{BB962C8B-B14F-4D97-AF65-F5344CB8AC3E}">
        <p14:creationId xmlns:p14="http://schemas.microsoft.com/office/powerpoint/2010/main" val="21875830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2ACEB-01CD-01AD-3BDD-5DDE1F224DC1}"/>
              </a:ext>
            </a:extLst>
          </p:cNvPr>
          <p:cNvSpPr>
            <a:spLocks noGrp="1"/>
          </p:cNvSpPr>
          <p:nvPr>
            <p:ph type="title"/>
          </p:nvPr>
        </p:nvSpPr>
        <p:spPr/>
        <p:txBody>
          <a:bodyPr/>
          <a:lstStyle/>
          <a:p>
            <a:pPr algn="l"/>
            <a:r>
              <a:rPr lang="en-US" sz="3000" b="1">
                <a:solidFill>
                  <a:srgbClr val="1A1A2E"/>
                </a:solidFill>
                <a:latin typeface="Arial"/>
                <a:cs typeface="Arial"/>
              </a:rPr>
              <a:t>XGBoost for Forecasting</a:t>
            </a:r>
          </a:p>
        </p:txBody>
      </p:sp>
      <p:sp>
        <p:nvSpPr>
          <p:cNvPr id="3" name="Content Placeholder 2">
            <a:extLst>
              <a:ext uri="{FF2B5EF4-FFF2-40B4-BE49-F238E27FC236}">
                <a16:creationId xmlns:a16="http://schemas.microsoft.com/office/drawing/2014/main" id="{77C4D73C-AB28-0F8D-0504-7FBA65BE8B4D}"/>
              </a:ext>
            </a:extLst>
          </p:cNvPr>
          <p:cNvSpPr>
            <a:spLocks noGrp="1"/>
          </p:cNvSpPr>
          <p:nvPr>
            <p:ph idx="1"/>
          </p:nvPr>
        </p:nvSpPr>
        <p:spPr>
          <a:xfrm>
            <a:off x="787400" y="1836544"/>
            <a:ext cx="6502400" cy="4150112"/>
          </a:xfrm>
        </p:spPr>
        <p:txBody>
          <a:bodyPr>
            <a:normAutofit fontScale="92500" lnSpcReduction="10000"/>
          </a:bodyPr>
          <a:lstStyle/>
          <a:p>
            <a:pPr marL="0" indent="0" algn="l">
              <a:lnSpc>
                <a:spcPct val="120000"/>
              </a:lnSpc>
              <a:spcBef>
                <a:spcPts val="0"/>
              </a:spcBef>
              <a:spcAft>
                <a:spcPts val="600"/>
              </a:spcAft>
              <a:buNone/>
            </a:pPr>
            <a:r>
              <a:rPr lang="en-US" sz="1800" dirty="0">
                <a:solidFill>
                  <a:srgbClr val="333333"/>
                </a:solidFill>
                <a:latin typeface="Arial"/>
                <a:cs typeface="Arial"/>
              </a:rPr>
              <a:t>Trees need a table, so we turn the time series into features:</a:t>
            </a:r>
          </a:p>
          <a:p>
            <a:pPr marL="0" indent="0" algn="l">
              <a:spcBef>
                <a:spcPts val="460"/>
              </a:spcBef>
              <a:buNone/>
            </a:pPr>
            <a:r>
              <a:rPr lang="en-US" sz="1800" b="1" dirty="0">
                <a:solidFill>
                  <a:srgbClr val="522D80"/>
                </a:solidFill>
                <a:latin typeface="Arial"/>
                <a:cs typeface="Arial"/>
              </a:rPr>
              <a:t>Turn history into features (X)</a:t>
            </a:r>
          </a:p>
          <a:p>
            <a:pPr marL="0" indent="0" algn="l">
              <a:lnSpc>
                <a:spcPct val="100000"/>
              </a:lnSpc>
              <a:spcBef>
                <a:spcPts val="0"/>
              </a:spcBef>
              <a:spcAft>
                <a:spcPts val="1200"/>
              </a:spcAft>
              <a:buNone/>
            </a:pPr>
            <a:r>
              <a:rPr lang="en-US" sz="1700" dirty="0">
                <a:solidFill>
                  <a:srgbClr val="444444"/>
                </a:solidFill>
                <a:latin typeface="Arial"/>
                <a:cs typeface="Arial"/>
              </a:rPr>
              <a:t>Recent lagged values, rolling averages, and calendar flags (week, month, holiday), plus outside signals like labs or wastewater.</a:t>
            </a:r>
          </a:p>
          <a:p>
            <a:pPr marL="0" indent="0" algn="l">
              <a:spcBef>
                <a:spcPts val="460"/>
              </a:spcBef>
              <a:buNone/>
            </a:pPr>
            <a:r>
              <a:rPr lang="en-US" sz="1800" b="1" dirty="0">
                <a:solidFill>
                  <a:srgbClr val="522D80"/>
                </a:solidFill>
                <a:latin typeface="Arial"/>
                <a:cs typeface="Arial"/>
              </a:rPr>
              <a:t>Strengths</a:t>
            </a:r>
          </a:p>
          <a:p>
            <a:pPr marL="0" indent="0" algn="l">
              <a:lnSpc>
                <a:spcPct val="110000"/>
              </a:lnSpc>
              <a:spcBef>
                <a:spcPts val="0"/>
              </a:spcBef>
              <a:spcAft>
                <a:spcPts val="1200"/>
              </a:spcAft>
              <a:buNone/>
            </a:pPr>
            <a:r>
              <a:rPr lang="en-US" sz="1700" dirty="0">
                <a:solidFill>
                  <a:srgbClr val="444444"/>
                </a:solidFill>
                <a:latin typeface="Arial"/>
                <a:cs typeface="Arial"/>
              </a:rPr>
              <a:t>Learns nonlinear patterns and interactions on its own, handles many predictors, and is strong on tabular data.</a:t>
            </a:r>
          </a:p>
          <a:p>
            <a:pPr marL="0" indent="0" algn="l">
              <a:spcBef>
                <a:spcPts val="460"/>
              </a:spcBef>
              <a:buNone/>
            </a:pPr>
            <a:r>
              <a:rPr lang="en-US" sz="1800" b="1" dirty="0">
                <a:solidFill>
                  <a:srgbClr val="522D80"/>
                </a:solidFill>
                <a:latin typeface="Arial"/>
                <a:cs typeface="Arial"/>
              </a:rPr>
              <a:t>Limits to watch</a:t>
            </a:r>
          </a:p>
          <a:p>
            <a:pPr marL="0" indent="0" algn="l">
              <a:lnSpc>
                <a:spcPct val="120000"/>
              </a:lnSpc>
              <a:spcBef>
                <a:spcPts val="0"/>
              </a:spcBef>
              <a:spcAft>
                <a:spcPts val="1200"/>
              </a:spcAft>
              <a:buNone/>
            </a:pPr>
            <a:r>
              <a:rPr lang="en-US" sz="1700" dirty="0">
                <a:solidFill>
                  <a:srgbClr val="444444"/>
                </a:solidFill>
                <a:latin typeface="Arial"/>
                <a:cs typeface="Arial"/>
              </a:rPr>
              <a:t>It cannot extrapolate a trend beyond values it has seen, needs enough history, and needs extra methods (e.g. quantile models) for prediction intervals.</a:t>
            </a:r>
          </a:p>
          <a:p>
            <a:pPr marL="0" indent="0" algn="l">
              <a:spcBef>
                <a:spcPts val="460"/>
              </a:spcBef>
              <a:buNone/>
            </a:pPr>
            <a:r>
              <a:rPr lang="en-US" sz="1800" b="1" dirty="0">
                <a:solidFill>
                  <a:srgbClr val="522D80"/>
                </a:solidFill>
                <a:latin typeface="Arial"/>
                <a:cs typeface="Arial"/>
              </a:rPr>
              <a:t>In practice</a:t>
            </a:r>
          </a:p>
          <a:p>
            <a:pPr marL="0" indent="0" algn="l">
              <a:spcBef>
                <a:spcPts val="120"/>
              </a:spcBef>
              <a:buNone/>
            </a:pPr>
            <a:r>
              <a:rPr lang="en-US" sz="1700" dirty="0">
                <a:solidFill>
                  <a:srgbClr val="444444"/>
                </a:solidFill>
                <a:latin typeface="Arial"/>
                <a:cs typeface="Arial"/>
              </a:rPr>
              <a:t>A common, strong machine-learning entry in challenges like FluSight.</a:t>
            </a:r>
          </a:p>
        </p:txBody>
      </p:sp>
      <p:sp>
        <p:nvSpPr>
          <p:cNvPr id="4" name="TitleBar">
            <a:extLst>
              <a:ext uri="{FF2B5EF4-FFF2-40B4-BE49-F238E27FC236}">
                <a16:creationId xmlns:a16="http://schemas.microsoft.com/office/drawing/2014/main" id="{D636B488-F6A4-41ED-AA54-38D626AB614B}"/>
              </a:ext>
            </a:extLst>
          </p:cNvPr>
          <p:cNvSpPr/>
          <p:nvPr/>
        </p:nvSpPr>
        <p:spPr>
          <a:xfrm>
            <a:off x="533400" y="457200"/>
            <a:ext cx="101600" cy="11176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DGCard">
            <a:extLst>
              <a:ext uri="{FF2B5EF4-FFF2-40B4-BE49-F238E27FC236}">
                <a16:creationId xmlns:a16="http://schemas.microsoft.com/office/drawing/2014/main" id="{04BA5BD7-6334-45A4-9734-89D3B25E2E41}"/>
              </a:ext>
            </a:extLst>
          </p:cNvPr>
          <p:cNvSpPr/>
          <p:nvPr/>
        </p:nvSpPr>
        <p:spPr>
          <a:xfrm>
            <a:off x="7061200" y="1905000"/>
            <a:ext cx="4419600" cy="3810000"/>
          </a:xfrm>
          <a:prstGeom prst="rect">
            <a:avLst/>
          </a:prstGeom>
          <a:solidFill>
            <a:srgbClr val="F3F0F7"/>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DGStrip">
            <a:extLst>
              <a:ext uri="{FF2B5EF4-FFF2-40B4-BE49-F238E27FC236}">
                <a16:creationId xmlns:a16="http://schemas.microsoft.com/office/drawing/2014/main" id="{4257BEEB-6FF7-46F7-ABAF-41E0EB940B91}"/>
              </a:ext>
            </a:extLst>
          </p:cNvPr>
          <p:cNvSpPr/>
          <p:nvPr/>
        </p:nvSpPr>
        <p:spPr>
          <a:xfrm>
            <a:off x="7061200" y="1905000"/>
            <a:ext cx="44196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DGhead">
            <a:extLst>
              <a:ext uri="{FF2B5EF4-FFF2-40B4-BE49-F238E27FC236}">
                <a16:creationId xmlns:a16="http://schemas.microsoft.com/office/drawing/2014/main" id="{085DD569-9C45-4B61-B56F-7706CB37A9C6}"/>
              </a:ext>
            </a:extLst>
          </p:cNvPr>
          <p:cNvSpPr txBox="1"/>
          <p:nvPr/>
        </p:nvSpPr>
        <p:spPr>
          <a:xfrm>
            <a:off x="7264400" y="2057400"/>
            <a:ext cx="4064000" cy="279400"/>
          </a:xfrm>
          <a:prstGeom prst="rect">
            <a:avLst/>
          </a:prstGeom>
          <a:noFill/>
        </p:spPr>
        <p:txBody>
          <a:bodyPr vertOverflow="overflow" vert="horz" wrap="square" rtlCol="0" anchor="t">
            <a:spAutoFit/>
          </a:bodyPr>
          <a:lstStyle/>
          <a:p>
            <a:pPr algn="l"/>
            <a:r>
              <a:rPr lang="en-US" sz="1400" b="1">
                <a:solidFill>
                  <a:srgbClr val="522D80"/>
                </a:solidFill>
                <a:latin typeface="Arial"/>
                <a:cs typeface="Arial"/>
              </a:rPr>
              <a:t>From a feature table to a forecast</a:t>
            </a:r>
          </a:p>
        </p:txBody>
      </p:sp>
      <p:sp>
        <p:nvSpPr>
          <p:cNvPr id="8" name="DGc">
            <a:extLst>
              <a:ext uri="{FF2B5EF4-FFF2-40B4-BE49-F238E27FC236}">
                <a16:creationId xmlns:a16="http://schemas.microsoft.com/office/drawing/2014/main" id="{A2D31DDC-2BDC-44C7-9270-08BA5B6F346D}"/>
              </a:ext>
            </a:extLst>
          </p:cNvPr>
          <p:cNvSpPr/>
          <p:nvPr/>
        </p:nvSpPr>
        <p:spPr>
          <a:xfrm>
            <a:off x="7670800" y="2489200"/>
            <a:ext cx="812800" cy="330200"/>
          </a:xfrm>
          <a:prstGeom prst="rect">
            <a:avLst/>
          </a:prstGeom>
          <a:solidFill>
            <a:srgbClr val="522D80"/>
          </a:solidFill>
          <a:ln w="9525" cap="flat" cmpd="sng" algn="ctr">
            <a:solidFill>
              <a:srgbClr val="D8D2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Arial"/>
                <a:cs typeface="Arial"/>
              </a:rPr>
              <a:t>lag</a:t>
            </a:r>
          </a:p>
        </p:txBody>
      </p:sp>
      <p:sp>
        <p:nvSpPr>
          <p:cNvPr id="9" name="DGc">
            <a:extLst>
              <a:ext uri="{FF2B5EF4-FFF2-40B4-BE49-F238E27FC236}">
                <a16:creationId xmlns:a16="http://schemas.microsoft.com/office/drawing/2014/main" id="{1EFA2AE1-A942-499E-AF8E-C90F1C92E5F1}"/>
              </a:ext>
            </a:extLst>
          </p:cNvPr>
          <p:cNvSpPr/>
          <p:nvPr/>
        </p:nvSpPr>
        <p:spPr>
          <a:xfrm>
            <a:off x="8483600" y="2489200"/>
            <a:ext cx="812800" cy="330200"/>
          </a:xfrm>
          <a:prstGeom prst="rect">
            <a:avLst/>
          </a:prstGeom>
          <a:solidFill>
            <a:srgbClr val="522D80"/>
          </a:solidFill>
          <a:ln w="9525" cap="flat" cmpd="sng" algn="ctr">
            <a:solidFill>
              <a:srgbClr val="D8D2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Arial"/>
                <a:cs typeface="Arial"/>
              </a:rPr>
              <a:t>roll</a:t>
            </a:r>
          </a:p>
        </p:txBody>
      </p:sp>
      <p:sp>
        <p:nvSpPr>
          <p:cNvPr id="10" name="DGc">
            <a:extLst>
              <a:ext uri="{FF2B5EF4-FFF2-40B4-BE49-F238E27FC236}">
                <a16:creationId xmlns:a16="http://schemas.microsoft.com/office/drawing/2014/main" id="{FCDCDB34-0965-4753-8D14-E34DE1E44966}"/>
              </a:ext>
            </a:extLst>
          </p:cNvPr>
          <p:cNvSpPr/>
          <p:nvPr/>
        </p:nvSpPr>
        <p:spPr>
          <a:xfrm>
            <a:off x="9296400" y="2489200"/>
            <a:ext cx="812800" cy="330200"/>
          </a:xfrm>
          <a:prstGeom prst="rect">
            <a:avLst/>
          </a:prstGeom>
          <a:solidFill>
            <a:srgbClr val="522D80"/>
          </a:solidFill>
          <a:ln w="9525" cap="flat" cmpd="sng" algn="ctr">
            <a:solidFill>
              <a:srgbClr val="D8D2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Arial"/>
                <a:cs typeface="Arial"/>
              </a:rPr>
              <a:t>week</a:t>
            </a:r>
          </a:p>
        </p:txBody>
      </p:sp>
      <p:sp>
        <p:nvSpPr>
          <p:cNvPr id="11" name="DGc">
            <a:extLst>
              <a:ext uri="{FF2B5EF4-FFF2-40B4-BE49-F238E27FC236}">
                <a16:creationId xmlns:a16="http://schemas.microsoft.com/office/drawing/2014/main" id="{E9745F31-8486-4B56-B5B6-C0CAD3BADD12}"/>
              </a:ext>
            </a:extLst>
          </p:cNvPr>
          <p:cNvSpPr/>
          <p:nvPr/>
        </p:nvSpPr>
        <p:spPr>
          <a:xfrm>
            <a:off x="7670800" y="2819400"/>
            <a:ext cx="812800" cy="330200"/>
          </a:xfrm>
          <a:prstGeom prst="rect">
            <a:avLst/>
          </a:prstGeom>
          <a:solidFill>
            <a:srgbClr val="FFFFFF"/>
          </a:solidFill>
          <a:ln w="9525" cap="flat" cmpd="sng" algn="ctr">
            <a:solidFill>
              <a:srgbClr val="D8D2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a:solidFill>
                  <a:srgbClr val="333333"/>
                </a:solidFill>
                <a:latin typeface="Arial"/>
                <a:cs typeface="Arial"/>
              </a:rPr>
              <a:t>y₋₁</a:t>
            </a:r>
          </a:p>
        </p:txBody>
      </p:sp>
      <p:sp>
        <p:nvSpPr>
          <p:cNvPr id="12" name="DGc">
            <a:extLst>
              <a:ext uri="{FF2B5EF4-FFF2-40B4-BE49-F238E27FC236}">
                <a16:creationId xmlns:a16="http://schemas.microsoft.com/office/drawing/2014/main" id="{9A8BFEA0-DC0B-47CE-932E-53B02C21BF9A}"/>
              </a:ext>
            </a:extLst>
          </p:cNvPr>
          <p:cNvSpPr/>
          <p:nvPr/>
        </p:nvSpPr>
        <p:spPr>
          <a:xfrm>
            <a:off x="8483600" y="2819400"/>
            <a:ext cx="812800" cy="330200"/>
          </a:xfrm>
          <a:prstGeom prst="rect">
            <a:avLst/>
          </a:prstGeom>
          <a:solidFill>
            <a:srgbClr val="FFFFFF"/>
          </a:solidFill>
          <a:ln w="9525" cap="flat" cmpd="sng" algn="ctr">
            <a:solidFill>
              <a:srgbClr val="D8D2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a:solidFill>
                  <a:srgbClr val="333333"/>
                </a:solidFill>
                <a:latin typeface="Arial"/>
                <a:cs typeface="Arial"/>
              </a:rPr>
              <a:t>ȳ</a:t>
            </a:r>
          </a:p>
        </p:txBody>
      </p:sp>
      <p:sp>
        <p:nvSpPr>
          <p:cNvPr id="13" name="DGc">
            <a:extLst>
              <a:ext uri="{FF2B5EF4-FFF2-40B4-BE49-F238E27FC236}">
                <a16:creationId xmlns:a16="http://schemas.microsoft.com/office/drawing/2014/main" id="{A765DD9D-46D5-415C-A8D3-A8EA42729DE5}"/>
              </a:ext>
            </a:extLst>
          </p:cNvPr>
          <p:cNvSpPr/>
          <p:nvPr/>
        </p:nvSpPr>
        <p:spPr>
          <a:xfrm>
            <a:off x="9296400" y="2819400"/>
            <a:ext cx="812800" cy="330200"/>
          </a:xfrm>
          <a:prstGeom prst="rect">
            <a:avLst/>
          </a:prstGeom>
          <a:solidFill>
            <a:srgbClr val="FFFFFF"/>
          </a:solidFill>
          <a:ln w="9525" cap="flat" cmpd="sng" algn="ctr">
            <a:solidFill>
              <a:srgbClr val="D8D2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a:solidFill>
                  <a:srgbClr val="333333"/>
                </a:solidFill>
                <a:latin typeface="Arial"/>
                <a:cs typeface="Arial"/>
              </a:rPr>
              <a:t>48</a:t>
            </a:r>
          </a:p>
        </p:txBody>
      </p:sp>
      <p:sp>
        <p:nvSpPr>
          <p:cNvPr id="14" name="DGc">
            <a:extLst>
              <a:ext uri="{FF2B5EF4-FFF2-40B4-BE49-F238E27FC236}">
                <a16:creationId xmlns:a16="http://schemas.microsoft.com/office/drawing/2014/main" id="{11E57558-18CF-4A23-9075-C8059A15CBA6}"/>
              </a:ext>
            </a:extLst>
          </p:cNvPr>
          <p:cNvSpPr/>
          <p:nvPr/>
        </p:nvSpPr>
        <p:spPr>
          <a:xfrm>
            <a:off x="7670800" y="3149600"/>
            <a:ext cx="812800" cy="330200"/>
          </a:xfrm>
          <a:prstGeom prst="rect">
            <a:avLst/>
          </a:prstGeom>
          <a:solidFill>
            <a:srgbClr val="FFFFFF"/>
          </a:solidFill>
          <a:ln w="9525" cap="flat" cmpd="sng" algn="ctr">
            <a:solidFill>
              <a:srgbClr val="D8D2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a:solidFill>
                  <a:srgbClr val="333333"/>
                </a:solidFill>
                <a:latin typeface="Arial"/>
                <a:cs typeface="Arial"/>
              </a:rPr>
              <a:t>y₋₂</a:t>
            </a:r>
          </a:p>
        </p:txBody>
      </p:sp>
      <p:sp>
        <p:nvSpPr>
          <p:cNvPr id="15" name="DGc">
            <a:extLst>
              <a:ext uri="{FF2B5EF4-FFF2-40B4-BE49-F238E27FC236}">
                <a16:creationId xmlns:a16="http://schemas.microsoft.com/office/drawing/2014/main" id="{6D0BB843-402E-437B-9D8E-9FC48E9CF6FE}"/>
              </a:ext>
            </a:extLst>
          </p:cNvPr>
          <p:cNvSpPr/>
          <p:nvPr/>
        </p:nvSpPr>
        <p:spPr>
          <a:xfrm>
            <a:off x="8483600" y="3149600"/>
            <a:ext cx="812800" cy="330200"/>
          </a:xfrm>
          <a:prstGeom prst="rect">
            <a:avLst/>
          </a:prstGeom>
          <a:solidFill>
            <a:srgbClr val="FFFFFF"/>
          </a:solidFill>
          <a:ln w="9525" cap="flat" cmpd="sng" algn="ctr">
            <a:solidFill>
              <a:srgbClr val="D8D2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a:solidFill>
                  <a:srgbClr val="333333"/>
                </a:solidFill>
                <a:latin typeface="Arial"/>
                <a:cs typeface="Arial"/>
              </a:rPr>
              <a:t>ȳ</a:t>
            </a:r>
          </a:p>
        </p:txBody>
      </p:sp>
      <p:sp>
        <p:nvSpPr>
          <p:cNvPr id="16" name="DGc">
            <a:extLst>
              <a:ext uri="{FF2B5EF4-FFF2-40B4-BE49-F238E27FC236}">
                <a16:creationId xmlns:a16="http://schemas.microsoft.com/office/drawing/2014/main" id="{AD262F54-C682-48C1-98E0-4F0AD93068A7}"/>
              </a:ext>
            </a:extLst>
          </p:cNvPr>
          <p:cNvSpPr/>
          <p:nvPr/>
        </p:nvSpPr>
        <p:spPr>
          <a:xfrm>
            <a:off x="9296400" y="3149600"/>
            <a:ext cx="812800" cy="330200"/>
          </a:xfrm>
          <a:prstGeom prst="rect">
            <a:avLst/>
          </a:prstGeom>
          <a:solidFill>
            <a:srgbClr val="FFFFFF"/>
          </a:solidFill>
          <a:ln w="9525" cap="flat" cmpd="sng" algn="ctr">
            <a:solidFill>
              <a:srgbClr val="D8D2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a:solidFill>
                  <a:srgbClr val="333333"/>
                </a:solidFill>
                <a:latin typeface="Arial"/>
                <a:cs typeface="Arial"/>
              </a:rPr>
              <a:t>49</a:t>
            </a:r>
          </a:p>
        </p:txBody>
      </p:sp>
      <p:sp>
        <p:nvSpPr>
          <p:cNvPr id="17" name="DGd1">
            <a:extLst>
              <a:ext uri="{FF2B5EF4-FFF2-40B4-BE49-F238E27FC236}">
                <a16:creationId xmlns:a16="http://schemas.microsoft.com/office/drawing/2014/main" id="{803A76F6-5625-46A4-B1D1-B2DFFEFE73C0}"/>
              </a:ext>
            </a:extLst>
          </p:cNvPr>
          <p:cNvSpPr/>
          <p:nvPr/>
        </p:nvSpPr>
        <p:spPr>
          <a:xfrm>
            <a:off x="8382000" y="3556000"/>
            <a:ext cx="203200" cy="279400"/>
          </a:xfrm>
          <a:prstGeom prst="downArrow">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DGn">
            <a:extLst>
              <a:ext uri="{FF2B5EF4-FFF2-40B4-BE49-F238E27FC236}">
                <a16:creationId xmlns:a16="http://schemas.microsoft.com/office/drawing/2014/main" id="{90FC500E-489F-4B3A-831C-4E387F1E86F5}"/>
              </a:ext>
            </a:extLst>
          </p:cNvPr>
          <p:cNvSpPr/>
          <p:nvPr/>
        </p:nvSpPr>
        <p:spPr>
          <a:xfrm>
            <a:off x="7620000" y="3911600"/>
            <a:ext cx="1727200" cy="431800"/>
          </a:xfrm>
          <a:prstGeom prst="round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FFFFFF"/>
                </a:solidFill>
                <a:latin typeface="Arial"/>
                <a:cs typeface="Arial"/>
              </a:rPr>
              <a:t>Decision trees</a:t>
            </a:r>
          </a:p>
        </p:txBody>
      </p:sp>
      <p:sp>
        <p:nvSpPr>
          <p:cNvPr id="19" name="DGd2">
            <a:extLst>
              <a:ext uri="{FF2B5EF4-FFF2-40B4-BE49-F238E27FC236}">
                <a16:creationId xmlns:a16="http://schemas.microsoft.com/office/drawing/2014/main" id="{5EB31ED9-621C-45AD-AEEC-2E84E826EB77}"/>
              </a:ext>
            </a:extLst>
          </p:cNvPr>
          <p:cNvSpPr/>
          <p:nvPr/>
        </p:nvSpPr>
        <p:spPr>
          <a:xfrm>
            <a:off x="8382000" y="4394200"/>
            <a:ext cx="203200" cy="254000"/>
          </a:xfrm>
          <a:prstGeom prst="downArrow">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DGn">
            <a:extLst>
              <a:ext uri="{FF2B5EF4-FFF2-40B4-BE49-F238E27FC236}">
                <a16:creationId xmlns:a16="http://schemas.microsoft.com/office/drawing/2014/main" id="{5508BE28-3731-4789-BA97-0B1E2D098550}"/>
              </a:ext>
            </a:extLst>
          </p:cNvPr>
          <p:cNvSpPr/>
          <p:nvPr/>
        </p:nvSpPr>
        <p:spPr>
          <a:xfrm>
            <a:off x="7721600" y="4699000"/>
            <a:ext cx="1524000" cy="431800"/>
          </a:xfrm>
          <a:prstGeom prst="round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cy-GB" sz="1500" b="1">
                <a:solidFill>
                  <a:srgbClr val="FFFFFF"/>
                </a:solidFill>
                <a:latin typeface="Arial"/>
                <a:cs typeface="Arial"/>
              </a:rPr>
              <a:t>ŷ  (forecast)</a:t>
            </a:r>
            <a:endParaRPr lang="en-US" sz="1500" b="1">
              <a:solidFill>
                <a:srgbClr val="FFFFFF"/>
              </a:solidFill>
              <a:latin typeface="Arial"/>
              <a:cs typeface="Arial"/>
            </a:endParaRPr>
          </a:p>
        </p:txBody>
      </p:sp>
      <p:sp>
        <p:nvSpPr>
          <p:cNvPr id="21" name="LegendDiv">
            <a:extLst>
              <a:ext uri="{FF2B5EF4-FFF2-40B4-BE49-F238E27FC236}">
                <a16:creationId xmlns:a16="http://schemas.microsoft.com/office/drawing/2014/main" id="{919C9E31-5CF0-4F79-8C53-12C5183F38C0}"/>
              </a:ext>
            </a:extLst>
          </p:cNvPr>
          <p:cNvSpPr/>
          <p:nvPr/>
        </p:nvSpPr>
        <p:spPr>
          <a:xfrm>
            <a:off x="762000" y="5740400"/>
            <a:ext cx="10668000" cy="25400"/>
          </a:xfrm>
          <a:prstGeom prst="rect">
            <a:avLst/>
          </a:prstGeom>
          <a:solidFill>
            <a:srgbClr val="E2E0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Legend">
            <a:extLst>
              <a:ext uri="{FF2B5EF4-FFF2-40B4-BE49-F238E27FC236}">
                <a16:creationId xmlns:a16="http://schemas.microsoft.com/office/drawing/2014/main" id="{CFC656B8-9C65-4730-9E4E-AE210E31DF77}"/>
              </a:ext>
            </a:extLst>
          </p:cNvPr>
          <p:cNvSpPr txBox="1"/>
          <p:nvPr/>
        </p:nvSpPr>
        <p:spPr>
          <a:xfrm>
            <a:off x="762000" y="5842000"/>
            <a:ext cx="10668000" cy="838200"/>
          </a:xfrm>
          <a:prstGeom prst="rect">
            <a:avLst/>
          </a:prstGeom>
          <a:noFill/>
        </p:spPr>
        <p:txBody>
          <a:bodyPr vertOverflow="overflow" vert="horz" wrap="square" rtlCol="0" anchor="t">
            <a:spAutoFit/>
          </a:bodyPr>
          <a:lstStyle/>
          <a:p>
            <a:pPr algn="l"/>
            <a:r>
              <a:rPr lang="en-US" sz="1600" b="1">
                <a:solidFill>
                  <a:srgbClr val="522D80"/>
                </a:solidFill>
                <a:latin typeface="Arial"/>
                <a:cs typeface="Arial"/>
              </a:rPr>
              <a:t>X</a:t>
            </a:r>
            <a:r>
              <a:rPr lang="en-US" sz="1600">
                <a:solidFill>
                  <a:srgbClr val="595959"/>
                </a:solidFill>
                <a:latin typeface="Arial"/>
                <a:cs typeface="Arial"/>
              </a:rPr>
              <a:t> — table of predictors (features)   ·   </a:t>
            </a:r>
            <a:r>
              <a:rPr lang="en-US" sz="1600" b="1">
                <a:solidFill>
                  <a:srgbClr val="522D80"/>
                </a:solidFill>
                <a:latin typeface="Arial"/>
                <a:cs typeface="Arial"/>
              </a:rPr>
              <a:t>lag</a:t>
            </a:r>
            <a:r>
              <a:rPr lang="en-US" sz="1600">
                <a:solidFill>
                  <a:srgbClr val="595959"/>
                </a:solidFill>
                <a:latin typeface="Arial"/>
                <a:cs typeface="Arial"/>
              </a:rPr>
              <a:t> — a past value used as input   ·   </a:t>
            </a:r>
            <a:r>
              <a:rPr lang="en-US" sz="1600" b="1">
                <a:solidFill>
                  <a:srgbClr val="522D80"/>
                </a:solidFill>
                <a:latin typeface="Arial"/>
                <a:cs typeface="Arial"/>
              </a:rPr>
              <a:t>rolling average</a:t>
            </a:r>
            <a:r>
              <a:rPr lang="en-US" sz="1600">
                <a:solidFill>
                  <a:srgbClr val="595959"/>
                </a:solidFill>
                <a:latin typeface="Arial"/>
                <a:cs typeface="Arial"/>
              </a:rPr>
              <a:t> — a smoothed recent mean   ·   </a:t>
            </a:r>
            <a:r>
              <a:rPr lang="en-US" sz="1600" b="1">
                <a:solidFill>
                  <a:srgbClr val="522D80"/>
                </a:solidFill>
                <a:latin typeface="Arial"/>
                <a:cs typeface="Arial"/>
              </a:rPr>
              <a:t>ŷ</a:t>
            </a:r>
            <a:r>
              <a:rPr lang="en-US" sz="1600">
                <a:solidFill>
                  <a:srgbClr val="595959"/>
                </a:solidFill>
                <a:latin typeface="Arial"/>
                <a:cs typeface="Arial"/>
              </a:rPr>
              <a:t> — the forecast the model outputs</a:t>
            </a:r>
          </a:p>
        </p:txBody>
      </p:sp>
    </p:spTree>
    <p:extLst>
      <p:ext uri="{BB962C8B-B14F-4D97-AF65-F5344CB8AC3E}">
        <p14:creationId xmlns:p14="http://schemas.microsoft.com/office/powerpoint/2010/main" val="16776635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595360" y="-1737360"/>
            <a:ext cx="5852160" cy="5852160"/>
          </a:xfrm>
          <a:prstGeom prst="ellipse">
            <a:avLst/>
          </a:prstGeom>
          <a:solidFill>
            <a:srgbClr val="1F6F5C">
              <a:alpha val="38000"/>
            </a:srgbClr>
          </a:solidFill>
          <a:ln w="12700">
            <a:solidFill>
              <a:srgbClr val="1F6F5C">
                <a:alpha val="0"/>
              </a:srgbClr>
            </a:solidFill>
            <a:prstDash val="solid"/>
          </a:ln>
        </p:spPr>
        <p:txBody>
          <a:bodyPr/>
          <a:lstStyle/>
          <a:p>
            <a:endParaRPr lang="en-US"/>
          </a:p>
        </p:txBody>
      </p:sp>
      <p:sp>
        <p:nvSpPr>
          <p:cNvPr id="3" name="Shape 1"/>
          <p:cNvSpPr/>
          <p:nvPr/>
        </p:nvSpPr>
        <p:spPr>
          <a:xfrm>
            <a:off x="10058400" y="3840480"/>
            <a:ext cx="3108960" cy="3108960"/>
          </a:xfrm>
          <a:prstGeom prst="ellipse">
            <a:avLst/>
          </a:prstGeom>
          <a:solidFill>
            <a:srgbClr val="E8A33D">
              <a:alpha val="22000"/>
            </a:srgbClr>
          </a:solidFill>
          <a:ln w="12700">
            <a:solidFill>
              <a:srgbClr val="E8A33D">
                <a:alpha val="0"/>
              </a:srgbClr>
            </a:solidFill>
            <a:prstDash val="solid"/>
          </a:ln>
        </p:spPr>
        <p:txBody>
          <a:bodyPr/>
          <a:lstStyle/>
          <a:p>
            <a:endParaRPr lang="en-US"/>
          </a:p>
        </p:txBody>
      </p:sp>
      <p:sp>
        <p:nvSpPr>
          <p:cNvPr id="4" name="Text 2"/>
          <p:cNvSpPr/>
          <p:nvPr/>
        </p:nvSpPr>
        <p:spPr>
          <a:xfrm>
            <a:off x="822960" y="2148840"/>
            <a:ext cx="7863840" cy="1371600"/>
          </a:xfrm>
          <a:prstGeom prst="rect">
            <a:avLst/>
          </a:prstGeom>
          <a:noFill/>
          <a:ln/>
        </p:spPr>
        <p:txBody>
          <a:bodyPr wrap="square" lIns="0" tIns="0" rIns="0" bIns="0" rtlCol="0" anchor="ctr"/>
          <a:lstStyle/>
          <a:p>
            <a:pPr marL="0" indent="0">
              <a:buNone/>
            </a:pPr>
            <a:r>
              <a:rPr lang="en-US" sz="7600" b="1" dirty="0">
                <a:solidFill>
                  <a:srgbClr val="FFFFFF"/>
                </a:solidFill>
                <a:latin typeface="Cambria" pitchFamily="34" charset="0"/>
                <a:ea typeface="Cambria" pitchFamily="34" charset="-122"/>
                <a:cs typeface="Cambria" pitchFamily="34" charset="-120"/>
              </a:rPr>
              <a:t>XGBoost</a:t>
            </a:r>
            <a:endParaRPr lang="en-US" sz="7600" dirty="0"/>
          </a:p>
        </p:txBody>
      </p:sp>
      <p:sp>
        <p:nvSpPr>
          <p:cNvPr id="5" name="Text 3"/>
          <p:cNvSpPr/>
          <p:nvPr/>
        </p:nvSpPr>
        <p:spPr>
          <a:xfrm>
            <a:off x="868680" y="3520440"/>
            <a:ext cx="7863840" cy="457200"/>
          </a:xfrm>
          <a:prstGeom prst="rect">
            <a:avLst/>
          </a:prstGeom>
          <a:noFill/>
          <a:ln/>
        </p:spPr>
        <p:txBody>
          <a:bodyPr wrap="square" lIns="0" tIns="0" rIns="0" bIns="0" rtlCol="0" anchor="ctr"/>
          <a:lstStyle/>
          <a:p>
            <a:pPr marL="0" indent="0">
              <a:buNone/>
            </a:pPr>
            <a:r>
              <a:rPr lang="en-US" sz="4000" kern="0" spc="100" dirty="0">
                <a:solidFill>
                  <a:srgbClr val="E8A33D"/>
                </a:solidFill>
                <a:latin typeface="Calibri" pitchFamily="34" charset="0"/>
                <a:ea typeface="Calibri" pitchFamily="34" charset="-122"/>
                <a:cs typeface="Calibri" pitchFamily="34" charset="-120"/>
              </a:rPr>
              <a:t>Extreme Gradient Boosting</a:t>
            </a:r>
            <a:endParaRPr lang="en-US" sz="4000" dirty="0"/>
          </a:p>
        </p:txBody>
      </p:sp>
      <p:sp>
        <p:nvSpPr>
          <p:cNvPr id="6" name="Text 4"/>
          <p:cNvSpPr/>
          <p:nvPr/>
        </p:nvSpPr>
        <p:spPr>
          <a:xfrm>
            <a:off x="868680" y="4114800"/>
            <a:ext cx="7863840" cy="365760"/>
          </a:xfrm>
          <a:prstGeom prst="rect">
            <a:avLst/>
          </a:prstGeom>
          <a:noFill/>
          <a:ln/>
        </p:spPr>
        <p:txBody>
          <a:bodyPr wrap="square" lIns="0" tIns="0" rIns="0" bIns="0" rtlCol="0" anchor="ctr"/>
          <a:lstStyle/>
          <a:p>
            <a:pPr marL="0" indent="0">
              <a:buNone/>
            </a:pPr>
            <a:r>
              <a:rPr lang="en-US" sz="2400" i="1" dirty="0">
                <a:solidFill>
                  <a:srgbClr val="AFCBBF"/>
                </a:solidFill>
                <a:latin typeface="Calibri" pitchFamily="34" charset="0"/>
                <a:ea typeface="Calibri" pitchFamily="34" charset="-122"/>
                <a:cs typeface="Calibri" pitchFamily="34" charset="-120"/>
              </a:rPr>
              <a:t>Trees for tabular data: the secret sauce in machine learning</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rPr>
              <a:t>Outline</a:t>
            </a:r>
            <a:endParaRPr lang="en-US" sz="3200" dirty="0"/>
          </a:p>
        </p:txBody>
      </p:sp>
      <p:sp>
        <p:nvSpPr>
          <p:cNvPr id="3" name="Shape 1"/>
          <p:cNvSpPr/>
          <p:nvPr/>
        </p:nvSpPr>
        <p:spPr>
          <a:xfrm>
            <a:off x="566928" y="1600200"/>
            <a:ext cx="5349240" cy="804672"/>
          </a:xfrm>
          <a:prstGeom prst="roundRect">
            <a:avLst>
              <a:gd name="adj" fmla="val 113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822960" y="1773936"/>
            <a:ext cx="457200" cy="457200"/>
          </a:xfrm>
          <a:prstGeom prst="ellipse">
            <a:avLst/>
          </a:prstGeom>
          <a:solidFill>
            <a:srgbClr val="1F6F5C"/>
          </a:solidFill>
          <a:ln w="12700">
            <a:solidFill>
              <a:srgbClr val="1F6F5C"/>
            </a:solidFill>
            <a:prstDash val="solid"/>
          </a:ln>
        </p:spPr>
        <p:txBody>
          <a:bodyPr/>
          <a:lstStyle/>
          <a:p>
            <a:endParaRPr lang="en-US"/>
          </a:p>
        </p:txBody>
      </p:sp>
      <p:sp>
        <p:nvSpPr>
          <p:cNvPr id="5" name="Text 3"/>
          <p:cNvSpPr/>
          <p:nvPr/>
        </p:nvSpPr>
        <p:spPr>
          <a:xfrm>
            <a:off x="822960" y="177393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435608" y="1645920"/>
            <a:ext cx="4343400" cy="713232"/>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Machine learning algorithms and common use-cases</a:t>
            </a:r>
            <a:endParaRPr lang="en-US" sz="1450" dirty="0"/>
          </a:p>
        </p:txBody>
      </p:sp>
      <p:sp>
        <p:nvSpPr>
          <p:cNvPr id="7" name="Shape 5"/>
          <p:cNvSpPr/>
          <p:nvPr/>
        </p:nvSpPr>
        <p:spPr>
          <a:xfrm>
            <a:off x="566928" y="2569464"/>
            <a:ext cx="5349240" cy="804672"/>
          </a:xfrm>
          <a:prstGeom prst="roundRect">
            <a:avLst>
              <a:gd name="adj" fmla="val 113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8" name="Shape 6"/>
          <p:cNvSpPr/>
          <p:nvPr/>
        </p:nvSpPr>
        <p:spPr>
          <a:xfrm>
            <a:off x="822960" y="2743200"/>
            <a:ext cx="457200" cy="457200"/>
          </a:xfrm>
          <a:prstGeom prst="ellipse">
            <a:avLst/>
          </a:prstGeom>
          <a:solidFill>
            <a:srgbClr val="1F6F5C"/>
          </a:solidFill>
          <a:ln w="12700">
            <a:solidFill>
              <a:srgbClr val="1F6F5C"/>
            </a:solidFill>
            <a:prstDash val="solid"/>
          </a:ln>
        </p:spPr>
        <p:txBody>
          <a:bodyPr/>
          <a:lstStyle/>
          <a:p>
            <a:endParaRPr lang="en-US"/>
          </a:p>
        </p:txBody>
      </p:sp>
      <p:sp>
        <p:nvSpPr>
          <p:cNvPr id="9" name="Text 7"/>
          <p:cNvSpPr/>
          <p:nvPr/>
        </p:nvSpPr>
        <p:spPr>
          <a:xfrm>
            <a:off x="822960" y="2743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435608" y="2615184"/>
            <a:ext cx="4343400" cy="713232"/>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Regression tree and CART</a:t>
            </a:r>
            <a:endParaRPr lang="en-US" sz="1450" dirty="0"/>
          </a:p>
        </p:txBody>
      </p:sp>
      <p:sp>
        <p:nvSpPr>
          <p:cNvPr id="11" name="Shape 9"/>
          <p:cNvSpPr/>
          <p:nvPr/>
        </p:nvSpPr>
        <p:spPr>
          <a:xfrm>
            <a:off x="566928" y="3538728"/>
            <a:ext cx="5349240" cy="804672"/>
          </a:xfrm>
          <a:prstGeom prst="roundRect">
            <a:avLst>
              <a:gd name="adj" fmla="val 113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2" name="Shape 10"/>
          <p:cNvSpPr/>
          <p:nvPr/>
        </p:nvSpPr>
        <p:spPr>
          <a:xfrm>
            <a:off x="822960" y="3712464"/>
            <a:ext cx="457200" cy="457200"/>
          </a:xfrm>
          <a:prstGeom prst="ellipse">
            <a:avLst/>
          </a:prstGeom>
          <a:solidFill>
            <a:srgbClr val="1F6F5C"/>
          </a:solidFill>
          <a:ln w="12700">
            <a:solidFill>
              <a:srgbClr val="1F6F5C"/>
            </a:solidFill>
            <a:prstDash val="solid"/>
          </a:ln>
        </p:spPr>
        <p:txBody>
          <a:bodyPr/>
          <a:lstStyle/>
          <a:p>
            <a:endParaRPr lang="en-US"/>
          </a:p>
        </p:txBody>
      </p:sp>
      <p:sp>
        <p:nvSpPr>
          <p:cNvPr id="13" name="Text 11"/>
          <p:cNvSpPr/>
          <p:nvPr/>
        </p:nvSpPr>
        <p:spPr>
          <a:xfrm>
            <a:off x="822960" y="37124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435608" y="3584448"/>
            <a:ext cx="4343400" cy="713232"/>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Tree ensembles</a:t>
            </a:r>
            <a:endParaRPr lang="en-US" sz="1450" dirty="0"/>
          </a:p>
        </p:txBody>
      </p:sp>
      <p:sp>
        <p:nvSpPr>
          <p:cNvPr id="15" name="Shape 13"/>
          <p:cNvSpPr/>
          <p:nvPr/>
        </p:nvSpPr>
        <p:spPr>
          <a:xfrm>
            <a:off x="566928" y="4507992"/>
            <a:ext cx="5349240" cy="804672"/>
          </a:xfrm>
          <a:prstGeom prst="roundRect">
            <a:avLst>
              <a:gd name="adj" fmla="val 113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6" name="Shape 14"/>
          <p:cNvSpPr/>
          <p:nvPr/>
        </p:nvSpPr>
        <p:spPr>
          <a:xfrm>
            <a:off x="822960" y="4681728"/>
            <a:ext cx="457200" cy="457200"/>
          </a:xfrm>
          <a:prstGeom prst="ellipse">
            <a:avLst/>
          </a:prstGeom>
          <a:solidFill>
            <a:srgbClr val="1F6F5C"/>
          </a:solidFill>
          <a:ln w="12700">
            <a:solidFill>
              <a:srgbClr val="1F6F5C"/>
            </a:solidFill>
            <a:prstDash val="solid"/>
          </a:ln>
        </p:spPr>
        <p:txBody>
          <a:bodyPr/>
          <a:lstStyle/>
          <a:p>
            <a:endParaRPr lang="en-US"/>
          </a:p>
        </p:txBody>
      </p:sp>
      <p:sp>
        <p:nvSpPr>
          <p:cNvPr id="17" name="Text 15"/>
          <p:cNvSpPr/>
          <p:nvPr/>
        </p:nvSpPr>
        <p:spPr>
          <a:xfrm>
            <a:off x="822960" y="46817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435608" y="4553712"/>
            <a:ext cx="4343400" cy="713232"/>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Learning trees: advantages and challenges</a:t>
            </a:r>
            <a:endParaRPr lang="en-US" sz="1450" dirty="0"/>
          </a:p>
        </p:txBody>
      </p:sp>
      <p:sp>
        <p:nvSpPr>
          <p:cNvPr id="19" name="Shape 17"/>
          <p:cNvSpPr/>
          <p:nvPr/>
        </p:nvSpPr>
        <p:spPr>
          <a:xfrm>
            <a:off x="566928" y="5477256"/>
            <a:ext cx="5349240" cy="804672"/>
          </a:xfrm>
          <a:prstGeom prst="roundRect">
            <a:avLst>
              <a:gd name="adj" fmla="val 113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20" name="Shape 18"/>
          <p:cNvSpPr/>
          <p:nvPr/>
        </p:nvSpPr>
        <p:spPr>
          <a:xfrm>
            <a:off x="822960" y="5650992"/>
            <a:ext cx="457200" cy="457200"/>
          </a:xfrm>
          <a:prstGeom prst="ellipse">
            <a:avLst/>
          </a:prstGeom>
          <a:solidFill>
            <a:srgbClr val="1F6F5C"/>
          </a:solidFill>
          <a:ln w="12700">
            <a:solidFill>
              <a:srgbClr val="1F6F5C"/>
            </a:solidFill>
            <a:prstDash val="solid"/>
          </a:ln>
        </p:spPr>
        <p:txBody>
          <a:bodyPr/>
          <a:lstStyle/>
          <a:p>
            <a:endParaRPr lang="en-US"/>
          </a:p>
        </p:txBody>
      </p:sp>
      <p:sp>
        <p:nvSpPr>
          <p:cNvPr id="21" name="Text 19"/>
          <p:cNvSpPr/>
          <p:nvPr/>
        </p:nvSpPr>
        <p:spPr>
          <a:xfrm>
            <a:off x="822960" y="56509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2" name="Text 20"/>
          <p:cNvSpPr/>
          <p:nvPr/>
        </p:nvSpPr>
        <p:spPr>
          <a:xfrm>
            <a:off x="1435608" y="5522976"/>
            <a:ext cx="4343400" cy="713232"/>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XGBoost overview</a:t>
            </a:r>
            <a:endParaRPr lang="en-US" sz="1450" dirty="0"/>
          </a:p>
        </p:txBody>
      </p:sp>
      <p:sp>
        <p:nvSpPr>
          <p:cNvPr id="23" name="Shape 21"/>
          <p:cNvSpPr/>
          <p:nvPr/>
        </p:nvSpPr>
        <p:spPr>
          <a:xfrm>
            <a:off x="6291072" y="1600200"/>
            <a:ext cx="5349240" cy="804672"/>
          </a:xfrm>
          <a:prstGeom prst="roundRect">
            <a:avLst>
              <a:gd name="adj" fmla="val 113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24" name="Shape 22"/>
          <p:cNvSpPr/>
          <p:nvPr/>
        </p:nvSpPr>
        <p:spPr>
          <a:xfrm>
            <a:off x="6547104" y="1773936"/>
            <a:ext cx="457200" cy="457200"/>
          </a:xfrm>
          <a:prstGeom prst="ellipse">
            <a:avLst/>
          </a:prstGeom>
          <a:solidFill>
            <a:srgbClr val="1F6F5C"/>
          </a:solidFill>
          <a:ln w="12700">
            <a:solidFill>
              <a:srgbClr val="1F6F5C"/>
            </a:solidFill>
            <a:prstDash val="solid"/>
          </a:ln>
        </p:spPr>
        <p:txBody>
          <a:bodyPr/>
          <a:lstStyle/>
          <a:p>
            <a:endParaRPr lang="en-US"/>
          </a:p>
        </p:txBody>
      </p:sp>
      <p:sp>
        <p:nvSpPr>
          <p:cNvPr id="25" name="Text 23"/>
          <p:cNvSpPr/>
          <p:nvPr/>
        </p:nvSpPr>
        <p:spPr>
          <a:xfrm>
            <a:off x="6547104" y="177393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6" name="Text 24"/>
          <p:cNvSpPr/>
          <p:nvPr/>
        </p:nvSpPr>
        <p:spPr>
          <a:xfrm>
            <a:off x="7159752" y="1645920"/>
            <a:ext cx="4343400" cy="713232"/>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XGBoost workflow</a:t>
            </a:r>
            <a:endParaRPr lang="en-US" sz="1450" dirty="0"/>
          </a:p>
        </p:txBody>
      </p:sp>
      <p:sp>
        <p:nvSpPr>
          <p:cNvPr id="27" name="Shape 25"/>
          <p:cNvSpPr/>
          <p:nvPr/>
        </p:nvSpPr>
        <p:spPr>
          <a:xfrm>
            <a:off x="6291072" y="2569464"/>
            <a:ext cx="5349240" cy="804672"/>
          </a:xfrm>
          <a:prstGeom prst="roundRect">
            <a:avLst>
              <a:gd name="adj" fmla="val 113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28" name="Shape 26"/>
          <p:cNvSpPr/>
          <p:nvPr/>
        </p:nvSpPr>
        <p:spPr>
          <a:xfrm>
            <a:off x="6547104" y="2743200"/>
            <a:ext cx="457200" cy="457200"/>
          </a:xfrm>
          <a:prstGeom prst="ellipse">
            <a:avLst/>
          </a:prstGeom>
          <a:solidFill>
            <a:srgbClr val="1F6F5C"/>
          </a:solidFill>
          <a:ln w="12700">
            <a:solidFill>
              <a:srgbClr val="1F6F5C"/>
            </a:solidFill>
            <a:prstDash val="solid"/>
          </a:ln>
        </p:spPr>
        <p:txBody>
          <a:bodyPr/>
          <a:lstStyle/>
          <a:p>
            <a:endParaRPr lang="en-US"/>
          </a:p>
        </p:txBody>
      </p:sp>
      <p:sp>
        <p:nvSpPr>
          <p:cNvPr id="29" name="Text 27"/>
          <p:cNvSpPr/>
          <p:nvPr/>
        </p:nvSpPr>
        <p:spPr>
          <a:xfrm>
            <a:off x="6547104" y="2743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30" name="Text 28"/>
          <p:cNvSpPr/>
          <p:nvPr/>
        </p:nvSpPr>
        <p:spPr>
          <a:xfrm>
            <a:off x="7159752" y="2615184"/>
            <a:ext cx="4343400" cy="713232"/>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Core XGBoost terms</a:t>
            </a:r>
            <a:endParaRPr lang="en-US" sz="1450" dirty="0"/>
          </a:p>
        </p:txBody>
      </p:sp>
      <p:sp>
        <p:nvSpPr>
          <p:cNvPr id="31" name="Shape 29"/>
          <p:cNvSpPr/>
          <p:nvPr/>
        </p:nvSpPr>
        <p:spPr>
          <a:xfrm>
            <a:off x="6291072" y="3538728"/>
            <a:ext cx="5349240" cy="804672"/>
          </a:xfrm>
          <a:prstGeom prst="roundRect">
            <a:avLst>
              <a:gd name="adj" fmla="val 113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32" name="Shape 30"/>
          <p:cNvSpPr/>
          <p:nvPr/>
        </p:nvSpPr>
        <p:spPr>
          <a:xfrm>
            <a:off x="6547104" y="3712464"/>
            <a:ext cx="457200" cy="457200"/>
          </a:xfrm>
          <a:prstGeom prst="ellipse">
            <a:avLst/>
          </a:prstGeom>
          <a:solidFill>
            <a:srgbClr val="1F6F5C"/>
          </a:solidFill>
          <a:ln w="12700">
            <a:solidFill>
              <a:srgbClr val="1F6F5C"/>
            </a:solidFill>
            <a:prstDash val="solid"/>
          </a:ln>
        </p:spPr>
        <p:txBody>
          <a:bodyPr/>
          <a:lstStyle/>
          <a:p>
            <a:endParaRPr lang="en-US"/>
          </a:p>
        </p:txBody>
      </p:sp>
      <p:sp>
        <p:nvSpPr>
          <p:cNvPr id="33" name="Text 31"/>
          <p:cNvSpPr/>
          <p:nvPr/>
        </p:nvSpPr>
        <p:spPr>
          <a:xfrm>
            <a:off x="6547104" y="371246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34" name="Text 32"/>
          <p:cNvSpPr/>
          <p:nvPr/>
        </p:nvSpPr>
        <p:spPr>
          <a:xfrm>
            <a:off x="7159752" y="3584448"/>
            <a:ext cx="4343400" cy="713232"/>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XGBoost classification intuition</a:t>
            </a:r>
            <a:endParaRPr lang="en-US" sz="1450" dirty="0"/>
          </a:p>
        </p:txBody>
      </p:sp>
      <p:sp>
        <p:nvSpPr>
          <p:cNvPr id="35" name="Shape 33"/>
          <p:cNvSpPr/>
          <p:nvPr/>
        </p:nvSpPr>
        <p:spPr>
          <a:xfrm>
            <a:off x="6291072" y="4507992"/>
            <a:ext cx="5349240" cy="804672"/>
          </a:xfrm>
          <a:prstGeom prst="roundRect">
            <a:avLst>
              <a:gd name="adj" fmla="val 113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36" name="Shape 34"/>
          <p:cNvSpPr/>
          <p:nvPr/>
        </p:nvSpPr>
        <p:spPr>
          <a:xfrm>
            <a:off x="6547104" y="4681728"/>
            <a:ext cx="457200" cy="457200"/>
          </a:xfrm>
          <a:prstGeom prst="ellipse">
            <a:avLst/>
          </a:prstGeom>
          <a:solidFill>
            <a:srgbClr val="1F6F5C"/>
          </a:solidFill>
          <a:ln w="12700">
            <a:solidFill>
              <a:srgbClr val="1F6F5C"/>
            </a:solidFill>
            <a:prstDash val="solid"/>
          </a:ln>
        </p:spPr>
        <p:txBody>
          <a:bodyPr/>
          <a:lstStyle/>
          <a:p>
            <a:endParaRPr lang="en-US"/>
          </a:p>
        </p:txBody>
      </p:sp>
      <p:sp>
        <p:nvSpPr>
          <p:cNvPr id="37" name="Text 35"/>
          <p:cNvSpPr/>
          <p:nvPr/>
        </p:nvSpPr>
        <p:spPr>
          <a:xfrm>
            <a:off x="6547104" y="46817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38" name="Text 36"/>
          <p:cNvSpPr/>
          <p:nvPr/>
        </p:nvSpPr>
        <p:spPr>
          <a:xfrm>
            <a:off x="7159752" y="4553712"/>
            <a:ext cx="4343400" cy="713232"/>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XGBoost regression intuition</a:t>
            </a:r>
            <a:endParaRPr lang="en-US" sz="1450" dirty="0"/>
          </a:p>
        </p:txBody>
      </p:sp>
      <p:sp>
        <p:nvSpPr>
          <p:cNvPr id="39" name="Shape 37"/>
          <p:cNvSpPr/>
          <p:nvPr/>
        </p:nvSpPr>
        <p:spPr>
          <a:xfrm>
            <a:off x="6291072" y="5477256"/>
            <a:ext cx="5349240" cy="804672"/>
          </a:xfrm>
          <a:prstGeom prst="roundRect">
            <a:avLst>
              <a:gd name="adj" fmla="val 113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0" name="Shape 38"/>
          <p:cNvSpPr/>
          <p:nvPr/>
        </p:nvSpPr>
        <p:spPr>
          <a:xfrm>
            <a:off x="6547104" y="5650992"/>
            <a:ext cx="457200" cy="457200"/>
          </a:xfrm>
          <a:prstGeom prst="ellipse">
            <a:avLst/>
          </a:prstGeom>
          <a:solidFill>
            <a:srgbClr val="1F6F5C"/>
          </a:solidFill>
          <a:ln w="12700">
            <a:solidFill>
              <a:srgbClr val="1F6F5C"/>
            </a:solidFill>
            <a:prstDash val="solid"/>
          </a:ln>
        </p:spPr>
        <p:txBody>
          <a:bodyPr/>
          <a:lstStyle/>
          <a:p>
            <a:endParaRPr lang="en-US"/>
          </a:p>
        </p:txBody>
      </p:sp>
      <p:sp>
        <p:nvSpPr>
          <p:cNvPr id="41" name="Text 39"/>
          <p:cNvSpPr/>
          <p:nvPr/>
        </p:nvSpPr>
        <p:spPr>
          <a:xfrm>
            <a:off x="6547104" y="56509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42" name="Text 40"/>
          <p:cNvSpPr/>
          <p:nvPr/>
        </p:nvSpPr>
        <p:spPr>
          <a:xfrm>
            <a:off x="7159752" y="5522976"/>
            <a:ext cx="4343400" cy="713232"/>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XGBoost advantages and disadvantages</a:t>
            </a:r>
            <a:endParaRPr lang="en-US" sz="14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Machine Learning Algorithms and Common Use-cases</a:t>
            </a:r>
            <a:endParaRPr lang="en-US" sz="3200" dirty="0"/>
          </a:p>
        </p:txBody>
      </p:sp>
      <p:sp>
        <p:nvSpPr>
          <p:cNvPr id="3" name="Shape 1"/>
          <p:cNvSpPr/>
          <p:nvPr/>
        </p:nvSpPr>
        <p:spPr>
          <a:xfrm>
            <a:off x="566928" y="1572768"/>
            <a:ext cx="6446520" cy="969264"/>
          </a:xfrm>
          <a:prstGeom prst="roundRect">
            <a:avLst>
              <a:gd name="adj" fmla="val 943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777240" y="1764792"/>
            <a:ext cx="585216" cy="585216"/>
          </a:xfrm>
          <a:prstGeom prst="ellipse">
            <a:avLst/>
          </a:prstGeom>
          <a:solidFill>
            <a:srgbClr val="E8F2ED"/>
          </a:solidFill>
          <a:ln w="12700">
            <a:solidFill>
              <a:srgbClr val="E8F2E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29396" y="1916948"/>
            <a:ext cx="280904" cy="280904"/>
          </a:xfrm>
          <a:prstGeom prst="rect">
            <a:avLst/>
          </a:prstGeom>
        </p:spPr>
      </p:pic>
      <p:sp>
        <p:nvSpPr>
          <p:cNvPr id="6" name="Text 3"/>
          <p:cNvSpPr/>
          <p:nvPr/>
        </p:nvSpPr>
        <p:spPr>
          <a:xfrm>
            <a:off x="1517904" y="1728216"/>
            <a:ext cx="5303520" cy="329184"/>
          </a:xfrm>
          <a:prstGeom prst="rect">
            <a:avLst/>
          </a:prstGeom>
          <a:noFill/>
          <a:ln/>
        </p:spPr>
        <p:txBody>
          <a:bodyPr wrap="square" lIns="0" tIns="0" rIns="0" bIns="0" rtlCol="0" anchor="ctr"/>
          <a:lstStyle/>
          <a:p>
            <a:pPr marL="0" indent="0">
              <a:buNone/>
            </a:pPr>
            <a:r>
              <a:rPr lang="en-US" sz="1650" b="1" dirty="0">
                <a:solidFill>
                  <a:srgbClr val="16211D"/>
                </a:solidFill>
                <a:latin typeface="Calibri" pitchFamily="34" charset="0"/>
                <a:ea typeface="Calibri" pitchFamily="34" charset="-122"/>
                <a:cs typeface="Calibri" pitchFamily="34" charset="-120"/>
              </a:rPr>
              <a:t>Linear Models</a:t>
            </a:r>
            <a:endParaRPr lang="en-US" sz="1650" dirty="0"/>
          </a:p>
        </p:txBody>
      </p:sp>
      <p:sp>
        <p:nvSpPr>
          <p:cNvPr id="7" name="Text 4"/>
          <p:cNvSpPr/>
          <p:nvPr/>
        </p:nvSpPr>
        <p:spPr>
          <a:xfrm>
            <a:off x="1517904" y="2075688"/>
            <a:ext cx="5303520" cy="310896"/>
          </a:xfrm>
          <a:prstGeom prst="rect">
            <a:avLst/>
          </a:prstGeom>
          <a:noFill/>
          <a:ln/>
        </p:spPr>
        <p:txBody>
          <a:bodyPr wrap="square" lIns="0" tIns="0" rIns="0" bIns="0" rtlCol="0" anchor="ctr"/>
          <a:lstStyle/>
          <a:p>
            <a:pPr marL="0" indent="0">
              <a:buNone/>
            </a:pPr>
            <a:r>
              <a:rPr lang="en-US" sz="1350" dirty="0">
                <a:solidFill>
                  <a:srgbClr val="5F6F69"/>
                </a:solidFill>
                <a:latin typeface="Calibri" pitchFamily="34" charset="0"/>
                <a:ea typeface="Calibri" pitchFamily="34" charset="-122"/>
                <a:cs typeface="Calibri" pitchFamily="34" charset="-120"/>
              </a:rPr>
              <a:t>for Ads Clickthrough</a:t>
            </a:r>
            <a:endParaRPr lang="en-US" sz="1350" dirty="0"/>
          </a:p>
        </p:txBody>
      </p:sp>
      <p:sp>
        <p:nvSpPr>
          <p:cNvPr id="8" name="Shape 5"/>
          <p:cNvSpPr/>
          <p:nvPr/>
        </p:nvSpPr>
        <p:spPr>
          <a:xfrm>
            <a:off x="566928" y="2743200"/>
            <a:ext cx="6446520" cy="969264"/>
          </a:xfrm>
          <a:prstGeom prst="roundRect">
            <a:avLst>
              <a:gd name="adj" fmla="val 943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9" name="Shape 6"/>
          <p:cNvSpPr/>
          <p:nvPr/>
        </p:nvSpPr>
        <p:spPr>
          <a:xfrm>
            <a:off x="777240" y="2935224"/>
            <a:ext cx="585216" cy="585216"/>
          </a:xfrm>
          <a:prstGeom prst="ellipse">
            <a:avLst/>
          </a:prstGeom>
          <a:solidFill>
            <a:srgbClr val="E8F2ED"/>
          </a:solidFill>
          <a:ln w="12700">
            <a:solidFill>
              <a:srgbClr val="E8F2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9396" y="3087380"/>
            <a:ext cx="280904" cy="280904"/>
          </a:xfrm>
          <a:prstGeom prst="rect">
            <a:avLst/>
          </a:prstGeom>
        </p:spPr>
      </p:pic>
      <p:sp>
        <p:nvSpPr>
          <p:cNvPr id="11" name="Text 7"/>
          <p:cNvSpPr/>
          <p:nvPr/>
        </p:nvSpPr>
        <p:spPr>
          <a:xfrm>
            <a:off x="1517904" y="2898648"/>
            <a:ext cx="5303520" cy="329184"/>
          </a:xfrm>
          <a:prstGeom prst="rect">
            <a:avLst/>
          </a:prstGeom>
          <a:noFill/>
          <a:ln/>
        </p:spPr>
        <p:txBody>
          <a:bodyPr wrap="square" lIns="0" tIns="0" rIns="0" bIns="0" rtlCol="0" anchor="ctr"/>
          <a:lstStyle/>
          <a:p>
            <a:pPr marL="0" indent="0">
              <a:buNone/>
            </a:pPr>
            <a:r>
              <a:rPr lang="en-US" sz="1650" b="1" dirty="0">
                <a:solidFill>
                  <a:srgbClr val="16211D"/>
                </a:solidFill>
                <a:latin typeface="Calibri" pitchFamily="34" charset="0"/>
                <a:ea typeface="Calibri" pitchFamily="34" charset="-122"/>
                <a:cs typeface="Calibri" pitchFamily="34" charset="-120"/>
              </a:rPr>
              <a:t>Factorization Models</a:t>
            </a:r>
            <a:endParaRPr lang="en-US" sz="1650" dirty="0"/>
          </a:p>
        </p:txBody>
      </p:sp>
      <p:sp>
        <p:nvSpPr>
          <p:cNvPr id="12" name="Text 8"/>
          <p:cNvSpPr/>
          <p:nvPr/>
        </p:nvSpPr>
        <p:spPr>
          <a:xfrm>
            <a:off x="1517904" y="3246120"/>
            <a:ext cx="5303520" cy="310896"/>
          </a:xfrm>
          <a:prstGeom prst="rect">
            <a:avLst/>
          </a:prstGeom>
          <a:noFill/>
          <a:ln/>
        </p:spPr>
        <p:txBody>
          <a:bodyPr wrap="square" lIns="0" tIns="0" rIns="0" bIns="0" rtlCol="0" anchor="ctr"/>
          <a:lstStyle/>
          <a:p>
            <a:pPr marL="0" indent="0">
              <a:buNone/>
            </a:pPr>
            <a:r>
              <a:rPr lang="en-US" sz="1350" dirty="0">
                <a:solidFill>
                  <a:srgbClr val="5F6F69"/>
                </a:solidFill>
                <a:latin typeface="Calibri" pitchFamily="34" charset="0"/>
                <a:ea typeface="Calibri" pitchFamily="34" charset="-122"/>
                <a:cs typeface="Calibri" pitchFamily="34" charset="-120"/>
              </a:rPr>
              <a:t>for Recommendation</a:t>
            </a:r>
            <a:endParaRPr lang="en-US" sz="1350" dirty="0"/>
          </a:p>
        </p:txBody>
      </p:sp>
      <p:sp>
        <p:nvSpPr>
          <p:cNvPr id="13" name="Shape 9"/>
          <p:cNvSpPr/>
          <p:nvPr/>
        </p:nvSpPr>
        <p:spPr>
          <a:xfrm>
            <a:off x="566928" y="3913632"/>
            <a:ext cx="6446520" cy="969264"/>
          </a:xfrm>
          <a:prstGeom prst="roundRect">
            <a:avLst>
              <a:gd name="adj" fmla="val 943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4" name="Shape 10"/>
          <p:cNvSpPr/>
          <p:nvPr/>
        </p:nvSpPr>
        <p:spPr>
          <a:xfrm>
            <a:off x="777240" y="4105656"/>
            <a:ext cx="585216" cy="585216"/>
          </a:xfrm>
          <a:prstGeom prst="ellipse">
            <a:avLst/>
          </a:prstGeom>
          <a:solidFill>
            <a:srgbClr val="E8F2ED"/>
          </a:solidFill>
          <a:ln w="12700">
            <a:solidFill>
              <a:srgbClr val="E8F2ED"/>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929396" y="4257812"/>
            <a:ext cx="280904" cy="280904"/>
          </a:xfrm>
          <a:prstGeom prst="rect">
            <a:avLst/>
          </a:prstGeom>
        </p:spPr>
      </p:pic>
      <p:sp>
        <p:nvSpPr>
          <p:cNvPr id="16" name="Text 11"/>
          <p:cNvSpPr/>
          <p:nvPr/>
        </p:nvSpPr>
        <p:spPr>
          <a:xfrm>
            <a:off x="1517904" y="4069080"/>
            <a:ext cx="5303520" cy="329184"/>
          </a:xfrm>
          <a:prstGeom prst="rect">
            <a:avLst/>
          </a:prstGeom>
          <a:noFill/>
          <a:ln/>
        </p:spPr>
        <p:txBody>
          <a:bodyPr wrap="square" lIns="0" tIns="0" rIns="0" bIns="0" rtlCol="0" anchor="ctr"/>
          <a:lstStyle/>
          <a:p>
            <a:pPr marL="0" indent="0">
              <a:buNone/>
            </a:pPr>
            <a:r>
              <a:rPr lang="en-US" sz="1650" b="1" dirty="0">
                <a:solidFill>
                  <a:srgbClr val="16211D"/>
                </a:solidFill>
                <a:latin typeface="Calibri" pitchFamily="34" charset="0"/>
                <a:ea typeface="Calibri" pitchFamily="34" charset="-122"/>
                <a:cs typeface="Calibri" pitchFamily="34" charset="-120"/>
              </a:rPr>
              <a:t>Deep Neural Nets</a:t>
            </a:r>
            <a:endParaRPr lang="en-US" sz="1650" dirty="0"/>
          </a:p>
        </p:txBody>
      </p:sp>
      <p:sp>
        <p:nvSpPr>
          <p:cNvPr id="17" name="Text 12"/>
          <p:cNvSpPr/>
          <p:nvPr/>
        </p:nvSpPr>
        <p:spPr>
          <a:xfrm>
            <a:off x="1517904" y="4416552"/>
            <a:ext cx="5303520" cy="310896"/>
          </a:xfrm>
          <a:prstGeom prst="rect">
            <a:avLst/>
          </a:prstGeom>
          <a:noFill/>
          <a:ln/>
        </p:spPr>
        <p:txBody>
          <a:bodyPr wrap="square" lIns="0" tIns="0" rIns="0" bIns="0" rtlCol="0" anchor="ctr"/>
          <a:lstStyle/>
          <a:p>
            <a:pPr marL="0" indent="0">
              <a:buNone/>
            </a:pPr>
            <a:r>
              <a:rPr lang="en-US" sz="1350" dirty="0">
                <a:solidFill>
                  <a:srgbClr val="5F6F69"/>
                </a:solidFill>
                <a:latin typeface="Calibri" pitchFamily="34" charset="0"/>
                <a:ea typeface="Calibri" pitchFamily="34" charset="-122"/>
                <a:cs typeface="Calibri" pitchFamily="34" charset="-120"/>
              </a:rPr>
              <a:t>for Images, Audio etc.</a:t>
            </a:r>
            <a:endParaRPr lang="en-US" sz="1350" dirty="0"/>
          </a:p>
        </p:txBody>
      </p:sp>
      <p:sp>
        <p:nvSpPr>
          <p:cNvPr id="18" name="Shape 13"/>
          <p:cNvSpPr/>
          <p:nvPr/>
        </p:nvSpPr>
        <p:spPr>
          <a:xfrm>
            <a:off x="566928" y="5084064"/>
            <a:ext cx="6446520" cy="969264"/>
          </a:xfrm>
          <a:prstGeom prst="roundRect">
            <a:avLst>
              <a:gd name="adj" fmla="val 9434"/>
            </a:avLst>
          </a:prstGeom>
          <a:solidFill>
            <a:srgbClr val="1F6F5C"/>
          </a:solidFill>
          <a:ln w="12700">
            <a:solidFill>
              <a:srgbClr val="1F6F5C"/>
            </a:solidFill>
            <a:prstDash val="solid"/>
          </a:ln>
          <a:effectLst>
            <a:outerShdw blurRad="101600" dist="25400" dir="5400000" algn="bl" rotWithShape="0">
              <a:srgbClr val="9FB5AC">
                <a:alpha val="22000"/>
              </a:srgbClr>
            </a:outerShdw>
          </a:effectLst>
        </p:spPr>
        <p:txBody>
          <a:bodyPr/>
          <a:lstStyle/>
          <a:p>
            <a:endParaRPr lang="en-US"/>
          </a:p>
        </p:txBody>
      </p:sp>
      <p:sp>
        <p:nvSpPr>
          <p:cNvPr id="19" name="Shape 14"/>
          <p:cNvSpPr/>
          <p:nvPr/>
        </p:nvSpPr>
        <p:spPr>
          <a:xfrm>
            <a:off x="777240" y="5276088"/>
            <a:ext cx="585216" cy="585216"/>
          </a:xfrm>
          <a:prstGeom prst="ellipse">
            <a:avLst/>
          </a:prstGeom>
          <a:solidFill>
            <a:srgbClr val="FFFFFF"/>
          </a:solidFill>
          <a:ln w="12700">
            <a:solidFill>
              <a:srgbClr val="FFFFFF"/>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929396" y="5428244"/>
            <a:ext cx="280904" cy="280904"/>
          </a:xfrm>
          <a:prstGeom prst="rect">
            <a:avLst/>
          </a:prstGeom>
        </p:spPr>
      </p:pic>
      <p:sp>
        <p:nvSpPr>
          <p:cNvPr id="21" name="Text 15"/>
          <p:cNvSpPr/>
          <p:nvPr/>
        </p:nvSpPr>
        <p:spPr>
          <a:xfrm>
            <a:off x="1517904" y="5239512"/>
            <a:ext cx="5303520" cy="329184"/>
          </a:xfrm>
          <a:prstGeom prst="rect">
            <a:avLst/>
          </a:prstGeom>
          <a:noFill/>
          <a:ln/>
        </p:spPr>
        <p:txBody>
          <a:bodyPr wrap="square" lIns="0" tIns="0" rIns="0" bIns="0"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Trees for tabular data</a:t>
            </a:r>
            <a:endParaRPr lang="en-US" sz="1650" dirty="0"/>
          </a:p>
        </p:txBody>
      </p:sp>
      <p:sp>
        <p:nvSpPr>
          <p:cNvPr id="22" name="Text 16"/>
          <p:cNvSpPr/>
          <p:nvPr/>
        </p:nvSpPr>
        <p:spPr>
          <a:xfrm>
            <a:off x="1517904" y="5586984"/>
            <a:ext cx="5303520" cy="310896"/>
          </a:xfrm>
          <a:prstGeom prst="rect">
            <a:avLst/>
          </a:prstGeom>
          <a:noFill/>
          <a:ln/>
        </p:spPr>
        <p:txBody>
          <a:bodyPr wrap="square" lIns="0" tIns="0" rIns="0" bIns="0" rtlCol="0" anchor="ctr"/>
          <a:lstStyle/>
          <a:p>
            <a:pPr marL="0" indent="0">
              <a:buNone/>
            </a:pPr>
            <a:r>
              <a:rPr lang="en-US" sz="1350" i="1" dirty="0">
                <a:solidFill>
                  <a:srgbClr val="CFE6DC"/>
                </a:solidFill>
                <a:latin typeface="Calibri" pitchFamily="34" charset="0"/>
                <a:ea typeface="Calibri" pitchFamily="34" charset="-122"/>
                <a:cs typeface="Calibri" pitchFamily="34" charset="-120"/>
              </a:rPr>
              <a:t>the secret sauce in machine learning</a:t>
            </a:r>
            <a:endParaRPr lang="en-US" sz="1350" dirty="0"/>
          </a:p>
        </p:txBody>
      </p:sp>
      <p:sp>
        <p:nvSpPr>
          <p:cNvPr id="23" name="Shape 17"/>
          <p:cNvSpPr/>
          <p:nvPr/>
        </p:nvSpPr>
        <p:spPr>
          <a:xfrm>
            <a:off x="7360920" y="1572768"/>
            <a:ext cx="4279392" cy="4700016"/>
          </a:xfrm>
          <a:prstGeom prst="roundRect">
            <a:avLst>
              <a:gd name="adj" fmla="val 2137"/>
            </a:avLst>
          </a:prstGeom>
          <a:solidFill>
            <a:srgbClr val="14332B"/>
          </a:solidFill>
          <a:ln w="12700">
            <a:solidFill>
              <a:srgbClr val="14332B"/>
            </a:solidFill>
            <a:prstDash val="solid"/>
          </a:ln>
          <a:effectLst>
            <a:outerShdw blurRad="101600" dist="25400" dir="5400000" algn="bl" rotWithShape="0">
              <a:srgbClr val="9FB5AC">
                <a:alpha val="22000"/>
              </a:srgbClr>
            </a:outerShdw>
          </a:effectLst>
        </p:spPr>
        <p:txBody>
          <a:bodyPr/>
          <a:lstStyle/>
          <a:p>
            <a:endParaRPr lang="en-US"/>
          </a:p>
        </p:txBody>
      </p:sp>
      <p:sp>
        <p:nvSpPr>
          <p:cNvPr id="24" name="Text 18"/>
          <p:cNvSpPr/>
          <p:nvPr/>
        </p:nvSpPr>
        <p:spPr>
          <a:xfrm>
            <a:off x="7662672" y="1828800"/>
            <a:ext cx="3703320" cy="365760"/>
          </a:xfrm>
          <a:prstGeom prst="rect">
            <a:avLst/>
          </a:prstGeom>
          <a:noFill/>
          <a:ln/>
        </p:spPr>
        <p:txBody>
          <a:bodyPr wrap="square" lIns="0" tIns="0" rIns="0" bIns="0" rtlCol="0" anchor="ctr"/>
          <a:lstStyle/>
          <a:p>
            <a:pPr marL="0" indent="0">
              <a:buNone/>
            </a:pPr>
            <a:r>
              <a:rPr lang="en-US" sz="1900" b="1" dirty="0">
                <a:solidFill>
                  <a:srgbClr val="E8A33D"/>
                </a:solidFill>
                <a:latin typeface="Cambria" pitchFamily="34" charset="0"/>
                <a:ea typeface="Cambria" pitchFamily="34" charset="-122"/>
                <a:cs typeface="Cambria" pitchFamily="34" charset="-120"/>
              </a:rPr>
              <a:t>Common Use-cases of </a:t>
            </a:r>
            <a:r>
              <a:rPr lang="en-US" sz="1900" b="1" dirty="0" err="1">
                <a:solidFill>
                  <a:srgbClr val="E8A33D"/>
                </a:solidFill>
                <a:latin typeface="Cambria" pitchFamily="34" charset="0"/>
                <a:ea typeface="Cambria" pitchFamily="34" charset="-122"/>
                <a:cs typeface="Cambria" pitchFamily="34" charset="-120"/>
              </a:rPr>
              <a:t>XGBoost</a:t>
            </a:r>
            <a:endParaRPr lang="en-US" sz="1900" dirty="0"/>
          </a:p>
        </p:txBody>
      </p:sp>
      <p:sp>
        <p:nvSpPr>
          <p:cNvPr id="25" name="Shape 19"/>
          <p:cNvSpPr/>
          <p:nvPr/>
        </p:nvSpPr>
        <p:spPr>
          <a:xfrm>
            <a:off x="7680960" y="2395728"/>
            <a:ext cx="475488" cy="475488"/>
          </a:xfrm>
          <a:prstGeom prst="ellipse">
            <a:avLst/>
          </a:prstGeom>
          <a:solidFill>
            <a:srgbClr val="1F6F5C"/>
          </a:solidFill>
          <a:ln w="12700">
            <a:solidFill>
              <a:srgbClr val="1F6F5C"/>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7804587" y="2519355"/>
            <a:ext cx="228234" cy="228234"/>
          </a:xfrm>
          <a:prstGeom prst="rect">
            <a:avLst/>
          </a:prstGeom>
        </p:spPr>
      </p:pic>
      <p:sp>
        <p:nvSpPr>
          <p:cNvPr id="27" name="Text 20"/>
          <p:cNvSpPr/>
          <p:nvPr/>
        </p:nvSpPr>
        <p:spPr>
          <a:xfrm>
            <a:off x="8302752" y="2377440"/>
            <a:ext cx="3200400" cy="512064"/>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Anomaly detection</a:t>
            </a:r>
            <a:endParaRPr lang="en-US" sz="1450" dirty="0"/>
          </a:p>
        </p:txBody>
      </p:sp>
      <p:sp>
        <p:nvSpPr>
          <p:cNvPr id="28" name="Shape 21"/>
          <p:cNvSpPr/>
          <p:nvPr/>
        </p:nvSpPr>
        <p:spPr>
          <a:xfrm>
            <a:off x="7680960" y="3145536"/>
            <a:ext cx="475488" cy="475488"/>
          </a:xfrm>
          <a:prstGeom prst="ellipse">
            <a:avLst/>
          </a:prstGeom>
          <a:solidFill>
            <a:srgbClr val="1F6F5C"/>
          </a:solidFill>
          <a:ln w="12700">
            <a:solidFill>
              <a:srgbClr val="1F6F5C"/>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7804587" y="3269163"/>
            <a:ext cx="228234" cy="228234"/>
          </a:xfrm>
          <a:prstGeom prst="rect">
            <a:avLst/>
          </a:prstGeom>
        </p:spPr>
      </p:pic>
      <p:sp>
        <p:nvSpPr>
          <p:cNvPr id="30" name="Text 22"/>
          <p:cNvSpPr/>
          <p:nvPr/>
        </p:nvSpPr>
        <p:spPr>
          <a:xfrm>
            <a:off x="8302752" y="3127248"/>
            <a:ext cx="3200400" cy="512064"/>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Ads clickthrough</a:t>
            </a:r>
            <a:endParaRPr lang="en-US" sz="1450" dirty="0"/>
          </a:p>
        </p:txBody>
      </p:sp>
      <p:sp>
        <p:nvSpPr>
          <p:cNvPr id="31" name="Shape 23"/>
          <p:cNvSpPr/>
          <p:nvPr/>
        </p:nvSpPr>
        <p:spPr>
          <a:xfrm>
            <a:off x="7680960" y="3895344"/>
            <a:ext cx="475488" cy="475488"/>
          </a:xfrm>
          <a:prstGeom prst="ellipse">
            <a:avLst/>
          </a:prstGeom>
          <a:solidFill>
            <a:srgbClr val="1F6F5C"/>
          </a:solidFill>
          <a:ln w="12700">
            <a:solidFill>
              <a:srgbClr val="1F6F5C"/>
            </a:solidFill>
            <a:prstDash val="solid"/>
          </a:ln>
        </p:spPr>
        <p:txBody>
          <a:bodyPr/>
          <a:lstStyle/>
          <a:p>
            <a:endParaRPr lang="en-US"/>
          </a:p>
        </p:txBody>
      </p:sp>
      <p:pic>
        <p:nvPicPr>
          <p:cNvPr id="32" name="Image 6" descr="preencoded.png"/>
          <p:cNvPicPr>
            <a:picLocks noChangeAspect="1"/>
          </p:cNvPicPr>
          <p:nvPr/>
        </p:nvPicPr>
        <p:blipFill>
          <a:blip r:embed="rId9"/>
          <a:stretch>
            <a:fillRect/>
          </a:stretch>
        </p:blipFill>
        <p:spPr>
          <a:xfrm>
            <a:off x="7804587" y="4018971"/>
            <a:ext cx="228234" cy="228234"/>
          </a:xfrm>
          <a:prstGeom prst="rect">
            <a:avLst/>
          </a:prstGeom>
        </p:spPr>
      </p:pic>
      <p:sp>
        <p:nvSpPr>
          <p:cNvPr id="33" name="Text 24"/>
          <p:cNvSpPr/>
          <p:nvPr/>
        </p:nvSpPr>
        <p:spPr>
          <a:xfrm>
            <a:off x="8302752" y="3877056"/>
            <a:ext cx="3200400" cy="512064"/>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Fraud detection</a:t>
            </a:r>
            <a:endParaRPr lang="en-US" sz="1450" dirty="0"/>
          </a:p>
        </p:txBody>
      </p:sp>
      <p:sp>
        <p:nvSpPr>
          <p:cNvPr id="34" name="Shape 25"/>
          <p:cNvSpPr/>
          <p:nvPr/>
        </p:nvSpPr>
        <p:spPr>
          <a:xfrm>
            <a:off x="7680960" y="4645152"/>
            <a:ext cx="475488" cy="475488"/>
          </a:xfrm>
          <a:prstGeom prst="ellipse">
            <a:avLst/>
          </a:prstGeom>
          <a:solidFill>
            <a:srgbClr val="1F6F5C"/>
          </a:solidFill>
          <a:ln w="12700">
            <a:solidFill>
              <a:srgbClr val="1F6F5C"/>
            </a:solidFill>
            <a:prstDash val="solid"/>
          </a:ln>
        </p:spPr>
        <p:txBody>
          <a:bodyPr/>
          <a:lstStyle/>
          <a:p>
            <a:endParaRPr lang="en-US"/>
          </a:p>
        </p:txBody>
      </p:sp>
      <p:pic>
        <p:nvPicPr>
          <p:cNvPr id="35" name="Image 7" descr="preencoded.png"/>
          <p:cNvPicPr>
            <a:picLocks noChangeAspect="1"/>
          </p:cNvPicPr>
          <p:nvPr/>
        </p:nvPicPr>
        <p:blipFill>
          <a:blip r:embed="rId10"/>
          <a:stretch>
            <a:fillRect/>
          </a:stretch>
        </p:blipFill>
        <p:spPr>
          <a:xfrm>
            <a:off x="7804587" y="4768779"/>
            <a:ext cx="228234" cy="228234"/>
          </a:xfrm>
          <a:prstGeom prst="rect">
            <a:avLst/>
          </a:prstGeom>
        </p:spPr>
      </p:pic>
      <p:sp>
        <p:nvSpPr>
          <p:cNvPr id="36" name="Text 26"/>
          <p:cNvSpPr/>
          <p:nvPr/>
        </p:nvSpPr>
        <p:spPr>
          <a:xfrm>
            <a:off x="8302752" y="4626864"/>
            <a:ext cx="3200400" cy="512064"/>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Insurance risk estimation</a:t>
            </a:r>
            <a:endParaRPr lang="en-US" sz="1450" dirty="0"/>
          </a:p>
        </p:txBody>
      </p:sp>
      <p:sp>
        <p:nvSpPr>
          <p:cNvPr id="37" name="Shape 27"/>
          <p:cNvSpPr/>
          <p:nvPr/>
        </p:nvSpPr>
        <p:spPr>
          <a:xfrm>
            <a:off x="7680960" y="5394960"/>
            <a:ext cx="475488" cy="475488"/>
          </a:xfrm>
          <a:prstGeom prst="ellipse">
            <a:avLst/>
          </a:prstGeom>
          <a:solidFill>
            <a:srgbClr val="1F6F5C"/>
          </a:solidFill>
          <a:ln w="12700">
            <a:solidFill>
              <a:srgbClr val="1F6F5C"/>
            </a:solidFill>
            <a:prstDash val="solid"/>
          </a:ln>
        </p:spPr>
        <p:txBody>
          <a:bodyPr/>
          <a:lstStyle/>
          <a:p>
            <a:endParaRPr lang="en-US"/>
          </a:p>
        </p:txBody>
      </p:sp>
      <p:pic>
        <p:nvPicPr>
          <p:cNvPr id="38" name="Image 8" descr="preencoded.png"/>
          <p:cNvPicPr>
            <a:picLocks noChangeAspect="1"/>
          </p:cNvPicPr>
          <p:nvPr/>
        </p:nvPicPr>
        <p:blipFill>
          <a:blip r:embed="rId11"/>
          <a:stretch>
            <a:fillRect/>
          </a:stretch>
        </p:blipFill>
        <p:spPr>
          <a:xfrm>
            <a:off x="7804587" y="5518587"/>
            <a:ext cx="228234" cy="228234"/>
          </a:xfrm>
          <a:prstGeom prst="rect">
            <a:avLst/>
          </a:prstGeom>
        </p:spPr>
      </p:pic>
      <p:sp>
        <p:nvSpPr>
          <p:cNvPr id="39" name="Text 28"/>
          <p:cNvSpPr/>
          <p:nvPr/>
        </p:nvSpPr>
        <p:spPr>
          <a:xfrm>
            <a:off x="8302752" y="5376672"/>
            <a:ext cx="3200400" cy="512064"/>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a:t>
            </a:r>
            <a:endParaRPr lang="en-US" sz="14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Regression Tree and CART</a:t>
            </a:r>
            <a:endParaRPr lang="en-US" sz="3200" dirty="0"/>
          </a:p>
        </p:txBody>
      </p:sp>
      <p:sp>
        <p:nvSpPr>
          <p:cNvPr id="3" name="Shape 1"/>
          <p:cNvSpPr/>
          <p:nvPr/>
        </p:nvSpPr>
        <p:spPr>
          <a:xfrm>
            <a:off x="566928" y="1737360"/>
            <a:ext cx="5349240" cy="4206240"/>
          </a:xfrm>
          <a:prstGeom prst="roundRect">
            <a:avLst>
              <a:gd name="adj" fmla="val 217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1024128" y="2148840"/>
            <a:ext cx="914400" cy="914400"/>
          </a:xfrm>
          <a:prstGeom prst="ellipse">
            <a:avLst/>
          </a:prstGeom>
          <a:solidFill>
            <a:srgbClr val="1F6F5C"/>
          </a:solidFill>
          <a:ln w="12700">
            <a:solidFill>
              <a:srgbClr val="1F6F5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261872" y="2386584"/>
            <a:ext cx="438912" cy="438912"/>
          </a:xfrm>
          <a:prstGeom prst="rect">
            <a:avLst/>
          </a:prstGeom>
        </p:spPr>
      </p:pic>
      <p:sp>
        <p:nvSpPr>
          <p:cNvPr id="6" name="Text 3"/>
          <p:cNvSpPr/>
          <p:nvPr/>
        </p:nvSpPr>
        <p:spPr>
          <a:xfrm>
            <a:off x="1024128" y="3246120"/>
            <a:ext cx="4480560" cy="457200"/>
          </a:xfrm>
          <a:prstGeom prst="rect">
            <a:avLst/>
          </a:prstGeom>
          <a:noFill/>
          <a:ln/>
        </p:spPr>
        <p:txBody>
          <a:bodyPr wrap="square" lIns="0" tIns="0" rIns="0" bIns="0" rtlCol="0" anchor="ctr"/>
          <a:lstStyle/>
          <a:p>
            <a:pPr marL="0" indent="0">
              <a:buNone/>
            </a:pPr>
            <a:r>
              <a:rPr lang="en-US" sz="2600" b="1" dirty="0">
                <a:solidFill>
                  <a:srgbClr val="14332B"/>
                </a:solidFill>
                <a:latin typeface="Cambria" pitchFamily="34" charset="0"/>
                <a:ea typeface="Cambria" pitchFamily="34" charset="-122"/>
                <a:cs typeface="Cambria" pitchFamily="34" charset="-120"/>
              </a:rPr>
              <a:t>Regression tree</a:t>
            </a:r>
            <a:endParaRPr lang="en-US" sz="2600" dirty="0"/>
          </a:p>
        </p:txBody>
      </p:sp>
      <p:sp>
        <p:nvSpPr>
          <p:cNvPr id="7" name="Text 4"/>
          <p:cNvSpPr/>
          <p:nvPr/>
        </p:nvSpPr>
        <p:spPr>
          <a:xfrm>
            <a:off x="1024128" y="3794760"/>
            <a:ext cx="4480560" cy="1737360"/>
          </a:xfrm>
          <a:prstGeom prst="rect">
            <a:avLst/>
          </a:prstGeom>
          <a:noFill/>
          <a:ln/>
        </p:spPr>
        <p:txBody>
          <a:bodyPr wrap="square" lIns="0" tIns="0" rIns="0" bIns="0" rtlCol="0" anchor="ctr"/>
          <a:lstStyle/>
          <a:p>
            <a:pPr marL="0" indent="0">
              <a:lnSpc>
                <a:spcPct val="130000"/>
              </a:lnSpc>
              <a:buNone/>
            </a:pPr>
            <a:r>
              <a:rPr lang="en-US" sz="1600" dirty="0">
                <a:solidFill>
                  <a:srgbClr val="16211D"/>
                </a:solidFill>
                <a:latin typeface="Calibri" pitchFamily="34" charset="0"/>
                <a:ea typeface="Calibri" pitchFamily="34" charset="-122"/>
                <a:cs typeface="Calibri" pitchFamily="34" charset="-120"/>
              </a:rPr>
              <a:t>A regression tree is a decision tree that predicts a numeric score. It asks feature questions and sends each record to a final leaf.</a:t>
            </a:r>
            <a:endParaRPr lang="en-US" sz="1600" dirty="0"/>
          </a:p>
        </p:txBody>
      </p:sp>
      <p:sp>
        <p:nvSpPr>
          <p:cNvPr id="8" name="Shape 5"/>
          <p:cNvSpPr/>
          <p:nvPr/>
        </p:nvSpPr>
        <p:spPr>
          <a:xfrm>
            <a:off x="6291072" y="1737360"/>
            <a:ext cx="5349240" cy="4206240"/>
          </a:xfrm>
          <a:prstGeom prst="roundRect">
            <a:avLst>
              <a:gd name="adj" fmla="val 217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9" name="Shape 6"/>
          <p:cNvSpPr/>
          <p:nvPr/>
        </p:nvSpPr>
        <p:spPr>
          <a:xfrm>
            <a:off x="6748272" y="2148840"/>
            <a:ext cx="914400" cy="914400"/>
          </a:xfrm>
          <a:prstGeom prst="ellipse">
            <a:avLst/>
          </a:prstGeom>
          <a:solidFill>
            <a:srgbClr val="E8A33D"/>
          </a:solidFill>
          <a:ln w="12700">
            <a:solidFill>
              <a:srgbClr val="E8A33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986016" y="2386584"/>
            <a:ext cx="438912" cy="438912"/>
          </a:xfrm>
          <a:prstGeom prst="rect">
            <a:avLst/>
          </a:prstGeom>
        </p:spPr>
      </p:pic>
      <p:sp>
        <p:nvSpPr>
          <p:cNvPr id="11" name="Text 7"/>
          <p:cNvSpPr/>
          <p:nvPr/>
        </p:nvSpPr>
        <p:spPr>
          <a:xfrm>
            <a:off x="6748272" y="3246120"/>
            <a:ext cx="4480560" cy="457200"/>
          </a:xfrm>
          <a:prstGeom prst="rect">
            <a:avLst/>
          </a:prstGeom>
          <a:noFill/>
          <a:ln/>
        </p:spPr>
        <p:txBody>
          <a:bodyPr wrap="square" lIns="0" tIns="0" rIns="0" bIns="0" rtlCol="0" anchor="ctr"/>
          <a:lstStyle/>
          <a:p>
            <a:pPr marL="0" indent="0">
              <a:buNone/>
            </a:pPr>
            <a:r>
              <a:rPr lang="en-US" sz="2600" b="1" dirty="0">
                <a:solidFill>
                  <a:srgbClr val="14332B"/>
                </a:solidFill>
                <a:latin typeface="Cambria" pitchFamily="34" charset="0"/>
                <a:ea typeface="Cambria" pitchFamily="34" charset="-122"/>
                <a:cs typeface="Cambria" pitchFamily="34" charset="-120"/>
              </a:rPr>
              <a:t>CART</a:t>
            </a:r>
            <a:endParaRPr lang="en-US" sz="2600" dirty="0"/>
          </a:p>
        </p:txBody>
      </p:sp>
      <p:sp>
        <p:nvSpPr>
          <p:cNvPr id="12" name="Text 8"/>
          <p:cNvSpPr/>
          <p:nvPr/>
        </p:nvSpPr>
        <p:spPr>
          <a:xfrm>
            <a:off x="6748272" y="3794760"/>
            <a:ext cx="4480560" cy="1737360"/>
          </a:xfrm>
          <a:prstGeom prst="rect">
            <a:avLst/>
          </a:prstGeom>
          <a:noFill/>
          <a:ln/>
        </p:spPr>
        <p:txBody>
          <a:bodyPr wrap="square" lIns="0" tIns="0" rIns="0" bIns="0" rtlCol="0" anchor="ctr"/>
          <a:lstStyle/>
          <a:p>
            <a:pPr marL="0" indent="0">
              <a:lnSpc>
                <a:spcPct val="130000"/>
              </a:lnSpc>
              <a:buNone/>
            </a:pPr>
            <a:r>
              <a:rPr lang="en-US" sz="1600" dirty="0">
                <a:solidFill>
                  <a:srgbClr val="16211D"/>
                </a:solidFill>
                <a:latin typeface="Calibri" pitchFamily="34" charset="0"/>
                <a:ea typeface="Calibri" pitchFamily="34" charset="-122"/>
                <a:cs typeface="Calibri" pitchFamily="34" charset="-120"/>
              </a:rPr>
              <a:t>CART means Classification and Regression Tree. It is the tree framework used for both class labels and numeric predictions.</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Regression Tree</a:t>
            </a:r>
            <a:endParaRPr lang="en-US" sz="3200" dirty="0"/>
          </a:p>
        </p:txBody>
      </p:sp>
      <p:sp>
        <p:nvSpPr>
          <p:cNvPr id="3" name="Shape 1"/>
          <p:cNvSpPr/>
          <p:nvPr/>
        </p:nvSpPr>
        <p:spPr>
          <a:xfrm>
            <a:off x="566928" y="1572768"/>
            <a:ext cx="3246120" cy="1298448"/>
          </a:xfrm>
          <a:prstGeom prst="roundRect">
            <a:avLst>
              <a:gd name="adj" fmla="val 7042"/>
            </a:avLst>
          </a:prstGeom>
          <a:solidFill>
            <a:srgbClr val="E8F2ED"/>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Text 2"/>
          <p:cNvSpPr/>
          <p:nvPr/>
        </p:nvSpPr>
        <p:spPr>
          <a:xfrm>
            <a:off x="786384" y="1700784"/>
            <a:ext cx="2834640" cy="1042416"/>
          </a:xfrm>
          <a:prstGeom prst="rect">
            <a:avLst/>
          </a:prstGeom>
          <a:noFill/>
          <a:ln/>
        </p:spPr>
        <p:txBody>
          <a:bodyPr wrap="square" lIns="0" tIns="0" rIns="0" bIns="0" rtlCol="0" anchor="ctr"/>
          <a:lstStyle/>
          <a:p>
            <a:pPr marL="0" indent="0">
              <a:buNone/>
            </a:pPr>
            <a:r>
              <a:rPr lang="en-US" sz="1550" b="1" dirty="0">
                <a:solidFill>
                  <a:srgbClr val="14332B"/>
                </a:solidFill>
                <a:latin typeface="Calibri" pitchFamily="34" charset="0"/>
                <a:ea typeface="Calibri" pitchFamily="34" charset="-122"/>
                <a:cs typeface="Calibri" pitchFamily="34" charset="-120"/>
              </a:rPr>
              <a:t>Regression tree, also known as CART.</a:t>
            </a:r>
            <a:endParaRPr lang="en-US" sz="1550" dirty="0"/>
          </a:p>
        </p:txBody>
      </p:sp>
      <p:sp>
        <p:nvSpPr>
          <p:cNvPr id="6" name="Text 4"/>
          <p:cNvSpPr/>
          <p:nvPr/>
        </p:nvSpPr>
        <p:spPr>
          <a:xfrm>
            <a:off x="786384" y="3163824"/>
            <a:ext cx="2834640" cy="1298448"/>
          </a:xfrm>
          <a:prstGeom prst="rect">
            <a:avLst/>
          </a:prstGeom>
          <a:noFill/>
          <a:ln/>
        </p:spPr>
        <p:txBody>
          <a:bodyPr wrap="square" lIns="0" tIns="0" rIns="0" bIns="0" rtlCol="0" anchor="ctr"/>
          <a:lstStyle/>
          <a:p>
            <a:pPr marL="0" indent="0">
              <a:buNone/>
            </a:pPr>
            <a:endParaRPr lang="en-US" sz="1450" dirty="0"/>
          </a:p>
        </p:txBody>
      </p:sp>
      <p:sp>
        <p:nvSpPr>
          <p:cNvPr id="7" name="Shape 5"/>
          <p:cNvSpPr/>
          <p:nvPr/>
        </p:nvSpPr>
        <p:spPr>
          <a:xfrm>
            <a:off x="786384" y="4864608"/>
            <a:ext cx="548640" cy="548640"/>
          </a:xfrm>
          <a:prstGeom prst="ellipse">
            <a:avLst/>
          </a:prstGeom>
          <a:solidFill>
            <a:srgbClr val="E8A33D"/>
          </a:solidFill>
          <a:ln w="12700">
            <a:solidFill>
              <a:srgbClr val="E8A33D"/>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29030" y="5007254"/>
            <a:ext cx="263347" cy="263347"/>
          </a:xfrm>
          <a:prstGeom prst="rect">
            <a:avLst/>
          </a:prstGeom>
        </p:spPr>
      </p:pic>
      <p:sp>
        <p:nvSpPr>
          <p:cNvPr id="9" name="Text 6"/>
          <p:cNvSpPr/>
          <p:nvPr/>
        </p:nvSpPr>
        <p:spPr>
          <a:xfrm>
            <a:off x="1481328" y="4846320"/>
            <a:ext cx="2377440" cy="585216"/>
          </a:xfrm>
          <a:prstGeom prst="rect">
            <a:avLst/>
          </a:prstGeom>
          <a:noFill/>
          <a:ln/>
        </p:spPr>
        <p:txBody>
          <a:bodyPr wrap="square" lIns="0" tIns="0" rIns="0" bIns="0" rtlCol="0" anchor="ctr"/>
          <a:lstStyle/>
          <a:p>
            <a:pPr marL="0" indent="0">
              <a:buNone/>
            </a:pPr>
            <a:r>
              <a:rPr lang="en-US" sz="1200" i="1" dirty="0">
                <a:solidFill>
                  <a:srgbClr val="5F6F69"/>
                </a:solidFill>
                <a:latin typeface="Calibri" pitchFamily="34" charset="0"/>
                <a:ea typeface="Calibri" pitchFamily="34" charset="-122"/>
                <a:cs typeface="Calibri" pitchFamily="34" charset="-120"/>
              </a:rPr>
              <a:t>Ask a question, follow a branch, land on a score.</a:t>
            </a:r>
            <a:endParaRPr lang="en-US" sz="1200" dirty="0"/>
          </a:p>
        </p:txBody>
      </p:sp>
      <p:sp>
        <p:nvSpPr>
          <p:cNvPr id="10" name="Shape 7"/>
          <p:cNvSpPr/>
          <p:nvPr/>
        </p:nvSpPr>
        <p:spPr>
          <a:xfrm>
            <a:off x="4160520" y="1572768"/>
            <a:ext cx="7479792" cy="4663440"/>
          </a:xfrm>
          <a:prstGeom prst="roundRect">
            <a:avLst>
              <a:gd name="adj" fmla="val 1961"/>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pic>
        <p:nvPicPr>
          <p:cNvPr id="11" name="Image 1" descr="preencoded.png"/>
          <p:cNvPicPr>
            <a:picLocks noChangeAspect="1"/>
          </p:cNvPicPr>
          <p:nvPr/>
        </p:nvPicPr>
        <p:blipFill>
          <a:blip r:embed="rId4"/>
          <a:srcRect/>
          <a:stretch/>
        </p:blipFill>
        <p:spPr>
          <a:xfrm>
            <a:off x="4434840" y="1783080"/>
            <a:ext cx="6931152" cy="4242816"/>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How the Regression Tree Reaches a Score</a:t>
            </a:r>
            <a:endParaRPr lang="en-US" sz="3200" dirty="0"/>
          </a:p>
        </p:txBody>
      </p:sp>
      <p:sp>
        <p:nvSpPr>
          <p:cNvPr id="3" name="Shape 1"/>
          <p:cNvSpPr/>
          <p:nvPr/>
        </p:nvSpPr>
        <p:spPr>
          <a:xfrm>
            <a:off x="566928" y="1737360"/>
            <a:ext cx="2651760" cy="4114800"/>
          </a:xfrm>
          <a:prstGeom prst="roundRect">
            <a:avLst>
              <a:gd name="adj" fmla="val 344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886968" y="2029968"/>
            <a:ext cx="566928" cy="566928"/>
          </a:xfrm>
          <a:prstGeom prst="ellipse">
            <a:avLst/>
          </a:prstGeom>
          <a:solidFill>
            <a:srgbClr val="1F6F5C"/>
          </a:solidFill>
          <a:ln w="12700">
            <a:solidFill>
              <a:srgbClr val="1F6F5C"/>
            </a:solidFill>
            <a:prstDash val="solid"/>
          </a:ln>
        </p:spPr>
        <p:txBody>
          <a:bodyPr/>
          <a:lstStyle/>
          <a:p>
            <a:endParaRPr lang="en-US"/>
          </a:p>
        </p:txBody>
      </p:sp>
      <p:sp>
        <p:nvSpPr>
          <p:cNvPr id="5" name="Text 3"/>
          <p:cNvSpPr/>
          <p:nvPr/>
        </p:nvSpPr>
        <p:spPr>
          <a:xfrm>
            <a:off x="886968" y="2029968"/>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886968" y="2798064"/>
            <a:ext cx="2011680" cy="365760"/>
          </a:xfrm>
          <a:prstGeom prst="rect">
            <a:avLst/>
          </a:prstGeom>
          <a:noFill/>
          <a:ln/>
        </p:spPr>
        <p:txBody>
          <a:bodyPr wrap="square" lIns="0" tIns="0" rIns="0" bIns="0" rtlCol="0" anchor="ctr"/>
          <a:lstStyle/>
          <a:p>
            <a:pPr marL="0" indent="0">
              <a:buNone/>
            </a:pPr>
            <a:r>
              <a:rPr lang="en-US" sz="1900" b="1" dirty="0">
                <a:solidFill>
                  <a:srgbClr val="14332B"/>
                </a:solidFill>
                <a:latin typeface="Cambria" pitchFamily="34" charset="0"/>
                <a:ea typeface="Cambria" pitchFamily="34" charset="-122"/>
                <a:cs typeface="Cambria" pitchFamily="34" charset="-120"/>
              </a:rPr>
              <a:t>Problem</a:t>
            </a:r>
            <a:endParaRPr lang="en-US" sz="1900" dirty="0"/>
          </a:p>
        </p:txBody>
      </p:sp>
      <p:sp>
        <p:nvSpPr>
          <p:cNvPr id="7" name="Text 5"/>
          <p:cNvSpPr/>
          <p:nvPr/>
        </p:nvSpPr>
        <p:spPr>
          <a:xfrm>
            <a:off x="886968" y="3273552"/>
            <a:ext cx="2011680" cy="2286000"/>
          </a:xfrm>
          <a:prstGeom prst="rect">
            <a:avLst/>
          </a:prstGeom>
          <a:noFill/>
          <a:ln/>
        </p:spPr>
        <p:txBody>
          <a:bodyPr wrap="square" lIns="0" tIns="0" rIns="0" bIns="0" rtlCol="0" anchor="ctr"/>
          <a:lstStyle/>
          <a:p>
            <a:pPr marL="0" indent="0">
              <a:lnSpc>
                <a:spcPct val="128000"/>
              </a:lnSpc>
              <a:buNone/>
            </a:pPr>
            <a:r>
              <a:rPr lang="en-US" sz="1350" dirty="0">
                <a:solidFill>
                  <a:srgbClr val="16211D"/>
                </a:solidFill>
                <a:latin typeface="Calibri" pitchFamily="34" charset="0"/>
                <a:ea typeface="Calibri" pitchFamily="34" charset="-122"/>
                <a:cs typeface="Calibri" pitchFamily="34" charset="-120"/>
              </a:rPr>
              <a:t>The figure predicts influenza hospital admissions using features such as age, EHR labs, and wastewater RNA concentration.</a:t>
            </a:r>
            <a:endParaRPr lang="en-US" sz="1350" dirty="0"/>
          </a:p>
        </p:txBody>
      </p:sp>
      <p:sp>
        <p:nvSpPr>
          <p:cNvPr id="8" name="Shape 6"/>
          <p:cNvSpPr/>
          <p:nvPr/>
        </p:nvSpPr>
        <p:spPr>
          <a:xfrm>
            <a:off x="3456432" y="1737360"/>
            <a:ext cx="2651760" cy="4114800"/>
          </a:xfrm>
          <a:prstGeom prst="roundRect">
            <a:avLst>
              <a:gd name="adj" fmla="val 344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9" name="Shape 7"/>
          <p:cNvSpPr/>
          <p:nvPr/>
        </p:nvSpPr>
        <p:spPr>
          <a:xfrm>
            <a:off x="3776472" y="2029968"/>
            <a:ext cx="566928" cy="566928"/>
          </a:xfrm>
          <a:prstGeom prst="ellipse">
            <a:avLst/>
          </a:prstGeom>
          <a:solidFill>
            <a:srgbClr val="1F6F5C"/>
          </a:solidFill>
          <a:ln w="12700">
            <a:solidFill>
              <a:srgbClr val="1F6F5C"/>
            </a:solidFill>
            <a:prstDash val="solid"/>
          </a:ln>
        </p:spPr>
        <p:txBody>
          <a:bodyPr/>
          <a:lstStyle/>
          <a:p>
            <a:endParaRPr lang="en-US"/>
          </a:p>
        </p:txBody>
      </p:sp>
      <p:sp>
        <p:nvSpPr>
          <p:cNvPr id="10" name="Text 8"/>
          <p:cNvSpPr/>
          <p:nvPr/>
        </p:nvSpPr>
        <p:spPr>
          <a:xfrm>
            <a:off x="3776472" y="2029968"/>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3776472" y="2798064"/>
            <a:ext cx="2011680" cy="365760"/>
          </a:xfrm>
          <a:prstGeom prst="rect">
            <a:avLst/>
          </a:prstGeom>
          <a:noFill/>
          <a:ln/>
        </p:spPr>
        <p:txBody>
          <a:bodyPr wrap="square" lIns="0" tIns="0" rIns="0" bIns="0" rtlCol="0" anchor="ctr"/>
          <a:lstStyle/>
          <a:p>
            <a:pPr marL="0" indent="0">
              <a:buNone/>
            </a:pPr>
            <a:r>
              <a:rPr lang="en-US" sz="1900" b="1" dirty="0">
                <a:solidFill>
                  <a:srgbClr val="14332B"/>
                </a:solidFill>
                <a:latin typeface="Cambria" pitchFamily="34" charset="0"/>
                <a:ea typeface="Cambria" pitchFamily="34" charset="-122"/>
                <a:cs typeface="Cambria" pitchFamily="34" charset="-120"/>
              </a:rPr>
              <a:t>First split</a:t>
            </a:r>
            <a:endParaRPr lang="en-US" sz="1900" dirty="0"/>
          </a:p>
        </p:txBody>
      </p:sp>
      <p:sp>
        <p:nvSpPr>
          <p:cNvPr id="12" name="Text 10"/>
          <p:cNvSpPr/>
          <p:nvPr/>
        </p:nvSpPr>
        <p:spPr>
          <a:xfrm>
            <a:off x="3776472" y="3273552"/>
            <a:ext cx="2011680" cy="2286000"/>
          </a:xfrm>
          <a:prstGeom prst="rect">
            <a:avLst/>
          </a:prstGeom>
          <a:noFill/>
          <a:ln/>
        </p:spPr>
        <p:txBody>
          <a:bodyPr wrap="square" lIns="0" tIns="0" rIns="0" bIns="0" rtlCol="0" anchor="ctr"/>
          <a:lstStyle/>
          <a:p>
            <a:pPr marL="0" indent="0">
              <a:lnSpc>
                <a:spcPct val="128000"/>
              </a:lnSpc>
              <a:buNone/>
            </a:pPr>
            <a:r>
              <a:rPr lang="en-US" sz="1350" dirty="0">
                <a:solidFill>
                  <a:srgbClr val="16211D"/>
                </a:solidFill>
                <a:latin typeface="Calibri" pitchFamily="34" charset="0"/>
                <a:ea typeface="Calibri" pitchFamily="34" charset="-122"/>
                <a:cs typeface="Calibri" pitchFamily="34" charset="-120"/>
              </a:rPr>
              <a:t>The tree first asks whether the wastewater RNA concentration is high. This separates areas with heavy viral signal from areas with little signal.</a:t>
            </a:r>
            <a:endParaRPr lang="en-US" sz="1350" dirty="0"/>
          </a:p>
        </p:txBody>
      </p:sp>
      <p:sp>
        <p:nvSpPr>
          <p:cNvPr id="13" name="Shape 11"/>
          <p:cNvSpPr/>
          <p:nvPr/>
        </p:nvSpPr>
        <p:spPr>
          <a:xfrm>
            <a:off x="6345936" y="1737360"/>
            <a:ext cx="2651760" cy="4114800"/>
          </a:xfrm>
          <a:prstGeom prst="roundRect">
            <a:avLst>
              <a:gd name="adj" fmla="val 344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4" name="Shape 12"/>
          <p:cNvSpPr/>
          <p:nvPr/>
        </p:nvSpPr>
        <p:spPr>
          <a:xfrm>
            <a:off x="6665976" y="2029968"/>
            <a:ext cx="566928" cy="566928"/>
          </a:xfrm>
          <a:prstGeom prst="ellipse">
            <a:avLst/>
          </a:prstGeom>
          <a:solidFill>
            <a:srgbClr val="1F6F5C"/>
          </a:solidFill>
          <a:ln w="12700">
            <a:solidFill>
              <a:srgbClr val="1F6F5C"/>
            </a:solidFill>
            <a:prstDash val="solid"/>
          </a:ln>
        </p:spPr>
        <p:txBody>
          <a:bodyPr/>
          <a:lstStyle/>
          <a:p>
            <a:endParaRPr lang="en-US"/>
          </a:p>
        </p:txBody>
      </p:sp>
      <p:sp>
        <p:nvSpPr>
          <p:cNvPr id="15" name="Text 13"/>
          <p:cNvSpPr/>
          <p:nvPr/>
        </p:nvSpPr>
        <p:spPr>
          <a:xfrm>
            <a:off x="6665976" y="2029968"/>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6665976" y="2798064"/>
            <a:ext cx="2011680" cy="365760"/>
          </a:xfrm>
          <a:prstGeom prst="rect">
            <a:avLst/>
          </a:prstGeom>
          <a:noFill/>
          <a:ln/>
        </p:spPr>
        <p:txBody>
          <a:bodyPr wrap="square" lIns="0" tIns="0" rIns="0" bIns="0" rtlCol="0" anchor="ctr"/>
          <a:lstStyle/>
          <a:p>
            <a:pPr marL="0" indent="0">
              <a:buNone/>
            </a:pPr>
            <a:r>
              <a:rPr lang="en-US" sz="1900" b="1" dirty="0">
                <a:solidFill>
                  <a:srgbClr val="14332B"/>
                </a:solidFill>
                <a:latin typeface="Cambria" pitchFamily="34" charset="0"/>
                <a:ea typeface="Cambria" pitchFamily="34" charset="-122"/>
                <a:cs typeface="Cambria" pitchFamily="34" charset="-120"/>
              </a:rPr>
              <a:t>Second split</a:t>
            </a:r>
            <a:endParaRPr lang="en-US" sz="1900" dirty="0"/>
          </a:p>
        </p:txBody>
      </p:sp>
      <p:sp>
        <p:nvSpPr>
          <p:cNvPr id="17" name="Text 15"/>
          <p:cNvSpPr/>
          <p:nvPr/>
        </p:nvSpPr>
        <p:spPr>
          <a:xfrm>
            <a:off x="6665976" y="3273552"/>
            <a:ext cx="2011680" cy="2286000"/>
          </a:xfrm>
          <a:prstGeom prst="rect">
            <a:avLst/>
          </a:prstGeom>
          <a:noFill/>
          <a:ln/>
        </p:spPr>
        <p:txBody>
          <a:bodyPr wrap="square" lIns="0" tIns="0" rIns="0" bIns="0" rtlCol="0" anchor="ctr"/>
          <a:lstStyle/>
          <a:p>
            <a:pPr marL="0" indent="0">
              <a:lnSpc>
                <a:spcPct val="128000"/>
              </a:lnSpc>
              <a:buNone/>
            </a:pPr>
            <a:r>
              <a:rPr lang="en-US" sz="1350" dirty="0">
                <a:solidFill>
                  <a:srgbClr val="16211D"/>
                </a:solidFill>
                <a:latin typeface="Calibri" pitchFamily="34" charset="0"/>
                <a:ea typeface="Calibri" pitchFamily="34" charset="-122"/>
                <a:cs typeface="Calibri" pitchFamily="34" charset="-120"/>
              </a:rPr>
              <a:t>Among high-signal cases, the tree asks whether age is 65 or older. This isolates the group most likely to be hospitalized.</a:t>
            </a:r>
            <a:endParaRPr lang="en-US" sz="1350" dirty="0"/>
          </a:p>
        </p:txBody>
      </p:sp>
      <p:sp>
        <p:nvSpPr>
          <p:cNvPr id="18" name="Shape 16"/>
          <p:cNvSpPr/>
          <p:nvPr/>
        </p:nvSpPr>
        <p:spPr>
          <a:xfrm>
            <a:off x="9235440" y="1737360"/>
            <a:ext cx="2651760" cy="4114800"/>
          </a:xfrm>
          <a:prstGeom prst="roundRect">
            <a:avLst>
              <a:gd name="adj" fmla="val 3448"/>
            </a:avLst>
          </a:prstGeom>
          <a:solidFill>
            <a:srgbClr val="14332B"/>
          </a:solidFill>
          <a:ln w="12700">
            <a:solidFill>
              <a:srgbClr val="14332B"/>
            </a:solidFill>
            <a:prstDash val="solid"/>
          </a:ln>
          <a:effectLst>
            <a:outerShdw blurRad="101600" dist="25400" dir="5400000" algn="bl" rotWithShape="0">
              <a:srgbClr val="9FB5AC">
                <a:alpha val="22000"/>
              </a:srgbClr>
            </a:outerShdw>
          </a:effectLst>
        </p:spPr>
        <p:txBody>
          <a:bodyPr/>
          <a:lstStyle/>
          <a:p>
            <a:endParaRPr lang="en-US"/>
          </a:p>
        </p:txBody>
      </p:sp>
      <p:sp>
        <p:nvSpPr>
          <p:cNvPr id="19" name="Shape 17"/>
          <p:cNvSpPr/>
          <p:nvPr/>
        </p:nvSpPr>
        <p:spPr>
          <a:xfrm>
            <a:off x="9555480" y="2029968"/>
            <a:ext cx="566928" cy="566928"/>
          </a:xfrm>
          <a:prstGeom prst="ellipse">
            <a:avLst/>
          </a:prstGeom>
          <a:solidFill>
            <a:srgbClr val="E8A33D"/>
          </a:solidFill>
          <a:ln w="12700">
            <a:solidFill>
              <a:srgbClr val="E8A33D"/>
            </a:solidFill>
            <a:prstDash val="solid"/>
          </a:ln>
        </p:spPr>
        <p:txBody>
          <a:bodyPr/>
          <a:lstStyle/>
          <a:p>
            <a:endParaRPr lang="en-US"/>
          </a:p>
        </p:txBody>
      </p:sp>
      <p:sp>
        <p:nvSpPr>
          <p:cNvPr id="20" name="Text 18"/>
          <p:cNvSpPr/>
          <p:nvPr/>
        </p:nvSpPr>
        <p:spPr>
          <a:xfrm>
            <a:off x="9555480" y="2029968"/>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9555480" y="2798064"/>
            <a:ext cx="2011680" cy="365760"/>
          </a:xfrm>
          <a:prstGeom prst="rect">
            <a:avLst/>
          </a:prstGeom>
          <a:noFill/>
          <a:ln/>
        </p:spPr>
        <p:txBody>
          <a:bodyPr wrap="square" lIns="0" tIns="0" rIns="0" bIns="0" rtlCol="0" anchor="ctr"/>
          <a:lstStyle/>
          <a:p>
            <a:pPr marL="0" indent="0">
              <a:buNone/>
            </a:pPr>
            <a:r>
              <a:rPr lang="en-US" sz="1900" b="1" dirty="0">
                <a:solidFill>
                  <a:srgbClr val="E8A33D"/>
                </a:solidFill>
                <a:latin typeface="Cambria" pitchFamily="34" charset="0"/>
                <a:ea typeface="Cambria" pitchFamily="34" charset="-122"/>
                <a:cs typeface="Cambria" pitchFamily="34" charset="-120"/>
              </a:rPr>
              <a:t>Leaf score</a:t>
            </a:r>
            <a:endParaRPr lang="en-US" sz="1900" dirty="0"/>
          </a:p>
        </p:txBody>
      </p:sp>
      <p:sp>
        <p:nvSpPr>
          <p:cNvPr id="22" name="Text 20"/>
          <p:cNvSpPr/>
          <p:nvPr/>
        </p:nvSpPr>
        <p:spPr>
          <a:xfrm>
            <a:off x="9555480" y="3273552"/>
            <a:ext cx="2011680" cy="2286000"/>
          </a:xfrm>
          <a:prstGeom prst="rect">
            <a:avLst/>
          </a:prstGeom>
          <a:noFill/>
          <a:ln/>
        </p:spPr>
        <p:txBody>
          <a:bodyPr wrap="square" lIns="0" tIns="0" rIns="0" bIns="0" rtlCol="0" anchor="ctr"/>
          <a:lstStyle/>
          <a:p>
            <a:pPr marL="0" indent="0">
              <a:lnSpc>
                <a:spcPct val="128000"/>
              </a:lnSpc>
              <a:buNone/>
            </a:pPr>
            <a:r>
              <a:rPr lang="en-US" sz="1350" dirty="0">
                <a:solidFill>
                  <a:srgbClr val="DCEBE3"/>
                </a:solidFill>
                <a:latin typeface="Calibri" pitchFamily="34" charset="0"/>
                <a:ea typeface="Calibri" pitchFamily="34" charset="-122"/>
                <a:cs typeface="Calibri" pitchFamily="34" charset="-120"/>
              </a:rPr>
              <a:t>Each final leaf gives a prediction score: +2 for high-signal elderly cases, +0.1 for high-signal younger cases, and -1 for low-signal cases.</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Ensemble Trees</a:t>
            </a:r>
            <a:endParaRPr lang="en-US" sz="3200" dirty="0"/>
          </a:p>
        </p:txBody>
      </p:sp>
      <p:sp>
        <p:nvSpPr>
          <p:cNvPr id="3" name="Shape 1"/>
          <p:cNvSpPr/>
          <p:nvPr/>
        </p:nvSpPr>
        <p:spPr>
          <a:xfrm>
            <a:off x="566928" y="1783080"/>
            <a:ext cx="11073384" cy="1956816"/>
          </a:xfrm>
          <a:prstGeom prst="roundRect">
            <a:avLst>
              <a:gd name="adj" fmla="val 4673"/>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914400" y="2258568"/>
            <a:ext cx="1005840" cy="1005840"/>
          </a:xfrm>
          <a:prstGeom prst="ellipse">
            <a:avLst/>
          </a:prstGeom>
          <a:solidFill>
            <a:srgbClr val="1F6F5C"/>
          </a:solidFill>
          <a:ln w="12700">
            <a:solidFill>
              <a:srgbClr val="1F6F5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175918" y="2520086"/>
            <a:ext cx="482803" cy="482803"/>
          </a:xfrm>
          <a:prstGeom prst="rect">
            <a:avLst/>
          </a:prstGeom>
        </p:spPr>
      </p:pic>
      <p:sp>
        <p:nvSpPr>
          <p:cNvPr id="6" name="Text 3"/>
          <p:cNvSpPr/>
          <p:nvPr/>
        </p:nvSpPr>
        <p:spPr>
          <a:xfrm>
            <a:off x="2212848" y="2093976"/>
            <a:ext cx="9052560" cy="457200"/>
          </a:xfrm>
          <a:prstGeom prst="rect">
            <a:avLst/>
          </a:prstGeom>
          <a:noFill/>
          <a:ln/>
        </p:spPr>
        <p:txBody>
          <a:bodyPr wrap="square" lIns="0" tIns="0" rIns="0" bIns="0" rtlCol="0" anchor="ctr"/>
          <a:lstStyle/>
          <a:p>
            <a:pPr marL="0" indent="0">
              <a:buNone/>
            </a:pPr>
            <a:r>
              <a:rPr lang="en-US" sz="2400" b="1" dirty="0">
                <a:solidFill>
                  <a:srgbClr val="14332B"/>
                </a:solidFill>
                <a:latin typeface="Cambria" pitchFamily="34" charset="0"/>
                <a:ea typeface="Cambria" pitchFamily="34" charset="-122"/>
                <a:cs typeface="Cambria" pitchFamily="34" charset="-120"/>
              </a:rPr>
              <a:t>What are ensemble trees?</a:t>
            </a:r>
            <a:endParaRPr lang="en-US" sz="2400" dirty="0"/>
          </a:p>
        </p:txBody>
      </p:sp>
      <p:sp>
        <p:nvSpPr>
          <p:cNvPr id="7" name="Text 4"/>
          <p:cNvSpPr/>
          <p:nvPr/>
        </p:nvSpPr>
        <p:spPr>
          <a:xfrm>
            <a:off x="2212848" y="2642616"/>
            <a:ext cx="9052560" cy="914400"/>
          </a:xfrm>
          <a:prstGeom prst="rect">
            <a:avLst/>
          </a:prstGeom>
          <a:noFill/>
          <a:ln/>
        </p:spPr>
        <p:txBody>
          <a:bodyPr wrap="square" lIns="0" tIns="0" rIns="0" bIns="0" rtlCol="0" anchor="ctr"/>
          <a:lstStyle/>
          <a:p>
            <a:pPr marL="0" indent="0">
              <a:lnSpc>
                <a:spcPct val="125000"/>
              </a:lnSpc>
              <a:buNone/>
            </a:pPr>
            <a:r>
              <a:rPr lang="en-US" sz="1650" dirty="0">
                <a:solidFill>
                  <a:srgbClr val="16211D"/>
                </a:solidFill>
                <a:latin typeface="Calibri" pitchFamily="34" charset="0"/>
                <a:ea typeface="Calibri" pitchFamily="34" charset="-122"/>
                <a:cs typeface="Calibri" pitchFamily="34" charset="-120"/>
              </a:rPr>
              <a:t>An ensemble combines multiple trees. Each tree gives a score, and the model combines those scores into one final prediction.</a:t>
            </a:r>
            <a:endParaRPr lang="en-US" sz="1650" dirty="0"/>
          </a:p>
        </p:txBody>
      </p:sp>
      <p:sp>
        <p:nvSpPr>
          <p:cNvPr id="8" name="Shape 5"/>
          <p:cNvSpPr/>
          <p:nvPr/>
        </p:nvSpPr>
        <p:spPr>
          <a:xfrm>
            <a:off x="566928" y="4069080"/>
            <a:ext cx="11073384" cy="1956816"/>
          </a:xfrm>
          <a:prstGeom prst="roundRect">
            <a:avLst>
              <a:gd name="adj" fmla="val 4673"/>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9" name="Shape 6"/>
          <p:cNvSpPr/>
          <p:nvPr/>
        </p:nvSpPr>
        <p:spPr>
          <a:xfrm>
            <a:off x="914400" y="4544568"/>
            <a:ext cx="1005840" cy="1005840"/>
          </a:xfrm>
          <a:prstGeom prst="ellipse">
            <a:avLst/>
          </a:prstGeom>
          <a:solidFill>
            <a:srgbClr val="E8A33D"/>
          </a:solidFill>
          <a:ln w="12700">
            <a:solidFill>
              <a:srgbClr val="E8A33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1175918" y="4806086"/>
            <a:ext cx="482803" cy="482803"/>
          </a:xfrm>
          <a:prstGeom prst="rect">
            <a:avLst/>
          </a:prstGeom>
        </p:spPr>
      </p:pic>
      <p:sp>
        <p:nvSpPr>
          <p:cNvPr id="11" name="Text 7"/>
          <p:cNvSpPr/>
          <p:nvPr/>
        </p:nvSpPr>
        <p:spPr>
          <a:xfrm>
            <a:off x="2212848" y="4379976"/>
            <a:ext cx="9052560" cy="457200"/>
          </a:xfrm>
          <a:prstGeom prst="rect">
            <a:avLst/>
          </a:prstGeom>
          <a:noFill/>
          <a:ln/>
        </p:spPr>
        <p:txBody>
          <a:bodyPr wrap="square" lIns="0" tIns="0" rIns="0" bIns="0" rtlCol="0" anchor="ctr"/>
          <a:lstStyle/>
          <a:p>
            <a:pPr marL="0" indent="0">
              <a:buNone/>
            </a:pPr>
            <a:r>
              <a:rPr lang="en-US" sz="2400" b="1" dirty="0">
                <a:solidFill>
                  <a:srgbClr val="14332B"/>
                </a:solidFill>
                <a:latin typeface="Cambria" pitchFamily="34" charset="0"/>
                <a:ea typeface="Cambria" pitchFamily="34" charset="-122"/>
                <a:cs typeface="Cambria" pitchFamily="34" charset="-120"/>
              </a:rPr>
              <a:t>Why use an ensemble?</a:t>
            </a:r>
            <a:endParaRPr lang="en-US" sz="2400" dirty="0"/>
          </a:p>
        </p:txBody>
      </p:sp>
      <p:sp>
        <p:nvSpPr>
          <p:cNvPr id="12" name="Text 8"/>
          <p:cNvSpPr/>
          <p:nvPr/>
        </p:nvSpPr>
        <p:spPr>
          <a:xfrm>
            <a:off x="2212848" y="4928616"/>
            <a:ext cx="9052560" cy="914400"/>
          </a:xfrm>
          <a:prstGeom prst="rect">
            <a:avLst/>
          </a:prstGeom>
          <a:noFill/>
          <a:ln/>
        </p:spPr>
        <p:txBody>
          <a:bodyPr wrap="square" lIns="0" tIns="0" rIns="0" bIns="0" rtlCol="0" anchor="ctr"/>
          <a:lstStyle/>
          <a:p>
            <a:pPr marL="0" indent="0">
              <a:lnSpc>
                <a:spcPct val="125000"/>
              </a:lnSpc>
              <a:buNone/>
            </a:pPr>
            <a:r>
              <a:rPr lang="en-US" sz="1650" dirty="0">
                <a:solidFill>
                  <a:srgbClr val="16211D"/>
                </a:solidFill>
                <a:latin typeface="Calibri" pitchFamily="34" charset="0"/>
                <a:ea typeface="Calibri" pitchFamily="34" charset="-122"/>
                <a:cs typeface="Calibri" pitchFamily="34" charset="-120"/>
              </a:rPr>
              <a:t>No single tree must be perfect. Different trees can specialize in different parts of the pattern.</a:t>
            </a:r>
            <a:endParaRPr lang="en-US" sz="16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When Trees Form a Forest (Tree Ensembles)</a:t>
            </a:r>
            <a:endParaRPr lang="en-US" sz="3200" dirty="0"/>
          </a:p>
        </p:txBody>
      </p:sp>
      <p:sp>
        <p:nvSpPr>
          <p:cNvPr id="3" name="Shape 1"/>
          <p:cNvSpPr/>
          <p:nvPr/>
        </p:nvSpPr>
        <p:spPr>
          <a:xfrm>
            <a:off x="566928" y="1554480"/>
            <a:ext cx="11073384" cy="4754880"/>
          </a:xfrm>
          <a:prstGeom prst="roundRect">
            <a:avLst>
              <a:gd name="adj" fmla="val 1923"/>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pic>
        <p:nvPicPr>
          <p:cNvPr id="4" name="Image 0" descr="preencoded.png"/>
          <p:cNvPicPr>
            <a:picLocks noChangeAspect="1"/>
          </p:cNvPicPr>
          <p:nvPr/>
        </p:nvPicPr>
        <p:blipFill>
          <a:blip r:embed="rId3"/>
          <a:srcRect/>
          <a:stretch/>
        </p:blipFill>
        <p:spPr>
          <a:xfrm>
            <a:off x="868680" y="1783080"/>
            <a:ext cx="10469880" cy="429768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How a Forest reaches a score</a:t>
            </a:r>
            <a:endParaRPr lang="en-US" sz="3200" dirty="0"/>
          </a:p>
        </p:txBody>
      </p:sp>
      <p:sp>
        <p:nvSpPr>
          <p:cNvPr id="3" name="Shape 1"/>
          <p:cNvSpPr/>
          <p:nvPr/>
        </p:nvSpPr>
        <p:spPr>
          <a:xfrm>
            <a:off x="566928" y="1737360"/>
            <a:ext cx="2651760" cy="4114800"/>
          </a:xfrm>
          <a:prstGeom prst="roundRect">
            <a:avLst>
              <a:gd name="adj" fmla="val 344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886968" y="2029968"/>
            <a:ext cx="566928" cy="566928"/>
          </a:xfrm>
          <a:prstGeom prst="ellipse">
            <a:avLst/>
          </a:prstGeom>
          <a:solidFill>
            <a:srgbClr val="1F6F5C"/>
          </a:solidFill>
          <a:ln w="12700">
            <a:solidFill>
              <a:srgbClr val="1F6F5C"/>
            </a:solidFill>
            <a:prstDash val="solid"/>
          </a:ln>
        </p:spPr>
        <p:txBody>
          <a:bodyPr/>
          <a:lstStyle/>
          <a:p>
            <a:endParaRPr lang="en-US"/>
          </a:p>
        </p:txBody>
      </p:sp>
      <p:sp>
        <p:nvSpPr>
          <p:cNvPr id="5" name="Text 3"/>
          <p:cNvSpPr/>
          <p:nvPr/>
        </p:nvSpPr>
        <p:spPr>
          <a:xfrm>
            <a:off x="886968" y="2029968"/>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886968" y="2798064"/>
            <a:ext cx="2011680" cy="365760"/>
          </a:xfrm>
          <a:prstGeom prst="rect">
            <a:avLst/>
          </a:prstGeom>
          <a:noFill/>
          <a:ln/>
        </p:spPr>
        <p:txBody>
          <a:bodyPr wrap="square" lIns="0" tIns="0" rIns="0" bIns="0" rtlCol="0" anchor="ctr"/>
          <a:lstStyle/>
          <a:p>
            <a:pPr marL="0" indent="0">
              <a:buNone/>
            </a:pPr>
            <a:r>
              <a:rPr lang="en-US" sz="1900" b="1" dirty="0">
                <a:solidFill>
                  <a:srgbClr val="14332B"/>
                </a:solidFill>
                <a:latin typeface="Cambria" pitchFamily="34" charset="0"/>
                <a:ea typeface="Cambria" pitchFamily="34" charset="-122"/>
                <a:cs typeface="Cambria" pitchFamily="34" charset="-120"/>
              </a:rPr>
              <a:t>Problem</a:t>
            </a:r>
            <a:endParaRPr lang="en-US" sz="1900" dirty="0"/>
          </a:p>
        </p:txBody>
      </p:sp>
      <p:sp>
        <p:nvSpPr>
          <p:cNvPr id="7" name="Text 5"/>
          <p:cNvSpPr/>
          <p:nvPr/>
        </p:nvSpPr>
        <p:spPr>
          <a:xfrm>
            <a:off x="886968" y="3273552"/>
            <a:ext cx="2011680" cy="2286000"/>
          </a:xfrm>
          <a:prstGeom prst="rect">
            <a:avLst/>
          </a:prstGeom>
          <a:noFill/>
          <a:ln/>
        </p:spPr>
        <p:txBody>
          <a:bodyPr wrap="square" lIns="0" tIns="0" rIns="0" bIns="0" rtlCol="0" anchor="ctr"/>
          <a:lstStyle/>
          <a:p>
            <a:pPr marL="0" indent="0">
              <a:lnSpc>
                <a:spcPct val="128000"/>
              </a:lnSpc>
              <a:buNone/>
            </a:pPr>
            <a:r>
              <a:rPr lang="en-US" sz="1350" dirty="0">
                <a:solidFill>
                  <a:srgbClr val="16211D"/>
                </a:solidFill>
                <a:latin typeface="Calibri" pitchFamily="34" charset="0"/>
                <a:ea typeface="Calibri" pitchFamily="34" charset="-122"/>
                <a:cs typeface="Calibri" pitchFamily="34" charset="-120"/>
              </a:rPr>
              <a:t>The model is still predicting influenza hospital admissions for each case.</a:t>
            </a:r>
            <a:endParaRPr lang="en-US" sz="1350" dirty="0"/>
          </a:p>
        </p:txBody>
      </p:sp>
      <p:sp>
        <p:nvSpPr>
          <p:cNvPr id="8" name="Shape 6"/>
          <p:cNvSpPr/>
          <p:nvPr/>
        </p:nvSpPr>
        <p:spPr>
          <a:xfrm>
            <a:off x="3456432" y="1737360"/>
            <a:ext cx="2651760" cy="4114800"/>
          </a:xfrm>
          <a:prstGeom prst="roundRect">
            <a:avLst>
              <a:gd name="adj" fmla="val 344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9" name="Shape 7"/>
          <p:cNvSpPr/>
          <p:nvPr/>
        </p:nvSpPr>
        <p:spPr>
          <a:xfrm>
            <a:off x="3776472" y="2029968"/>
            <a:ext cx="566928" cy="566928"/>
          </a:xfrm>
          <a:prstGeom prst="ellipse">
            <a:avLst/>
          </a:prstGeom>
          <a:solidFill>
            <a:srgbClr val="1F6F5C"/>
          </a:solidFill>
          <a:ln w="12700">
            <a:solidFill>
              <a:srgbClr val="1F6F5C"/>
            </a:solidFill>
            <a:prstDash val="solid"/>
          </a:ln>
        </p:spPr>
        <p:txBody>
          <a:bodyPr/>
          <a:lstStyle/>
          <a:p>
            <a:endParaRPr lang="en-US"/>
          </a:p>
        </p:txBody>
      </p:sp>
      <p:sp>
        <p:nvSpPr>
          <p:cNvPr id="10" name="Text 8"/>
          <p:cNvSpPr/>
          <p:nvPr/>
        </p:nvSpPr>
        <p:spPr>
          <a:xfrm>
            <a:off x="3776472" y="2029968"/>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3776472" y="2798064"/>
            <a:ext cx="2011680" cy="365760"/>
          </a:xfrm>
          <a:prstGeom prst="rect">
            <a:avLst/>
          </a:prstGeom>
          <a:noFill/>
          <a:ln/>
        </p:spPr>
        <p:txBody>
          <a:bodyPr wrap="square" lIns="0" tIns="0" rIns="0" bIns="0" rtlCol="0" anchor="ctr"/>
          <a:lstStyle/>
          <a:p>
            <a:pPr marL="0" indent="0">
              <a:buNone/>
            </a:pPr>
            <a:r>
              <a:rPr lang="en-US" sz="1900" b="1" dirty="0">
                <a:solidFill>
                  <a:srgbClr val="14332B"/>
                </a:solidFill>
                <a:latin typeface="Cambria" pitchFamily="34" charset="0"/>
                <a:ea typeface="Cambria" pitchFamily="34" charset="-122"/>
                <a:cs typeface="Cambria" pitchFamily="34" charset="-120"/>
              </a:rPr>
              <a:t>Tree 1</a:t>
            </a:r>
            <a:endParaRPr lang="en-US" sz="1900" dirty="0"/>
          </a:p>
        </p:txBody>
      </p:sp>
      <p:sp>
        <p:nvSpPr>
          <p:cNvPr id="12" name="Text 10"/>
          <p:cNvSpPr/>
          <p:nvPr/>
        </p:nvSpPr>
        <p:spPr>
          <a:xfrm>
            <a:off x="3776472" y="3273552"/>
            <a:ext cx="2011680" cy="2286000"/>
          </a:xfrm>
          <a:prstGeom prst="rect">
            <a:avLst/>
          </a:prstGeom>
          <a:noFill/>
          <a:ln/>
        </p:spPr>
        <p:txBody>
          <a:bodyPr wrap="square" lIns="0" tIns="0" rIns="0" bIns="0" rtlCol="0" anchor="ctr"/>
          <a:lstStyle/>
          <a:p>
            <a:pPr marL="0" indent="0">
              <a:lnSpc>
                <a:spcPct val="128000"/>
              </a:lnSpc>
              <a:buNone/>
            </a:pPr>
            <a:r>
              <a:rPr lang="en-US" sz="1350" dirty="0">
                <a:solidFill>
                  <a:srgbClr val="16211D"/>
                </a:solidFill>
                <a:latin typeface="Calibri" pitchFamily="34" charset="0"/>
                <a:ea typeface="Calibri" pitchFamily="34" charset="-122"/>
                <a:cs typeface="Calibri" pitchFamily="34" charset="-120"/>
              </a:rPr>
              <a:t>The first tree uses wastewater RNA and age. For example, a high-signal elderly case receives a strong positive score.</a:t>
            </a:r>
            <a:endParaRPr lang="en-US" sz="1350" dirty="0"/>
          </a:p>
        </p:txBody>
      </p:sp>
      <p:sp>
        <p:nvSpPr>
          <p:cNvPr id="13" name="Shape 11"/>
          <p:cNvSpPr/>
          <p:nvPr/>
        </p:nvSpPr>
        <p:spPr>
          <a:xfrm>
            <a:off x="6345936" y="1737360"/>
            <a:ext cx="2651760" cy="4114800"/>
          </a:xfrm>
          <a:prstGeom prst="roundRect">
            <a:avLst>
              <a:gd name="adj" fmla="val 344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4" name="Shape 12"/>
          <p:cNvSpPr/>
          <p:nvPr/>
        </p:nvSpPr>
        <p:spPr>
          <a:xfrm>
            <a:off x="6665976" y="2029968"/>
            <a:ext cx="566928" cy="566928"/>
          </a:xfrm>
          <a:prstGeom prst="ellipse">
            <a:avLst/>
          </a:prstGeom>
          <a:solidFill>
            <a:srgbClr val="1F6F5C"/>
          </a:solidFill>
          <a:ln w="12700">
            <a:solidFill>
              <a:srgbClr val="1F6F5C"/>
            </a:solidFill>
            <a:prstDash val="solid"/>
          </a:ln>
        </p:spPr>
        <p:txBody>
          <a:bodyPr/>
          <a:lstStyle/>
          <a:p>
            <a:endParaRPr lang="en-US"/>
          </a:p>
        </p:txBody>
      </p:sp>
      <p:sp>
        <p:nvSpPr>
          <p:cNvPr id="15" name="Text 13"/>
          <p:cNvSpPr/>
          <p:nvPr/>
        </p:nvSpPr>
        <p:spPr>
          <a:xfrm>
            <a:off x="6665976" y="2029968"/>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6665976" y="2798064"/>
            <a:ext cx="2011680" cy="365760"/>
          </a:xfrm>
          <a:prstGeom prst="rect">
            <a:avLst/>
          </a:prstGeom>
          <a:noFill/>
          <a:ln/>
        </p:spPr>
        <p:txBody>
          <a:bodyPr wrap="square" lIns="0" tIns="0" rIns="0" bIns="0" rtlCol="0" anchor="ctr"/>
          <a:lstStyle/>
          <a:p>
            <a:pPr marL="0" indent="0">
              <a:buNone/>
            </a:pPr>
            <a:r>
              <a:rPr lang="en-US" sz="1900" b="1" dirty="0">
                <a:solidFill>
                  <a:srgbClr val="14332B"/>
                </a:solidFill>
                <a:latin typeface="Cambria" pitchFamily="34" charset="0"/>
                <a:ea typeface="Cambria" pitchFamily="34" charset="-122"/>
                <a:cs typeface="Cambria" pitchFamily="34" charset="-120"/>
              </a:rPr>
              <a:t>Tree 2</a:t>
            </a:r>
            <a:endParaRPr lang="en-US" sz="1900" dirty="0"/>
          </a:p>
        </p:txBody>
      </p:sp>
      <p:sp>
        <p:nvSpPr>
          <p:cNvPr id="17" name="Text 15"/>
          <p:cNvSpPr/>
          <p:nvPr/>
        </p:nvSpPr>
        <p:spPr>
          <a:xfrm>
            <a:off x="6665976" y="3273552"/>
            <a:ext cx="2011680" cy="2286000"/>
          </a:xfrm>
          <a:prstGeom prst="rect">
            <a:avLst/>
          </a:prstGeom>
          <a:noFill/>
          <a:ln/>
        </p:spPr>
        <p:txBody>
          <a:bodyPr wrap="square" lIns="0" tIns="0" rIns="0" bIns="0" rtlCol="0" anchor="ctr"/>
          <a:lstStyle/>
          <a:p>
            <a:pPr marL="0" indent="0">
              <a:lnSpc>
                <a:spcPct val="128000"/>
              </a:lnSpc>
              <a:buNone/>
            </a:pPr>
            <a:r>
              <a:rPr lang="en-US" sz="1350" dirty="0">
                <a:solidFill>
                  <a:srgbClr val="16211D"/>
                </a:solidFill>
                <a:latin typeface="Calibri" pitchFamily="34" charset="0"/>
                <a:ea typeface="Calibri" pitchFamily="34" charset="-122"/>
                <a:cs typeface="Calibri" pitchFamily="34" charset="-120"/>
              </a:rPr>
              <a:t>The second tree uses EHR lab results. Abnormal labs add a positive score, while normal labs subtract score.</a:t>
            </a:r>
            <a:endParaRPr lang="en-US" sz="1350" dirty="0"/>
          </a:p>
        </p:txBody>
      </p:sp>
      <p:sp>
        <p:nvSpPr>
          <p:cNvPr id="18" name="Shape 16"/>
          <p:cNvSpPr/>
          <p:nvPr/>
        </p:nvSpPr>
        <p:spPr>
          <a:xfrm>
            <a:off x="9235440" y="1737360"/>
            <a:ext cx="2651760" cy="4114800"/>
          </a:xfrm>
          <a:prstGeom prst="roundRect">
            <a:avLst>
              <a:gd name="adj" fmla="val 3448"/>
            </a:avLst>
          </a:prstGeom>
          <a:solidFill>
            <a:srgbClr val="14332B"/>
          </a:solidFill>
          <a:ln w="12700">
            <a:solidFill>
              <a:srgbClr val="14332B"/>
            </a:solidFill>
            <a:prstDash val="solid"/>
          </a:ln>
          <a:effectLst>
            <a:outerShdw blurRad="101600" dist="25400" dir="5400000" algn="bl" rotWithShape="0">
              <a:srgbClr val="9FB5AC">
                <a:alpha val="22000"/>
              </a:srgbClr>
            </a:outerShdw>
          </a:effectLst>
        </p:spPr>
        <p:txBody>
          <a:bodyPr/>
          <a:lstStyle/>
          <a:p>
            <a:endParaRPr lang="en-US"/>
          </a:p>
        </p:txBody>
      </p:sp>
      <p:sp>
        <p:nvSpPr>
          <p:cNvPr id="19" name="Shape 17"/>
          <p:cNvSpPr/>
          <p:nvPr/>
        </p:nvSpPr>
        <p:spPr>
          <a:xfrm>
            <a:off x="9555480" y="2029968"/>
            <a:ext cx="566928" cy="566928"/>
          </a:xfrm>
          <a:prstGeom prst="ellipse">
            <a:avLst/>
          </a:prstGeom>
          <a:solidFill>
            <a:srgbClr val="E8A33D"/>
          </a:solidFill>
          <a:ln w="12700">
            <a:solidFill>
              <a:srgbClr val="E8A33D"/>
            </a:solidFill>
            <a:prstDash val="solid"/>
          </a:ln>
        </p:spPr>
        <p:txBody>
          <a:bodyPr/>
          <a:lstStyle/>
          <a:p>
            <a:endParaRPr lang="en-US"/>
          </a:p>
        </p:txBody>
      </p:sp>
      <p:sp>
        <p:nvSpPr>
          <p:cNvPr id="20" name="Text 18"/>
          <p:cNvSpPr/>
          <p:nvPr/>
        </p:nvSpPr>
        <p:spPr>
          <a:xfrm>
            <a:off x="9555480" y="2029968"/>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9555480" y="2798064"/>
            <a:ext cx="2011680" cy="365760"/>
          </a:xfrm>
          <a:prstGeom prst="rect">
            <a:avLst/>
          </a:prstGeom>
          <a:noFill/>
          <a:ln/>
        </p:spPr>
        <p:txBody>
          <a:bodyPr wrap="square" lIns="0" tIns="0" rIns="0" bIns="0" rtlCol="0" anchor="ctr"/>
          <a:lstStyle/>
          <a:p>
            <a:pPr marL="0" indent="0">
              <a:buNone/>
            </a:pPr>
            <a:r>
              <a:rPr lang="en-US" sz="1900" b="1" dirty="0">
                <a:solidFill>
                  <a:srgbClr val="E8A33D"/>
                </a:solidFill>
                <a:latin typeface="Cambria" pitchFamily="34" charset="0"/>
                <a:ea typeface="Cambria" pitchFamily="34" charset="-122"/>
                <a:cs typeface="Cambria" pitchFamily="34" charset="-120"/>
              </a:rPr>
              <a:t>Final score</a:t>
            </a:r>
            <a:endParaRPr lang="en-US" sz="1900" dirty="0"/>
          </a:p>
        </p:txBody>
      </p:sp>
      <p:sp>
        <p:nvSpPr>
          <p:cNvPr id="22" name="Text 20"/>
          <p:cNvSpPr/>
          <p:nvPr/>
        </p:nvSpPr>
        <p:spPr>
          <a:xfrm>
            <a:off x="9555480" y="3273552"/>
            <a:ext cx="2011680" cy="2286000"/>
          </a:xfrm>
          <a:prstGeom prst="rect">
            <a:avLst/>
          </a:prstGeom>
          <a:noFill/>
          <a:ln/>
        </p:spPr>
        <p:txBody>
          <a:bodyPr wrap="square" lIns="0" tIns="0" rIns="0" bIns="0" rtlCol="0" anchor="ctr"/>
          <a:lstStyle/>
          <a:p>
            <a:pPr marL="0" indent="0">
              <a:lnSpc>
                <a:spcPct val="128000"/>
              </a:lnSpc>
              <a:buNone/>
            </a:pPr>
            <a:r>
              <a:rPr lang="en-US" sz="1350" dirty="0">
                <a:solidFill>
                  <a:srgbClr val="DCEBE3"/>
                </a:solidFill>
                <a:latin typeface="Calibri" pitchFamily="34" charset="0"/>
                <a:ea typeface="Calibri" pitchFamily="34" charset="-122"/>
                <a:cs typeface="Calibri" pitchFamily="34" charset="-120"/>
              </a:rPr>
              <a:t>The ensemble adds the tree scores. In the figure, the high-risk case gets 2 + 0.9 = 2.9, while the low-signal case gets -1 - 0.9 = -1.9.</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Learning Trees: Advantages</a:t>
            </a:r>
            <a:endParaRPr lang="en-US" sz="3200" dirty="0"/>
          </a:p>
        </p:txBody>
      </p:sp>
      <p:sp>
        <p:nvSpPr>
          <p:cNvPr id="3" name="Shape 1"/>
          <p:cNvSpPr/>
          <p:nvPr/>
        </p:nvSpPr>
        <p:spPr>
          <a:xfrm>
            <a:off x="566928" y="1920240"/>
            <a:ext cx="3566160" cy="3566160"/>
          </a:xfrm>
          <a:prstGeom prst="roundRect">
            <a:avLst>
              <a:gd name="adj" fmla="val 25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1847088" y="2377440"/>
            <a:ext cx="1005840" cy="1005840"/>
          </a:xfrm>
          <a:prstGeom prst="ellipse">
            <a:avLst/>
          </a:prstGeom>
          <a:solidFill>
            <a:srgbClr val="1F6F5C"/>
          </a:solidFill>
          <a:ln w="12700">
            <a:solidFill>
              <a:srgbClr val="1F6F5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2108606" y="2638958"/>
            <a:ext cx="482803" cy="482803"/>
          </a:xfrm>
          <a:prstGeom prst="rect">
            <a:avLst/>
          </a:prstGeom>
        </p:spPr>
      </p:pic>
      <p:sp>
        <p:nvSpPr>
          <p:cNvPr id="6" name="Text 3"/>
          <p:cNvSpPr/>
          <p:nvPr/>
        </p:nvSpPr>
        <p:spPr>
          <a:xfrm>
            <a:off x="950976" y="3657600"/>
            <a:ext cx="2798064" cy="1554480"/>
          </a:xfrm>
          <a:prstGeom prst="rect">
            <a:avLst/>
          </a:prstGeom>
          <a:noFill/>
          <a:ln/>
        </p:spPr>
        <p:txBody>
          <a:bodyPr wrap="square" lIns="0" tIns="0" rIns="0" bIns="0" rtlCol="0" anchor="ctr"/>
          <a:lstStyle/>
          <a:p>
            <a:pPr marL="0" indent="0" algn="ctr">
              <a:lnSpc>
                <a:spcPct val="130000"/>
              </a:lnSpc>
              <a:buNone/>
            </a:pPr>
            <a:r>
              <a:rPr lang="en-US" sz="1600" dirty="0">
                <a:solidFill>
                  <a:srgbClr val="16211D"/>
                </a:solidFill>
                <a:latin typeface="Calibri" pitchFamily="34" charset="0"/>
                <a:ea typeface="Calibri" pitchFamily="34" charset="-122"/>
                <a:cs typeface="Calibri" pitchFamily="34" charset="-120"/>
              </a:rPr>
              <a:t>Highly accurate for many tabular data problems.</a:t>
            </a:r>
            <a:endParaRPr lang="en-US" sz="1600" dirty="0"/>
          </a:p>
        </p:txBody>
      </p:sp>
      <p:sp>
        <p:nvSpPr>
          <p:cNvPr id="7" name="Shape 4"/>
          <p:cNvSpPr/>
          <p:nvPr/>
        </p:nvSpPr>
        <p:spPr>
          <a:xfrm>
            <a:off x="4370832" y="1920240"/>
            <a:ext cx="3566160" cy="3566160"/>
          </a:xfrm>
          <a:prstGeom prst="roundRect">
            <a:avLst>
              <a:gd name="adj" fmla="val 25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8" name="Shape 5"/>
          <p:cNvSpPr/>
          <p:nvPr/>
        </p:nvSpPr>
        <p:spPr>
          <a:xfrm>
            <a:off x="5650992" y="2377440"/>
            <a:ext cx="1005840" cy="1005840"/>
          </a:xfrm>
          <a:prstGeom prst="ellipse">
            <a:avLst/>
          </a:prstGeom>
          <a:solidFill>
            <a:srgbClr val="1F6F5C"/>
          </a:solidFill>
          <a:ln w="12700">
            <a:solidFill>
              <a:srgbClr val="1F6F5C"/>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5912510" y="2638958"/>
            <a:ext cx="482803" cy="482803"/>
          </a:xfrm>
          <a:prstGeom prst="rect">
            <a:avLst/>
          </a:prstGeom>
        </p:spPr>
      </p:pic>
      <p:sp>
        <p:nvSpPr>
          <p:cNvPr id="10" name="Text 6"/>
          <p:cNvSpPr/>
          <p:nvPr/>
        </p:nvSpPr>
        <p:spPr>
          <a:xfrm>
            <a:off x="4754880" y="3657600"/>
            <a:ext cx="2798064" cy="1554480"/>
          </a:xfrm>
          <a:prstGeom prst="rect">
            <a:avLst/>
          </a:prstGeom>
          <a:noFill/>
          <a:ln/>
        </p:spPr>
        <p:txBody>
          <a:bodyPr wrap="square" lIns="0" tIns="0" rIns="0" bIns="0" rtlCol="0" anchor="ctr"/>
          <a:lstStyle/>
          <a:p>
            <a:pPr marL="0" indent="0" algn="ctr">
              <a:lnSpc>
                <a:spcPct val="130000"/>
              </a:lnSpc>
              <a:buNone/>
            </a:pPr>
            <a:r>
              <a:rPr lang="en-US" sz="1600" dirty="0">
                <a:solidFill>
                  <a:srgbClr val="16211D"/>
                </a:solidFill>
                <a:latin typeface="Calibri" pitchFamily="34" charset="0"/>
                <a:ea typeface="Calibri" pitchFamily="34" charset="-122"/>
                <a:cs typeface="Calibri" pitchFamily="34" charset="-120"/>
              </a:rPr>
              <a:t>Easy to use because input scaling is usually not required.</a:t>
            </a:r>
            <a:endParaRPr lang="en-US" sz="1600" dirty="0"/>
          </a:p>
        </p:txBody>
      </p:sp>
      <p:sp>
        <p:nvSpPr>
          <p:cNvPr id="11" name="Shape 7"/>
          <p:cNvSpPr/>
          <p:nvPr/>
        </p:nvSpPr>
        <p:spPr>
          <a:xfrm>
            <a:off x="8174736" y="1920240"/>
            <a:ext cx="3566160" cy="3566160"/>
          </a:xfrm>
          <a:prstGeom prst="roundRect">
            <a:avLst>
              <a:gd name="adj" fmla="val 256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2" name="Shape 8"/>
          <p:cNvSpPr/>
          <p:nvPr/>
        </p:nvSpPr>
        <p:spPr>
          <a:xfrm>
            <a:off x="9454896" y="2377440"/>
            <a:ext cx="1005840" cy="1005840"/>
          </a:xfrm>
          <a:prstGeom prst="ellipse">
            <a:avLst/>
          </a:prstGeom>
          <a:solidFill>
            <a:srgbClr val="1F6F5C"/>
          </a:solidFill>
          <a:ln w="12700">
            <a:solidFill>
              <a:srgbClr val="1F6F5C"/>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9716414" y="2638958"/>
            <a:ext cx="482803" cy="482803"/>
          </a:xfrm>
          <a:prstGeom prst="rect">
            <a:avLst/>
          </a:prstGeom>
        </p:spPr>
      </p:pic>
      <p:sp>
        <p:nvSpPr>
          <p:cNvPr id="14" name="Text 9"/>
          <p:cNvSpPr/>
          <p:nvPr/>
        </p:nvSpPr>
        <p:spPr>
          <a:xfrm>
            <a:off x="8558784" y="3657600"/>
            <a:ext cx="2798064" cy="1554480"/>
          </a:xfrm>
          <a:prstGeom prst="rect">
            <a:avLst/>
          </a:prstGeom>
          <a:noFill/>
          <a:ln/>
        </p:spPr>
        <p:txBody>
          <a:bodyPr wrap="square" lIns="0" tIns="0" rIns="0" bIns="0" rtlCol="0" anchor="ctr"/>
          <a:lstStyle/>
          <a:p>
            <a:pPr marL="0" indent="0" algn="ctr">
              <a:lnSpc>
                <a:spcPct val="130000"/>
              </a:lnSpc>
              <a:buNone/>
            </a:pPr>
            <a:r>
              <a:rPr lang="en-US" sz="1600" dirty="0">
                <a:solidFill>
                  <a:srgbClr val="16211D"/>
                </a:solidFill>
                <a:latin typeface="Calibri" pitchFamily="34" charset="0"/>
                <a:ea typeface="Calibri" pitchFamily="34" charset="-122"/>
                <a:cs typeface="Calibri" pitchFamily="34" charset="-120"/>
              </a:rPr>
              <a:t>Easy to interpret and control compared with many complex models.</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Learning Trees: Challenges</a:t>
            </a:r>
            <a:endParaRPr lang="en-US" sz="3200" dirty="0"/>
          </a:p>
        </p:txBody>
      </p:sp>
      <p:sp>
        <p:nvSpPr>
          <p:cNvPr id="3" name="Shape 1"/>
          <p:cNvSpPr/>
          <p:nvPr/>
        </p:nvSpPr>
        <p:spPr>
          <a:xfrm>
            <a:off x="566928" y="1920240"/>
            <a:ext cx="3566160" cy="3566160"/>
          </a:xfrm>
          <a:prstGeom prst="roundRect">
            <a:avLst>
              <a:gd name="adj" fmla="val 2564"/>
            </a:avLst>
          </a:prstGeom>
          <a:solidFill>
            <a:srgbClr val="14332B"/>
          </a:solidFill>
          <a:ln w="12700">
            <a:solidFill>
              <a:srgbClr val="14332B"/>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1847088" y="2468880"/>
            <a:ext cx="1005840" cy="1005840"/>
          </a:xfrm>
          <a:prstGeom prst="ellipse">
            <a:avLst/>
          </a:prstGeom>
          <a:solidFill>
            <a:srgbClr val="B3462F"/>
          </a:solidFill>
          <a:ln w="12700">
            <a:solidFill>
              <a:srgbClr val="B3462F"/>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2108606" y="2730398"/>
            <a:ext cx="482803" cy="482803"/>
          </a:xfrm>
          <a:prstGeom prst="rect">
            <a:avLst/>
          </a:prstGeom>
        </p:spPr>
      </p:pic>
      <p:sp>
        <p:nvSpPr>
          <p:cNvPr id="6" name="Text 3"/>
          <p:cNvSpPr/>
          <p:nvPr/>
        </p:nvSpPr>
        <p:spPr>
          <a:xfrm>
            <a:off x="950976" y="3840480"/>
            <a:ext cx="2798064" cy="109728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Control over-fitting.</a:t>
            </a:r>
            <a:endParaRPr lang="en-US" sz="2100" dirty="0"/>
          </a:p>
        </p:txBody>
      </p:sp>
      <p:sp>
        <p:nvSpPr>
          <p:cNvPr id="7" name="Shape 4"/>
          <p:cNvSpPr/>
          <p:nvPr/>
        </p:nvSpPr>
        <p:spPr>
          <a:xfrm>
            <a:off x="4370832" y="1920240"/>
            <a:ext cx="3566160" cy="3566160"/>
          </a:xfrm>
          <a:prstGeom prst="roundRect">
            <a:avLst>
              <a:gd name="adj" fmla="val 2564"/>
            </a:avLst>
          </a:prstGeom>
          <a:solidFill>
            <a:srgbClr val="14332B"/>
          </a:solidFill>
          <a:ln w="12700">
            <a:solidFill>
              <a:srgbClr val="14332B"/>
            </a:solidFill>
            <a:prstDash val="solid"/>
          </a:ln>
          <a:effectLst>
            <a:outerShdw blurRad="101600" dist="25400" dir="5400000" algn="bl" rotWithShape="0">
              <a:srgbClr val="9FB5AC">
                <a:alpha val="22000"/>
              </a:srgbClr>
            </a:outerShdw>
          </a:effectLst>
        </p:spPr>
        <p:txBody>
          <a:bodyPr/>
          <a:lstStyle/>
          <a:p>
            <a:endParaRPr lang="en-US"/>
          </a:p>
        </p:txBody>
      </p:sp>
      <p:sp>
        <p:nvSpPr>
          <p:cNvPr id="8" name="Shape 5"/>
          <p:cNvSpPr/>
          <p:nvPr/>
        </p:nvSpPr>
        <p:spPr>
          <a:xfrm>
            <a:off x="5650992" y="2468880"/>
            <a:ext cx="1005840" cy="1005840"/>
          </a:xfrm>
          <a:prstGeom prst="ellipse">
            <a:avLst/>
          </a:prstGeom>
          <a:solidFill>
            <a:srgbClr val="B3462F"/>
          </a:solidFill>
          <a:ln w="12700">
            <a:solidFill>
              <a:srgbClr val="B3462F"/>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5912510" y="2730398"/>
            <a:ext cx="482803" cy="482803"/>
          </a:xfrm>
          <a:prstGeom prst="rect">
            <a:avLst/>
          </a:prstGeom>
        </p:spPr>
      </p:pic>
      <p:sp>
        <p:nvSpPr>
          <p:cNvPr id="10" name="Text 6"/>
          <p:cNvSpPr/>
          <p:nvPr/>
        </p:nvSpPr>
        <p:spPr>
          <a:xfrm>
            <a:off x="4754880" y="3840480"/>
            <a:ext cx="2798064" cy="109728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Improve training speed.</a:t>
            </a:r>
            <a:endParaRPr lang="en-US" sz="2100" dirty="0"/>
          </a:p>
        </p:txBody>
      </p:sp>
      <p:sp>
        <p:nvSpPr>
          <p:cNvPr id="11" name="Shape 7"/>
          <p:cNvSpPr/>
          <p:nvPr/>
        </p:nvSpPr>
        <p:spPr>
          <a:xfrm>
            <a:off x="8174736" y="1920240"/>
            <a:ext cx="3566160" cy="3566160"/>
          </a:xfrm>
          <a:prstGeom prst="roundRect">
            <a:avLst>
              <a:gd name="adj" fmla="val 2564"/>
            </a:avLst>
          </a:prstGeom>
          <a:solidFill>
            <a:srgbClr val="14332B"/>
          </a:solidFill>
          <a:ln w="12700">
            <a:solidFill>
              <a:srgbClr val="14332B"/>
            </a:solidFill>
            <a:prstDash val="solid"/>
          </a:ln>
          <a:effectLst>
            <a:outerShdw blurRad="101600" dist="25400" dir="5400000" algn="bl" rotWithShape="0">
              <a:srgbClr val="9FB5AC">
                <a:alpha val="22000"/>
              </a:srgbClr>
            </a:outerShdw>
          </a:effectLst>
        </p:spPr>
        <p:txBody>
          <a:bodyPr/>
          <a:lstStyle/>
          <a:p>
            <a:endParaRPr lang="en-US"/>
          </a:p>
        </p:txBody>
      </p:sp>
      <p:sp>
        <p:nvSpPr>
          <p:cNvPr id="12" name="Shape 8"/>
          <p:cNvSpPr/>
          <p:nvPr/>
        </p:nvSpPr>
        <p:spPr>
          <a:xfrm>
            <a:off x="9454896" y="2468880"/>
            <a:ext cx="1005840" cy="1005840"/>
          </a:xfrm>
          <a:prstGeom prst="ellipse">
            <a:avLst/>
          </a:prstGeom>
          <a:solidFill>
            <a:srgbClr val="B3462F"/>
          </a:solidFill>
          <a:ln w="12700">
            <a:solidFill>
              <a:srgbClr val="B3462F"/>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9716414" y="2730398"/>
            <a:ext cx="482803" cy="482803"/>
          </a:xfrm>
          <a:prstGeom prst="rect">
            <a:avLst/>
          </a:prstGeom>
        </p:spPr>
      </p:pic>
      <p:sp>
        <p:nvSpPr>
          <p:cNvPr id="14" name="Text 9"/>
          <p:cNvSpPr/>
          <p:nvPr/>
        </p:nvSpPr>
        <p:spPr>
          <a:xfrm>
            <a:off x="8558784" y="3840480"/>
            <a:ext cx="2798064" cy="109728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Scale up to larger datasets.</a:t>
            </a:r>
            <a:endParaRPr lang="en-US" sz="2100" dirty="0"/>
          </a:p>
        </p:txBody>
      </p:sp>
      <p:sp>
        <p:nvSpPr>
          <p:cNvPr id="15" name="Text 10"/>
          <p:cNvSpPr/>
          <p:nvPr/>
        </p:nvSpPr>
        <p:spPr>
          <a:xfrm>
            <a:off x="566928" y="5806440"/>
            <a:ext cx="11073384" cy="365760"/>
          </a:xfrm>
          <a:prstGeom prst="rect">
            <a:avLst/>
          </a:prstGeom>
          <a:noFill/>
          <a:ln/>
        </p:spPr>
        <p:txBody>
          <a:bodyPr wrap="square" lIns="0" tIns="0" rIns="0" bIns="0" rtlCol="0" anchor="ctr"/>
          <a:lstStyle/>
          <a:p>
            <a:pPr marL="0" indent="0" algn="ctr">
              <a:buNone/>
            </a:pPr>
            <a:r>
              <a:rPr lang="en-US" sz="1400" i="1" dirty="0">
                <a:solidFill>
                  <a:srgbClr val="5F6F69"/>
                </a:solidFill>
                <a:latin typeface="Calibri" pitchFamily="34" charset="0"/>
                <a:ea typeface="Calibri" pitchFamily="34" charset="-122"/>
                <a:cs typeface="Calibri" pitchFamily="34" charset="-120"/>
              </a:rPr>
              <a:t>These three problems are exactly what XGBoost was built to solve.</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57200"/>
            <a:ext cx="1106424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XGBoost</a:t>
            </a:r>
            <a:endParaRPr lang="en-US" sz="3600" dirty="0"/>
          </a:p>
        </p:txBody>
      </p:sp>
      <p:sp>
        <p:nvSpPr>
          <p:cNvPr id="3" name="Shape 1"/>
          <p:cNvSpPr/>
          <p:nvPr/>
        </p:nvSpPr>
        <p:spPr>
          <a:xfrm>
            <a:off x="566928" y="1481328"/>
            <a:ext cx="11073384" cy="1078992"/>
          </a:xfrm>
          <a:prstGeom prst="roundRect">
            <a:avLst>
              <a:gd name="adj" fmla="val 6780"/>
            </a:avLst>
          </a:prstGeom>
          <a:solidFill>
            <a:srgbClr val="1D4438"/>
          </a:solidFill>
          <a:ln w="12700">
            <a:solidFill>
              <a:srgbClr val="2C5A4A"/>
            </a:solidFill>
            <a:prstDash val="solid"/>
          </a:ln>
        </p:spPr>
        <p:txBody>
          <a:bodyPr/>
          <a:lstStyle/>
          <a:p>
            <a:endParaRPr lang="en-US"/>
          </a:p>
        </p:txBody>
      </p:sp>
      <p:sp>
        <p:nvSpPr>
          <p:cNvPr id="4" name="Shape 2"/>
          <p:cNvSpPr/>
          <p:nvPr/>
        </p:nvSpPr>
        <p:spPr>
          <a:xfrm>
            <a:off x="868680" y="1728216"/>
            <a:ext cx="585216" cy="585216"/>
          </a:xfrm>
          <a:prstGeom prst="ellipse">
            <a:avLst/>
          </a:prstGeom>
          <a:solidFill>
            <a:srgbClr val="1F6F5C"/>
          </a:solidFill>
          <a:ln w="12700">
            <a:solidFill>
              <a:srgbClr val="1F6F5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020836" y="1880372"/>
            <a:ext cx="280904" cy="280904"/>
          </a:xfrm>
          <a:prstGeom prst="rect">
            <a:avLst/>
          </a:prstGeom>
        </p:spPr>
      </p:pic>
      <p:sp>
        <p:nvSpPr>
          <p:cNvPr id="6" name="Text 3"/>
          <p:cNvSpPr/>
          <p:nvPr/>
        </p:nvSpPr>
        <p:spPr>
          <a:xfrm>
            <a:off x="1664208" y="1572768"/>
            <a:ext cx="9692640" cy="896112"/>
          </a:xfrm>
          <a:prstGeom prst="rect">
            <a:avLst/>
          </a:prstGeom>
          <a:noFill/>
          <a:ln/>
        </p:spPr>
        <p:txBody>
          <a:bodyPr wrap="square" lIns="0" tIns="0" rIns="0" bIns="0" rtlCol="0" anchor="ctr"/>
          <a:lstStyle/>
          <a:p>
            <a:pPr marL="0" indent="0">
              <a:lnSpc>
                <a:spcPct val="120000"/>
              </a:lnSpc>
              <a:buNone/>
            </a:pPr>
            <a:r>
              <a:rPr lang="en-US" sz="1550" dirty="0">
                <a:solidFill>
                  <a:srgbClr val="DCEBE3"/>
                </a:solidFill>
                <a:latin typeface="Calibri" pitchFamily="34" charset="0"/>
                <a:ea typeface="Calibri" pitchFamily="34" charset="-122"/>
                <a:cs typeface="Calibri" pitchFamily="34" charset="-120"/>
              </a:rPr>
              <a:t>Traditional models like decision trees and random forests are easy to interpret but may lack accuracy on complex data.</a:t>
            </a:r>
            <a:endParaRPr lang="en-US" sz="1550" dirty="0"/>
          </a:p>
        </p:txBody>
      </p:sp>
      <p:sp>
        <p:nvSpPr>
          <p:cNvPr id="7" name="Shape 4"/>
          <p:cNvSpPr/>
          <p:nvPr/>
        </p:nvSpPr>
        <p:spPr>
          <a:xfrm>
            <a:off x="566928" y="2761488"/>
            <a:ext cx="11073384" cy="1078992"/>
          </a:xfrm>
          <a:prstGeom prst="roundRect">
            <a:avLst>
              <a:gd name="adj" fmla="val 6780"/>
            </a:avLst>
          </a:prstGeom>
          <a:solidFill>
            <a:srgbClr val="1D4438"/>
          </a:solidFill>
          <a:ln w="12700">
            <a:solidFill>
              <a:srgbClr val="2C5A4A"/>
            </a:solidFill>
            <a:prstDash val="solid"/>
          </a:ln>
        </p:spPr>
        <p:txBody>
          <a:bodyPr/>
          <a:lstStyle/>
          <a:p>
            <a:endParaRPr lang="en-US"/>
          </a:p>
        </p:txBody>
      </p:sp>
      <p:sp>
        <p:nvSpPr>
          <p:cNvPr id="8" name="Shape 5"/>
          <p:cNvSpPr/>
          <p:nvPr/>
        </p:nvSpPr>
        <p:spPr>
          <a:xfrm>
            <a:off x="868680" y="3008376"/>
            <a:ext cx="585216" cy="585216"/>
          </a:xfrm>
          <a:prstGeom prst="ellipse">
            <a:avLst/>
          </a:prstGeom>
          <a:solidFill>
            <a:srgbClr val="E8A33D"/>
          </a:solidFill>
          <a:ln w="12700">
            <a:solidFill>
              <a:srgbClr val="E8A33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20836" y="3160532"/>
            <a:ext cx="280904" cy="280904"/>
          </a:xfrm>
          <a:prstGeom prst="rect">
            <a:avLst/>
          </a:prstGeom>
        </p:spPr>
      </p:pic>
      <p:sp>
        <p:nvSpPr>
          <p:cNvPr id="10" name="Text 6"/>
          <p:cNvSpPr/>
          <p:nvPr/>
        </p:nvSpPr>
        <p:spPr>
          <a:xfrm>
            <a:off x="1664208" y="2852928"/>
            <a:ext cx="9692640" cy="896112"/>
          </a:xfrm>
          <a:prstGeom prst="rect">
            <a:avLst/>
          </a:prstGeom>
          <a:noFill/>
          <a:ln/>
        </p:spPr>
        <p:txBody>
          <a:bodyPr wrap="square" lIns="0" tIns="0" rIns="0" bIns="0" rtlCol="0" anchor="ctr"/>
          <a:lstStyle/>
          <a:p>
            <a:pPr marL="0" indent="0">
              <a:lnSpc>
                <a:spcPct val="120000"/>
              </a:lnSpc>
              <a:buNone/>
            </a:pPr>
            <a:r>
              <a:rPr lang="en-US" sz="1550" b="1" dirty="0">
                <a:solidFill>
                  <a:srgbClr val="FFFFFF"/>
                </a:solidFill>
                <a:latin typeface="Calibri" pitchFamily="34" charset="0"/>
                <a:ea typeface="Calibri" pitchFamily="34" charset="-122"/>
                <a:cs typeface="Calibri" pitchFamily="34" charset="-120"/>
              </a:rPr>
              <a:t>XGBoost (eXtreme Gradient Boosting) is an optimized gradient boosting algorithm that combines multiple weak models into a stronger, high-performance model.</a:t>
            </a:r>
            <a:endParaRPr lang="en-US" sz="1550" dirty="0"/>
          </a:p>
        </p:txBody>
      </p:sp>
      <p:sp>
        <p:nvSpPr>
          <p:cNvPr id="11" name="Shape 7"/>
          <p:cNvSpPr/>
          <p:nvPr/>
        </p:nvSpPr>
        <p:spPr>
          <a:xfrm>
            <a:off x="566928" y="4041648"/>
            <a:ext cx="11073384" cy="1078992"/>
          </a:xfrm>
          <a:prstGeom prst="roundRect">
            <a:avLst>
              <a:gd name="adj" fmla="val 6780"/>
            </a:avLst>
          </a:prstGeom>
          <a:solidFill>
            <a:srgbClr val="1D4438"/>
          </a:solidFill>
          <a:ln w="12700">
            <a:solidFill>
              <a:srgbClr val="2C5A4A"/>
            </a:solidFill>
            <a:prstDash val="solid"/>
          </a:ln>
        </p:spPr>
        <p:txBody>
          <a:bodyPr/>
          <a:lstStyle/>
          <a:p>
            <a:endParaRPr lang="en-US"/>
          </a:p>
        </p:txBody>
      </p:sp>
      <p:sp>
        <p:nvSpPr>
          <p:cNvPr id="12" name="Shape 8"/>
          <p:cNvSpPr/>
          <p:nvPr/>
        </p:nvSpPr>
        <p:spPr>
          <a:xfrm>
            <a:off x="868680" y="4288536"/>
            <a:ext cx="585216" cy="585216"/>
          </a:xfrm>
          <a:prstGeom prst="ellipse">
            <a:avLst/>
          </a:prstGeom>
          <a:solidFill>
            <a:srgbClr val="1F6F5C"/>
          </a:solidFill>
          <a:ln w="12700">
            <a:solidFill>
              <a:srgbClr val="1F6F5C"/>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1020836" y="4440692"/>
            <a:ext cx="280904" cy="280904"/>
          </a:xfrm>
          <a:prstGeom prst="rect">
            <a:avLst/>
          </a:prstGeom>
        </p:spPr>
      </p:pic>
      <p:sp>
        <p:nvSpPr>
          <p:cNvPr id="14" name="Text 9"/>
          <p:cNvSpPr/>
          <p:nvPr/>
        </p:nvSpPr>
        <p:spPr>
          <a:xfrm>
            <a:off x="1664208" y="4133088"/>
            <a:ext cx="9692640" cy="896112"/>
          </a:xfrm>
          <a:prstGeom prst="rect">
            <a:avLst/>
          </a:prstGeom>
          <a:noFill/>
          <a:ln/>
        </p:spPr>
        <p:txBody>
          <a:bodyPr wrap="square" lIns="0" tIns="0" rIns="0" bIns="0" rtlCol="0" anchor="ctr"/>
          <a:lstStyle/>
          <a:p>
            <a:pPr marL="0" indent="0">
              <a:lnSpc>
                <a:spcPct val="120000"/>
              </a:lnSpc>
              <a:buNone/>
            </a:pPr>
            <a:r>
              <a:rPr lang="en-US" sz="1550" dirty="0">
                <a:solidFill>
                  <a:srgbClr val="DCEBE3"/>
                </a:solidFill>
                <a:latin typeface="Calibri" pitchFamily="34" charset="0"/>
                <a:ea typeface="Calibri" pitchFamily="34" charset="-122"/>
                <a:cs typeface="Calibri" pitchFamily="34" charset="-120"/>
              </a:rPr>
              <a:t>It uses decision trees as base learners, building them sequentially so each tree corrects errors from the previous one and it is known as boosting.</a:t>
            </a:r>
            <a:endParaRPr lang="en-US" sz="1550" dirty="0"/>
          </a:p>
        </p:txBody>
      </p:sp>
      <p:sp>
        <p:nvSpPr>
          <p:cNvPr id="15" name="Shape 10"/>
          <p:cNvSpPr/>
          <p:nvPr/>
        </p:nvSpPr>
        <p:spPr>
          <a:xfrm>
            <a:off x="566928" y="5321808"/>
            <a:ext cx="11073384" cy="1078992"/>
          </a:xfrm>
          <a:prstGeom prst="roundRect">
            <a:avLst>
              <a:gd name="adj" fmla="val 6780"/>
            </a:avLst>
          </a:prstGeom>
          <a:solidFill>
            <a:srgbClr val="1D4438"/>
          </a:solidFill>
          <a:ln w="12700">
            <a:solidFill>
              <a:srgbClr val="2C5A4A"/>
            </a:solidFill>
            <a:prstDash val="solid"/>
          </a:ln>
        </p:spPr>
        <p:txBody>
          <a:bodyPr/>
          <a:lstStyle/>
          <a:p>
            <a:endParaRPr lang="en-US"/>
          </a:p>
        </p:txBody>
      </p:sp>
      <p:sp>
        <p:nvSpPr>
          <p:cNvPr id="16" name="Shape 11"/>
          <p:cNvSpPr/>
          <p:nvPr/>
        </p:nvSpPr>
        <p:spPr>
          <a:xfrm>
            <a:off x="868680" y="5568696"/>
            <a:ext cx="585216" cy="585216"/>
          </a:xfrm>
          <a:prstGeom prst="ellipse">
            <a:avLst/>
          </a:prstGeom>
          <a:solidFill>
            <a:srgbClr val="1F6F5C"/>
          </a:solidFill>
          <a:ln w="12700">
            <a:solidFill>
              <a:srgbClr val="1F6F5C"/>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1020836" y="5720852"/>
            <a:ext cx="280904" cy="280904"/>
          </a:xfrm>
          <a:prstGeom prst="rect">
            <a:avLst/>
          </a:prstGeom>
        </p:spPr>
      </p:pic>
      <p:sp>
        <p:nvSpPr>
          <p:cNvPr id="18" name="Text 12"/>
          <p:cNvSpPr/>
          <p:nvPr/>
        </p:nvSpPr>
        <p:spPr>
          <a:xfrm>
            <a:off x="1664208" y="5413248"/>
            <a:ext cx="9692640" cy="896112"/>
          </a:xfrm>
          <a:prstGeom prst="rect">
            <a:avLst/>
          </a:prstGeom>
          <a:noFill/>
          <a:ln/>
        </p:spPr>
        <p:txBody>
          <a:bodyPr wrap="square" lIns="0" tIns="0" rIns="0" bIns="0" rtlCol="0" anchor="ctr"/>
          <a:lstStyle/>
          <a:p>
            <a:pPr marL="0" indent="0">
              <a:lnSpc>
                <a:spcPct val="120000"/>
              </a:lnSpc>
              <a:buNone/>
            </a:pPr>
            <a:r>
              <a:rPr lang="en-US" sz="1550" dirty="0">
                <a:solidFill>
                  <a:srgbClr val="DCEBE3"/>
                </a:solidFill>
                <a:latin typeface="Calibri" pitchFamily="34" charset="0"/>
                <a:ea typeface="Calibri" pitchFamily="34" charset="-122"/>
                <a:cs typeface="Calibri" pitchFamily="34" charset="-120"/>
              </a:rPr>
              <a:t>It features parallel processing for faster training on large datasets and allows parameter customization to optimize performance for specific problems.</a:t>
            </a:r>
            <a:endParaRPr lang="en-US" sz="15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How XGBoost Works</a:t>
            </a:r>
            <a:endParaRPr lang="en-US" sz="3200" dirty="0"/>
          </a:p>
        </p:txBody>
      </p:sp>
      <p:sp>
        <p:nvSpPr>
          <p:cNvPr id="3" name="Shape 1"/>
          <p:cNvSpPr/>
          <p:nvPr/>
        </p:nvSpPr>
        <p:spPr>
          <a:xfrm>
            <a:off x="5090008" y="1389888"/>
            <a:ext cx="2011680" cy="502920"/>
          </a:xfrm>
          <a:prstGeom prst="roundRect">
            <a:avLst>
              <a:gd name="adj" fmla="val 14545"/>
            </a:avLst>
          </a:prstGeom>
          <a:solidFill>
            <a:srgbClr val="14332B"/>
          </a:solidFill>
          <a:ln w="12700">
            <a:solidFill>
              <a:srgbClr val="14332B"/>
            </a:solidFill>
            <a:prstDash val="solid"/>
          </a:ln>
        </p:spPr>
        <p:txBody>
          <a:bodyPr/>
          <a:lstStyle/>
          <a:p>
            <a:endParaRPr lang="en-US"/>
          </a:p>
        </p:txBody>
      </p:sp>
      <p:sp>
        <p:nvSpPr>
          <p:cNvPr id="4" name="Text 2"/>
          <p:cNvSpPr/>
          <p:nvPr/>
        </p:nvSpPr>
        <p:spPr>
          <a:xfrm>
            <a:off x="5090008" y="1389888"/>
            <a:ext cx="201168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Instance</a:t>
            </a:r>
            <a:endParaRPr lang="en-US" sz="1500" dirty="0"/>
          </a:p>
        </p:txBody>
      </p:sp>
      <p:sp>
        <p:nvSpPr>
          <p:cNvPr id="5" name="Shape 3"/>
          <p:cNvSpPr/>
          <p:nvPr/>
        </p:nvSpPr>
        <p:spPr>
          <a:xfrm flipH="1">
            <a:off x="2986888" y="1892808"/>
            <a:ext cx="3108960" cy="457200"/>
          </a:xfrm>
          <a:prstGeom prst="line">
            <a:avLst/>
          </a:prstGeom>
          <a:noFill/>
          <a:ln w="22225">
            <a:solidFill>
              <a:srgbClr val="D3E6DD"/>
            </a:solidFill>
            <a:prstDash val="solid"/>
            <a:tailEnd type="triangle"/>
          </a:ln>
        </p:spPr>
        <p:txBody>
          <a:bodyPr/>
          <a:lstStyle/>
          <a:p>
            <a:endParaRPr lang="en-US"/>
          </a:p>
        </p:txBody>
      </p:sp>
      <p:sp>
        <p:nvSpPr>
          <p:cNvPr id="6" name="Shape 4"/>
          <p:cNvSpPr/>
          <p:nvPr/>
        </p:nvSpPr>
        <p:spPr>
          <a:xfrm>
            <a:off x="6095848" y="1892808"/>
            <a:ext cx="3108960" cy="457200"/>
          </a:xfrm>
          <a:prstGeom prst="line">
            <a:avLst/>
          </a:prstGeom>
          <a:noFill/>
          <a:ln w="22225">
            <a:solidFill>
              <a:srgbClr val="D3E6DD"/>
            </a:solidFill>
            <a:prstDash val="solid"/>
            <a:tailEnd type="triangle"/>
          </a:ln>
        </p:spPr>
        <p:txBody>
          <a:bodyPr/>
          <a:lstStyle/>
          <a:p>
            <a:endParaRPr lang="en-US"/>
          </a:p>
        </p:txBody>
      </p:sp>
      <p:sp>
        <p:nvSpPr>
          <p:cNvPr id="7" name="Shape 5"/>
          <p:cNvSpPr/>
          <p:nvPr/>
        </p:nvSpPr>
        <p:spPr>
          <a:xfrm>
            <a:off x="1798168" y="2350008"/>
            <a:ext cx="2377440" cy="457200"/>
          </a:xfrm>
          <a:prstGeom prst="roundRect">
            <a:avLst>
              <a:gd name="adj" fmla="val 16000"/>
            </a:avLst>
          </a:prstGeom>
          <a:solidFill>
            <a:srgbClr val="E8F2ED"/>
          </a:solidFill>
          <a:ln w="12700">
            <a:solidFill>
              <a:srgbClr val="E8F2ED"/>
            </a:solidFill>
            <a:prstDash val="solid"/>
          </a:ln>
        </p:spPr>
        <p:txBody>
          <a:bodyPr/>
          <a:lstStyle/>
          <a:p>
            <a:endParaRPr lang="en-US"/>
          </a:p>
        </p:txBody>
      </p:sp>
      <p:sp>
        <p:nvSpPr>
          <p:cNvPr id="8" name="Text 6"/>
          <p:cNvSpPr/>
          <p:nvPr/>
        </p:nvSpPr>
        <p:spPr>
          <a:xfrm>
            <a:off x="1798168" y="2350008"/>
            <a:ext cx="2377440" cy="457200"/>
          </a:xfrm>
          <a:prstGeom prst="rect">
            <a:avLst/>
          </a:prstGeom>
          <a:noFill/>
          <a:ln/>
        </p:spPr>
        <p:txBody>
          <a:bodyPr wrap="square" lIns="0" tIns="0" rIns="0" bIns="0" rtlCol="0" anchor="ctr"/>
          <a:lstStyle/>
          <a:p>
            <a:pPr marL="0" indent="0" algn="ctr">
              <a:buNone/>
            </a:pPr>
            <a:r>
              <a:rPr lang="en-US" sz="1400" b="1" dirty="0">
                <a:solidFill>
                  <a:srgbClr val="14332B"/>
                </a:solidFill>
                <a:latin typeface="Calibri" pitchFamily="34" charset="0"/>
                <a:ea typeface="Calibri" pitchFamily="34" charset="-122"/>
                <a:cs typeface="Calibri" pitchFamily="34" charset="-120"/>
              </a:rPr>
              <a:t>Random Subset</a:t>
            </a:r>
            <a:endParaRPr lang="en-US" sz="1400" dirty="0"/>
          </a:p>
        </p:txBody>
      </p:sp>
      <p:sp>
        <p:nvSpPr>
          <p:cNvPr id="9" name="Shape 7"/>
          <p:cNvSpPr/>
          <p:nvPr/>
        </p:nvSpPr>
        <p:spPr>
          <a:xfrm>
            <a:off x="4907128" y="2350008"/>
            <a:ext cx="2377440" cy="457200"/>
          </a:xfrm>
          <a:prstGeom prst="roundRect">
            <a:avLst>
              <a:gd name="adj" fmla="val 16000"/>
            </a:avLst>
          </a:prstGeom>
          <a:solidFill>
            <a:srgbClr val="E8F2ED"/>
          </a:solidFill>
          <a:ln w="12700">
            <a:solidFill>
              <a:srgbClr val="E8F2ED"/>
            </a:solidFill>
            <a:prstDash val="solid"/>
          </a:ln>
        </p:spPr>
        <p:txBody>
          <a:bodyPr/>
          <a:lstStyle/>
          <a:p>
            <a:endParaRPr lang="en-US"/>
          </a:p>
        </p:txBody>
      </p:sp>
      <p:sp>
        <p:nvSpPr>
          <p:cNvPr id="10" name="Text 8"/>
          <p:cNvSpPr/>
          <p:nvPr/>
        </p:nvSpPr>
        <p:spPr>
          <a:xfrm>
            <a:off x="4907128" y="2350008"/>
            <a:ext cx="2377440" cy="457200"/>
          </a:xfrm>
          <a:prstGeom prst="rect">
            <a:avLst/>
          </a:prstGeom>
          <a:noFill/>
          <a:ln/>
        </p:spPr>
        <p:txBody>
          <a:bodyPr wrap="square" lIns="0" tIns="0" rIns="0" bIns="0" rtlCol="0" anchor="ctr"/>
          <a:lstStyle/>
          <a:p>
            <a:pPr marL="0" indent="0" algn="ctr">
              <a:buNone/>
            </a:pPr>
            <a:r>
              <a:rPr lang="en-US" sz="1400" b="1" dirty="0">
                <a:solidFill>
                  <a:srgbClr val="14332B"/>
                </a:solidFill>
                <a:latin typeface="Calibri" pitchFamily="34" charset="0"/>
                <a:ea typeface="Calibri" pitchFamily="34" charset="-122"/>
                <a:cs typeface="Calibri" pitchFamily="34" charset="-120"/>
              </a:rPr>
              <a:t>Random Subset</a:t>
            </a:r>
            <a:endParaRPr lang="en-US" sz="1400" dirty="0"/>
          </a:p>
        </p:txBody>
      </p:sp>
      <p:sp>
        <p:nvSpPr>
          <p:cNvPr id="11" name="Shape 9"/>
          <p:cNvSpPr/>
          <p:nvPr/>
        </p:nvSpPr>
        <p:spPr>
          <a:xfrm>
            <a:off x="8016088" y="2350008"/>
            <a:ext cx="2377440" cy="457200"/>
          </a:xfrm>
          <a:prstGeom prst="roundRect">
            <a:avLst>
              <a:gd name="adj" fmla="val 16000"/>
            </a:avLst>
          </a:prstGeom>
          <a:solidFill>
            <a:srgbClr val="E8F2ED"/>
          </a:solidFill>
          <a:ln w="12700">
            <a:solidFill>
              <a:srgbClr val="E8F2ED"/>
            </a:solidFill>
            <a:prstDash val="solid"/>
          </a:ln>
        </p:spPr>
        <p:txBody>
          <a:bodyPr/>
          <a:lstStyle/>
          <a:p>
            <a:endParaRPr lang="en-US"/>
          </a:p>
        </p:txBody>
      </p:sp>
      <p:sp>
        <p:nvSpPr>
          <p:cNvPr id="12" name="Text 10"/>
          <p:cNvSpPr/>
          <p:nvPr/>
        </p:nvSpPr>
        <p:spPr>
          <a:xfrm>
            <a:off x="8016088" y="2350008"/>
            <a:ext cx="2377440" cy="457200"/>
          </a:xfrm>
          <a:prstGeom prst="rect">
            <a:avLst/>
          </a:prstGeom>
          <a:noFill/>
          <a:ln/>
        </p:spPr>
        <p:txBody>
          <a:bodyPr wrap="square" lIns="0" tIns="0" rIns="0" bIns="0" rtlCol="0" anchor="ctr"/>
          <a:lstStyle/>
          <a:p>
            <a:pPr marL="0" indent="0" algn="ctr">
              <a:buNone/>
            </a:pPr>
            <a:r>
              <a:rPr lang="en-US" sz="1400" b="1" dirty="0">
                <a:solidFill>
                  <a:srgbClr val="14332B"/>
                </a:solidFill>
                <a:latin typeface="Calibri" pitchFamily="34" charset="0"/>
                <a:ea typeface="Calibri" pitchFamily="34" charset="-122"/>
                <a:cs typeface="Calibri" pitchFamily="34" charset="-120"/>
              </a:rPr>
              <a:t>Random Subset</a:t>
            </a:r>
            <a:endParaRPr lang="en-US" sz="1400" dirty="0"/>
          </a:p>
        </p:txBody>
      </p:sp>
      <p:sp>
        <p:nvSpPr>
          <p:cNvPr id="13" name="Shape 11"/>
          <p:cNvSpPr/>
          <p:nvPr/>
        </p:nvSpPr>
        <p:spPr>
          <a:xfrm>
            <a:off x="1798168" y="3127248"/>
            <a:ext cx="2377440" cy="457200"/>
          </a:xfrm>
          <a:prstGeom prst="roundRect">
            <a:avLst>
              <a:gd name="adj" fmla="val 16000"/>
            </a:avLst>
          </a:prstGeom>
          <a:solidFill>
            <a:srgbClr val="1F6F5C"/>
          </a:solidFill>
          <a:ln w="12700">
            <a:solidFill>
              <a:srgbClr val="1F6F5C"/>
            </a:solidFill>
            <a:prstDash val="solid"/>
          </a:ln>
        </p:spPr>
        <p:txBody>
          <a:bodyPr/>
          <a:lstStyle/>
          <a:p>
            <a:endParaRPr lang="en-US"/>
          </a:p>
        </p:txBody>
      </p:sp>
      <p:sp>
        <p:nvSpPr>
          <p:cNvPr id="14" name="Text 12"/>
          <p:cNvSpPr/>
          <p:nvPr/>
        </p:nvSpPr>
        <p:spPr>
          <a:xfrm>
            <a:off x="1798168" y="3127248"/>
            <a:ext cx="23774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Tree 1</a:t>
            </a:r>
            <a:endParaRPr lang="en-US" sz="1400" dirty="0"/>
          </a:p>
        </p:txBody>
      </p:sp>
      <p:sp>
        <p:nvSpPr>
          <p:cNvPr id="15" name="Shape 13"/>
          <p:cNvSpPr/>
          <p:nvPr/>
        </p:nvSpPr>
        <p:spPr>
          <a:xfrm>
            <a:off x="4907128" y="3127248"/>
            <a:ext cx="2377440" cy="457200"/>
          </a:xfrm>
          <a:prstGeom prst="roundRect">
            <a:avLst>
              <a:gd name="adj" fmla="val 16000"/>
            </a:avLst>
          </a:prstGeom>
          <a:solidFill>
            <a:srgbClr val="1F6F5C"/>
          </a:solidFill>
          <a:ln w="12700">
            <a:solidFill>
              <a:srgbClr val="1F6F5C"/>
            </a:solidFill>
            <a:prstDash val="solid"/>
          </a:ln>
        </p:spPr>
        <p:txBody>
          <a:bodyPr/>
          <a:lstStyle/>
          <a:p>
            <a:endParaRPr lang="en-US"/>
          </a:p>
        </p:txBody>
      </p:sp>
      <p:sp>
        <p:nvSpPr>
          <p:cNvPr id="16" name="Text 14"/>
          <p:cNvSpPr/>
          <p:nvPr/>
        </p:nvSpPr>
        <p:spPr>
          <a:xfrm>
            <a:off x="4907128" y="3127248"/>
            <a:ext cx="23774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Tree 2</a:t>
            </a:r>
            <a:endParaRPr lang="en-US" sz="1400" dirty="0"/>
          </a:p>
        </p:txBody>
      </p:sp>
      <p:sp>
        <p:nvSpPr>
          <p:cNvPr id="17" name="Shape 15"/>
          <p:cNvSpPr/>
          <p:nvPr/>
        </p:nvSpPr>
        <p:spPr>
          <a:xfrm>
            <a:off x="8016088" y="3127248"/>
            <a:ext cx="2377440" cy="457200"/>
          </a:xfrm>
          <a:prstGeom prst="roundRect">
            <a:avLst>
              <a:gd name="adj" fmla="val 16000"/>
            </a:avLst>
          </a:prstGeom>
          <a:solidFill>
            <a:srgbClr val="1F6F5C"/>
          </a:solidFill>
          <a:ln w="12700">
            <a:solidFill>
              <a:srgbClr val="1F6F5C"/>
            </a:solidFill>
            <a:prstDash val="solid"/>
          </a:ln>
        </p:spPr>
        <p:txBody>
          <a:bodyPr/>
          <a:lstStyle/>
          <a:p>
            <a:endParaRPr lang="en-US"/>
          </a:p>
        </p:txBody>
      </p:sp>
      <p:sp>
        <p:nvSpPr>
          <p:cNvPr id="18" name="Text 16"/>
          <p:cNvSpPr/>
          <p:nvPr/>
        </p:nvSpPr>
        <p:spPr>
          <a:xfrm>
            <a:off x="8016088" y="3127248"/>
            <a:ext cx="23774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Tree n</a:t>
            </a:r>
            <a:endParaRPr lang="en-US" sz="1400" dirty="0"/>
          </a:p>
        </p:txBody>
      </p:sp>
      <p:sp>
        <p:nvSpPr>
          <p:cNvPr id="19" name="Shape 17"/>
          <p:cNvSpPr/>
          <p:nvPr/>
        </p:nvSpPr>
        <p:spPr>
          <a:xfrm>
            <a:off x="1798168" y="3904488"/>
            <a:ext cx="2377440" cy="457200"/>
          </a:xfrm>
          <a:prstGeom prst="roundRect">
            <a:avLst>
              <a:gd name="adj" fmla="val 16000"/>
            </a:avLst>
          </a:prstGeom>
          <a:solidFill>
            <a:srgbClr val="8FBFA9"/>
          </a:solidFill>
          <a:ln w="12700">
            <a:solidFill>
              <a:srgbClr val="8FBFA9"/>
            </a:solidFill>
            <a:prstDash val="solid"/>
          </a:ln>
        </p:spPr>
        <p:txBody>
          <a:bodyPr/>
          <a:lstStyle/>
          <a:p>
            <a:endParaRPr lang="en-US"/>
          </a:p>
        </p:txBody>
      </p:sp>
      <p:sp>
        <p:nvSpPr>
          <p:cNvPr id="20" name="Text 18"/>
          <p:cNvSpPr/>
          <p:nvPr/>
        </p:nvSpPr>
        <p:spPr>
          <a:xfrm>
            <a:off x="1798168" y="3904488"/>
            <a:ext cx="2377440" cy="457200"/>
          </a:xfrm>
          <a:prstGeom prst="rect">
            <a:avLst/>
          </a:prstGeom>
          <a:noFill/>
          <a:ln/>
        </p:spPr>
        <p:txBody>
          <a:bodyPr wrap="square" lIns="0" tIns="0" rIns="0" bIns="0" rtlCol="0" anchor="ctr"/>
          <a:lstStyle/>
          <a:p>
            <a:pPr marL="0" indent="0" algn="ctr">
              <a:buNone/>
            </a:pPr>
            <a:r>
              <a:rPr lang="en-US" sz="1400" b="1" dirty="0">
                <a:solidFill>
                  <a:srgbClr val="14332B"/>
                </a:solidFill>
                <a:latin typeface="Calibri" pitchFamily="34" charset="0"/>
                <a:ea typeface="Calibri" pitchFamily="34" charset="-122"/>
                <a:cs typeface="Calibri" pitchFamily="34" charset="-120"/>
              </a:rPr>
              <a:t>Result 1</a:t>
            </a:r>
            <a:endParaRPr lang="en-US" sz="1400" dirty="0"/>
          </a:p>
        </p:txBody>
      </p:sp>
      <p:sp>
        <p:nvSpPr>
          <p:cNvPr id="21" name="Shape 19"/>
          <p:cNvSpPr/>
          <p:nvPr/>
        </p:nvSpPr>
        <p:spPr>
          <a:xfrm>
            <a:off x="4907128" y="3904488"/>
            <a:ext cx="2377440" cy="457200"/>
          </a:xfrm>
          <a:prstGeom prst="roundRect">
            <a:avLst>
              <a:gd name="adj" fmla="val 16000"/>
            </a:avLst>
          </a:prstGeom>
          <a:solidFill>
            <a:srgbClr val="8FBFA9"/>
          </a:solidFill>
          <a:ln w="12700">
            <a:solidFill>
              <a:srgbClr val="8FBFA9"/>
            </a:solidFill>
            <a:prstDash val="solid"/>
          </a:ln>
        </p:spPr>
        <p:txBody>
          <a:bodyPr/>
          <a:lstStyle/>
          <a:p>
            <a:endParaRPr lang="en-US"/>
          </a:p>
        </p:txBody>
      </p:sp>
      <p:sp>
        <p:nvSpPr>
          <p:cNvPr id="22" name="Text 20"/>
          <p:cNvSpPr/>
          <p:nvPr/>
        </p:nvSpPr>
        <p:spPr>
          <a:xfrm>
            <a:off x="4907128" y="3904488"/>
            <a:ext cx="2377440" cy="457200"/>
          </a:xfrm>
          <a:prstGeom prst="rect">
            <a:avLst/>
          </a:prstGeom>
          <a:noFill/>
          <a:ln/>
        </p:spPr>
        <p:txBody>
          <a:bodyPr wrap="square" lIns="0" tIns="0" rIns="0" bIns="0" rtlCol="0" anchor="ctr"/>
          <a:lstStyle/>
          <a:p>
            <a:pPr marL="0" indent="0" algn="ctr">
              <a:buNone/>
            </a:pPr>
            <a:r>
              <a:rPr lang="en-US" sz="1400" b="1" dirty="0">
                <a:solidFill>
                  <a:srgbClr val="14332B"/>
                </a:solidFill>
                <a:latin typeface="Calibri" pitchFamily="34" charset="0"/>
                <a:ea typeface="Calibri" pitchFamily="34" charset="-122"/>
                <a:cs typeface="Calibri" pitchFamily="34" charset="-120"/>
              </a:rPr>
              <a:t>Result 2</a:t>
            </a:r>
            <a:endParaRPr lang="en-US" sz="1400" dirty="0"/>
          </a:p>
        </p:txBody>
      </p:sp>
      <p:sp>
        <p:nvSpPr>
          <p:cNvPr id="23" name="Shape 21"/>
          <p:cNvSpPr/>
          <p:nvPr/>
        </p:nvSpPr>
        <p:spPr>
          <a:xfrm>
            <a:off x="8016088" y="3904488"/>
            <a:ext cx="2377440" cy="457200"/>
          </a:xfrm>
          <a:prstGeom prst="roundRect">
            <a:avLst>
              <a:gd name="adj" fmla="val 16000"/>
            </a:avLst>
          </a:prstGeom>
          <a:solidFill>
            <a:srgbClr val="8FBFA9"/>
          </a:solidFill>
          <a:ln w="12700">
            <a:solidFill>
              <a:srgbClr val="8FBFA9"/>
            </a:solidFill>
            <a:prstDash val="solid"/>
          </a:ln>
        </p:spPr>
        <p:txBody>
          <a:bodyPr/>
          <a:lstStyle/>
          <a:p>
            <a:endParaRPr lang="en-US"/>
          </a:p>
        </p:txBody>
      </p:sp>
      <p:sp>
        <p:nvSpPr>
          <p:cNvPr id="24" name="Text 22"/>
          <p:cNvSpPr/>
          <p:nvPr/>
        </p:nvSpPr>
        <p:spPr>
          <a:xfrm>
            <a:off x="8016088" y="3904488"/>
            <a:ext cx="2377440" cy="457200"/>
          </a:xfrm>
          <a:prstGeom prst="rect">
            <a:avLst/>
          </a:prstGeom>
          <a:noFill/>
          <a:ln/>
        </p:spPr>
        <p:txBody>
          <a:bodyPr wrap="square" lIns="0" tIns="0" rIns="0" bIns="0" rtlCol="0" anchor="ctr"/>
          <a:lstStyle/>
          <a:p>
            <a:pPr marL="0" indent="0" algn="ctr">
              <a:buNone/>
            </a:pPr>
            <a:r>
              <a:rPr lang="en-US" sz="1400" b="1" dirty="0">
                <a:solidFill>
                  <a:srgbClr val="14332B"/>
                </a:solidFill>
                <a:latin typeface="Calibri" pitchFamily="34" charset="0"/>
                <a:ea typeface="Calibri" pitchFamily="34" charset="-122"/>
                <a:cs typeface="Calibri" pitchFamily="34" charset="-120"/>
              </a:rPr>
              <a:t>Result n</a:t>
            </a:r>
            <a:endParaRPr lang="en-US" sz="1400" dirty="0"/>
          </a:p>
        </p:txBody>
      </p:sp>
      <p:sp>
        <p:nvSpPr>
          <p:cNvPr id="25" name="Shape 23"/>
          <p:cNvSpPr/>
          <p:nvPr/>
        </p:nvSpPr>
        <p:spPr>
          <a:xfrm>
            <a:off x="2986888" y="2807208"/>
            <a:ext cx="0" cy="320040"/>
          </a:xfrm>
          <a:prstGeom prst="line">
            <a:avLst/>
          </a:prstGeom>
          <a:noFill/>
          <a:ln w="22225">
            <a:solidFill>
              <a:srgbClr val="D3E6DD"/>
            </a:solidFill>
            <a:prstDash val="solid"/>
            <a:tailEnd type="triangle"/>
          </a:ln>
        </p:spPr>
        <p:txBody>
          <a:bodyPr/>
          <a:lstStyle/>
          <a:p>
            <a:endParaRPr lang="en-US"/>
          </a:p>
        </p:txBody>
      </p:sp>
      <p:sp>
        <p:nvSpPr>
          <p:cNvPr id="26" name="Shape 24"/>
          <p:cNvSpPr/>
          <p:nvPr/>
        </p:nvSpPr>
        <p:spPr>
          <a:xfrm>
            <a:off x="2986888" y="3584448"/>
            <a:ext cx="0" cy="320040"/>
          </a:xfrm>
          <a:prstGeom prst="line">
            <a:avLst/>
          </a:prstGeom>
          <a:noFill/>
          <a:ln w="22225">
            <a:solidFill>
              <a:srgbClr val="D3E6DD"/>
            </a:solidFill>
            <a:prstDash val="solid"/>
            <a:tailEnd type="triangle"/>
          </a:ln>
        </p:spPr>
        <p:txBody>
          <a:bodyPr/>
          <a:lstStyle/>
          <a:p>
            <a:endParaRPr lang="en-US"/>
          </a:p>
        </p:txBody>
      </p:sp>
      <p:sp>
        <p:nvSpPr>
          <p:cNvPr id="27" name="Shape 25"/>
          <p:cNvSpPr/>
          <p:nvPr/>
        </p:nvSpPr>
        <p:spPr>
          <a:xfrm>
            <a:off x="6095848" y="2807208"/>
            <a:ext cx="0" cy="320040"/>
          </a:xfrm>
          <a:prstGeom prst="line">
            <a:avLst/>
          </a:prstGeom>
          <a:noFill/>
          <a:ln w="22225">
            <a:solidFill>
              <a:srgbClr val="D3E6DD"/>
            </a:solidFill>
            <a:prstDash val="solid"/>
            <a:tailEnd type="triangle"/>
          </a:ln>
        </p:spPr>
        <p:txBody>
          <a:bodyPr/>
          <a:lstStyle/>
          <a:p>
            <a:endParaRPr lang="en-US"/>
          </a:p>
        </p:txBody>
      </p:sp>
      <p:sp>
        <p:nvSpPr>
          <p:cNvPr id="28" name="Shape 26"/>
          <p:cNvSpPr/>
          <p:nvPr/>
        </p:nvSpPr>
        <p:spPr>
          <a:xfrm>
            <a:off x="6095848" y="3584448"/>
            <a:ext cx="0" cy="320040"/>
          </a:xfrm>
          <a:prstGeom prst="line">
            <a:avLst/>
          </a:prstGeom>
          <a:noFill/>
          <a:ln w="22225">
            <a:solidFill>
              <a:srgbClr val="D3E6DD"/>
            </a:solidFill>
            <a:prstDash val="solid"/>
            <a:tailEnd type="triangle"/>
          </a:ln>
        </p:spPr>
        <p:txBody>
          <a:bodyPr/>
          <a:lstStyle/>
          <a:p>
            <a:endParaRPr lang="en-US"/>
          </a:p>
        </p:txBody>
      </p:sp>
      <p:sp>
        <p:nvSpPr>
          <p:cNvPr id="29" name="Shape 27"/>
          <p:cNvSpPr/>
          <p:nvPr/>
        </p:nvSpPr>
        <p:spPr>
          <a:xfrm>
            <a:off x="9204808" y="2807208"/>
            <a:ext cx="0" cy="320040"/>
          </a:xfrm>
          <a:prstGeom prst="line">
            <a:avLst/>
          </a:prstGeom>
          <a:noFill/>
          <a:ln w="22225">
            <a:solidFill>
              <a:srgbClr val="D3E6DD"/>
            </a:solidFill>
            <a:prstDash val="solid"/>
            <a:tailEnd type="triangle"/>
          </a:ln>
        </p:spPr>
        <p:txBody>
          <a:bodyPr/>
          <a:lstStyle/>
          <a:p>
            <a:endParaRPr lang="en-US"/>
          </a:p>
        </p:txBody>
      </p:sp>
      <p:sp>
        <p:nvSpPr>
          <p:cNvPr id="30" name="Shape 28"/>
          <p:cNvSpPr/>
          <p:nvPr/>
        </p:nvSpPr>
        <p:spPr>
          <a:xfrm>
            <a:off x="9204808" y="3584448"/>
            <a:ext cx="0" cy="320040"/>
          </a:xfrm>
          <a:prstGeom prst="line">
            <a:avLst/>
          </a:prstGeom>
          <a:noFill/>
          <a:ln w="22225">
            <a:solidFill>
              <a:srgbClr val="D3E6DD"/>
            </a:solidFill>
            <a:prstDash val="solid"/>
            <a:tailEnd type="triangle"/>
          </a:ln>
        </p:spPr>
        <p:txBody>
          <a:bodyPr/>
          <a:lstStyle/>
          <a:p>
            <a:endParaRPr lang="en-US"/>
          </a:p>
        </p:txBody>
      </p:sp>
      <p:sp>
        <p:nvSpPr>
          <p:cNvPr id="31" name="Shape 29"/>
          <p:cNvSpPr/>
          <p:nvPr/>
        </p:nvSpPr>
        <p:spPr>
          <a:xfrm>
            <a:off x="4907128" y="4864608"/>
            <a:ext cx="2377440" cy="457200"/>
          </a:xfrm>
          <a:prstGeom prst="roundRect">
            <a:avLst>
              <a:gd name="adj" fmla="val 16000"/>
            </a:avLst>
          </a:prstGeom>
          <a:solidFill>
            <a:srgbClr val="E8A33D"/>
          </a:solidFill>
          <a:ln w="12700">
            <a:solidFill>
              <a:srgbClr val="E8A33D"/>
            </a:solidFill>
            <a:prstDash val="solid"/>
          </a:ln>
        </p:spPr>
        <p:txBody>
          <a:bodyPr/>
          <a:lstStyle/>
          <a:p>
            <a:endParaRPr lang="en-US"/>
          </a:p>
        </p:txBody>
      </p:sp>
      <p:sp>
        <p:nvSpPr>
          <p:cNvPr id="32" name="Text 30"/>
          <p:cNvSpPr/>
          <p:nvPr/>
        </p:nvSpPr>
        <p:spPr>
          <a:xfrm>
            <a:off x="4907128" y="4864608"/>
            <a:ext cx="2377440" cy="457200"/>
          </a:xfrm>
          <a:prstGeom prst="rect">
            <a:avLst/>
          </a:prstGeom>
          <a:noFill/>
          <a:ln/>
        </p:spPr>
        <p:txBody>
          <a:bodyPr wrap="square" lIns="0" tIns="0" rIns="0" bIns="0" rtlCol="0" anchor="ctr"/>
          <a:lstStyle/>
          <a:p>
            <a:pPr marL="0" indent="0" algn="ctr">
              <a:buNone/>
            </a:pPr>
            <a:r>
              <a:rPr lang="en-US" sz="1400" b="1" dirty="0">
                <a:solidFill>
                  <a:srgbClr val="14332B"/>
                </a:solidFill>
                <a:latin typeface="Calibri" pitchFamily="34" charset="0"/>
                <a:ea typeface="Calibri" pitchFamily="34" charset="-122"/>
                <a:cs typeface="Calibri" pitchFamily="34" charset="-120"/>
              </a:rPr>
              <a:t>Weighting</a:t>
            </a:r>
            <a:endParaRPr lang="en-US" sz="1400" dirty="0"/>
          </a:p>
        </p:txBody>
      </p:sp>
      <p:sp>
        <p:nvSpPr>
          <p:cNvPr id="33" name="Shape 31"/>
          <p:cNvSpPr/>
          <p:nvPr/>
        </p:nvSpPr>
        <p:spPr>
          <a:xfrm>
            <a:off x="2986888" y="4361688"/>
            <a:ext cx="3108960" cy="502920"/>
          </a:xfrm>
          <a:prstGeom prst="line">
            <a:avLst/>
          </a:prstGeom>
          <a:noFill/>
          <a:ln w="22225">
            <a:solidFill>
              <a:srgbClr val="D3E6DD"/>
            </a:solidFill>
            <a:prstDash val="solid"/>
            <a:tailEnd type="triangle"/>
          </a:ln>
        </p:spPr>
        <p:txBody>
          <a:bodyPr/>
          <a:lstStyle/>
          <a:p>
            <a:endParaRPr lang="en-US"/>
          </a:p>
        </p:txBody>
      </p:sp>
      <p:sp>
        <p:nvSpPr>
          <p:cNvPr id="34" name="Shape 32"/>
          <p:cNvSpPr/>
          <p:nvPr/>
        </p:nvSpPr>
        <p:spPr>
          <a:xfrm>
            <a:off x="6095848" y="4361688"/>
            <a:ext cx="0" cy="502920"/>
          </a:xfrm>
          <a:prstGeom prst="line">
            <a:avLst/>
          </a:prstGeom>
          <a:noFill/>
          <a:ln w="22225">
            <a:solidFill>
              <a:srgbClr val="D3E6DD"/>
            </a:solidFill>
            <a:prstDash val="solid"/>
            <a:tailEnd type="triangle"/>
          </a:ln>
        </p:spPr>
        <p:txBody>
          <a:bodyPr/>
          <a:lstStyle/>
          <a:p>
            <a:endParaRPr lang="en-US"/>
          </a:p>
        </p:txBody>
      </p:sp>
      <p:sp>
        <p:nvSpPr>
          <p:cNvPr id="35" name="Shape 33"/>
          <p:cNvSpPr/>
          <p:nvPr/>
        </p:nvSpPr>
        <p:spPr>
          <a:xfrm flipH="1">
            <a:off x="6095848" y="4361688"/>
            <a:ext cx="3108960" cy="502920"/>
          </a:xfrm>
          <a:prstGeom prst="line">
            <a:avLst/>
          </a:prstGeom>
          <a:noFill/>
          <a:ln w="22225">
            <a:solidFill>
              <a:srgbClr val="D3E6DD"/>
            </a:solidFill>
            <a:prstDash val="solid"/>
            <a:tailEnd type="triangle"/>
          </a:ln>
        </p:spPr>
        <p:txBody>
          <a:bodyPr/>
          <a:lstStyle/>
          <a:p>
            <a:endParaRPr lang="en-US"/>
          </a:p>
        </p:txBody>
      </p:sp>
      <p:sp>
        <p:nvSpPr>
          <p:cNvPr id="36" name="Shape 34"/>
          <p:cNvSpPr/>
          <p:nvPr/>
        </p:nvSpPr>
        <p:spPr>
          <a:xfrm>
            <a:off x="6095848" y="5321808"/>
            <a:ext cx="0" cy="320040"/>
          </a:xfrm>
          <a:prstGeom prst="line">
            <a:avLst/>
          </a:prstGeom>
          <a:noFill/>
          <a:ln w="22225">
            <a:solidFill>
              <a:srgbClr val="D3E6DD"/>
            </a:solidFill>
            <a:prstDash val="solid"/>
            <a:tailEnd type="triangle"/>
          </a:ln>
        </p:spPr>
        <p:txBody>
          <a:bodyPr/>
          <a:lstStyle/>
          <a:p>
            <a:endParaRPr lang="en-US"/>
          </a:p>
        </p:txBody>
      </p:sp>
      <p:sp>
        <p:nvSpPr>
          <p:cNvPr id="37" name="Shape 35"/>
          <p:cNvSpPr/>
          <p:nvPr/>
        </p:nvSpPr>
        <p:spPr>
          <a:xfrm>
            <a:off x="4724248" y="5641848"/>
            <a:ext cx="2743200" cy="530352"/>
          </a:xfrm>
          <a:prstGeom prst="roundRect">
            <a:avLst>
              <a:gd name="adj" fmla="val 13793"/>
            </a:avLst>
          </a:prstGeom>
          <a:solidFill>
            <a:srgbClr val="14332B"/>
          </a:solidFill>
          <a:ln w="12700">
            <a:solidFill>
              <a:srgbClr val="14332B"/>
            </a:solidFill>
            <a:prstDash val="solid"/>
          </a:ln>
        </p:spPr>
        <p:txBody>
          <a:bodyPr/>
          <a:lstStyle/>
          <a:p>
            <a:endParaRPr lang="en-US"/>
          </a:p>
        </p:txBody>
      </p:sp>
      <p:sp>
        <p:nvSpPr>
          <p:cNvPr id="38" name="Text 36"/>
          <p:cNvSpPr/>
          <p:nvPr/>
        </p:nvSpPr>
        <p:spPr>
          <a:xfrm>
            <a:off x="4724248" y="5641848"/>
            <a:ext cx="2743200"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Final Result</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 How </a:t>
            </a:r>
            <a:r>
              <a:rPr lang="en-US" sz="3200" b="1" dirty="0" err="1">
                <a:solidFill>
                  <a:srgbClr val="14332B"/>
                </a:solidFill>
                <a:latin typeface="Cambria" pitchFamily="34" charset="0"/>
                <a:ea typeface="Cambria" pitchFamily="34" charset="-122"/>
                <a:cs typeface="Cambria" pitchFamily="34" charset="-120"/>
              </a:rPr>
              <a:t>XGBoost</a:t>
            </a:r>
            <a:r>
              <a:rPr lang="en-US" sz="3200" b="1" dirty="0">
                <a:solidFill>
                  <a:srgbClr val="14332B"/>
                </a:solidFill>
                <a:latin typeface="Cambria" pitchFamily="34" charset="0"/>
                <a:ea typeface="Cambria" pitchFamily="34" charset="-122"/>
                <a:cs typeface="Cambria" pitchFamily="34" charset="-120"/>
              </a:rPr>
              <a:t> Weighs Its Trees</a:t>
            </a:r>
            <a:endParaRPr lang="en-US" sz="3200" dirty="0"/>
          </a:p>
        </p:txBody>
      </p:sp>
      <p:sp>
        <p:nvSpPr>
          <p:cNvPr id="3" name="Shape 1"/>
          <p:cNvSpPr/>
          <p:nvPr/>
        </p:nvSpPr>
        <p:spPr>
          <a:xfrm>
            <a:off x="566928" y="1627632"/>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804672" y="1764792"/>
            <a:ext cx="512064" cy="512064"/>
          </a:xfrm>
          <a:prstGeom prst="ellipse">
            <a:avLst/>
          </a:prstGeom>
          <a:solidFill>
            <a:srgbClr val="1F6F5C"/>
          </a:solidFill>
          <a:ln w="12700">
            <a:solidFill>
              <a:srgbClr val="1F6F5C"/>
            </a:solidFill>
            <a:prstDash val="solid"/>
          </a:ln>
        </p:spPr>
        <p:txBody>
          <a:bodyPr/>
          <a:lstStyle/>
          <a:p>
            <a:endParaRPr lang="en-US"/>
          </a:p>
        </p:txBody>
      </p:sp>
      <p:sp>
        <p:nvSpPr>
          <p:cNvPr id="5" name="Text 3"/>
          <p:cNvSpPr/>
          <p:nvPr/>
        </p:nvSpPr>
        <p:spPr>
          <a:xfrm>
            <a:off x="804672" y="176479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463040" y="1682496"/>
            <a:ext cx="2286000" cy="676656"/>
          </a:xfrm>
          <a:prstGeom prst="rect">
            <a:avLst/>
          </a:prstGeom>
          <a:noFill/>
          <a:ln/>
        </p:spPr>
        <p:txBody>
          <a:bodyPr wrap="square" lIns="0" tIns="0" rIns="0" bIns="0" rtlCol="0" anchor="ctr"/>
          <a:lstStyle/>
          <a:p>
            <a:pPr marL="0" indent="0">
              <a:buNone/>
            </a:pPr>
            <a:r>
              <a:rPr lang="en-US" sz="1700" b="1" dirty="0">
                <a:solidFill>
                  <a:srgbClr val="14332B"/>
                </a:solidFill>
                <a:latin typeface="Cambria" pitchFamily="34" charset="0"/>
                <a:ea typeface="Cambria" pitchFamily="34" charset="-122"/>
                <a:cs typeface="Cambria" pitchFamily="34" charset="-120"/>
              </a:rPr>
              <a:t>Instance</a:t>
            </a:r>
            <a:endParaRPr lang="en-US" sz="1700" dirty="0"/>
          </a:p>
        </p:txBody>
      </p:sp>
      <p:sp>
        <p:nvSpPr>
          <p:cNvPr id="7" name="Text 5"/>
          <p:cNvSpPr/>
          <p:nvPr/>
        </p:nvSpPr>
        <p:spPr>
          <a:xfrm>
            <a:off x="3794760" y="1682496"/>
            <a:ext cx="7635240" cy="676656"/>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The top box is one case that needs a prediction, such as one patient whose influenza admission risk must be estimated.</a:t>
            </a:r>
            <a:endParaRPr lang="en-US" sz="1450" dirty="0"/>
          </a:p>
        </p:txBody>
      </p:sp>
      <p:sp>
        <p:nvSpPr>
          <p:cNvPr id="8" name="Shape 6"/>
          <p:cNvSpPr/>
          <p:nvPr/>
        </p:nvSpPr>
        <p:spPr>
          <a:xfrm>
            <a:off x="566928" y="2542032"/>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9" name="Shape 7"/>
          <p:cNvSpPr/>
          <p:nvPr/>
        </p:nvSpPr>
        <p:spPr>
          <a:xfrm>
            <a:off x="804672" y="2679192"/>
            <a:ext cx="512064" cy="512064"/>
          </a:xfrm>
          <a:prstGeom prst="ellipse">
            <a:avLst/>
          </a:prstGeom>
          <a:solidFill>
            <a:srgbClr val="1F6F5C"/>
          </a:solidFill>
          <a:ln w="12700">
            <a:solidFill>
              <a:srgbClr val="1F6F5C"/>
            </a:solidFill>
            <a:prstDash val="solid"/>
          </a:ln>
        </p:spPr>
        <p:txBody>
          <a:bodyPr/>
          <a:lstStyle/>
          <a:p>
            <a:endParaRPr lang="en-US"/>
          </a:p>
        </p:txBody>
      </p:sp>
      <p:sp>
        <p:nvSpPr>
          <p:cNvPr id="10" name="Text 8"/>
          <p:cNvSpPr/>
          <p:nvPr/>
        </p:nvSpPr>
        <p:spPr>
          <a:xfrm>
            <a:off x="804672" y="267919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463040" y="2596896"/>
            <a:ext cx="2286000" cy="676656"/>
          </a:xfrm>
          <a:prstGeom prst="rect">
            <a:avLst/>
          </a:prstGeom>
          <a:noFill/>
          <a:ln/>
        </p:spPr>
        <p:txBody>
          <a:bodyPr wrap="square" lIns="0" tIns="0" rIns="0" bIns="0" rtlCol="0" anchor="ctr"/>
          <a:lstStyle/>
          <a:p>
            <a:pPr marL="0" indent="0">
              <a:buNone/>
            </a:pPr>
            <a:r>
              <a:rPr lang="en-US" sz="1700" b="1" dirty="0">
                <a:solidFill>
                  <a:srgbClr val="14332B"/>
                </a:solidFill>
                <a:latin typeface="Cambria" pitchFamily="34" charset="0"/>
                <a:ea typeface="Cambria" pitchFamily="34" charset="-122"/>
                <a:cs typeface="Cambria" pitchFamily="34" charset="-120"/>
              </a:rPr>
              <a:t>Random subset</a:t>
            </a:r>
            <a:endParaRPr lang="en-US" sz="1700" dirty="0"/>
          </a:p>
        </p:txBody>
      </p:sp>
      <p:sp>
        <p:nvSpPr>
          <p:cNvPr id="12" name="Text 10"/>
          <p:cNvSpPr/>
          <p:nvPr/>
        </p:nvSpPr>
        <p:spPr>
          <a:xfrm>
            <a:off x="3794760" y="2596896"/>
            <a:ext cx="7635240" cy="676656"/>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Each tree is trained from a subset of information, so different trees can learn different signals.</a:t>
            </a:r>
            <a:endParaRPr lang="en-US" sz="1450" dirty="0"/>
          </a:p>
        </p:txBody>
      </p:sp>
      <p:sp>
        <p:nvSpPr>
          <p:cNvPr id="13" name="Shape 11"/>
          <p:cNvSpPr/>
          <p:nvPr/>
        </p:nvSpPr>
        <p:spPr>
          <a:xfrm>
            <a:off x="566928" y="3456432"/>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4" name="Shape 12"/>
          <p:cNvSpPr/>
          <p:nvPr/>
        </p:nvSpPr>
        <p:spPr>
          <a:xfrm>
            <a:off x="804672" y="3593592"/>
            <a:ext cx="512064" cy="512064"/>
          </a:xfrm>
          <a:prstGeom prst="ellipse">
            <a:avLst/>
          </a:prstGeom>
          <a:solidFill>
            <a:srgbClr val="1F6F5C"/>
          </a:solidFill>
          <a:ln w="12700">
            <a:solidFill>
              <a:srgbClr val="1F6F5C"/>
            </a:solidFill>
            <a:prstDash val="solid"/>
          </a:ln>
        </p:spPr>
        <p:txBody>
          <a:bodyPr/>
          <a:lstStyle/>
          <a:p>
            <a:endParaRPr lang="en-US"/>
          </a:p>
        </p:txBody>
      </p:sp>
      <p:sp>
        <p:nvSpPr>
          <p:cNvPr id="15" name="Text 13"/>
          <p:cNvSpPr/>
          <p:nvPr/>
        </p:nvSpPr>
        <p:spPr>
          <a:xfrm>
            <a:off x="804672" y="359359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463040" y="3511296"/>
            <a:ext cx="2286000" cy="676656"/>
          </a:xfrm>
          <a:prstGeom prst="rect">
            <a:avLst/>
          </a:prstGeom>
          <a:noFill/>
          <a:ln/>
        </p:spPr>
        <p:txBody>
          <a:bodyPr wrap="square" lIns="0" tIns="0" rIns="0" bIns="0" rtlCol="0" anchor="ctr"/>
          <a:lstStyle/>
          <a:p>
            <a:pPr marL="0" indent="0">
              <a:buNone/>
            </a:pPr>
            <a:r>
              <a:rPr lang="en-US" sz="1700" b="1" dirty="0">
                <a:solidFill>
                  <a:srgbClr val="14332B"/>
                </a:solidFill>
                <a:latin typeface="Cambria" pitchFamily="34" charset="0"/>
                <a:ea typeface="Cambria" pitchFamily="34" charset="-122"/>
                <a:cs typeface="Cambria" pitchFamily="34" charset="-120"/>
              </a:rPr>
              <a:t>Trees</a:t>
            </a:r>
            <a:endParaRPr lang="en-US" sz="1700" dirty="0"/>
          </a:p>
        </p:txBody>
      </p:sp>
      <p:sp>
        <p:nvSpPr>
          <p:cNvPr id="17" name="Text 15"/>
          <p:cNvSpPr/>
          <p:nvPr/>
        </p:nvSpPr>
        <p:spPr>
          <a:xfrm>
            <a:off x="3794760" y="3511296"/>
            <a:ext cx="7635240" cy="676656"/>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Tree 1, Tree 2, and Tree n each return a result for the same case.</a:t>
            </a:r>
            <a:endParaRPr lang="en-US" sz="1450" dirty="0"/>
          </a:p>
        </p:txBody>
      </p:sp>
      <p:sp>
        <p:nvSpPr>
          <p:cNvPr id="18" name="Shape 16"/>
          <p:cNvSpPr/>
          <p:nvPr/>
        </p:nvSpPr>
        <p:spPr>
          <a:xfrm>
            <a:off x="566928" y="4370832"/>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9" name="Shape 17"/>
          <p:cNvSpPr/>
          <p:nvPr/>
        </p:nvSpPr>
        <p:spPr>
          <a:xfrm>
            <a:off x="804672" y="4507992"/>
            <a:ext cx="512064" cy="512064"/>
          </a:xfrm>
          <a:prstGeom prst="ellipse">
            <a:avLst/>
          </a:prstGeom>
          <a:solidFill>
            <a:srgbClr val="1F6F5C"/>
          </a:solidFill>
          <a:ln w="12700">
            <a:solidFill>
              <a:srgbClr val="1F6F5C"/>
            </a:solidFill>
            <a:prstDash val="solid"/>
          </a:ln>
        </p:spPr>
        <p:txBody>
          <a:bodyPr/>
          <a:lstStyle/>
          <a:p>
            <a:endParaRPr lang="en-US"/>
          </a:p>
        </p:txBody>
      </p:sp>
      <p:sp>
        <p:nvSpPr>
          <p:cNvPr id="20" name="Text 18"/>
          <p:cNvSpPr/>
          <p:nvPr/>
        </p:nvSpPr>
        <p:spPr>
          <a:xfrm>
            <a:off x="804672" y="450799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1463040" y="4425696"/>
            <a:ext cx="2286000" cy="676656"/>
          </a:xfrm>
          <a:prstGeom prst="rect">
            <a:avLst/>
          </a:prstGeom>
          <a:noFill/>
          <a:ln/>
        </p:spPr>
        <p:txBody>
          <a:bodyPr wrap="square" lIns="0" tIns="0" rIns="0" bIns="0" rtlCol="0" anchor="ctr"/>
          <a:lstStyle/>
          <a:p>
            <a:pPr marL="0" indent="0">
              <a:buNone/>
            </a:pPr>
            <a:r>
              <a:rPr lang="en-US" sz="1700" b="1" dirty="0">
                <a:solidFill>
                  <a:srgbClr val="14332B"/>
                </a:solidFill>
                <a:latin typeface="Cambria" pitchFamily="34" charset="0"/>
                <a:ea typeface="Cambria" pitchFamily="34" charset="-122"/>
                <a:cs typeface="Cambria" pitchFamily="34" charset="-120"/>
              </a:rPr>
              <a:t>Weighting</a:t>
            </a:r>
            <a:endParaRPr lang="en-US" sz="1700" dirty="0"/>
          </a:p>
        </p:txBody>
      </p:sp>
      <p:sp>
        <p:nvSpPr>
          <p:cNvPr id="22" name="Text 20"/>
          <p:cNvSpPr/>
          <p:nvPr/>
        </p:nvSpPr>
        <p:spPr>
          <a:xfrm>
            <a:off x="3794760" y="4425696"/>
            <a:ext cx="7635240" cy="676656"/>
          </a:xfrm>
          <a:prstGeom prst="rect">
            <a:avLst/>
          </a:prstGeom>
          <a:noFill/>
          <a:ln/>
        </p:spPr>
        <p:txBody>
          <a:bodyPr wrap="square" lIns="0" tIns="0" rIns="0" bIns="0" rtlCol="0" anchor="ctr"/>
          <a:lstStyle/>
          <a:p>
            <a:pPr marL="0" indent="0">
              <a:buNone/>
            </a:pPr>
            <a:r>
              <a:rPr lang="en-US" sz="1450" dirty="0">
                <a:solidFill>
                  <a:srgbClr val="16211D"/>
                </a:solidFill>
                <a:latin typeface="Calibri" pitchFamily="34" charset="0"/>
                <a:ea typeface="Calibri" pitchFamily="34" charset="-122"/>
                <a:cs typeface="Calibri" pitchFamily="34" charset="-120"/>
              </a:rPr>
              <a:t>The separate tree results are weighted so stronger, or more useful tree outputs influence the final answer more.</a:t>
            </a:r>
            <a:endParaRPr lang="en-US" sz="1450" dirty="0"/>
          </a:p>
        </p:txBody>
      </p:sp>
      <p:sp>
        <p:nvSpPr>
          <p:cNvPr id="23" name="Shape 21"/>
          <p:cNvSpPr/>
          <p:nvPr/>
        </p:nvSpPr>
        <p:spPr>
          <a:xfrm>
            <a:off x="566928" y="5285232"/>
            <a:ext cx="11073384" cy="786384"/>
          </a:xfrm>
          <a:prstGeom prst="roundRect">
            <a:avLst>
              <a:gd name="adj" fmla="val 11628"/>
            </a:avLst>
          </a:prstGeom>
          <a:solidFill>
            <a:srgbClr val="14332B"/>
          </a:solidFill>
          <a:ln w="12700">
            <a:solidFill>
              <a:srgbClr val="14332B"/>
            </a:solidFill>
            <a:prstDash val="solid"/>
          </a:ln>
          <a:effectLst>
            <a:outerShdw blurRad="101600" dist="25400" dir="5400000" algn="bl" rotWithShape="0">
              <a:srgbClr val="9FB5AC">
                <a:alpha val="22000"/>
              </a:srgbClr>
            </a:outerShdw>
          </a:effectLst>
        </p:spPr>
        <p:txBody>
          <a:bodyPr/>
          <a:lstStyle/>
          <a:p>
            <a:endParaRPr lang="en-US"/>
          </a:p>
        </p:txBody>
      </p:sp>
      <p:sp>
        <p:nvSpPr>
          <p:cNvPr id="24" name="Shape 22"/>
          <p:cNvSpPr/>
          <p:nvPr/>
        </p:nvSpPr>
        <p:spPr>
          <a:xfrm>
            <a:off x="804672" y="5422392"/>
            <a:ext cx="512064" cy="512064"/>
          </a:xfrm>
          <a:prstGeom prst="ellipse">
            <a:avLst/>
          </a:prstGeom>
          <a:solidFill>
            <a:srgbClr val="E8A33D"/>
          </a:solidFill>
          <a:ln w="12700">
            <a:solidFill>
              <a:srgbClr val="E8A33D"/>
            </a:solidFill>
            <a:prstDash val="solid"/>
          </a:ln>
        </p:spPr>
        <p:txBody>
          <a:bodyPr/>
          <a:lstStyle/>
          <a:p>
            <a:endParaRPr lang="en-US"/>
          </a:p>
        </p:txBody>
      </p:sp>
      <p:sp>
        <p:nvSpPr>
          <p:cNvPr id="25" name="Text 23"/>
          <p:cNvSpPr/>
          <p:nvPr/>
        </p:nvSpPr>
        <p:spPr>
          <a:xfrm>
            <a:off x="804672" y="542239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6" name="Text 24"/>
          <p:cNvSpPr/>
          <p:nvPr/>
        </p:nvSpPr>
        <p:spPr>
          <a:xfrm>
            <a:off x="1463040" y="5340096"/>
            <a:ext cx="2286000" cy="676656"/>
          </a:xfrm>
          <a:prstGeom prst="rect">
            <a:avLst/>
          </a:prstGeom>
          <a:noFill/>
          <a:ln/>
        </p:spPr>
        <p:txBody>
          <a:bodyPr wrap="square" lIns="0" tIns="0" rIns="0" bIns="0" rtlCol="0" anchor="ctr"/>
          <a:lstStyle/>
          <a:p>
            <a:pPr marL="0" indent="0">
              <a:buNone/>
            </a:pPr>
            <a:r>
              <a:rPr lang="en-US" sz="1700" b="1" dirty="0">
                <a:solidFill>
                  <a:srgbClr val="E8A33D"/>
                </a:solidFill>
                <a:latin typeface="Cambria" pitchFamily="34" charset="0"/>
                <a:ea typeface="Cambria" pitchFamily="34" charset="-122"/>
                <a:cs typeface="Cambria" pitchFamily="34" charset="-120"/>
              </a:rPr>
              <a:t>Final result</a:t>
            </a:r>
            <a:endParaRPr lang="en-US" sz="1700" dirty="0"/>
          </a:p>
        </p:txBody>
      </p:sp>
      <p:sp>
        <p:nvSpPr>
          <p:cNvPr id="27" name="Text 25"/>
          <p:cNvSpPr/>
          <p:nvPr/>
        </p:nvSpPr>
        <p:spPr>
          <a:xfrm>
            <a:off x="3794760" y="5340096"/>
            <a:ext cx="7635240" cy="676656"/>
          </a:xfrm>
          <a:prstGeom prst="rect">
            <a:avLst/>
          </a:prstGeom>
          <a:noFill/>
          <a:ln/>
        </p:spPr>
        <p:txBody>
          <a:bodyPr wrap="square" lIns="0" tIns="0" rIns="0" bIns="0" rtlCol="0" anchor="ctr"/>
          <a:lstStyle/>
          <a:p>
            <a:pPr marL="0" indent="0">
              <a:buNone/>
            </a:pPr>
            <a:r>
              <a:rPr lang="en-US" sz="1450" dirty="0">
                <a:solidFill>
                  <a:srgbClr val="DCEBE3"/>
                </a:solidFill>
                <a:latin typeface="Calibri" pitchFamily="34" charset="0"/>
                <a:ea typeface="Calibri" pitchFamily="34" charset="-122"/>
                <a:cs typeface="Calibri" pitchFamily="34" charset="-120"/>
              </a:rPr>
              <a:t>The weighted results become one final prediction, such as the predicted influenza hospital admissions.</a:t>
            </a:r>
            <a:endParaRPr lang="en-US" sz="14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Core XGBoost Terms: Errors and Starting Point</a:t>
            </a:r>
            <a:endParaRPr lang="en-US" sz="3200" dirty="0"/>
          </a:p>
        </p:txBody>
      </p:sp>
      <p:sp>
        <p:nvSpPr>
          <p:cNvPr id="3" name="Shape 1"/>
          <p:cNvSpPr/>
          <p:nvPr/>
        </p:nvSpPr>
        <p:spPr>
          <a:xfrm>
            <a:off x="566928" y="1920240"/>
            <a:ext cx="3566160" cy="3520440"/>
          </a:xfrm>
          <a:prstGeom prst="roundRect">
            <a:avLst>
              <a:gd name="adj" fmla="val 2597"/>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950976" y="2286000"/>
            <a:ext cx="822960" cy="822960"/>
          </a:xfrm>
          <a:prstGeom prst="ellipse">
            <a:avLst/>
          </a:prstGeom>
          <a:solidFill>
            <a:srgbClr val="1F6F5C"/>
          </a:solidFill>
          <a:ln w="12700">
            <a:solidFill>
              <a:srgbClr val="1F6F5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164946" y="2499970"/>
            <a:ext cx="395021" cy="395021"/>
          </a:xfrm>
          <a:prstGeom prst="rect">
            <a:avLst/>
          </a:prstGeom>
        </p:spPr>
      </p:pic>
      <p:sp>
        <p:nvSpPr>
          <p:cNvPr id="6" name="Text 3"/>
          <p:cNvSpPr/>
          <p:nvPr/>
        </p:nvSpPr>
        <p:spPr>
          <a:xfrm>
            <a:off x="950976" y="3255264"/>
            <a:ext cx="2798064" cy="402336"/>
          </a:xfrm>
          <a:prstGeom prst="rect">
            <a:avLst/>
          </a:prstGeom>
          <a:noFill/>
          <a:ln/>
        </p:spPr>
        <p:txBody>
          <a:bodyPr wrap="square" lIns="0" tIns="0" rIns="0" bIns="0" rtlCol="0" anchor="ctr"/>
          <a:lstStyle/>
          <a:p>
            <a:pPr marL="0" indent="0">
              <a:buNone/>
            </a:pPr>
            <a:r>
              <a:rPr lang="en-US" sz="2300" b="1" dirty="0">
                <a:solidFill>
                  <a:srgbClr val="14332B"/>
                </a:solidFill>
                <a:latin typeface="Cambria" pitchFamily="34" charset="0"/>
                <a:ea typeface="Cambria" pitchFamily="34" charset="-122"/>
                <a:cs typeface="Cambria" pitchFamily="34" charset="-120"/>
              </a:rPr>
              <a:t>Residuals</a:t>
            </a:r>
            <a:endParaRPr lang="en-US" sz="2300" dirty="0"/>
          </a:p>
        </p:txBody>
      </p:sp>
      <p:sp>
        <p:nvSpPr>
          <p:cNvPr id="7" name="Text 4"/>
          <p:cNvSpPr/>
          <p:nvPr/>
        </p:nvSpPr>
        <p:spPr>
          <a:xfrm>
            <a:off x="950976" y="3767328"/>
            <a:ext cx="2798064" cy="1371600"/>
          </a:xfrm>
          <a:prstGeom prst="rect">
            <a:avLst/>
          </a:prstGeom>
          <a:noFill/>
          <a:ln/>
        </p:spPr>
        <p:txBody>
          <a:bodyPr wrap="square" lIns="0" tIns="0" rIns="0" bIns="0" rtlCol="0" anchor="ctr"/>
          <a:lstStyle/>
          <a:p>
            <a:pPr marL="0" indent="0">
              <a:lnSpc>
                <a:spcPct val="130000"/>
              </a:lnSpc>
              <a:buNone/>
            </a:pPr>
            <a:r>
              <a:rPr lang="en-US" sz="1550" dirty="0">
                <a:solidFill>
                  <a:srgbClr val="16211D"/>
                </a:solidFill>
                <a:latin typeface="Calibri" pitchFamily="34" charset="0"/>
                <a:ea typeface="Calibri" pitchFamily="34" charset="-122"/>
                <a:cs typeface="Calibri" pitchFamily="34" charset="-120"/>
              </a:rPr>
              <a:t>Current prediction error for each row.</a:t>
            </a:r>
            <a:endParaRPr lang="en-US" sz="1550" dirty="0"/>
          </a:p>
        </p:txBody>
      </p:sp>
      <p:sp>
        <p:nvSpPr>
          <p:cNvPr id="8" name="Shape 5"/>
          <p:cNvSpPr/>
          <p:nvPr/>
        </p:nvSpPr>
        <p:spPr>
          <a:xfrm>
            <a:off x="4370832" y="1920240"/>
            <a:ext cx="3566160" cy="3520440"/>
          </a:xfrm>
          <a:prstGeom prst="roundRect">
            <a:avLst>
              <a:gd name="adj" fmla="val 2597"/>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9" name="Shape 6"/>
          <p:cNvSpPr/>
          <p:nvPr/>
        </p:nvSpPr>
        <p:spPr>
          <a:xfrm>
            <a:off x="4754880" y="2286000"/>
            <a:ext cx="822960" cy="822960"/>
          </a:xfrm>
          <a:prstGeom prst="ellipse">
            <a:avLst/>
          </a:prstGeom>
          <a:solidFill>
            <a:srgbClr val="1F6F5C"/>
          </a:solidFill>
          <a:ln w="12700">
            <a:solidFill>
              <a:srgbClr val="1F6F5C"/>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968850" y="2499970"/>
            <a:ext cx="395021" cy="395021"/>
          </a:xfrm>
          <a:prstGeom prst="rect">
            <a:avLst/>
          </a:prstGeom>
        </p:spPr>
      </p:pic>
      <p:sp>
        <p:nvSpPr>
          <p:cNvPr id="11" name="Text 7"/>
          <p:cNvSpPr/>
          <p:nvPr/>
        </p:nvSpPr>
        <p:spPr>
          <a:xfrm>
            <a:off x="4754880" y="3255264"/>
            <a:ext cx="2798064" cy="402336"/>
          </a:xfrm>
          <a:prstGeom prst="rect">
            <a:avLst/>
          </a:prstGeom>
          <a:noFill/>
          <a:ln/>
        </p:spPr>
        <p:txBody>
          <a:bodyPr wrap="square" lIns="0" tIns="0" rIns="0" bIns="0" rtlCol="0" anchor="ctr"/>
          <a:lstStyle/>
          <a:p>
            <a:pPr marL="0" indent="0">
              <a:buNone/>
            </a:pPr>
            <a:r>
              <a:rPr lang="en-US" sz="2300" b="1" dirty="0">
                <a:solidFill>
                  <a:srgbClr val="14332B"/>
                </a:solidFill>
                <a:latin typeface="Cambria" pitchFamily="34" charset="0"/>
                <a:ea typeface="Cambria" pitchFamily="34" charset="-122"/>
                <a:cs typeface="Cambria" pitchFamily="34" charset="-120"/>
              </a:rPr>
              <a:t>Initial guess</a:t>
            </a:r>
            <a:endParaRPr lang="en-US" sz="2300" dirty="0"/>
          </a:p>
        </p:txBody>
      </p:sp>
      <p:sp>
        <p:nvSpPr>
          <p:cNvPr id="12" name="Text 8"/>
          <p:cNvSpPr/>
          <p:nvPr/>
        </p:nvSpPr>
        <p:spPr>
          <a:xfrm>
            <a:off x="4754880" y="3767328"/>
            <a:ext cx="2798064" cy="1371600"/>
          </a:xfrm>
          <a:prstGeom prst="rect">
            <a:avLst/>
          </a:prstGeom>
          <a:noFill/>
          <a:ln/>
        </p:spPr>
        <p:txBody>
          <a:bodyPr wrap="square" lIns="0" tIns="0" rIns="0" bIns="0" rtlCol="0" anchor="ctr"/>
          <a:lstStyle/>
          <a:p>
            <a:pPr marL="0" indent="0">
              <a:lnSpc>
                <a:spcPct val="130000"/>
              </a:lnSpc>
              <a:buNone/>
            </a:pPr>
            <a:r>
              <a:rPr lang="en-US" sz="1550" dirty="0">
                <a:solidFill>
                  <a:srgbClr val="16211D"/>
                </a:solidFill>
                <a:latin typeface="Calibri" pitchFamily="34" charset="0"/>
                <a:ea typeface="Calibri" pitchFamily="34" charset="-122"/>
                <a:cs typeface="Calibri" pitchFamily="34" charset="-120"/>
              </a:rPr>
              <a:t>The starting prediction before any trees are added.</a:t>
            </a:r>
            <a:endParaRPr lang="en-US" sz="1550" dirty="0"/>
          </a:p>
        </p:txBody>
      </p:sp>
      <p:sp>
        <p:nvSpPr>
          <p:cNvPr id="13" name="Shape 9"/>
          <p:cNvSpPr/>
          <p:nvPr/>
        </p:nvSpPr>
        <p:spPr>
          <a:xfrm>
            <a:off x="8174736" y="1920240"/>
            <a:ext cx="3566160" cy="3520440"/>
          </a:xfrm>
          <a:prstGeom prst="roundRect">
            <a:avLst>
              <a:gd name="adj" fmla="val 2597"/>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4" name="Shape 10"/>
          <p:cNvSpPr/>
          <p:nvPr/>
        </p:nvSpPr>
        <p:spPr>
          <a:xfrm>
            <a:off x="8558784" y="2286000"/>
            <a:ext cx="822960" cy="822960"/>
          </a:xfrm>
          <a:prstGeom prst="ellipse">
            <a:avLst/>
          </a:prstGeom>
          <a:solidFill>
            <a:srgbClr val="1F6F5C"/>
          </a:solidFill>
          <a:ln w="12700">
            <a:solidFill>
              <a:srgbClr val="1F6F5C"/>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772754" y="2499970"/>
            <a:ext cx="395021" cy="395021"/>
          </a:xfrm>
          <a:prstGeom prst="rect">
            <a:avLst/>
          </a:prstGeom>
        </p:spPr>
      </p:pic>
      <p:sp>
        <p:nvSpPr>
          <p:cNvPr id="16" name="Text 11"/>
          <p:cNvSpPr/>
          <p:nvPr/>
        </p:nvSpPr>
        <p:spPr>
          <a:xfrm>
            <a:off x="8558784" y="3255264"/>
            <a:ext cx="2798064" cy="402336"/>
          </a:xfrm>
          <a:prstGeom prst="rect">
            <a:avLst/>
          </a:prstGeom>
          <a:noFill/>
          <a:ln/>
        </p:spPr>
        <p:txBody>
          <a:bodyPr wrap="square" lIns="0" tIns="0" rIns="0" bIns="0" rtlCol="0" anchor="ctr"/>
          <a:lstStyle/>
          <a:p>
            <a:pPr marL="0" indent="0">
              <a:buNone/>
            </a:pPr>
            <a:r>
              <a:rPr lang="en-US" sz="2300" b="1" dirty="0">
                <a:solidFill>
                  <a:srgbClr val="14332B"/>
                </a:solidFill>
                <a:latin typeface="Cambria" pitchFamily="34" charset="0"/>
                <a:ea typeface="Cambria" pitchFamily="34" charset="-122"/>
                <a:cs typeface="Cambria" pitchFamily="34" charset="-120"/>
              </a:rPr>
              <a:t>Loss function</a:t>
            </a:r>
            <a:endParaRPr lang="en-US" sz="2300" dirty="0"/>
          </a:p>
        </p:txBody>
      </p:sp>
      <p:sp>
        <p:nvSpPr>
          <p:cNvPr id="17" name="Text 12"/>
          <p:cNvSpPr/>
          <p:nvPr/>
        </p:nvSpPr>
        <p:spPr>
          <a:xfrm>
            <a:off x="8558784" y="3767328"/>
            <a:ext cx="2798064" cy="1371600"/>
          </a:xfrm>
          <a:prstGeom prst="rect">
            <a:avLst/>
          </a:prstGeom>
          <a:noFill/>
          <a:ln/>
        </p:spPr>
        <p:txBody>
          <a:bodyPr wrap="square" lIns="0" tIns="0" rIns="0" bIns="0" rtlCol="0" anchor="ctr"/>
          <a:lstStyle/>
          <a:p>
            <a:pPr marL="0" indent="0">
              <a:lnSpc>
                <a:spcPct val="130000"/>
              </a:lnSpc>
              <a:buNone/>
            </a:pPr>
            <a:r>
              <a:rPr lang="en-US" sz="1550" dirty="0">
                <a:solidFill>
                  <a:srgbClr val="16211D"/>
                </a:solidFill>
                <a:latin typeface="Calibri" pitchFamily="34" charset="0"/>
                <a:ea typeface="Calibri" pitchFamily="34" charset="-122"/>
                <a:cs typeface="Calibri" pitchFamily="34" charset="-120"/>
              </a:rPr>
              <a:t>A score that measures how wrong the prediction is.</a:t>
            </a:r>
            <a:endParaRPr lang="en-US" sz="15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Core XGBoost Terms: Tree Parts</a:t>
            </a:r>
            <a:endParaRPr lang="en-US" sz="3200" dirty="0"/>
          </a:p>
        </p:txBody>
      </p:sp>
      <p:sp>
        <p:nvSpPr>
          <p:cNvPr id="3" name="Shape 1"/>
          <p:cNvSpPr/>
          <p:nvPr/>
        </p:nvSpPr>
        <p:spPr>
          <a:xfrm>
            <a:off x="566928" y="1737360"/>
            <a:ext cx="3566160" cy="1920240"/>
          </a:xfrm>
          <a:prstGeom prst="roundRect">
            <a:avLst>
              <a:gd name="adj" fmla="val 4762"/>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896112" y="2066544"/>
            <a:ext cx="384048" cy="384048"/>
          </a:xfrm>
          <a:prstGeom prst="ellipse">
            <a:avLst/>
          </a:prstGeom>
          <a:solidFill>
            <a:srgbClr val="1F6F5C"/>
          </a:solidFill>
          <a:ln w="12700">
            <a:solidFill>
              <a:srgbClr val="1F6F5C"/>
            </a:solidFill>
            <a:prstDash val="solid"/>
          </a:ln>
        </p:spPr>
        <p:txBody>
          <a:bodyPr/>
          <a:lstStyle/>
          <a:p>
            <a:endParaRPr lang="en-US"/>
          </a:p>
        </p:txBody>
      </p:sp>
      <p:sp>
        <p:nvSpPr>
          <p:cNvPr id="5" name="Text 3"/>
          <p:cNvSpPr/>
          <p:nvPr/>
        </p:nvSpPr>
        <p:spPr>
          <a:xfrm>
            <a:off x="1426464" y="2011680"/>
            <a:ext cx="2468880" cy="420624"/>
          </a:xfrm>
          <a:prstGeom prst="rect">
            <a:avLst/>
          </a:prstGeom>
          <a:noFill/>
          <a:ln/>
        </p:spPr>
        <p:txBody>
          <a:bodyPr wrap="square" lIns="0" tIns="0" rIns="0" bIns="0" rtlCol="0" anchor="ctr"/>
          <a:lstStyle/>
          <a:p>
            <a:pPr marL="0" indent="0">
              <a:buNone/>
            </a:pPr>
            <a:r>
              <a:rPr lang="en-US" sz="2100" b="1" dirty="0">
                <a:solidFill>
                  <a:srgbClr val="14332B"/>
                </a:solidFill>
                <a:latin typeface="Cambria" pitchFamily="34" charset="0"/>
                <a:ea typeface="Cambria" pitchFamily="34" charset="-122"/>
                <a:cs typeface="Cambria" pitchFamily="34" charset="-120"/>
              </a:rPr>
              <a:t>Root</a:t>
            </a:r>
            <a:endParaRPr lang="en-US" sz="2100" dirty="0"/>
          </a:p>
        </p:txBody>
      </p:sp>
      <p:sp>
        <p:nvSpPr>
          <p:cNvPr id="6" name="Text 4"/>
          <p:cNvSpPr/>
          <p:nvPr/>
        </p:nvSpPr>
        <p:spPr>
          <a:xfrm>
            <a:off x="896112" y="2615184"/>
            <a:ext cx="2926080" cy="868680"/>
          </a:xfrm>
          <a:prstGeom prst="rect">
            <a:avLst/>
          </a:prstGeom>
          <a:noFill/>
          <a:ln/>
        </p:spPr>
        <p:txBody>
          <a:bodyPr wrap="square" lIns="0" tIns="0" rIns="0" bIns="0" rtlCol="0" anchor="ctr"/>
          <a:lstStyle/>
          <a:p>
            <a:pPr marL="0" indent="0">
              <a:lnSpc>
                <a:spcPct val="125000"/>
              </a:lnSpc>
              <a:buNone/>
            </a:pPr>
            <a:r>
              <a:rPr lang="en-US" sz="1450" dirty="0">
                <a:solidFill>
                  <a:srgbClr val="16211D"/>
                </a:solidFill>
                <a:latin typeface="Calibri" pitchFamily="34" charset="0"/>
                <a:ea typeface="Calibri" pitchFamily="34" charset="-122"/>
                <a:cs typeface="Calibri" pitchFamily="34" charset="-120"/>
              </a:rPr>
              <a:t>The first node where the tree starts.</a:t>
            </a:r>
            <a:endParaRPr lang="en-US" sz="1450" dirty="0"/>
          </a:p>
        </p:txBody>
      </p:sp>
      <p:sp>
        <p:nvSpPr>
          <p:cNvPr id="7" name="Shape 5"/>
          <p:cNvSpPr/>
          <p:nvPr/>
        </p:nvSpPr>
        <p:spPr>
          <a:xfrm>
            <a:off x="4370832" y="1737360"/>
            <a:ext cx="3566160" cy="1920240"/>
          </a:xfrm>
          <a:prstGeom prst="roundRect">
            <a:avLst>
              <a:gd name="adj" fmla="val 4762"/>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8" name="Shape 6"/>
          <p:cNvSpPr/>
          <p:nvPr/>
        </p:nvSpPr>
        <p:spPr>
          <a:xfrm>
            <a:off x="4700016" y="2066544"/>
            <a:ext cx="384048" cy="384048"/>
          </a:xfrm>
          <a:prstGeom prst="ellipse">
            <a:avLst/>
          </a:prstGeom>
          <a:solidFill>
            <a:srgbClr val="1F6F5C"/>
          </a:solidFill>
          <a:ln w="12700">
            <a:solidFill>
              <a:srgbClr val="1F6F5C"/>
            </a:solidFill>
            <a:prstDash val="solid"/>
          </a:ln>
        </p:spPr>
        <p:txBody>
          <a:bodyPr/>
          <a:lstStyle/>
          <a:p>
            <a:endParaRPr lang="en-US"/>
          </a:p>
        </p:txBody>
      </p:sp>
      <p:sp>
        <p:nvSpPr>
          <p:cNvPr id="9" name="Text 7"/>
          <p:cNvSpPr/>
          <p:nvPr/>
        </p:nvSpPr>
        <p:spPr>
          <a:xfrm>
            <a:off x="5230368" y="2011680"/>
            <a:ext cx="2468880" cy="420624"/>
          </a:xfrm>
          <a:prstGeom prst="rect">
            <a:avLst/>
          </a:prstGeom>
          <a:noFill/>
          <a:ln/>
        </p:spPr>
        <p:txBody>
          <a:bodyPr wrap="square" lIns="0" tIns="0" rIns="0" bIns="0" rtlCol="0" anchor="ctr"/>
          <a:lstStyle/>
          <a:p>
            <a:pPr marL="0" indent="0">
              <a:buNone/>
            </a:pPr>
            <a:r>
              <a:rPr lang="en-US" sz="2100" b="1" dirty="0">
                <a:solidFill>
                  <a:srgbClr val="14332B"/>
                </a:solidFill>
                <a:latin typeface="Cambria" pitchFamily="34" charset="0"/>
                <a:ea typeface="Cambria" pitchFamily="34" charset="-122"/>
                <a:cs typeface="Cambria" pitchFamily="34" charset="-120"/>
              </a:rPr>
              <a:t>Split</a:t>
            </a:r>
            <a:endParaRPr lang="en-US" sz="2100" dirty="0"/>
          </a:p>
        </p:txBody>
      </p:sp>
      <p:sp>
        <p:nvSpPr>
          <p:cNvPr id="10" name="Text 8"/>
          <p:cNvSpPr/>
          <p:nvPr/>
        </p:nvSpPr>
        <p:spPr>
          <a:xfrm>
            <a:off x="4700016" y="2615184"/>
            <a:ext cx="2926080" cy="868680"/>
          </a:xfrm>
          <a:prstGeom prst="rect">
            <a:avLst/>
          </a:prstGeom>
          <a:noFill/>
          <a:ln/>
        </p:spPr>
        <p:txBody>
          <a:bodyPr wrap="square" lIns="0" tIns="0" rIns="0" bIns="0" rtlCol="0" anchor="ctr"/>
          <a:lstStyle/>
          <a:p>
            <a:pPr marL="0" indent="0">
              <a:lnSpc>
                <a:spcPct val="125000"/>
              </a:lnSpc>
              <a:buNone/>
            </a:pPr>
            <a:r>
              <a:rPr lang="en-US" sz="1450" dirty="0">
                <a:solidFill>
                  <a:srgbClr val="16211D"/>
                </a:solidFill>
                <a:latin typeface="Calibri" pitchFamily="34" charset="0"/>
                <a:ea typeface="Calibri" pitchFamily="34" charset="-122"/>
                <a:cs typeface="Calibri" pitchFamily="34" charset="-120"/>
              </a:rPr>
              <a:t>A rule that divides rows into two groups.</a:t>
            </a:r>
            <a:endParaRPr lang="en-US" sz="1450" dirty="0"/>
          </a:p>
        </p:txBody>
      </p:sp>
      <p:sp>
        <p:nvSpPr>
          <p:cNvPr id="11" name="Shape 9"/>
          <p:cNvSpPr/>
          <p:nvPr/>
        </p:nvSpPr>
        <p:spPr>
          <a:xfrm>
            <a:off x="8174736" y="1737360"/>
            <a:ext cx="3566160" cy="1920240"/>
          </a:xfrm>
          <a:prstGeom prst="roundRect">
            <a:avLst>
              <a:gd name="adj" fmla="val 4762"/>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2" name="Shape 10"/>
          <p:cNvSpPr/>
          <p:nvPr/>
        </p:nvSpPr>
        <p:spPr>
          <a:xfrm>
            <a:off x="8503920" y="2066544"/>
            <a:ext cx="384048" cy="384048"/>
          </a:xfrm>
          <a:prstGeom prst="ellipse">
            <a:avLst/>
          </a:prstGeom>
          <a:solidFill>
            <a:srgbClr val="1F6F5C"/>
          </a:solidFill>
          <a:ln w="12700">
            <a:solidFill>
              <a:srgbClr val="1F6F5C"/>
            </a:solidFill>
            <a:prstDash val="solid"/>
          </a:ln>
        </p:spPr>
        <p:txBody>
          <a:bodyPr/>
          <a:lstStyle/>
          <a:p>
            <a:endParaRPr lang="en-US"/>
          </a:p>
        </p:txBody>
      </p:sp>
      <p:sp>
        <p:nvSpPr>
          <p:cNvPr id="13" name="Text 11"/>
          <p:cNvSpPr/>
          <p:nvPr/>
        </p:nvSpPr>
        <p:spPr>
          <a:xfrm>
            <a:off x="9034272" y="2011680"/>
            <a:ext cx="2468880" cy="420624"/>
          </a:xfrm>
          <a:prstGeom prst="rect">
            <a:avLst/>
          </a:prstGeom>
          <a:noFill/>
          <a:ln/>
        </p:spPr>
        <p:txBody>
          <a:bodyPr wrap="square" lIns="0" tIns="0" rIns="0" bIns="0" rtlCol="0" anchor="ctr"/>
          <a:lstStyle/>
          <a:p>
            <a:pPr marL="0" indent="0">
              <a:buNone/>
            </a:pPr>
            <a:r>
              <a:rPr lang="en-US" sz="2100" b="1" dirty="0">
                <a:solidFill>
                  <a:srgbClr val="14332B"/>
                </a:solidFill>
                <a:latin typeface="Cambria" pitchFamily="34" charset="0"/>
                <a:ea typeface="Cambria" pitchFamily="34" charset="-122"/>
                <a:cs typeface="Cambria" pitchFamily="34" charset="-120"/>
              </a:rPr>
              <a:t>Branch</a:t>
            </a:r>
            <a:endParaRPr lang="en-US" sz="2100" dirty="0"/>
          </a:p>
        </p:txBody>
      </p:sp>
      <p:sp>
        <p:nvSpPr>
          <p:cNvPr id="14" name="Text 12"/>
          <p:cNvSpPr/>
          <p:nvPr/>
        </p:nvSpPr>
        <p:spPr>
          <a:xfrm>
            <a:off x="8503920" y="2615184"/>
            <a:ext cx="2926080" cy="868680"/>
          </a:xfrm>
          <a:prstGeom prst="rect">
            <a:avLst/>
          </a:prstGeom>
          <a:noFill/>
          <a:ln/>
        </p:spPr>
        <p:txBody>
          <a:bodyPr wrap="square" lIns="0" tIns="0" rIns="0" bIns="0" rtlCol="0" anchor="ctr"/>
          <a:lstStyle/>
          <a:p>
            <a:pPr marL="0" indent="0">
              <a:lnSpc>
                <a:spcPct val="125000"/>
              </a:lnSpc>
              <a:buNone/>
            </a:pPr>
            <a:r>
              <a:rPr lang="en-US" sz="1450" dirty="0">
                <a:solidFill>
                  <a:srgbClr val="16211D"/>
                </a:solidFill>
                <a:latin typeface="Calibri" pitchFamily="34" charset="0"/>
                <a:ea typeface="Calibri" pitchFamily="34" charset="-122"/>
                <a:cs typeface="Calibri" pitchFamily="34" charset="-120"/>
              </a:rPr>
              <a:t>The path from one tree node to another.</a:t>
            </a:r>
            <a:endParaRPr lang="en-US" sz="1450" dirty="0"/>
          </a:p>
        </p:txBody>
      </p:sp>
      <p:sp>
        <p:nvSpPr>
          <p:cNvPr id="15" name="Shape 13"/>
          <p:cNvSpPr/>
          <p:nvPr/>
        </p:nvSpPr>
        <p:spPr>
          <a:xfrm>
            <a:off x="566928" y="3913632"/>
            <a:ext cx="3566160" cy="1920240"/>
          </a:xfrm>
          <a:prstGeom prst="roundRect">
            <a:avLst>
              <a:gd name="adj" fmla="val 4762"/>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6" name="Shape 14"/>
          <p:cNvSpPr/>
          <p:nvPr/>
        </p:nvSpPr>
        <p:spPr>
          <a:xfrm>
            <a:off x="896112" y="4242816"/>
            <a:ext cx="384048" cy="384048"/>
          </a:xfrm>
          <a:prstGeom prst="ellipse">
            <a:avLst/>
          </a:prstGeom>
          <a:solidFill>
            <a:srgbClr val="E8A33D"/>
          </a:solidFill>
          <a:ln w="12700">
            <a:solidFill>
              <a:srgbClr val="E8A33D"/>
            </a:solidFill>
            <a:prstDash val="solid"/>
          </a:ln>
        </p:spPr>
        <p:txBody>
          <a:bodyPr/>
          <a:lstStyle/>
          <a:p>
            <a:endParaRPr lang="en-US"/>
          </a:p>
        </p:txBody>
      </p:sp>
      <p:sp>
        <p:nvSpPr>
          <p:cNvPr id="17" name="Text 15"/>
          <p:cNvSpPr/>
          <p:nvPr/>
        </p:nvSpPr>
        <p:spPr>
          <a:xfrm>
            <a:off x="1426464" y="4187952"/>
            <a:ext cx="2468880" cy="420624"/>
          </a:xfrm>
          <a:prstGeom prst="rect">
            <a:avLst/>
          </a:prstGeom>
          <a:noFill/>
          <a:ln/>
        </p:spPr>
        <p:txBody>
          <a:bodyPr wrap="square" lIns="0" tIns="0" rIns="0" bIns="0" rtlCol="0" anchor="ctr"/>
          <a:lstStyle/>
          <a:p>
            <a:pPr marL="0" indent="0">
              <a:buNone/>
            </a:pPr>
            <a:r>
              <a:rPr lang="en-US" sz="2100" b="1" dirty="0">
                <a:solidFill>
                  <a:srgbClr val="14332B"/>
                </a:solidFill>
                <a:latin typeface="Cambria" pitchFamily="34" charset="0"/>
                <a:ea typeface="Cambria" pitchFamily="34" charset="-122"/>
                <a:cs typeface="Cambria" pitchFamily="34" charset="-120"/>
              </a:rPr>
              <a:t>Leaf</a:t>
            </a:r>
            <a:endParaRPr lang="en-US" sz="2100" dirty="0"/>
          </a:p>
        </p:txBody>
      </p:sp>
      <p:sp>
        <p:nvSpPr>
          <p:cNvPr id="18" name="Text 16"/>
          <p:cNvSpPr/>
          <p:nvPr/>
        </p:nvSpPr>
        <p:spPr>
          <a:xfrm>
            <a:off x="896112" y="4791456"/>
            <a:ext cx="2926080" cy="868680"/>
          </a:xfrm>
          <a:prstGeom prst="rect">
            <a:avLst/>
          </a:prstGeom>
          <a:noFill/>
          <a:ln/>
        </p:spPr>
        <p:txBody>
          <a:bodyPr wrap="square" lIns="0" tIns="0" rIns="0" bIns="0" rtlCol="0" anchor="ctr"/>
          <a:lstStyle/>
          <a:p>
            <a:pPr marL="0" indent="0">
              <a:lnSpc>
                <a:spcPct val="125000"/>
              </a:lnSpc>
              <a:buNone/>
            </a:pPr>
            <a:r>
              <a:rPr lang="en-US" sz="1450" dirty="0">
                <a:solidFill>
                  <a:srgbClr val="16211D"/>
                </a:solidFill>
                <a:latin typeface="Calibri" pitchFamily="34" charset="0"/>
                <a:ea typeface="Calibri" pitchFamily="34" charset="-122"/>
                <a:cs typeface="Calibri" pitchFamily="34" charset="-120"/>
              </a:rPr>
              <a:t>A final node that stores a prediction output.</a:t>
            </a:r>
            <a:endParaRPr lang="en-US" sz="1450" dirty="0"/>
          </a:p>
        </p:txBody>
      </p:sp>
      <p:sp>
        <p:nvSpPr>
          <p:cNvPr id="19" name="Shape 17"/>
          <p:cNvSpPr/>
          <p:nvPr/>
        </p:nvSpPr>
        <p:spPr>
          <a:xfrm>
            <a:off x="4370832" y="3913632"/>
            <a:ext cx="3566160" cy="1920240"/>
          </a:xfrm>
          <a:prstGeom prst="roundRect">
            <a:avLst>
              <a:gd name="adj" fmla="val 4762"/>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20" name="Shape 18"/>
          <p:cNvSpPr/>
          <p:nvPr/>
        </p:nvSpPr>
        <p:spPr>
          <a:xfrm>
            <a:off x="4700016" y="4242816"/>
            <a:ext cx="384048" cy="384048"/>
          </a:xfrm>
          <a:prstGeom prst="ellipse">
            <a:avLst/>
          </a:prstGeom>
          <a:solidFill>
            <a:srgbClr val="E8A33D"/>
          </a:solidFill>
          <a:ln w="12700">
            <a:solidFill>
              <a:srgbClr val="E8A33D"/>
            </a:solidFill>
            <a:prstDash val="solid"/>
          </a:ln>
        </p:spPr>
        <p:txBody>
          <a:bodyPr/>
          <a:lstStyle/>
          <a:p>
            <a:endParaRPr lang="en-US"/>
          </a:p>
        </p:txBody>
      </p:sp>
      <p:sp>
        <p:nvSpPr>
          <p:cNvPr id="21" name="Text 19"/>
          <p:cNvSpPr/>
          <p:nvPr/>
        </p:nvSpPr>
        <p:spPr>
          <a:xfrm>
            <a:off x="5230368" y="4187952"/>
            <a:ext cx="2468880" cy="420624"/>
          </a:xfrm>
          <a:prstGeom prst="rect">
            <a:avLst/>
          </a:prstGeom>
          <a:noFill/>
          <a:ln/>
        </p:spPr>
        <p:txBody>
          <a:bodyPr wrap="square" lIns="0" tIns="0" rIns="0" bIns="0" rtlCol="0" anchor="ctr"/>
          <a:lstStyle/>
          <a:p>
            <a:pPr marL="0" indent="0">
              <a:buNone/>
            </a:pPr>
            <a:r>
              <a:rPr lang="en-US" sz="2100" b="1" dirty="0">
                <a:solidFill>
                  <a:srgbClr val="14332B"/>
                </a:solidFill>
                <a:latin typeface="Cambria" pitchFamily="34" charset="0"/>
                <a:ea typeface="Cambria" pitchFamily="34" charset="-122"/>
                <a:cs typeface="Cambria" pitchFamily="34" charset="-120"/>
              </a:rPr>
              <a:t>Left leaf</a:t>
            </a:r>
            <a:endParaRPr lang="en-US" sz="2100" dirty="0"/>
          </a:p>
        </p:txBody>
      </p:sp>
      <p:sp>
        <p:nvSpPr>
          <p:cNvPr id="22" name="Text 20"/>
          <p:cNvSpPr/>
          <p:nvPr/>
        </p:nvSpPr>
        <p:spPr>
          <a:xfrm>
            <a:off x="4700016" y="4791456"/>
            <a:ext cx="2926080" cy="868680"/>
          </a:xfrm>
          <a:prstGeom prst="rect">
            <a:avLst/>
          </a:prstGeom>
          <a:noFill/>
          <a:ln/>
        </p:spPr>
        <p:txBody>
          <a:bodyPr wrap="square" lIns="0" tIns="0" rIns="0" bIns="0" rtlCol="0" anchor="ctr"/>
          <a:lstStyle/>
          <a:p>
            <a:pPr marL="0" indent="0">
              <a:lnSpc>
                <a:spcPct val="125000"/>
              </a:lnSpc>
              <a:buNone/>
            </a:pPr>
            <a:r>
              <a:rPr lang="en-US" sz="1450" dirty="0">
                <a:solidFill>
                  <a:srgbClr val="16211D"/>
                </a:solidFill>
                <a:latin typeface="Calibri" pitchFamily="34" charset="0"/>
                <a:ea typeface="Calibri" pitchFamily="34" charset="-122"/>
                <a:cs typeface="Calibri" pitchFamily="34" charset="-120"/>
              </a:rPr>
              <a:t>The terminal group reached from the left side of a split.</a:t>
            </a:r>
            <a:endParaRPr lang="en-US" sz="1450" dirty="0"/>
          </a:p>
        </p:txBody>
      </p:sp>
      <p:sp>
        <p:nvSpPr>
          <p:cNvPr id="23" name="Shape 21"/>
          <p:cNvSpPr/>
          <p:nvPr/>
        </p:nvSpPr>
        <p:spPr>
          <a:xfrm>
            <a:off x="8174736" y="3913632"/>
            <a:ext cx="3566160" cy="1920240"/>
          </a:xfrm>
          <a:prstGeom prst="roundRect">
            <a:avLst>
              <a:gd name="adj" fmla="val 4762"/>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24" name="Shape 22"/>
          <p:cNvSpPr/>
          <p:nvPr/>
        </p:nvSpPr>
        <p:spPr>
          <a:xfrm>
            <a:off x="8503920" y="4242816"/>
            <a:ext cx="384048" cy="384048"/>
          </a:xfrm>
          <a:prstGeom prst="ellipse">
            <a:avLst/>
          </a:prstGeom>
          <a:solidFill>
            <a:srgbClr val="E8A33D"/>
          </a:solidFill>
          <a:ln w="12700">
            <a:solidFill>
              <a:srgbClr val="E8A33D"/>
            </a:solidFill>
            <a:prstDash val="solid"/>
          </a:ln>
        </p:spPr>
        <p:txBody>
          <a:bodyPr/>
          <a:lstStyle/>
          <a:p>
            <a:endParaRPr lang="en-US"/>
          </a:p>
        </p:txBody>
      </p:sp>
      <p:sp>
        <p:nvSpPr>
          <p:cNvPr id="25" name="Text 23"/>
          <p:cNvSpPr/>
          <p:nvPr/>
        </p:nvSpPr>
        <p:spPr>
          <a:xfrm>
            <a:off x="9034272" y="4187952"/>
            <a:ext cx="2468880" cy="420624"/>
          </a:xfrm>
          <a:prstGeom prst="rect">
            <a:avLst/>
          </a:prstGeom>
          <a:noFill/>
          <a:ln/>
        </p:spPr>
        <p:txBody>
          <a:bodyPr wrap="square" lIns="0" tIns="0" rIns="0" bIns="0" rtlCol="0" anchor="ctr"/>
          <a:lstStyle/>
          <a:p>
            <a:pPr marL="0" indent="0">
              <a:buNone/>
            </a:pPr>
            <a:r>
              <a:rPr lang="en-US" sz="2100" b="1" dirty="0">
                <a:solidFill>
                  <a:srgbClr val="14332B"/>
                </a:solidFill>
                <a:latin typeface="Cambria" pitchFamily="34" charset="0"/>
                <a:ea typeface="Cambria" pitchFamily="34" charset="-122"/>
                <a:cs typeface="Cambria" pitchFamily="34" charset="-120"/>
              </a:rPr>
              <a:t>Right leaf</a:t>
            </a:r>
            <a:endParaRPr lang="en-US" sz="2100" dirty="0"/>
          </a:p>
        </p:txBody>
      </p:sp>
      <p:sp>
        <p:nvSpPr>
          <p:cNvPr id="26" name="Text 24"/>
          <p:cNvSpPr/>
          <p:nvPr/>
        </p:nvSpPr>
        <p:spPr>
          <a:xfrm>
            <a:off x="8503920" y="4791456"/>
            <a:ext cx="2926080" cy="868680"/>
          </a:xfrm>
          <a:prstGeom prst="rect">
            <a:avLst/>
          </a:prstGeom>
          <a:noFill/>
          <a:ln/>
        </p:spPr>
        <p:txBody>
          <a:bodyPr wrap="square" lIns="0" tIns="0" rIns="0" bIns="0" rtlCol="0" anchor="ctr"/>
          <a:lstStyle/>
          <a:p>
            <a:pPr marL="0" indent="0">
              <a:lnSpc>
                <a:spcPct val="125000"/>
              </a:lnSpc>
              <a:buNone/>
            </a:pPr>
            <a:r>
              <a:rPr lang="en-US" sz="1450" dirty="0">
                <a:solidFill>
                  <a:srgbClr val="16211D"/>
                </a:solidFill>
                <a:latin typeface="Calibri" pitchFamily="34" charset="0"/>
                <a:ea typeface="Calibri" pitchFamily="34" charset="-122"/>
                <a:cs typeface="Calibri" pitchFamily="34" charset="-120"/>
              </a:rPr>
              <a:t>The terminal group reached from the right side of a split.</a:t>
            </a:r>
            <a:endParaRPr lang="en-US" sz="14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Core XGBoost Terms: Training Controls</a:t>
            </a:r>
            <a:endParaRPr lang="en-US" sz="3200" dirty="0"/>
          </a:p>
        </p:txBody>
      </p:sp>
      <p:sp>
        <p:nvSpPr>
          <p:cNvPr id="3" name="Shape 1"/>
          <p:cNvSpPr/>
          <p:nvPr/>
        </p:nvSpPr>
        <p:spPr>
          <a:xfrm>
            <a:off x="566928" y="1874520"/>
            <a:ext cx="2057400" cy="3657600"/>
          </a:xfrm>
          <a:prstGeom prst="roundRect">
            <a:avLst>
              <a:gd name="adj" fmla="val 444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1143000" y="2212848"/>
            <a:ext cx="914400" cy="914400"/>
          </a:xfrm>
          <a:prstGeom prst="ellipse">
            <a:avLst/>
          </a:prstGeom>
          <a:solidFill>
            <a:srgbClr val="1F6F5C"/>
          </a:solidFill>
          <a:ln w="12700">
            <a:solidFill>
              <a:srgbClr val="1F6F5C"/>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380744" y="2450592"/>
            <a:ext cx="438912" cy="438912"/>
          </a:xfrm>
          <a:prstGeom prst="rect">
            <a:avLst/>
          </a:prstGeom>
        </p:spPr>
      </p:pic>
      <p:sp>
        <p:nvSpPr>
          <p:cNvPr id="6" name="Text 3"/>
          <p:cNvSpPr/>
          <p:nvPr/>
        </p:nvSpPr>
        <p:spPr>
          <a:xfrm>
            <a:off x="749808" y="3291840"/>
            <a:ext cx="1691640" cy="548640"/>
          </a:xfrm>
          <a:prstGeom prst="rect">
            <a:avLst/>
          </a:prstGeom>
          <a:noFill/>
          <a:ln/>
        </p:spPr>
        <p:txBody>
          <a:bodyPr wrap="square" lIns="0" tIns="0" rIns="0" bIns="0" rtlCol="0" anchor="ctr"/>
          <a:lstStyle/>
          <a:p>
            <a:pPr marL="0" indent="0" algn="ctr">
              <a:buNone/>
            </a:pPr>
            <a:r>
              <a:rPr lang="en-US" sz="1800" b="1" dirty="0">
                <a:solidFill>
                  <a:srgbClr val="14332B"/>
                </a:solidFill>
                <a:latin typeface="Cambria" pitchFamily="34" charset="0"/>
                <a:ea typeface="Cambria" pitchFamily="34" charset="-122"/>
                <a:cs typeface="Cambria" pitchFamily="34" charset="-120"/>
              </a:rPr>
              <a:t>Gain</a:t>
            </a:r>
            <a:endParaRPr lang="en-US" sz="1800" dirty="0"/>
          </a:p>
        </p:txBody>
      </p:sp>
      <p:sp>
        <p:nvSpPr>
          <p:cNvPr id="7" name="Text 4"/>
          <p:cNvSpPr/>
          <p:nvPr/>
        </p:nvSpPr>
        <p:spPr>
          <a:xfrm>
            <a:off x="749808" y="3913632"/>
            <a:ext cx="1691640" cy="1417320"/>
          </a:xfrm>
          <a:prstGeom prst="rect">
            <a:avLst/>
          </a:prstGeom>
          <a:noFill/>
          <a:ln/>
        </p:spPr>
        <p:txBody>
          <a:bodyPr wrap="square" lIns="0" tIns="0" rIns="0" bIns="0" rtlCol="0" anchor="ctr"/>
          <a:lstStyle/>
          <a:p>
            <a:pPr marL="0" indent="0" algn="ctr">
              <a:lnSpc>
                <a:spcPct val="125000"/>
              </a:lnSpc>
              <a:buNone/>
            </a:pPr>
            <a:r>
              <a:rPr lang="en-US" sz="1300" dirty="0">
                <a:solidFill>
                  <a:srgbClr val="16211D"/>
                </a:solidFill>
                <a:latin typeface="Calibri" pitchFamily="34" charset="0"/>
                <a:ea typeface="Calibri" pitchFamily="34" charset="-122"/>
                <a:cs typeface="Calibri" pitchFamily="34" charset="-120"/>
              </a:rPr>
              <a:t>The improvement produced by a split.</a:t>
            </a:r>
            <a:endParaRPr lang="en-US" sz="1300" dirty="0"/>
          </a:p>
        </p:txBody>
      </p:sp>
      <p:sp>
        <p:nvSpPr>
          <p:cNvPr id="8" name="Shape 5"/>
          <p:cNvSpPr/>
          <p:nvPr/>
        </p:nvSpPr>
        <p:spPr>
          <a:xfrm>
            <a:off x="2825496" y="1874520"/>
            <a:ext cx="2057400" cy="3657600"/>
          </a:xfrm>
          <a:prstGeom prst="roundRect">
            <a:avLst>
              <a:gd name="adj" fmla="val 444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9" name="Shape 6"/>
          <p:cNvSpPr/>
          <p:nvPr/>
        </p:nvSpPr>
        <p:spPr>
          <a:xfrm>
            <a:off x="3401568" y="2212848"/>
            <a:ext cx="914400" cy="914400"/>
          </a:xfrm>
          <a:prstGeom prst="ellipse">
            <a:avLst/>
          </a:prstGeom>
          <a:solidFill>
            <a:srgbClr val="1F6F5C"/>
          </a:solidFill>
          <a:ln w="12700">
            <a:solidFill>
              <a:srgbClr val="1F6F5C"/>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639312" y="2450592"/>
            <a:ext cx="438912" cy="438912"/>
          </a:xfrm>
          <a:prstGeom prst="rect">
            <a:avLst/>
          </a:prstGeom>
        </p:spPr>
      </p:pic>
      <p:sp>
        <p:nvSpPr>
          <p:cNvPr id="11" name="Text 7"/>
          <p:cNvSpPr/>
          <p:nvPr/>
        </p:nvSpPr>
        <p:spPr>
          <a:xfrm>
            <a:off x="3008376" y="3291840"/>
            <a:ext cx="1691640" cy="548640"/>
          </a:xfrm>
          <a:prstGeom prst="rect">
            <a:avLst/>
          </a:prstGeom>
          <a:noFill/>
          <a:ln/>
        </p:spPr>
        <p:txBody>
          <a:bodyPr wrap="square" lIns="0" tIns="0" rIns="0" bIns="0" rtlCol="0" anchor="ctr"/>
          <a:lstStyle/>
          <a:p>
            <a:pPr marL="0" indent="0" algn="ctr">
              <a:buNone/>
            </a:pPr>
            <a:r>
              <a:rPr lang="en-US" sz="1800" b="1" dirty="0">
                <a:solidFill>
                  <a:srgbClr val="14332B"/>
                </a:solidFill>
                <a:latin typeface="Cambria" pitchFamily="34" charset="0"/>
                <a:ea typeface="Cambria" pitchFamily="34" charset="-122"/>
                <a:cs typeface="Cambria" pitchFamily="34" charset="-120"/>
              </a:rPr>
              <a:t>Depth</a:t>
            </a:r>
            <a:endParaRPr lang="en-US" sz="1800" dirty="0"/>
          </a:p>
        </p:txBody>
      </p:sp>
      <p:sp>
        <p:nvSpPr>
          <p:cNvPr id="12" name="Text 8"/>
          <p:cNvSpPr/>
          <p:nvPr/>
        </p:nvSpPr>
        <p:spPr>
          <a:xfrm>
            <a:off x="3008376" y="3913632"/>
            <a:ext cx="1691640" cy="1417320"/>
          </a:xfrm>
          <a:prstGeom prst="rect">
            <a:avLst/>
          </a:prstGeom>
          <a:noFill/>
          <a:ln/>
        </p:spPr>
        <p:txBody>
          <a:bodyPr wrap="square" lIns="0" tIns="0" rIns="0" bIns="0" rtlCol="0" anchor="ctr"/>
          <a:lstStyle/>
          <a:p>
            <a:pPr marL="0" indent="0" algn="ctr">
              <a:lnSpc>
                <a:spcPct val="125000"/>
              </a:lnSpc>
              <a:buNone/>
            </a:pPr>
            <a:r>
              <a:rPr lang="en-US" sz="1300" dirty="0">
                <a:solidFill>
                  <a:srgbClr val="16211D"/>
                </a:solidFill>
                <a:latin typeface="Calibri" pitchFamily="34" charset="0"/>
                <a:ea typeface="Calibri" pitchFamily="34" charset="-122"/>
                <a:cs typeface="Calibri" pitchFamily="34" charset="-120"/>
              </a:rPr>
              <a:t>The number of decision levels in the tree.</a:t>
            </a:r>
            <a:endParaRPr lang="en-US" sz="1300" dirty="0"/>
          </a:p>
        </p:txBody>
      </p:sp>
      <p:sp>
        <p:nvSpPr>
          <p:cNvPr id="13" name="Shape 9"/>
          <p:cNvSpPr/>
          <p:nvPr/>
        </p:nvSpPr>
        <p:spPr>
          <a:xfrm>
            <a:off x="5084064" y="1874520"/>
            <a:ext cx="2057400" cy="3657600"/>
          </a:xfrm>
          <a:prstGeom prst="roundRect">
            <a:avLst>
              <a:gd name="adj" fmla="val 444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4" name="Shape 10"/>
          <p:cNvSpPr/>
          <p:nvPr/>
        </p:nvSpPr>
        <p:spPr>
          <a:xfrm>
            <a:off x="5660136" y="2212848"/>
            <a:ext cx="914400" cy="914400"/>
          </a:xfrm>
          <a:prstGeom prst="ellipse">
            <a:avLst/>
          </a:prstGeom>
          <a:solidFill>
            <a:srgbClr val="1F6F5C"/>
          </a:solidFill>
          <a:ln w="12700">
            <a:solidFill>
              <a:srgbClr val="1F6F5C"/>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897880" y="2450592"/>
            <a:ext cx="438912" cy="438912"/>
          </a:xfrm>
          <a:prstGeom prst="rect">
            <a:avLst/>
          </a:prstGeom>
        </p:spPr>
      </p:pic>
      <p:sp>
        <p:nvSpPr>
          <p:cNvPr id="16" name="Text 11"/>
          <p:cNvSpPr/>
          <p:nvPr/>
        </p:nvSpPr>
        <p:spPr>
          <a:xfrm>
            <a:off x="5266944" y="3291840"/>
            <a:ext cx="1691640" cy="548640"/>
          </a:xfrm>
          <a:prstGeom prst="rect">
            <a:avLst/>
          </a:prstGeom>
          <a:noFill/>
          <a:ln/>
        </p:spPr>
        <p:txBody>
          <a:bodyPr wrap="square" lIns="0" tIns="0" rIns="0" bIns="0" rtlCol="0" anchor="ctr"/>
          <a:lstStyle/>
          <a:p>
            <a:pPr marL="0" indent="0" algn="ctr">
              <a:buNone/>
            </a:pPr>
            <a:r>
              <a:rPr lang="en-US" sz="1800" b="1" dirty="0">
                <a:solidFill>
                  <a:srgbClr val="14332B"/>
                </a:solidFill>
                <a:latin typeface="Cambria" pitchFamily="34" charset="0"/>
                <a:ea typeface="Cambria" pitchFamily="34" charset="-122"/>
                <a:cs typeface="Cambria" pitchFamily="34" charset="-120"/>
              </a:rPr>
              <a:t>Pruning</a:t>
            </a:r>
            <a:endParaRPr lang="en-US" sz="1800" dirty="0"/>
          </a:p>
        </p:txBody>
      </p:sp>
      <p:sp>
        <p:nvSpPr>
          <p:cNvPr id="17" name="Text 12"/>
          <p:cNvSpPr/>
          <p:nvPr/>
        </p:nvSpPr>
        <p:spPr>
          <a:xfrm>
            <a:off x="5266944" y="3913632"/>
            <a:ext cx="1691640" cy="1417320"/>
          </a:xfrm>
          <a:prstGeom prst="rect">
            <a:avLst/>
          </a:prstGeom>
          <a:noFill/>
          <a:ln/>
        </p:spPr>
        <p:txBody>
          <a:bodyPr wrap="square" lIns="0" tIns="0" rIns="0" bIns="0" rtlCol="0" anchor="ctr"/>
          <a:lstStyle/>
          <a:p>
            <a:pPr marL="0" indent="0" algn="ctr">
              <a:lnSpc>
                <a:spcPct val="125000"/>
              </a:lnSpc>
              <a:buNone/>
            </a:pPr>
            <a:r>
              <a:rPr lang="en-US" sz="1300" dirty="0">
                <a:solidFill>
                  <a:srgbClr val="16211D"/>
                </a:solidFill>
                <a:latin typeface="Calibri" pitchFamily="34" charset="0"/>
                <a:ea typeface="Calibri" pitchFamily="34" charset="-122"/>
                <a:cs typeface="Calibri" pitchFamily="34" charset="-120"/>
              </a:rPr>
              <a:t>Removing branches that do not help enough.</a:t>
            </a:r>
            <a:endParaRPr lang="en-US" sz="1300" dirty="0"/>
          </a:p>
        </p:txBody>
      </p:sp>
      <p:sp>
        <p:nvSpPr>
          <p:cNvPr id="18" name="Shape 13"/>
          <p:cNvSpPr/>
          <p:nvPr/>
        </p:nvSpPr>
        <p:spPr>
          <a:xfrm>
            <a:off x="7342632" y="1874520"/>
            <a:ext cx="2057400" cy="3657600"/>
          </a:xfrm>
          <a:prstGeom prst="roundRect">
            <a:avLst>
              <a:gd name="adj" fmla="val 444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9" name="Shape 14"/>
          <p:cNvSpPr/>
          <p:nvPr/>
        </p:nvSpPr>
        <p:spPr>
          <a:xfrm>
            <a:off x="7918704" y="2212848"/>
            <a:ext cx="914400" cy="914400"/>
          </a:xfrm>
          <a:prstGeom prst="ellipse">
            <a:avLst/>
          </a:prstGeom>
          <a:solidFill>
            <a:srgbClr val="1F6F5C"/>
          </a:solidFill>
          <a:ln w="12700">
            <a:solidFill>
              <a:srgbClr val="1F6F5C"/>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8156448" y="2450592"/>
            <a:ext cx="438912" cy="438912"/>
          </a:xfrm>
          <a:prstGeom prst="rect">
            <a:avLst/>
          </a:prstGeom>
        </p:spPr>
      </p:pic>
      <p:sp>
        <p:nvSpPr>
          <p:cNvPr id="21" name="Text 15"/>
          <p:cNvSpPr/>
          <p:nvPr/>
        </p:nvSpPr>
        <p:spPr>
          <a:xfrm>
            <a:off x="7525512" y="3291840"/>
            <a:ext cx="1691640" cy="548640"/>
          </a:xfrm>
          <a:prstGeom prst="rect">
            <a:avLst/>
          </a:prstGeom>
          <a:noFill/>
          <a:ln/>
        </p:spPr>
        <p:txBody>
          <a:bodyPr wrap="square" lIns="0" tIns="0" rIns="0" bIns="0" rtlCol="0" anchor="ctr"/>
          <a:lstStyle/>
          <a:p>
            <a:pPr marL="0" indent="0" algn="ctr">
              <a:buNone/>
            </a:pPr>
            <a:r>
              <a:rPr lang="en-US" sz="1800" b="1" dirty="0">
                <a:solidFill>
                  <a:srgbClr val="14332B"/>
                </a:solidFill>
                <a:latin typeface="Cambria" pitchFamily="34" charset="0"/>
                <a:ea typeface="Cambria" pitchFamily="34" charset="-122"/>
                <a:cs typeface="Cambria" pitchFamily="34" charset="-120"/>
              </a:rPr>
              <a:t>Gamma</a:t>
            </a:r>
            <a:endParaRPr lang="en-US" sz="1800" dirty="0"/>
          </a:p>
        </p:txBody>
      </p:sp>
      <p:sp>
        <p:nvSpPr>
          <p:cNvPr id="22" name="Text 16"/>
          <p:cNvSpPr/>
          <p:nvPr/>
        </p:nvSpPr>
        <p:spPr>
          <a:xfrm>
            <a:off x="7525512" y="3913632"/>
            <a:ext cx="1691640" cy="1417320"/>
          </a:xfrm>
          <a:prstGeom prst="rect">
            <a:avLst/>
          </a:prstGeom>
          <a:noFill/>
          <a:ln/>
        </p:spPr>
        <p:txBody>
          <a:bodyPr wrap="square" lIns="0" tIns="0" rIns="0" bIns="0" rtlCol="0" anchor="ctr"/>
          <a:lstStyle/>
          <a:p>
            <a:pPr marL="0" indent="0" algn="ctr">
              <a:lnSpc>
                <a:spcPct val="125000"/>
              </a:lnSpc>
              <a:buNone/>
            </a:pPr>
            <a:r>
              <a:rPr lang="en-US" sz="1300" dirty="0">
                <a:solidFill>
                  <a:srgbClr val="16211D"/>
                </a:solidFill>
                <a:latin typeface="Calibri" pitchFamily="34" charset="0"/>
                <a:ea typeface="Calibri" pitchFamily="34" charset="-122"/>
                <a:cs typeface="Calibri" pitchFamily="34" charset="-120"/>
              </a:rPr>
              <a:t>The minimum gain needed to keep a branch.</a:t>
            </a:r>
            <a:endParaRPr lang="en-US" sz="1300" dirty="0"/>
          </a:p>
        </p:txBody>
      </p:sp>
      <p:sp>
        <p:nvSpPr>
          <p:cNvPr id="23" name="Shape 17"/>
          <p:cNvSpPr/>
          <p:nvPr/>
        </p:nvSpPr>
        <p:spPr>
          <a:xfrm>
            <a:off x="9601200" y="1874520"/>
            <a:ext cx="2057400" cy="3657600"/>
          </a:xfrm>
          <a:prstGeom prst="roundRect">
            <a:avLst>
              <a:gd name="adj" fmla="val 4444"/>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24" name="Shape 18"/>
          <p:cNvSpPr/>
          <p:nvPr/>
        </p:nvSpPr>
        <p:spPr>
          <a:xfrm>
            <a:off x="10177272" y="2212848"/>
            <a:ext cx="914400" cy="914400"/>
          </a:xfrm>
          <a:prstGeom prst="ellipse">
            <a:avLst/>
          </a:prstGeom>
          <a:solidFill>
            <a:srgbClr val="E8A33D"/>
          </a:solidFill>
          <a:ln w="12700">
            <a:solidFill>
              <a:srgbClr val="E8A33D"/>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10415016" y="2450592"/>
            <a:ext cx="438912" cy="438912"/>
          </a:xfrm>
          <a:prstGeom prst="rect">
            <a:avLst/>
          </a:prstGeom>
        </p:spPr>
      </p:pic>
      <p:sp>
        <p:nvSpPr>
          <p:cNvPr id="26" name="Text 19"/>
          <p:cNvSpPr/>
          <p:nvPr/>
        </p:nvSpPr>
        <p:spPr>
          <a:xfrm>
            <a:off x="9784080" y="3291840"/>
            <a:ext cx="1691640" cy="548640"/>
          </a:xfrm>
          <a:prstGeom prst="rect">
            <a:avLst/>
          </a:prstGeom>
          <a:noFill/>
          <a:ln/>
        </p:spPr>
        <p:txBody>
          <a:bodyPr wrap="square" lIns="0" tIns="0" rIns="0" bIns="0" rtlCol="0" anchor="ctr"/>
          <a:lstStyle/>
          <a:p>
            <a:pPr marL="0" indent="0" algn="ctr">
              <a:buNone/>
            </a:pPr>
            <a:r>
              <a:rPr lang="en-US" sz="1800" b="1" dirty="0">
                <a:solidFill>
                  <a:srgbClr val="14332B"/>
                </a:solidFill>
                <a:latin typeface="Cambria" pitchFamily="34" charset="0"/>
                <a:ea typeface="Cambria" pitchFamily="34" charset="-122"/>
                <a:cs typeface="Cambria" pitchFamily="34" charset="-120"/>
              </a:rPr>
              <a:t>Learning rate</a:t>
            </a:r>
            <a:endParaRPr lang="en-US" sz="1800" dirty="0"/>
          </a:p>
        </p:txBody>
      </p:sp>
      <p:sp>
        <p:nvSpPr>
          <p:cNvPr id="27" name="Text 20"/>
          <p:cNvSpPr/>
          <p:nvPr/>
        </p:nvSpPr>
        <p:spPr>
          <a:xfrm>
            <a:off x="9784080" y="3913632"/>
            <a:ext cx="1691640" cy="1417320"/>
          </a:xfrm>
          <a:prstGeom prst="rect">
            <a:avLst/>
          </a:prstGeom>
          <a:noFill/>
          <a:ln/>
        </p:spPr>
        <p:txBody>
          <a:bodyPr wrap="square" lIns="0" tIns="0" rIns="0" bIns="0" rtlCol="0" anchor="ctr"/>
          <a:lstStyle/>
          <a:p>
            <a:pPr marL="0" indent="0" algn="ctr">
              <a:lnSpc>
                <a:spcPct val="125000"/>
              </a:lnSpc>
              <a:buNone/>
            </a:pPr>
            <a:r>
              <a:rPr lang="en-US" sz="1300" dirty="0">
                <a:solidFill>
                  <a:srgbClr val="16211D"/>
                </a:solidFill>
                <a:latin typeface="Calibri" pitchFamily="34" charset="0"/>
                <a:ea typeface="Calibri" pitchFamily="34" charset="-122"/>
                <a:cs typeface="Calibri" pitchFamily="34" charset="-120"/>
              </a:rPr>
              <a:t>Controls how strongly each tree changes the model.</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err="1">
                <a:solidFill>
                  <a:srgbClr val="14332B"/>
                </a:solidFill>
                <a:latin typeface="Cambria" pitchFamily="34" charset="0"/>
                <a:ea typeface="Cambria" pitchFamily="34" charset="-122"/>
                <a:cs typeface="Cambria" pitchFamily="34" charset="-120"/>
              </a:rPr>
              <a:t>XGBoost</a:t>
            </a:r>
            <a:r>
              <a:rPr lang="en-US" sz="3200" b="1" dirty="0">
                <a:solidFill>
                  <a:srgbClr val="14332B"/>
                </a:solidFill>
                <a:latin typeface="Cambria" pitchFamily="34" charset="0"/>
                <a:ea typeface="Cambria" pitchFamily="34" charset="-122"/>
                <a:cs typeface="Cambria" pitchFamily="34" charset="-120"/>
              </a:rPr>
              <a:t> Classification: Intuition (1)</a:t>
            </a:r>
            <a:endParaRPr lang="en-US" sz="3200" dirty="0"/>
          </a:p>
        </p:txBody>
      </p:sp>
      <p:sp>
        <p:nvSpPr>
          <p:cNvPr id="3" name="Text 1"/>
          <p:cNvSpPr/>
          <p:nvPr/>
        </p:nvSpPr>
        <p:spPr>
          <a:xfrm>
            <a:off x="566928" y="1042416"/>
            <a:ext cx="11064240" cy="310896"/>
          </a:xfrm>
          <a:prstGeom prst="rect">
            <a:avLst/>
          </a:prstGeom>
          <a:noFill/>
          <a:ln/>
        </p:spPr>
        <p:txBody>
          <a:bodyPr wrap="square" lIns="0" tIns="0" rIns="0" bIns="0" rtlCol="0" anchor="ctr"/>
          <a:lstStyle/>
          <a:p>
            <a:pPr marL="0" indent="0">
              <a:buNone/>
            </a:pPr>
            <a:r>
              <a:rPr lang="en-US" sz="1400" i="1" dirty="0">
                <a:solidFill>
                  <a:srgbClr val="5F6F69"/>
                </a:solidFill>
                <a:latin typeface="Calibri" pitchFamily="34" charset="0"/>
                <a:ea typeface="Calibri" pitchFamily="34" charset="-122"/>
                <a:cs typeface="Calibri" pitchFamily="34" charset="-120"/>
              </a:rPr>
              <a:t>▲  Let’s follow the algorithm:</a:t>
            </a:r>
            <a:endParaRPr lang="en-US" sz="1400" dirty="0"/>
          </a:p>
        </p:txBody>
      </p:sp>
      <p:sp>
        <p:nvSpPr>
          <p:cNvPr id="4" name="Shape 2"/>
          <p:cNvSpPr/>
          <p:nvPr/>
        </p:nvSpPr>
        <p:spPr>
          <a:xfrm>
            <a:off x="566928" y="1627632"/>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5" name="Shape 3"/>
          <p:cNvSpPr/>
          <p:nvPr/>
        </p:nvSpPr>
        <p:spPr>
          <a:xfrm>
            <a:off x="822960" y="1773936"/>
            <a:ext cx="512064" cy="512064"/>
          </a:xfrm>
          <a:prstGeom prst="ellipse">
            <a:avLst/>
          </a:prstGeom>
          <a:solidFill>
            <a:srgbClr val="1F6F5C"/>
          </a:solidFill>
          <a:ln w="12700">
            <a:solidFill>
              <a:srgbClr val="1F6F5C"/>
            </a:solidFill>
            <a:prstDash val="solid"/>
          </a:ln>
        </p:spPr>
        <p:txBody>
          <a:bodyPr/>
          <a:lstStyle/>
          <a:p>
            <a:endParaRPr lang="en-US"/>
          </a:p>
        </p:txBody>
      </p:sp>
      <p:sp>
        <p:nvSpPr>
          <p:cNvPr id="6" name="Text 4"/>
          <p:cNvSpPr/>
          <p:nvPr/>
        </p:nvSpPr>
        <p:spPr>
          <a:xfrm>
            <a:off x="822960" y="1773936"/>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17904" y="1737360"/>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Calculate the residuals based on initial guess of 0.5</a:t>
            </a:r>
            <a:endParaRPr lang="en-US" sz="1600" dirty="0"/>
          </a:p>
        </p:txBody>
      </p:sp>
      <p:sp>
        <p:nvSpPr>
          <p:cNvPr id="8" name="Shape 6"/>
          <p:cNvSpPr/>
          <p:nvPr/>
        </p:nvSpPr>
        <p:spPr>
          <a:xfrm>
            <a:off x="566928" y="2651760"/>
            <a:ext cx="11073384" cy="1371600"/>
          </a:xfrm>
          <a:prstGeom prst="roundRect">
            <a:avLst>
              <a:gd name="adj" fmla="val 6667"/>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9" name="Shape 7"/>
          <p:cNvSpPr/>
          <p:nvPr/>
        </p:nvSpPr>
        <p:spPr>
          <a:xfrm>
            <a:off x="822960" y="2798064"/>
            <a:ext cx="512064" cy="512064"/>
          </a:xfrm>
          <a:prstGeom prst="ellipse">
            <a:avLst/>
          </a:prstGeom>
          <a:solidFill>
            <a:srgbClr val="1F6F5C"/>
          </a:solidFill>
          <a:ln w="12700">
            <a:solidFill>
              <a:srgbClr val="1F6F5C"/>
            </a:solidFill>
            <a:prstDash val="solid"/>
          </a:ln>
        </p:spPr>
        <p:txBody>
          <a:bodyPr/>
          <a:lstStyle/>
          <a:p>
            <a:endParaRPr lang="en-US"/>
          </a:p>
        </p:txBody>
      </p:sp>
      <p:sp>
        <p:nvSpPr>
          <p:cNvPr id="10" name="Text 8"/>
          <p:cNvSpPr/>
          <p:nvPr/>
        </p:nvSpPr>
        <p:spPr>
          <a:xfrm>
            <a:off x="822960" y="2798064"/>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517904" y="2761488"/>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Make the first split (average of last two observations) and calculate</a:t>
            </a:r>
            <a:endParaRPr lang="en-US" sz="1600" dirty="0"/>
          </a:p>
        </p:txBody>
      </p:sp>
      <p:sp>
        <p:nvSpPr>
          <p:cNvPr id="12" name="Shape 10"/>
          <p:cNvSpPr/>
          <p:nvPr/>
        </p:nvSpPr>
        <p:spPr>
          <a:xfrm>
            <a:off x="1517904" y="3310128"/>
            <a:ext cx="9784080" cy="585216"/>
          </a:xfrm>
          <a:prstGeom prst="roundRect">
            <a:avLst>
              <a:gd name="adj" fmla="val 9375"/>
            </a:avLst>
          </a:prstGeom>
          <a:solidFill>
            <a:srgbClr val="E8F2ED"/>
          </a:solidFill>
          <a:ln w="12700">
            <a:solidFill>
              <a:srgbClr val="D3E6DD"/>
            </a:solidFill>
            <a:prstDash val="solid"/>
          </a:ln>
        </p:spPr>
        <p:txBody>
          <a:bodyPr/>
          <a:lstStyle/>
          <a:p>
            <a:endParaRPr lang="en-US"/>
          </a:p>
        </p:txBody>
      </p:sp>
      <p:sp>
        <p:nvSpPr>
          <p:cNvPr id="13" name="Text 11"/>
          <p:cNvSpPr/>
          <p:nvPr/>
        </p:nvSpPr>
        <p:spPr>
          <a:xfrm>
            <a:off x="1700784" y="3310128"/>
            <a:ext cx="9418320" cy="585216"/>
          </a:xfrm>
          <a:prstGeom prst="rect">
            <a:avLst/>
          </a:prstGeom>
          <a:noFill/>
          <a:ln/>
        </p:spPr>
        <p:txBody>
          <a:bodyPr wrap="square" lIns="0" tIns="0" rIns="0" bIns="0" rtlCol="0" anchor="ctr"/>
          <a:lstStyle/>
          <a:p>
            <a:pPr marL="0" indent="0">
              <a:buNone/>
            </a:pPr>
            <a:r>
              <a:rPr lang="en-US" sz="1350" i="1" dirty="0">
                <a:solidFill>
                  <a:srgbClr val="14332B"/>
                </a:solidFill>
                <a:latin typeface="Cambria" pitchFamily="34" charset="0"/>
                <a:ea typeface="Cambria" pitchFamily="34" charset="-122"/>
                <a:cs typeface="Cambria" pitchFamily="34" charset="-120"/>
              </a:rPr>
              <a:t>Similarity score = (Σ Residuals)² / (Σ[Previous probability × (1 – Previous probability)] + λ) of each leaf</a:t>
            </a:r>
            <a:endParaRPr lang="en-US" sz="1350" dirty="0"/>
          </a:p>
        </p:txBody>
      </p:sp>
      <p:sp>
        <p:nvSpPr>
          <p:cNvPr id="14" name="Shape 12"/>
          <p:cNvSpPr/>
          <p:nvPr/>
        </p:nvSpPr>
        <p:spPr>
          <a:xfrm>
            <a:off x="566928" y="4261104"/>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5" name="Shape 13"/>
          <p:cNvSpPr/>
          <p:nvPr/>
        </p:nvSpPr>
        <p:spPr>
          <a:xfrm>
            <a:off x="822960" y="4407408"/>
            <a:ext cx="512064" cy="512064"/>
          </a:xfrm>
          <a:prstGeom prst="ellipse">
            <a:avLst/>
          </a:prstGeom>
          <a:solidFill>
            <a:srgbClr val="1F6F5C"/>
          </a:solidFill>
          <a:ln w="12700">
            <a:solidFill>
              <a:srgbClr val="1F6F5C"/>
            </a:solidFill>
            <a:prstDash val="solid"/>
          </a:ln>
        </p:spPr>
        <p:txBody>
          <a:bodyPr/>
          <a:lstStyle/>
          <a:p>
            <a:endParaRPr lang="en-US"/>
          </a:p>
        </p:txBody>
      </p:sp>
      <p:sp>
        <p:nvSpPr>
          <p:cNvPr id="16" name="Text 14"/>
          <p:cNvSpPr/>
          <p:nvPr/>
        </p:nvSpPr>
        <p:spPr>
          <a:xfrm>
            <a:off x="822960" y="440740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517904" y="4370832"/>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Calculate Gain = Left_similarity + Right_similarity – Root_similarity</a:t>
            </a:r>
            <a:endParaRPr lang="en-US" sz="1600" dirty="0"/>
          </a:p>
        </p:txBody>
      </p:sp>
      <p:sp>
        <p:nvSpPr>
          <p:cNvPr id="18" name="Shape 16"/>
          <p:cNvSpPr/>
          <p:nvPr/>
        </p:nvSpPr>
        <p:spPr>
          <a:xfrm>
            <a:off x="566928" y="5285232"/>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9" name="Shape 17"/>
          <p:cNvSpPr/>
          <p:nvPr/>
        </p:nvSpPr>
        <p:spPr>
          <a:xfrm>
            <a:off x="822960" y="5431536"/>
            <a:ext cx="512064" cy="512064"/>
          </a:xfrm>
          <a:prstGeom prst="ellipse">
            <a:avLst/>
          </a:prstGeom>
          <a:solidFill>
            <a:srgbClr val="1F6F5C"/>
          </a:solidFill>
          <a:ln w="12700">
            <a:solidFill>
              <a:srgbClr val="1F6F5C"/>
            </a:solidFill>
            <a:prstDash val="solid"/>
          </a:ln>
        </p:spPr>
        <p:txBody>
          <a:bodyPr/>
          <a:lstStyle/>
          <a:p>
            <a:endParaRPr lang="en-US"/>
          </a:p>
        </p:txBody>
      </p:sp>
      <p:sp>
        <p:nvSpPr>
          <p:cNvPr id="20" name="Text 18"/>
          <p:cNvSpPr/>
          <p:nvPr/>
        </p:nvSpPr>
        <p:spPr>
          <a:xfrm>
            <a:off x="822960" y="5431536"/>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1517904" y="5394960"/>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Continue splitting with highest gain split. Default depth is 6 levels</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err="1">
                <a:solidFill>
                  <a:srgbClr val="14332B"/>
                </a:solidFill>
                <a:latin typeface="Cambria" pitchFamily="34" charset="0"/>
                <a:ea typeface="Cambria" pitchFamily="34" charset="-122"/>
                <a:cs typeface="Cambria" pitchFamily="34" charset="-120"/>
              </a:rPr>
              <a:t>XGBoost</a:t>
            </a:r>
            <a:r>
              <a:rPr lang="en-US" sz="3200" b="1" dirty="0">
                <a:solidFill>
                  <a:srgbClr val="14332B"/>
                </a:solidFill>
                <a:latin typeface="Cambria" pitchFamily="34" charset="0"/>
                <a:ea typeface="Cambria" pitchFamily="34" charset="-122"/>
                <a:cs typeface="Cambria" pitchFamily="34" charset="-120"/>
              </a:rPr>
              <a:t> Classification: Intuition (2)</a:t>
            </a:r>
            <a:endParaRPr lang="en-US" sz="3200" dirty="0"/>
          </a:p>
        </p:txBody>
      </p:sp>
      <p:sp>
        <p:nvSpPr>
          <p:cNvPr id="3" name="Shape 1"/>
          <p:cNvSpPr/>
          <p:nvPr/>
        </p:nvSpPr>
        <p:spPr>
          <a:xfrm>
            <a:off x="566928" y="1444752"/>
            <a:ext cx="11073384" cy="731520"/>
          </a:xfrm>
          <a:prstGeom prst="roundRect">
            <a:avLst>
              <a:gd name="adj" fmla="val 12500"/>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822960" y="1572768"/>
            <a:ext cx="512064" cy="512064"/>
          </a:xfrm>
          <a:prstGeom prst="ellipse">
            <a:avLst/>
          </a:prstGeom>
          <a:solidFill>
            <a:srgbClr val="1F6F5C"/>
          </a:solidFill>
          <a:ln w="12700">
            <a:solidFill>
              <a:srgbClr val="1F6F5C"/>
            </a:solidFill>
            <a:prstDash val="solid"/>
          </a:ln>
        </p:spPr>
        <p:txBody>
          <a:bodyPr/>
          <a:lstStyle/>
          <a:p>
            <a:endParaRPr lang="en-US"/>
          </a:p>
        </p:txBody>
      </p:sp>
      <p:sp>
        <p:nvSpPr>
          <p:cNvPr id="5" name="Text 3"/>
          <p:cNvSpPr/>
          <p:nvPr/>
        </p:nvSpPr>
        <p:spPr>
          <a:xfrm>
            <a:off x="822960" y="15727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6" name="Text 4"/>
          <p:cNvSpPr/>
          <p:nvPr/>
        </p:nvSpPr>
        <p:spPr>
          <a:xfrm>
            <a:off x="1517904" y="1536192"/>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Prune the trees by calculating Gain - γ (3 by default). If negative, we prune the branch</a:t>
            </a:r>
            <a:endParaRPr lang="en-US" sz="1600" dirty="0"/>
          </a:p>
        </p:txBody>
      </p:sp>
      <p:sp>
        <p:nvSpPr>
          <p:cNvPr id="7" name="Shape 5"/>
          <p:cNvSpPr/>
          <p:nvPr/>
        </p:nvSpPr>
        <p:spPr>
          <a:xfrm>
            <a:off x="566928" y="2359152"/>
            <a:ext cx="11073384" cy="1243584"/>
          </a:xfrm>
          <a:prstGeom prst="roundRect">
            <a:avLst>
              <a:gd name="adj" fmla="val 7353"/>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8" name="Shape 6"/>
          <p:cNvSpPr/>
          <p:nvPr/>
        </p:nvSpPr>
        <p:spPr>
          <a:xfrm>
            <a:off x="822960" y="2487168"/>
            <a:ext cx="512064" cy="512064"/>
          </a:xfrm>
          <a:prstGeom prst="ellipse">
            <a:avLst/>
          </a:prstGeom>
          <a:solidFill>
            <a:srgbClr val="1F6F5C"/>
          </a:solidFill>
          <a:ln w="12700">
            <a:solidFill>
              <a:srgbClr val="1F6F5C"/>
            </a:solidFill>
            <a:prstDash val="solid"/>
          </a:ln>
        </p:spPr>
        <p:txBody>
          <a:bodyPr/>
          <a:lstStyle/>
          <a:p>
            <a:endParaRPr lang="en-US"/>
          </a:p>
        </p:txBody>
      </p:sp>
      <p:sp>
        <p:nvSpPr>
          <p:cNvPr id="9" name="Text 7"/>
          <p:cNvSpPr/>
          <p:nvPr/>
        </p:nvSpPr>
        <p:spPr>
          <a:xfrm>
            <a:off x="822960" y="24871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10" name="Text 8"/>
          <p:cNvSpPr/>
          <p:nvPr/>
        </p:nvSpPr>
        <p:spPr>
          <a:xfrm>
            <a:off x="1517904" y="2450592"/>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Calculate Output =</a:t>
            </a:r>
            <a:endParaRPr lang="en-US" sz="1600" dirty="0"/>
          </a:p>
        </p:txBody>
      </p:sp>
      <p:sp>
        <p:nvSpPr>
          <p:cNvPr id="11" name="Shape 9"/>
          <p:cNvSpPr/>
          <p:nvPr/>
        </p:nvSpPr>
        <p:spPr>
          <a:xfrm>
            <a:off x="1517904" y="2980944"/>
            <a:ext cx="9784080" cy="566928"/>
          </a:xfrm>
          <a:prstGeom prst="roundRect">
            <a:avLst>
              <a:gd name="adj" fmla="val 9677"/>
            </a:avLst>
          </a:prstGeom>
          <a:solidFill>
            <a:srgbClr val="E8F2ED"/>
          </a:solidFill>
          <a:ln w="12700">
            <a:solidFill>
              <a:srgbClr val="D3E6DD"/>
            </a:solidFill>
            <a:prstDash val="solid"/>
          </a:ln>
        </p:spPr>
        <p:txBody>
          <a:bodyPr/>
          <a:lstStyle/>
          <a:p>
            <a:endParaRPr lang="en-US"/>
          </a:p>
        </p:txBody>
      </p:sp>
      <p:sp>
        <p:nvSpPr>
          <p:cNvPr id="12" name="Text 10"/>
          <p:cNvSpPr/>
          <p:nvPr/>
        </p:nvSpPr>
        <p:spPr>
          <a:xfrm>
            <a:off x="1700784" y="2980944"/>
            <a:ext cx="9418320" cy="566928"/>
          </a:xfrm>
          <a:prstGeom prst="rect">
            <a:avLst/>
          </a:prstGeom>
          <a:noFill/>
          <a:ln/>
        </p:spPr>
        <p:txBody>
          <a:bodyPr wrap="square" lIns="0" tIns="0" rIns="0" bIns="0" rtlCol="0" anchor="ctr"/>
          <a:lstStyle/>
          <a:p>
            <a:pPr marL="0" indent="0">
              <a:buNone/>
            </a:pPr>
            <a:r>
              <a:rPr lang="en-US" sz="1350" i="1" dirty="0">
                <a:solidFill>
                  <a:srgbClr val="14332B"/>
                </a:solidFill>
                <a:latin typeface="Cambria" pitchFamily="34" charset="0"/>
                <a:ea typeface="Cambria" pitchFamily="34" charset="-122"/>
                <a:cs typeface="Cambria" pitchFamily="34" charset="-120"/>
              </a:rPr>
              <a:t>Σ Residuals / (Σ[Previous probability × (1 – Previous probability)] + λ)</a:t>
            </a:r>
            <a:endParaRPr lang="en-US" sz="1350" dirty="0"/>
          </a:p>
        </p:txBody>
      </p:sp>
      <p:sp>
        <p:nvSpPr>
          <p:cNvPr id="13" name="Shape 11"/>
          <p:cNvSpPr/>
          <p:nvPr/>
        </p:nvSpPr>
        <p:spPr>
          <a:xfrm>
            <a:off x="566928" y="3785616"/>
            <a:ext cx="11073384" cy="731520"/>
          </a:xfrm>
          <a:prstGeom prst="roundRect">
            <a:avLst>
              <a:gd name="adj" fmla="val 12500"/>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4" name="Shape 12"/>
          <p:cNvSpPr/>
          <p:nvPr/>
        </p:nvSpPr>
        <p:spPr>
          <a:xfrm>
            <a:off x="822960" y="3913632"/>
            <a:ext cx="512064" cy="512064"/>
          </a:xfrm>
          <a:prstGeom prst="ellipse">
            <a:avLst/>
          </a:prstGeom>
          <a:solidFill>
            <a:srgbClr val="1F6F5C"/>
          </a:solidFill>
          <a:ln w="12700">
            <a:solidFill>
              <a:srgbClr val="1F6F5C"/>
            </a:solidFill>
            <a:prstDash val="solid"/>
          </a:ln>
        </p:spPr>
        <p:txBody>
          <a:bodyPr/>
          <a:lstStyle/>
          <a:p>
            <a:endParaRPr lang="en-US"/>
          </a:p>
        </p:txBody>
      </p:sp>
      <p:sp>
        <p:nvSpPr>
          <p:cNvPr id="15" name="Text 13"/>
          <p:cNvSpPr/>
          <p:nvPr/>
        </p:nvSpPr>
        <p:spPr>
          <a:xfrm>
            <a:off x="822960" y="391363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16" name="Text 14"/>
          <p:cNvSpPr/>
          <p:nvPr/>
        </p:nvSpPr>
        <p:spPr>
          <a:xfrm>
            <a:off x="1517904" y="3877056"/>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Find Predicted values = log odds of default + Learning rate (0.3 by default) × Output</a:t>
            </a:r>
            <a:endParaRPr lang="en-US" sz="1600" dirty="0"/>
          </a:p>
        </p:txBody>
      </p:sp>
      <p:sp>
        <p:nvSpPr>
          <p:cNvPr id="17" name="Shape 15"/>
          <p:cNvSpPr/>
          <p:nvPr/>
        </p:nvSpPr>
        <p:spPr>
          <a:xfrm>
            <a:off x="566928" y="4700016"/>
            <a:ext cx="11073384" cy="731520"/>
          </a:xfrm>
          <a:prstGeom prst="roundRect">
            <a:avLst>
              <a:gd name="adj" fmla="val 12500"/>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8" name="Shape 16"/>
          <p:cNvSpPr/>
          <p:nvPr/>
        </p:nvSpPr>
        <p:spPr>
          <a:xfrm>
            <a:off x="822960" y="4828032"/>
            <a:ext cx="512064" cy="512064"/>
          </a:xfrm>
          <a:prstGeom prst="ellipse">
            <a:avLst/>
          </a:prstGeom>
          <a:solidFill>
            <a:srgbClr val="1F6F5C"/>
          </a:solidFill>
          <a:ln w="12700">
            <a:solidFill>
              <a:srgbClr val="1F6F5C"/>
            </a:solidFill>
            <a:prstDash val="solid"/>
          </a:ln>
        </p:spPr>
        <p:txBody>
          <a:bodyPr/>
          <a:lstStyle/>
          <a:p>
            <a:endParaRPr lang="en-US"/>
          </a:p>
        </p:txBody>
      </p:sp>
      <p:sp>
        <p:nvSpPr>
          <p:cNvPr id="19" name="Text 17"/>
          <p:cNvSpPr/>
          <p:nvPr/>
        </p:nvSpPr>
        <p:spPr>
          <a:xfrm>
            <a:off x="822960" y="482803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20" name="Text 18"/>
          <p:cNvSpPr/>
          <p:nvPr/>
        </p:nvSpPr>
        <p:spPr>
          <a:xfrm>
            <a:off x="1517904" y="4791456"/>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Go to step 1: calculate new residuals from the new predicted values</a:t>
            </a:r>
            <a:endParaRPr lang="en-US" sz="1600" dirty="0"/>
          </a:p>
        </p:txBody>
      </p:sp>
      <p:sp>
        <p:nvSpPr>
          <p:cNvPr id="21" name="Shape 19"/>
          <p:cNvSpPr/>
          <p:nvPr/>
        </p:nvSpPr>
        <p:spPr>
          <a:xfrm>
            <a:off x="566928" y="5650992"/>
            <a:ext cx="11073384" cy="786384"/>
          </a:xfrm>
          <a:prstGeom prst="roundRect">
            <a:avLst>
              <a:gd name="adj" fmla="val 9302"/>
            </a:avLst>
          </a:prstGeom>
          <a:solidFill>
            <a:srgbClr val="14332B"/>
          </a:solidFill>
          <a:ln w="12700">
            <a:solidFill>
              <a:srgbClr val="14332B"/>
            </a:solidFill>
            <a:prstDash val="solid"/>
          </a:ln>
        </p:spPr>
        <p:txBody>
          <a:bodyPr/>
          <a:lstStyle/>
          <a:p>
            <a:endParaRPr lang="en-US"/>
          </a:p>
        </p:txBody>
      </p:sp>
      <p:sp>
        <p:nvSpPr>
          <p:cNvPr id="22" name="Text 20"/>
          <p:cNvSpPr/>
          <p:nvPr/>
        </p:nvSpPr>
        <p:spPr>
          <a:xfrm>
            <a:off x="868680" y="5650992"/>
            <a:ext cx="2743200" cy="786384"/>
          </a:xfrm>
          <a:prstGeom prst="rect">
            <a:avLst/>
          </a:prstGeom>
          <a:noFill/>
          <a:ln/>
        </p:spPr>
        <p:txBody>
          <a:bodyPr wrap="square" lIns="0" tIns="0" rIns="0" bIns="0" rtlCol="0" anchor="ctr"/>
          <a:lstStyle/>
          <a:p>
            <a:pPr marL="0" indent="0">
              <a:buNone/>
            </a:pPr>
            <a:r>
              <a:rPr lang="en-US" sz="1500" b="1" dirty="0">
                <a:solidFill>
                  <a:srgbClr val="E8A33D"/>
                </a:solidFill>
                <a:latin typeface="Calibri" pitchFamily="34" charset="0"/>
                <a:ea typeface="Calibri" pitchFamily="34" charset="-122"/>
                <a:cs typeface="Calibri" pitchFamily="34" charset="-120"/>
              </a:rPr>
              <a:t>Different Loss function</a:t>
            </a:r>
            <a:endParaRPr lang="en-US" sz="1500" dirty="0"/>
          </a:p>
        </p:txBody>
      </p:sp>
      <p:sp>
        <p:nvSpPr>
          <p:cNvPr id="23" name="Text 21"/>
          <p:cNvSpPr/>
          <p:nvPr/>
        </p:nvSpPr>
        <p:spPr>
          <a:xfrm>
            <a:off x="3657600" y="5650992"/>
            <a:ext cx="7680960" cy="786384"/>
          </a:xfrm>
          <a:prstGeom prst="rect">
            <a:avLst/>
          </a:prstGeom>
          <a:noFill/>
          <a:ln/>
        </p:spPr>
        <p:txBody>
          <a:bodyPr wrap="square" lIns="0" tIns="0" rIns="0" bIns="0"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L(y, p) = – [y log(p) + (1 – y) log(1 – p)]</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err="1">
                <a:solidFill>
                  <a:srgbClr val="14332B"/>
                </a:solidFill>
                <a:latin typeface="Cambria" pitchFamily="34" charset="0"/>
                <a:ea typeface="Cambria" pitchFamily="34" charset="-122"/>
                <a:cs typeface="Cambria" pitchFamily="34" charset="-120"/>
              </a:rPr>
              <a:t>XGBoost</a:t>
            </a:r>
            <a:r>
              <a:rPr lang="en-US" sz="3200" b="1" dirty="0">
                <a:solidFill>
                  <a:srgbClr val="14332B"/>
                </a:solidFill>
                <a:latin typeface="Cambria" pitchFamily="34" charset="0"/>
                <a:ea typeface="Cambria" pitchFamily="34" charset="-122"/>
                <a:cs typeface="Cambria" pitchFamily="34" charset="-120"/>
              </a:rPr>
              <a:t> Regression: Intuition (1)</a:t>
            </a:r>
            <a:endParaRPr lang="en-US" sz="3200" dirty="0"/>
          </a:p>
        </p:txBody>
      </p:sp>
      <p:sp>
        <p:nvSpPr>
          <p:cNvPr id="3" name="Text 1"/>
          <p:cNvSpPr/>
          <p:nvPr/>
        </p:nvSpPr>
        <p:spPr>
          <a:xfrm>
            <a:off x="566928" y="1042416"/>
            <a:ext cx="11064240" cy="310896"/>
          </a:xfrm>
          <a:prstGeom prst="rect">
            <a:avLst/>
          </a:prstGeom>
          <a:noFill/>
          <a:ln/>
        </p:spPr>
        <p:txBody>
          <a:bodyPr wrap="square" lIns="0" tIns="0" rIns="0" bIns="0" rtlCol="0" anchor="ctr"/>
          <a:lstStyle/>
          <a:p>
            <a:pPr marL="0" indent="0">
              <a:buNone/>
            </a:pPr>
            <a:r>
              <a:rPr lang="en-US" sz="1400" i="1" dirty="0">
                <a:solidFill>
                  <a:srgbClr val="5F6F69"/>
                </a:solidFill>
                <a:latin typeface="Calibri" pitchFamily="34" charset="0"/>
                <a:ea typeface="Calibri" pitchFamily="34" charset="-122"/>
                <a:cs typeface="Calibri" pitchFamily="34" charset="-120"/>
              </a:rPr>
              <a:t>▲  Let’s follow the algorithm:</a:t>
            </a:r>
            <a:endParaRPr lang="en-US" sz="1400" dirty="0"/>
          </a:p>
        </p:txBody>
      </p:sp>
      <p:sp>
        <p:nvSpPr>
          <p:cNvPr id="4" name="Shape 2"/>
          <p:cNvSpPr/>
          <p:nvPr/>
        </p:nvSpPr>
        <p:spPr>
          <a:xfrm>
            <a:off x="566928" y="1627632"/>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5" name="Shape 3"/>
          <p:cNvSpPr/>
          <p:nvPr/>
        </p:nvSpPr>
        <p:spPr>
          <a:xfrm>
            <a:off x="822960" y="1773936"/>
            <a:ext cx="512064" cy="512064"/>
          </a:xfrm>
          <a:prstGeom prst="ellipse">
            <a:avLst/>
          </a:prstGeom>
          <a:solidFill>
            <a:srgbClr val="E8A33D"/>
          </a:solidFill>
          <a:ln w="12700">
            <a:solidFill>
              <a:srgbClr val="E8A33D"/>
            </a:solidFill>
            <a:prstDash val="solid"/>
          </a:ln>
        </p:spPr>
        <p:txBody>
          <a:bodyPr/>
          <a:lstStyle/>
          <a:p>
            <a:endParaRPr lang="en-US"/>
          </a:p>
        </p:txBody>
      </p:sp>
      <p:sp>
        <p:nvSpPr>
          <p:cNvPr id="6" name="Text 4"/>
          <p:cNvSpPr/>
          <p:nvPr/>
        </p:nvSpPr>
        <p:spPr>
          <a:xfrm>
            <a:off x="822960" y="1773936"/>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517904" y="1737360"/>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Calculate the residuals</a:t>
            </a:r>
            <a:endParaRPr lang="en-US" sz="1600" dirty="0"/>
          </a:p>
        </p:txBody>
      </p:sp>
      <p:sp>
        <p:nvSpPr>
          <p:cNvPr id="8" name="Shape 6"/>
          <p:cNvSpPr/>
          <p:nvPr/>
        </p:nvSpPr>
        <p:spPr>
          <a:xfrm>
            <a:off x="566928" y="2651760"/>
            <a:ext cx="11073384" cy="1371600"/>
          </a:xfrm>
          <a:prstGeom prst="roundRect">
            <a:avLst>
              <a:gd name="adj" fmla="val 6667"/>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9" name="Shape 7"/>
          <p:cNvSpPr/>
          <p:nvPr/>
        </p:nvSpPr>
        <p:spPr>
          <a:xfrm>
            <a:off x="822960" y="2798064"/>
            <a:ext cx="512064" cy="512064"/>
          </a:xfrm>
          <a:prstGeom prst="ellipse">
            <a:avLst/>
          </a:prstGeom>
          <a:solidFill>
            <a:srgbClr val="E8A33D"/>
          </a:solidFill>
          <a:ln w="12700">
            <a:solidFill>
              <a:srgbClr val="E8A33D"/>
            </a:solidFill>
            <a:prstDash val="solid"/>
          </a:ln>
        </p:spPr>
        <p:txBody>
          <a:bodyPr/>
          <a:lstStyle/>
          <a:p>
            <a:endParaRPr lang="en-US"/>
          </a:p>
        </p:txBody>
      </p:sp>
      <p:sp>
        <p:nvSpPr>
          <p:cNvPr id="10" name="Text 8"/>
          <p:cNvSpPr/>
          <p:nvPr/>
        </p:nvSpPr>
        <p:spPr>
          <a:xfrm>
            <a:off x="822960" y="2798064"/>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517904" y="2761488"/>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Make the first split of residuals and calculate</a:t>
            </a:r>
            <a:endParaRPr lang="en-US" sz="1600" dirty="0"/>
          </a:p>
        </p:txBody>
      </p:sp>
      <p:sp>
        <p:nvSpPr>
          <p:cNvPr id="12" name="Shape 10"/>
          <p:cNvSpPr/>
          <p:nvPr/>
        </p:nvSpPr>
        <p:spPr>
          <a:xfrm>
            <a:off x="1517904" y="3310128"/>
            <a:ext cx="9784080" cy="585216"/>
          </a:xfrm>
          <a:prstGeom prst="roundRect">
            <a:avLst>
              <a:gd name="adj" fmla="val 9375"/>
            </a:avLst>
          </a:prstGeom>
          <a:solidFill>
            <a:srgbClr val="FDF2E0"/>
          </a:solidFill>
          <a:ln w="12700">
            <a:solidFill>
              <a:srgbClr val="F3DFBB"/>
            </a:solidFill>
            <a:prstDash val="solid"/>
          </a:ln>
        </p:spPr>
        <p:txBody>
          <a:bodyPr/>
          <a:lstStyle/>
          <a:p>
            <a:endParaRPr lang="en-US"/>
          </a:p>
        </p:txBody>
      </p:sp>
      <p:sp>
        <p:nvSpPr>
          <p:cNvPr id="13" name="Text 11"/>
          <p:cNvSpPr/>
          <p:nvPr/>
        </p:nvSpPr>
        <p:spPr>
          <a:xfrm>
            <a:off x="1700784" y="3310128"/>
            <a:ext cx="9418320" cy="585216"/>
          </a:xfrm>
          <a:prstGeom prst="rect">
            <a:avLst/>
          </a:prstGeom>
          <a:noFill/>
          <a:ln/>
        </p:spPr>
        <p:txBody>
          <a:bodyPr wrap="square" lIns="0" tIns="0" rIns="0" bIns="0" rtlCol="0" anchor="ctr"/>
          <a:lstStyle/>
          <a:p>
            <a:pPr marL="0" indent="0">
              <a:buNone/>
            </a:pPr>
            <a:r>
              <a:rPr lang="en-US" sz="1400" i="1" dirty="0">
                <a:solidFill>
                  <a:srgbClr val="14332B"/>
                </a:solidFill>
                <a:latin typeface="Cambria" pitchFamily="34" charset="0"/>
                <a:ea typeface="Cambria" pitchFamily="34" charset="-122"/>
                <a:cs typeface="Cambria" pitchFamily="34" charset="-120"/>
              </a:rPr>
              <a:t>Similarity score = (Σ Residuals)² / (Number of Residuals + λ)</a:t>
            </a:r>
            <a:endParaRPr lang="en-US" sz="1400" dirty="0"/>
          </a:p>
        </p:txBody>
      </p:sp>
      <p:sp>
        <p:nvSpPr>
          <p:cNvPr id="14" name="Shape 12"/>
          <p:cNvSpPr/>
          <p:nvPr/>
        </p:nvSpPr>
        <p:spPr>
          <a:xfrm>
            <a:off x="566928" y="4261104"/>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5" name="Shape 13"/>
          <p:cNvSpPr/>
          <p:nvPr/>
        </p:nvSpPr>
        <p:spPr>
          <a:xfrm>
            <a:off x="822960" y="4407408"/>
            <a:ext cx="512064" cy="512064"/>
          </a:xfrm>
          <a:prstGeom prst="ellipse">
            <a:avLst/>
          </a:prstGeom>
          <a:solidFill>
            <a:srgbClr val="E8A33D"/>
          </a:solidFill>
          <a:ln w="12700">
            <a:solidFill>
              <a:srgbClr val="E8A33D"/>
            </a:solidFill>
            <a:prstDash val="solid"/>
          </a:ln>
        </p:spPr>
        <p:txBody>
          <a:bodyPr/>
          <a:lstStyle/>
          <a:p>
            <a:endParaRPr lang="en-US"/>
          </a:p>
        </p:txBody>
      </p:sp>
      <p:sp>
        <p:nvSpPr>
          <p:cNvPr id="16" name="Text 14"/>
          <p:cNvSpPr/>
          <p:nvPr/>
        </p:nvSpPr>
        <p:spPr>
          <a:xfrm>
            <a:off x="822960" y="440740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517904" y="4370832"/>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Find Gain = Left_similarity + Right_similarity – Root_similarity. Leave the first split in a form which maximizes gain</a:t>
            </a:r>
            <a:endParaRPr lang="en-US" sz="1600" dirty="0"/>
          </a:p>
        </p:txBody>
      </p:sp>
      <p:sp>
        <p:nvSpPr>
          <p:cNvPr id="18" name="Shape 16"/>
          <p:cNvSpPr/>
          <p:nvPr/>
        </p:nvSpPr>
        <p:spPr>
          <a:xfrm>
            <a:off x="566928" y="5285232"/>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9" name="Shape 17"/>
          <p:cNvSpPr/>
          <p:nvPr/>
        </p:nvSpPr>
        <p:spPr>
          <a:xfrm>
            <a:off x="822960" y="5431536"/>
            <a:ext cx="512064" cy="512064"/>
          </a:xfrm>
          <a:prstGeom prst="ellipse">
            <a:avLst/>
          </a:prstGeom>
          <a:solidFill>
            <a:srgbClr val="E8A33D"/>
          </a:solidFill>
          <a:ln w="12700">
            <a:solidFill>
              <a:srgbClr val="E8A33D"/>
            </a:solidFill>
            <a:prstDash val="solid"/>
          </a:ln>
        </p:spPr>
        <p:txBody>
          <a:bodyPr/>
          <a:lstStyle/>
          <a:p>
            <a:endParaRPr lang="en-US"/>
          </a:p>
        </p:txBody>
      </p:sp>
      <p:sp>
        <p:nvSpPr>
          <p:cNvPr id="20" name="Text 18"/>
          <p:cNvSpPr/>
          <p:nvPr/>
        </p:nvSpPr>
        <p:spPr>
          <a:xfrm>
            <a:off x="822960" y="5431536"/>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1517904" y="5394960"/>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Continue splitting. Default depth is 6 levels</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err="1">
                <a:solidFill>
                  <a:srgbClr val="14332B"/>
                </a:solidFill>
                <a:latin typeface="Cambria" pitchFamily="34" charset="0"/>
                <a:ea typeface="Cambria" pitchFamily="34" charset="-122"/>
                <a:cs typeface="Cambria" pitchFamily="34" charset="-120"/>
              </a:rPr>
              <a:t>XGBoost</a:t>
            </a:r>
            <a:r>
              <a:rPr lang="en-US" sz="3200" b="1" dirty="0">
                <a:solidFill>
                  <a:srgbClr val="14332B"/>
                </a:solidFill>
                <a:latin typeface="Cambria" pitchFamily="34" charset="0"/>
                <a:ea typeface="Cambria" pitchFamily="34" charset="-122"/>
                <a:cs typeface="Cambria" pitchFamily="34" charset="-120"/>
              </a:rPr>
              <a:t> Regression: Intuition (2)</a:t>
            </a:r>
            <a:endParaRPr lang="en-US" sz="3200" dirty="0"/>
          </a:p>
        </p:txBody>
      </p:sp>
      <p:sp>
        <p:nvSpPr>
          <p:cNvPr id="3" name="Shape 1"/>
          <p:cNvSpPr/>
          <p:nvPr/>
        </p:nvSpPr>
        <p:spPr>
          <a:xfrm>
            <a:off x="566928" y="1691640"/>
            <a:ext cx="11073384" cy="822960"/>
          </a:xfrm>
          <a:prstGeom prst="roundRect">
            <a:avLst>
              <a:gd name="adj" fmla="val 11111"/>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4" name="Shape 2"/>
          <p:cNvSpPr/>
          <p:nvPr/>
        </p:nvSpPr>
        <p:spPr>
          <a:xfrm>
            <a:off x="822960" y="1847088"/>
            <a:ext cx="512064" cy="512064"/>
          </a:xfrm>
          <a:prstGeom prst="ellipse">
            <a:avLst/>
          </a:prstGeom>
          <a:solidFill>
            <a:srgbClr val="E8A33D"/>
          </a:solidFill>
          <a:ln w="12700">
            <a:solidFill>
              <a:srgbClr val="E8A33D"/>
            </a:solidFill>
            <a:prstDash val="solid"/>
          </a:ln>
        </p:spPr>
        <p:txBody>
          <a:bodyPr/>
          <a:lstStyle/>
          <a:p>
            <a:endParaRPr lang="en-US"/>
          </a:p>
        </p:txBody>
      </p:sp>
      <p:sp>
        <p:nvSpPr>
          <p:cNvPr id="5" name="Text 3"/>
          <p:cNvSpPr/>
          <p:nvPr/>
        </p:nvSpPr>
        <p:spPr>
          <a:xfrm>
            <a:off x="822960" y="184708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6" name="Text 4"/>
          <p:cNvSpPr/>
          <p:nvPr/>
        </p:nvSpPr>
        <p:spPr>
          <a:xfrm>
            <a:off x="1517904" y="1819656"/>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Prune the trees: if Gain - γ (3 by default) &lt; 0, we prune</a:t>
            </a:r>
            <a:endParaRPr lang="en-US" sz="1600" dirty="0"/>
          </a:p>
        </p:txBody>
      </p:sp>
      <p:sp>
        <p:nvSpPr>
          <p:cNvPr id="7" name="Shape 5"/>
          <p:cNvSpPr/>
          <p:nvPr/>
        </p:nvSpPr>
        <p:spPr>
          <a:xfrm>
            <a:off x="566928" y="2770632"/>
            <a:ext cx="11073384" cy="1371600"/>
          </a:xfrm>
          <a:prstGeom prst="roundRect">
            <a:avLst>
              <a:gd name="adj" fmla="val 6667"/>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8" name="Shape 6"/>
          <p:cNvSpPr/>
          <p:nvPr/>
        </p:nvSpPr>
        <p:spPr>
          <a:xfrm>
            <a:off x="822960" y="2926080"/>
            <a:ext cx="512064" cy="512064"/>
          </a:xfrm>
          <a:prstGeom prst="ellipse">
            <a:avLst/>
          </a:prstGeom>
          <a:solidFill>
            <a:srgbClr val="E8A33D"/>
          </a:solidFill>
          <a:ln w="12700">
            <a:solidFill>
              <a:srgbClr val="E8A33D"/>
            </a:solidFill>
            <a:prstDash val="solid"/>
          </a:ln>
        </p:spPr>
        <p:txBody>
          <a:bodyPr/>
          <a:lstStyle/>
          <a:p>
            <a:endParaRPr lang="en-US"/>
          </a:p>
        </p:txBody>
      </p:sp>
      <p:sp>
        <p:nvSpPr>
          <p:cNvPr id="9" name="Text 7"/>
          <p:cNvSpPr/>
          <p:nvPr/>
        </p:nvSpPr>
        <p:spPr>
          <a:xfrm>
            <a:off x="822960" y="2926080"/>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10" name="Text 8"/>
          <p:cNvSpPr/>
          <p:nvPr/>
        </p:nvSpPr>
        <p:spPr>
          <a:xfrm>
            <a:off x="1517904" y="2898648"/>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Calculate Output =</a:t>
            </a:r>
            <a:endParaRPr lang="en-US" sz="1600" dirty="0"/>
          </a:p>
        </p:txBody>
      </p:sp>
      <p:sp>
        <p:nvSpPr>
          <p:cNvPr id="11" name="Shape 9"/>
          <p:cNvSpPr/>
          <p:nvPr/>
        </p:nvSpPr>
        <p:spPr>
          <a:xfrm>
            <a:off x="1517904" y="3465576"/>
            <a:ext cx="9784080" cy="566928"/>
          </a:xfrm>
          <a:prstGeom prst="roundRect">
            <a:avLst>
              <a:gd name="adj" fmla="val 9677"/>
            </a:avLst>
          </a:prstGeom>
          <a:solidFill>
            <a:srgbClr val="FDF2E0"/>
          </a:solidFill>
          <a:ln w="12700">
            <a:solidFill>
              <a:srgbClr val="F3DFBB"/>
            </a:solidFill>
            <a:prstDash val="solid"/>
          </a:ln>
        </p:spPr>
        <p:txBody>
          <a:bodyPr/>
          <a:lstStyle/>
          <a:p>
            <a:endParaRPr lang="en-US"/>
          </a:p>
        </p:txBody>
      </p:sp>
      <p:sp>
        <p:nvSpPr>
          <p:cNvPr id="12" name="Text 10"/>
          <p:cNvSpPr/>
          <p:nvPr/>
        </p:nvSpPr>
        <p:spPr>
          <a:xfrm>
            <a:off x="1700784" y="3465576"/>
            <a:ext cx="9418320" cy="566928"/>
          </a:xfrm>
          <a:prstGeom prst="rect">
            <a:avLst/>
          </a:prstGeom>
          <a:noFill/>
          <a:ln/>
        </p:spPr>
        <p:txBody>
          <a:bodyPr wrap="square" lIns="0" tIns="0" rIns="0" bIns="0" rtlCol="0" anchor="ctr"/>
          <a:lstStyle/>
          <a:p>
            <a:pPr marL="0" indent="0">
              <a:buNone/>
            </a:pPr>
            <a:r>
              <a:rPr lang="en-US" sz="1400" i="1" dirty="0">
                <a:solidFill>
                  <a:srgbClr val="14332B"/>
                </a:solidFill>
                <a:latin typeface="Cambria" pitchFamily="34" charset="0"/>
                <a:ea typeface="Cambria" pitchFamily="34" charset="-122"/>
                <a:cs typeface="Cambria" pitchFamily="34" charset="-120"/>
              </a:rPr>
              <a:t>Σ Residuals / (Number of Residuals + λ)</a:t>
            </a:r>
            <a:endParaRPr lang="en-US" sz="1400" dirty="0"/>
          </a:p>
        </p:txBody>
      </p:sp>
      <p:sp>
        <p:nvSpPr>
          <p:cNvPr id="13" name="Shape 11"/>
          <p:cNvSpPr/>
          <p:nvPr/>
        </p:nvSpPr>
        <p:spPr>
          <a:xfrm>
            <a:off x="566928" y="4398264"/>
            <a:ext cx="11073384" cy="822960"/>
          </a:xfrm>
          <a:prstGeom prst="roundRect">
            <a:avLst>
              <a:gd name="adj" fmla="val 11111"/>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4" name="Shape 12"/>
          <p:cNvSpPr/>
          <p:nvPr/>
        </p:nvSpPr>
        <p:spPr>
          <a:xfrm>
            <a:off x="822960" y="4553712"/>
            <a:ext cx="512064" cy="512064"/>
          </a:xfrm>
          <a:prstGeom prst="ellipse">
            <a:avLst/>
          </a:prstGeom>
          <a:solidFill>
            <a:srgbClr val="E8A33D"/>
          </a:solidFill>
          <a:ln w="12700">
            <a:solidFill>
              <a:srgbClr val="E8A33D"/>
            </a:solidFill>
            <a:prstDash val="solid"/>
          </a:ln>
        </p:spPr>
        <p:txBody>
          <a:bodyPr/>
          <a:lstStyle/>
          <a:p>
            <a:endParaRPr lang="en-US"/>
          </a:p>
        </p:txBody>
      </p:sp>
      <p:sp>
        <p:nvSpPr>
          <p:cNvPr id="15" name="Text 13"/>
          <p:cNvSpPr/>
          <p:nvPr/>
        </p:nvSpPr>
        <p:spPr>
          <a:xfrm>
            <a:off x="822960" y="4553712"/>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16" name="Text 14"/>
          <p:cNvSpPr/>
          <p:nvPr/>
        </p:nvSpPr>
        <p:spPr>
          <a:xfrm>
            <a:off x="1517904" y="4526280"/>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Find Predicted values = Default (0.5 by default) + Learning rate × Output</a:t>
            </a:r>
            <a:endParaRPr lang="en-US" sz="1600" dirty="0"/>
          </a:p>
        </p:txBody>
      </p:sp>
      <p:sp>
        <p:nvSpPr>
          <p:cNvPr id="17" name="Shape 15"/>
          <p:cNvSpPr/>
          <p:nvPr/>
        </p:nvSpPr>
        <p:spPr>
          <a:xfrm>
            <a:off x="566928" y="5477256"/>
            <a:ext cx="11073384" cy="822960"/>
          </a:xfrm>
          <a:prstGeom prst="roundRect">
            <a:avLst>
              <a:gd name="adj" fmla="val 11111"/>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8" name="Shape 16"/>
          <p:cNvSpPr/>
          <p:nvPr/>
        </p:nvSpPr>
        <p:spPr>
          <a:xfrm>
            <a:off x="822960" y="5632704"/>
            <a:ext cx="512064" cy="512064"/>
          </a:xfrm>
          <a:prstGeom prst="ellipse">
            <a:avLst/>
          </a:prstGeom>
          <a:solidFill>
            <a:srgbClr val="E8A33D"/>
          </a:solidFill>
          <a:ln w="12700">
            <a:solidFill>
              <a:srgbClr val="E8A33D"/>
            </a:solidFill>
            <a:prstDash val="solid"/>
          </a:ln>
        </p:spPr>
        <p:txBody>
          <a:bodyPr/>
          <a:lstStyle/>
          <a:p>
            <a:endParaRPr lang="en-US"/>
          </a:p>
        </p:txBody>
      </p:sp>
      <p:sp>
        <p:nvSpPr>
          <p:cNvPr id="19" name="Text 17"/>
          <p:cNvSpPr/>
          <p:nvPr/>
        </p:nvSpPr>
        <p:spPr>
          <a:xfrm>
            <a:off x="822960" y="5632704"/>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20" name="Text 18"/>
          <p:cNvSpPr/>
          <p:nvPr/>
        </p:nvSpPr>
        <p:spPr>
          <a:xfrm>
            <a:off x="1517904" y="5605272"/>
            <a:ext cx="9784080" cy="548640"/>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Go to step 1: calculate new residuals from the new predicted values</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lgn="l">
              <a:buNone/>
            </a:pPr>
            <a:r>
              <a:rPr lang="en-US" sz="3200" b="1" dirty="0">
                <a:solidFill>
                  <a:srgbClr val="14332B"/>
                </a:solidFill>
                <a:latin typeface="Cambria" pitchFamily="34" charset="0"/>
                <a:ea typeface="Cambria" pitchFamily="34" charset="-122"/>
                <a:cs typeface="Cambria" pitchFamily="34" charset="-120"/>
              </a:rPr>
              <a:t>Advantages</a:t>
            </a:r>
            <a:endParaRPr lang="en-US" sz="3200" dirty="0"/>
          </a:p>
        </p:txBody>
      </p:sp>
      <p:sp>
        <p:nvSpPr>
          <p:cNvPr id="3" name="Text 1"/>
          <p:cNvSpPr/>
          <p:nvPr/>
        </p:nvSpPr>
        <p:spPr>
          <a:xfrm>
            <a:off x="566928" y="1042416"/>
            <a:ext cx="11064240" cy="310896"/>
          </a:xfrm>
          <a:prstGeom prst="rect">
            <a:avLst/>
          </a:prstGeom>
          <a:noFill/>
          <a:ln/>
        </p:spPr>
        <p:txBody>
          <a:bodyPr wrap="square" lIns="0" tIns="0" rIns="0" bIns="0" rtlCol="0" anchor="ctr"/>
          <a:lstStyle/>
          <a:p>
            <a:pPr marL="0" indent="0">
              <a:buNone/>
            </a:pPr>
            <a:r>
              <a:rPr lang="en-US" sz="1400" i="1" dirty="0">
                <a:solidFill>
                  <a:srgbClr val="5F6F69"/>
                </a:solidFill>
                <a:latin typeface="Calibri" pitchFamily="34" charset="0"/>
                <a:ea typeface="Calibri" pitchFamily="34" charset="-122"/>
                <a:cs typeface="Calibri" pitchFamily="34" charset="-120"/>
              </a:rPr>
              <a:t>XGBoost includes several features and characteristics that make it useful in many scenarios:</a:t>
            </a:r>
            <a:endParaRPr lang="en-US" sz="1400" dirty="0"/>
          </a:p>
        </p:txBody>
      </p:sp>
      <p:sp>
        <p:nvSpPr>
          <p:cNvPr id="4" name="Shape 2"/>
          <p:cNvSpPr/>
          <p:nvPr/>
        </p:nvSpPr>
        <p:spPr>
          <a:xfrm>
            <a:off x="566928" y="1627632"/>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5" name="Shape 3"/>
          <p:cNvSpPr/>
          <p:nvPr/>
        </p:nvSpPr>
        <p:spPr>
          <a:xfrm>
            <a:off x="841248" y="1746504"/>
            <a:ext cx="548640" cy="548640"/>
          </a:xfrm>
          <a:prstGeom prst="ellipse">
            <a:avLst/>
          </a:prstGeom>
          <a:solidFill>
            <a:srgbClr val="1F6F5C"/>
          </a:solidFill>
          <a:ln w="12700">
            <a:solidFill>
              <a:srgbClr val="1F6F5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83894" y="1889150"/>
            <a:ext cx="263347" cy="263347"/>
          </a:xfrm>
          <a:prstGeom prst="rect">
            <a:avLst/>
          </a:prstGeom>
        </p:spPr>
      </p:pic>
      <p:sp>
        <p:nvSpPr>
          <p:cNvPr id="7" name="Text 4"/>
          <p:cNvSpPr/>
          <p:nvPr/>
        </p:nvSpPr>
        <p:spPr>
          <a:xfrm>
            <a:off x="1627632" y="1673352"/>
            <a:ext cx="9692640" cy="694944"/>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Scalable for large datasets with millions of records.</a:t>
            </a:r>
            <a:endParaRPr lang="en-US" sz="1600" dirty="0"/>
          </a:p>
        </p:txBody>
      </p:sp>
      <p:sp>
        <p:nvSpPr>
          <p:cNvPr id="8" name="Shape 5"/>
          <p:cNvSpPr/>
          <p:nvPr/>
        </p:nvSpPr>
        <p:spPr>
          <a:xfrm>
            <a:off x="566928" y="2560320"/>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9" name="Shape 6"/>
          <p:cNvSpPr/>
          <p:nvPr/>
        </p:nvSpPr>
        <p:spPr>
          <a:xfrm>
            <a:off x="841248" y="2679192"/>
            <a:ext cx="548640" cy="548640"/>
          </a:xfrm>
          <a:prstGeom prst="ellipse">
            <a:avLst/>
          </a:prstGeom>
          <a:solidFill>
            <a:srgbClr val="1F6F5C"/>
          </a:solidFill>
          <a:ln w="12700">
            <a:solidFill>
              <a:srgbClr val="1F6F5C"/>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83894" y="2821838"/>
            <a:ext cx="263347" cy="263347"/>
          </a:xfrm>
          <a:prstGeom prst="rect">
            <a:avLst/>
          </a:prstGeom>
        </p:spPr>
      </p:pic>
      <p:sp>
        <p:nvSpPr>
          <p:cNvPr id="11" name="Text 7"/>
          <p:cNvSpPr/>
          <p:nvPr/>
        </p:nvSpPr>
        <p:spPr>
          <a:xfrm>
            <a:off x="1627632" y="2606040"/>
            <a:ext cx="9692640" cy="694944"/>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Supports parallel processing and GPU acceleration.</a:t>
            </a:r>
            <a:endParaRPr lang="en-US" sz="1600" dirty="0"/>
          </a:p>
        </p:txBody>
      </p:sp>
      <p:sp>
        <p:nvSpPr>
          <p:cNvPr id="12" name="Shape 8"/>
          <p:cNvSpPr/>
          <p:nvPr/>
        </p:nvSpPr>
        <p:spPr>
          <a:xfrm>
            <a:off x="566928" y="3493008"/>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3" name="Shape 9"/>
          <p:cNvSpPr/>
          <p:nvPr/>
        </p:nvSpPr>
        <p:spPr>
          <a:xfrm>
            <a:off x="841248" y="3611880"/>
            <a:ext cx="548640" cy="548640"/>
          </a:xfrm>
          <a:prstGeom prst="ellipse">
            <a:avLst/>
          </a:prstGeom>
          <a:solidFill>
            <a:srgbClr val="1F6F5C"/>
          </a:solidFill>
          <a:ln w="12700">
            <a:solidFill>
              <a:srgbClr val="1F6F5C"/>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983894" y="3754526"/>
            <a:ext cx="263347" cy="263347"/>
          </a:xfrm>
          <a:prstGeom prst="rect">
            <a:avLst/>
          </a:prstGeom>
        </p:spPr>
      </p:pic>
      <p:sp>
        <p:nvSpPr>
          <p:cNvPr id="15" name="Text 10"/>
          <p:cNvSpPr/>
          <p:nvPr/>
        </p:nvSpPr>
        <p:spPr>
          <a:xfrm>
            <a:off x="1627632" y="3538728"/>
            <a:ext cx="9692640" cy="694944"/>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Offers customizable parameters and regularization for fine-tuning.</a:t>
            </a:r>
            <a:endParaRPr lang="en-US" sz="1600" dirty="0"/>
          </a:p>
        </p:txBody>
      </p:sp>
      <p:sp>
        <p:nvSpPr>
          <p:cNvPr id="16" name="Shape 11"/>
          <p:cNvSpPr/>
          <p:nvPr/>
        </p:nvSpPr>
        <p:spPr>
          <a:xfrm>
            <a:off x="566928" y="4425696"/>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17" name="Shape 12"/>
          <p:cNvSpPr/>
          <p:nvPr/>
        </p:nvSpPr>
        <p:spPr>
          <a:xfrm>
            <a:off x="841248" y="4544568"/>
            <a:ext cx="548640" cy="548640"/>
          </a:xfrm>
          <a:prstGeom prst="ellipse">
            <a:avLst/>
          </a:prstGeom>
          <a:solidFill>
            <a:srgbClr val="1F6F5C"/>
          </a:solidFill>
          <a:ln w="12700">
            <a:solidFill>
              <a:srgbClr val="1F6F5C"/>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983894" y="4687214"/>
            <a:ext cx="263347" cy="263347"/>
          </a:xfrm>
          <a:prstGeom prst="rect">
            <a:avLst/>
          </a:prstGeom>
        </p:spPr>
      </p:pic>
      <p:sp>
        <p:nvSpPr>
          <p:cNvPr id="19" name="Text 13"/>
          <p:cNvSpPr/>
          <p:nvPr/>
        </p:nvSpPr>
        <p:spPr>
          <a:xfrm>
            <a:off x="1627632" y="4471416"/>
            <a:ext cx="9692640" cy="694944"/>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Includes feature importance analysis for better insights.</a:t>
            </a:r>
            <a:endParaRPr lang="en-US" sz="1600" dirty="0"/>
          </a:p>
        </p:txBody>
      </p:sp>
      <p:sp>
        <p:nvSpPr>
          <p:cNvPr id="20" name="Shape 14"/>
          <p:cNvSpPr/>
          <p:nvPr/>
        </p:nvSpPr>
        <p:spPr>
          <a:xfrm>
            <a:off x="566928" y="5358384"/>
            <a:ext cx="11073384" cy="786384"/>
          </a:xfrm>
          <a:prstGeom prst="roundRect">
            <a:avLst>
              <a:gd name="adj" fmla="val 11628"/>
            </a:avLst>
          </a:prstGeom>
          <a:solidFill>
            <a:srgbClr val="FFFFFF"/>
          </a:solidFill>
          <a:ln w="12700">
            <a:solidFill>
              <a:srgbClr val="D3E6DD"/>
            </a:solidFill>
            <a:prstDash val="solid"/>
          </a:ln>
          <a:effectLst>
            <a:outerShdw blurRad="101600" dist="25400" dir="5400000" algn="bl" rotWithShape="0">
              <a:srgbClr val="9FB5AC">
                <a:alpha val="22000"/>
              </a:srgbClr>
            </a:outerShdw>
          </a:effectLst>
        </p:spPr>
        <p:txBody>
          <a:bodyPr/>
          <a:lstStyle/>
          <a:p>
            <a:endParaRPr lang="en-US"/>
          </a:p>
        </p:txBody>
      </p:sp>
      <p:sp>
        <p:nvSpPr>
          <p:cNvPr id="21" name="Shape 15"/>
          <p:cNvSpPr/>
          <p:nvPr/>
        </p:nvSpPr>
        <p:spPr>
          <a:xfrm>
            <a:off x="841248" y="5477256"/>
            <a:ext cx="548640" cy="548640"/>
          </a:xfrm>
          <a:prstGeom prst="ellipse">
            <a:avLst/>
          </a:prstGeom>
          <a:solidFill>
            <a:srgbClr val="1F6F5C"/>
          </a:solidFill>
          <a:ln w="12700">
            <a:solidFill>
              <a:srgbClr val="1F6F5C"/>
            </a:solidFill>
            <a:prstDash val="solid"/>
          </a:ln>
        </p:spPr>
        <p:txBody>
          <a:bodyPr/>
          <a:lstStyle/>
          <a:p>
            <a:endParaRPr lang="en-US"/>
          </a:p>
        </p:txBody>
      </p:sp>
      <p:pic>
        <p:nvPicPr>
          <p:cNvPr id="22" name="Image 4" descr="preencoded.png"/>
          <p:cNvPicPr>
            <a:picLocks noChangeAspect="1"/>
          </p:cNvPicPr>
          <p:nvPr/>
        </p:nvPicPr>
        <p:blipFill>
          <a:blip r:embed="rId7"/>
          <a:stretch>
            <a:fillRect/>
          </a:stretch>
        </p:blipFill>
        <p:spPr>
          <a:xfrm>
            <a:off x="983894" y="5619902"/>
            <a:ext cx="263347" cy="263347"/>
          </a:xfrm>
          <a:prstGeom prst="rect">
            <a:avLst/>
          </a:prstGeom>
        </p:spPr>
      </p:pic>
      <p:sp>
        <p:nvSpPr>
          <p:cNvPr id="23" name="Text 16"/>
          <p:cNvSpPr/>
          <p:nvPr/>
        </p:nvSpPr>
        <p:spPr>
          <a:xfrm>
            <a:off x="1627632" y="5404104"/>
            <a:ext cx="9692640" cy="694944"/>
          </a:xfrm>
          <a:prstGeom prst="rect">
            <a:avLst/>
          </a:prstGeom>
          <a:noFill/>
          <a:ln/>
        </p:spPr>
        <p:txBody>
          <a:bodyPr wrap="square" lIns="0" tIns="0" rIns="0" bIns="0" rtlCol="0" anchor="ctr"/>
          <a:lstStyle/>
          <a:p>
            <a:pPr marL="0" indent="0">
              <a:buNone/>
            </a:pPr>
            <a:r>
              <a:rPr lang="en-US" sz="1600" dirty="0">
                <a:solidFill>
                  <a:srgbClr val="16211D"/>
                </a:solidFill>
                <a:latin typeface="Calibri" pitchFamily="34" charset="0"/>
                <a:ea typeface="Calibri" pitchFamily="34" charset="-122"/>
                <a:cs typeface="Calibri" pitchFamily="34" charset="-120"/>
              </a:rPr>
              <a:t>Available across multiple programming languages and widely used by data scientists.</a:t>
            </a: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84048"/>
            <a:ext cx="11064240" cy="65836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Disadvantages</a:t>
            </a:r>
            <a:endParaRPr lang="en-US" sz="3200" dirty="0"/>
          </a:p>
        </p:txBody>
      </p:sp>
      <p:sp>
        <p:nvSpPr>
          <p:cNvPr id="3" name="Text 1"/>
          <p:cNvSpPr/>
          <p:nvPr/>
        </p:nvSpPr>
        <p:spPr>
          <a:xfrm>
            <a:off x="566928" y="1042416"/>
            <a:ext cx="11064240" cy="310896"/>
          </a:xfrm>
          <a:prstGeom prst="rect">
            <a:avLst/>
          </a:prstGeom>
          <a:noFill/>
          <a:ln/>
        </p:spPr>
        <p:txBody>
          <a:bodyPr wrap="square" lIns="0" tIns="0" rIns="0" bIns="0" rtlCol="0" anchor="ctr"/>
          <a:lstStyle/>
          <a:p>
            <a:pPr marL="0" indent="0">
              <a:buNone/>
            </a:pPr>
            <a:r>
              <a:rPr lang="en-US" sz="2400" i="1" dirty="0">
                <a:solidFill>
                  <a:srgbClr val="FF0000"/>
                </a:solidFill>
                <a:latin typeface="Calibri" pitchFamily="34" charset="0"/>
                <a:ea typeface="Calibri" pitchFamily="34" charset="-122"/>
                <a:cs typeface="Calibri" pitchFamily="34" charset="-120"/>
              </a:rPr>
              <a:t>XGBoost also has certain aspects that require caution or consideration:</a:t>
            </a:r>
            <a:endParaRPr lang="en-US" sz="2400" dirty="0">
              <a:solidFill>
                <a:srgbClr val="FF0000"/>
              </a:solidFill>
            </a:endParaRPr>
          </a:p>
        </p:txBody>
      </p:sp>
      <p:sp>
        <p:nvSpPr>
          <p:cNvPr id="4" name="Shape 2"/>
          <p:cNvSpPr/>
          <p:nvPr/>
        </p:nvSpPr>
        <p:spPr>
          <a:xfrm>
            <a:off x="566928" y="1524000"/>
            <a:ext cx="11073384" cy="863600"/>
          </a:xfrm>
          <a:prstGeom prst="roundRect">
            <a:avLst>
              <a:gd name="adj" fmla="val 7547"/>
            </a:avLst>
          </a:prstGeom>
          <a:solidFill>
            <a:srgbClr val="1D4438"/>
          </a:solidFill>
          <a:ln w="12700">
            <a:solidFill>
              <a:srgbClr val="2C5A4A"/>
            </a:solidFill>
            <a:prstDash val="solid"/>
          </a:ln>
        </p:spPr>
        <p:txBody>
          <a:bodyPr/>
          <a:lstStyle/>
          <a:p>
            <a:endParaRPr lang="en-US"/>
          </a:p>
        </p:txBody>
      </p:sp>
      <p:sp>
        <p:nvSpPr>
          <p:cNvPr id="5" name="Shape 3"/>
          <p:cNvSpPr/>
          <p:nvPr/>
        </p:nvSpPr>
        <p:spPr>
          <a:xfrm>
            <a:off x="868680" y="1663192"/>
            <a:ext cx="585216" cy="585216"/>
          </a:xfrm>
          <a:prstGeom prst="ellipse">
            <a:avLst/>
          </a:prstGeom>
          <a:solidFill>
            <a:srgbClr val="B3462F"/>
          </a:solidFill>
          <a:ln w="12700">
            <a:solidFill>
              <a:srgbClr val="B3462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20836" y="1816100"/>
            <a:ext cx="280904" cy="280904"/>
          </a:xfrm>
          <a:prstGeom prst="rect">
            <a:avLst/>
          </a:prstGeom>
        </p:spPr>
      </p:pic>
      <p:sp>
        <p:nvSpPr>
          <p:cNvPr id="7" name="Text 4"/>
          <p:cNvSpPr/>
          <p:nvPr/>
        </p:nvSpPr>
        <p:spPr>
          <a:xfrm>
            <a:off x="1691640" y="1562100"/>
            <a:ext cx="9646920" cy="786384"/>
          </a:xfrm>
          <a:prstGeom prst="rect">
            <a:avLst/>
          </a:prstGeom>
          <a:noFill/>
          <a:ln/>
        </p:spPr>
        <p:txBody>
          <a:bodyPr wrap="square" lIns="0" tIns="0" rIns="0" bIns="0" rtlCol="0" anchor="ctr"/>
          <a:lstStyle/>
          <a:p>
            <a:pPr marL="0" indent="0">
              <a:buNone/>
            </a:pPr>
            <a:r>
              <a:rPr lang="en-US" sz="1600" dirty="0">
                <a:solidFill>
                  <a:srgbClr val="E6F1EB"/>
                </a:solidFill>
                <a:latin typeface="Calibri" pitchFamily="34" charset="0"/>
                <a:ea typeface="Calibri" pitchFamily="34" charset="-122"/>
                <a:cs typeface="Calibri" pitchFamily="34" charset="-120"/>
              </a:rPr>
              <a:t>Computationally intensive; may not be suitable for resource-limited systems.</a:t>
            </a:r>
            <a:endParaRPr lang="en-US" sz="1600" dirty="0"/>
          </a:p>
        </p:txBody>
      </p:sp>
      <p:sp>
        <p:nvSpPr>
          <p:cNvPr id="8" name="Shape 5"/>
          <p:cNvSpPr/>
          <p:nvPr/>
        </p:nvSpPr>
        <p:spPr>
          <a:xfrm>
            <a:off x="566928" y="2540000"/>
            <a:ext cx="11073384" cy="863600"/>
          </a:xfrm>
          <a:prstGeom prst="roundRect">
            <a:avLst>
              <a:gd name="adj" fmla="val 7547"/>
            </a:avLst>
          </a:prstGeom>
          <a:solidFill>
            <a:srgbClr val="1D4438"/>
          </a:solidFill>
          <a:ln w="12700">
            <a:solidFill>
              <a:srgbClr val="2C5A4A"/>
            </a:solidFill>
            <a:prstDash val="solid"/>
          </a:ln>
        </p:spPr>
        <p:txBody>
          <a:bodyPr/>
          <a:lstStyle/>
          <a:p>
            <a:endParaRPr lang="en-US"/>
          </a:p>
        </p:txBody>
      </p:sp>
      <p:sp>
        <p:nvSpPr>
          <p:cNvPr id="9" name="Shape 6"/>
          <p:cNvSpPr/>
          <p:nvPr/>
        </p:nvSpPr>
        <p:spPr>
          <a:xfrm>
            <a:off x="868680" y="2679192"/>
            <a:ext cx="585216" cy="585216"/>
          </a:xfrm>
          <a:prstGeom prst="ellipse">
            <a:avLst/>
          </a:prstGeom>
          <a:solidFill>
            <a:srgbClr val="B3462F"/>
          </a:solidFill>
          <a:ln w="12700">
            <a:solidFill>
              <a:srgbClr val="B3462F"/>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1020836" y="2832100"/>
            <a:ext cx="280904" cy="280904"/>
          </a:xfrm>
          <a:prstGeom prst="rect">
            <a:avLst/>
          </a:prstGeom>
        </p:spPr>
      </p:pic>
      <p:sp>
        <p:nvSpPr>
          <p:cNvPr id="11" name="Text 7"/>
          <p:cNvSpPr/>
          <p:nvPr/>
        </p:nvSpPr>
        <p:spPr>
          <a:xfrm>
            <a:off x="1691640" y="2578100"/>
            <a:ext cx="9646920" cy="786384"/>
          </a:xfrm>
          <a:prstGeom prst="rect">
            <a:avLst/>
          </a:prstGeom>
          <a:noFill/>
          <a:ln/>
        </p:spPr>
        <p:txBody>
          <a:bodyPr wrap="square" lIns="0" tIns="0" rIns="0" bIns="0" rtlCol="0" anchor="ctr"/>
          <a:lstStyle/>
          <a:p>
            <a:pPr marL="0" indent="0">
              <a:buNone/>
            </a:pPr>
            <a:r>
              <a:rPr lang="en-US" sz="1600" dirty="0">
                <a:solidFill>
                  <a:srgbClr val="E6F1EB"/>
                </a:solidFill>
                <a:latin typeface="Calibri" pitchFamily="34" charset="0"/>
                <a:ea typeface="Calibri" pitchFamily="34" charset="-122"/>
                <a:cs typeface="Calibri" pitchFamily="34" charset="-120"/>
              </a:rPr>
              <a:t>Sensitive to noise and outliers; careful preprocessing required.</a:t>
            </a:r>
            <a:endParaRPr lang="en-US" sz="1600" dirty="0"/>
          </a:p>
        </p:txBody>
      </p:sp>
      <p:sp>
        <p:nvSpPr>
          <p:cNvPr id="12" name="Shape 8"/>
          <p:cNvSpPr/>
          <p:nvPr/>
        </p:nvSpPr>
        <p:spPr>
          <a:xfrm>
            <a:off x="566928" y="3556000"/>
            <a:ext cx="11073384" cy="863600"/>
          </a:xfrm>
          <a:prstGeom prst="roundRect">
            <a:avLst>
              <a:gd name="adj" fmla="val 7547"/>
            </a:avLst>
          </a:prstGeom>
          <a:solidFill>
            <a:srgbClr val="1D4438"/>
          </a:solidFill>
          <a:ln w="12700">
            <a:solidFill>
              <a:srgbClr val="2C5A4A"/>
            </a:solidFill>
            <a:prstDash val="solid"/>
          </a:ln>
        </p:spPr>
        <p:txBody>
          <a:bodyPr/>
          <a:lstStyle/>
          <a:p>
            <a:endParaRPr lang="en-US"/>
          </a:p>
        </p:txBody>
      </p:sp>
      <p:sp>
        <p:nvSpPr>
          <p:cNvPr id="13" name="Shape 9"/>
          <p:cNvSpPr/>
          <p:nvPr/>
        </p:nvSpPr>
        <p:spPr>
          <a:xfrm>
            <a:off x="868680" y="3695192"/>
            <a:ext cx="585216" cy="585216"/>
          </a:xfrm>
          <a:prstGeom prst="ellipse">
            <a:avLst/>
          </a:prstGeom>
          <a:solidFill>
            <a:srgbClr val="B3462F"/>
          </a:solidFill>
          <a:ln w="12700">
            <a:solidFill>
              <a:srgbClr val="B3462F"/>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1020836" y="3848100"/>
            <a:ext cx="280904" cy="280904"/>
          </a:xfrm>
          <a:prstGeom prst="rect">
            <a:avLst/>
          </a:prstGeom>
        </p:spPr>
      </p:pic>
      <p:sp>
        <p:nvSpPr>
          <p:cNvPr id="15" name="Text 10"/>
          <p:cNvSpPr/>
          <p:nvPr/>
        </p:nvSpPr>
        <p:spPr>
          <a:xfrm>
            <a:off x="1691640" y="3594100"/>
            <a:ext cx="9646920" cy="786384"/>
          </a:xfrm>
          <a:prstGeom prst="rect">
            <a:avLst/>
          </a:prstGeom>
          <a:noFill/>
          <a:ln/>
        </p:spPr>
        <p:txBody>
          <a:bodyPr wrap="square" lIns="0" tIns="0" rIns="0" bIns="0" rtlCol="0" anchor="ctr"/>
          <a:lstStyle/>
          <a:p>
            <a:pPr marL="0" indent="0">
              <a:buNone/>
            </a:pPr>
            <a:r>
              <a:rPr lang="en-US" sz="1600" dirty="0">
                <a:solidFill>
                  <a:srgbClr val="E6F1EB"/>
                </a:solidFill>
                <a:latin typeface="Calibri" pitchFamily="34" charset="0"/>
                <a:ea typeface="Calibri" pitchFamily="34" charset="-122"/>
                <a:cs typeface="Calibri" pitchFamily="34" charset="-120"/>
              </a:rPr>
              <a:t>Can overfit, especially on small datasets or with too many trees.</a:t>
            </a:r>
            <a:endParaRPr lang="en-US" sz="1600" dirty="0"/>
          </a:p>
        </p:txBody>
      </p:sp>
      <p:sp>
        <p:nvSpPr>
          <p:cNvPr id="16" name="Shape 11"/>
          <p:cNvSpPr/>
          <p:nvPr/>
        </p:nvSpPr>
        <p:spPr>
          <a:xfrm>
            <a:off x="566928" y="4572000"/>
            <a:ext cx="11073384" cy="863600"/>
          </a:xfrm>
          <a:prstGeom prst="roundRect">
            <a:avLst>
              <a:gd name="adj" fmla="val 7547"/>
            </a:avLst>
          </a:prstGeom>
          <a:solidFill>
            <a:srgbClr val="1D4438"/>
          </a:solidFill>
          <a:ln w="12700">
            <a:solidFill>
              <a:srgbClr val="2C5A4A"/>
            </a:solidFill>
            <a:prstDash val="solid"/>
          </a:ln>
        </p:spPr>
        <p:txBody>
          <a:bodyPr/>
          <a:lstStyle/>
          <a:p>
            <a:endParaRPr lang="en-US"/>
          </a:p>
        </p:txBody>
      </p:sp>
      <p:sp>
        <p:nvSpPr>
          <p:cNvPr id="17" name="Shape 12"/>
          <p:cNvSpPr/>
          <p:nvPr/>
        </p:nvSpPr>
        <p:spPr>
          <a:xfrm>
            <a:off x="868680" y="4711192"/>
            <a:ext cx="585216" cy="585216"/>
          </a:xfrm>
          <a:prstGeom prst="ellipse">
            <a:avLst/>
          </a:prstGeom>
          <a:solidFill>
            <a:srgbClr val="B3462F"/>
          </a:solidFill>
          <a:ln w="12700">
            <a:solidFill>
              <a:srgbClr val="B3462F"/>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1020836" y="4864100"/>
            <a:ext cx="280904" cy="280904"/>
          </a:xfrm>
          <a:prstGeom prst="rect">
            <a:avLst/>
          </a:prstGeom>
        </p:spPr>
      </p:pic>
      <p:sp>
        <p:nvSpPr>
          <p:cNvPr id="19" name="Text 13"/>
          <p:cNvSpPr/>
          <p:nvPr/>
        </p:nvSpPr>
        <p:spPr>
          <a:xfrm>
            <a:off x="1691640" y="4610100"/>
            <a:ext cx="9646920" cy="786384"/>
          </a:xfrm>
          <a:prstGeom prst="rect">
            <a:avLst/>
          </a:prstGeom>
          <a:noFill/>
          <a:ln/>
        </p:spPr>
        <p:txBody>
          <a:bodyPr wrap="square" lIns="0" tIns="0" rIns="0" bIns="0" rtlCol="0" anchor="ctr"/>
          <a:lstStyle/>
          <a:p>
            <a:pPr marL="0" indent="0">
              <a:buNone/>
            </a:pPr>
            <a:r>
              <a:rPr lang="en-US" sz="1600" dirty="0">
                <a:solidFill>
                  <a:srgbClr val="E6F1EB"/>
                </a:solidFill>
                <a:latin typeface="Calibri" pitchFamily="34" charset="0"/>
                <a:ea typeface="Calibri" pitchFamily="34" charset="-122"/>
                <a:cs typeface="Calibri" pitchFamily="34" charset="-120"/>
              </a:rPr>
              <a:t>Limited interpretability compared to simpler models, which can be a concern in fields like healthcare or finance.</a:t>
            </a:r>
            <a:endParaRPr lang="en-US" sz="1600" dirty="0"/>
          </a:p>
        </p:txBody>
      </p:sp>
      <p:sp>
        <p:nvSpPr>
          <p:cNvPr id="20" name="BoxNew 20"/>
          <p:cNvSpPr/>
          <p:nvPr/>
        </p:nvSpPr>
        <p:spPr>
          <a:xfrm>
            <a:off x="566928" y="5588000"/>
            <a:ext cx="11073384" cy="863600"/>
          </a:xfrm>
          <a:prstGeom prst="roundRect">
            <a:avLst>
              <a:gd name="adj" fmla="val 7547"/>
            </a:avLst>
          </a:prstGeom>
          <a:solidFill>
            <a:srgbClr val="1D4438"/>
          </a:solidFill>
          <a:ln w="12700">
            <a:solidFill>
              <a:srgbClr val="2C5A4A"/>
            </a:solidFill>
            <a:prstDash val="solid"/>
          </a:ln>
        </p:spPr>
        <p:txBody>
          <a:bodyPr/>
          <a:lstStyle/>
          <a:p>
            <a:endParaRPr lang="en-US"/>
          </a:p>
        </p:txBody>
      </p:sp>
      <p:sp>
        <p:nvSpPr>
          <p:cNvPr id="21" name="BoxNew 21"/>
          <p:cNvSpPr/>
          <p:nvPr/>
        </p:nvSpPr>
        <p:spPr>
          <a:xfrm>
            <a:off x="868680" y="5727192"/>
            <a:ext cx="585216" cy="585216"/>
          </a:xfrm>
          <a:prstGeom prst="ellipse">
            <a:avLst/>
          </a:prstGeom>
          <a:solidFill>
            <a:srgbClr val="B3462F"/>
          </a:solidFill>
          <a:ln w="12700">
            <a:solidFill>
              <a:srgbClr val="B3462F"/>
            </a:solidFill>
            <a:prstDash val="solid"/>
          </a:ln>
        </p:spPr>
        <p:txBody>
          <a:bodyPr/>
          <a:lstStyle/>
          <a:p>
            <a:endParaRPr lang="en-US"/>
          </a:p>
        </p:txBody>
      </p:sp>
      <p:sp>
        <p:nvSpPr>
          <p:cNvPr id="23" name="BoxNew 23"/>
          <p:cNvSpPr/>
          <p:nvPr/>
        </p:nvSpPr>
        <p:spPr>
          <a:xfrm>
            <a:off x="1691640" y="5626100"/>
            <a:ext cx="9646920" cy="786384"/>
          </a:xfrm>
          <a:prstGeom prst="rect">
            <a:avLst/>
          </a:prstGeom>
          <a:noFill/>
          <a:ln/>
        </p:spPr>
        <p:txBody>
          <a:bodyPr wrap="square" lIns="0" tIns="0" rIns="0" bIns="0" rtlCol="0" anchor="ctr"/>
          <a:lstStyle/>
          <a:p>
            <a:pPr marL="0" indent="0">
              <a:buNone/>
            </a:pPr>
            <a:r>
              <a:rPr lang="en-US" sz="1600" dirty="0">
                <a:solidFill>
                  <a:srgbClr val="E6F1EB"/>
                </a:solidFill>
                <a:latin typeface="Calibri" pitchFamily="34" charset="0"/>
                <a:ea typeface="Calibri" pitchFamily="34" charset="-122"/>
                <a:cs typeface="Calibri" pitchFamily="34" charset="-120"/>
              </a:rPr>
              <a:t>Cannot extrapolate beyond the range of values seen in training — as a tree-based model, forecasts are bounded by observed data and cannot capture trends outside that range.</a:t>
            </a:r>
            <a:endParaRPr lang="en-US" sz="1600" dirty="0"/>
          </a:p>
        </p:txBody>
      </p:sp>
      <p:pic>
        <p:nvPicPr>
          <p:cNvPr id="24" name="Graphic 24" descr="Arrow representing trend extrapolati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6000" y="5880100"/>
            <a:ext cx="279400" cy="279400"/>
          </a:xfrm>
          <a:prstGeom prst="rect">
            <a:avLst/>
          </a:prstGeom>
        </p:spPr>
      </p:pic>
    </p:spTree>
    <p:extLst>
      <p:ext uri="{BB962C8B-B14F-4D97-AF65-F5344CB8AC3E}">
        <p14:creationId xmlns:p14="http://schemas.microsoft.com/office/powerpoint/2010/main" val="29233307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DEDB7-FA82-996A-C8C4-08E1EA90A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82515-8170-6647-76C7-D095456710D9}"/>
              </a:ext>
            </a:extLst>
          </p:cNvPr>
          <p:cNvSpPr>
            <a:spLocks noGrp="1"/>
          </p:cNvSpPr>
          <p:nvPr>
            <p:ph type="title"/>
          </p:nvPr>
        </p:nvSpPr>
        <p:spPr>
          <a:xfrm>
            <a:off x="838200" y="128253"/>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Example Model Overview(s)</a:t>
            </a:r>
          </a:p>
        </p:txBody>
      </p:sp>
      <p:sp>
        <p:nvSpPr>
          <p:cNvPr id="5" name="OB0">
            <a:extLst>
              <a:ext uri="{FF2B5EF4-FFF2-40B4-BE49-F238E27FC236}">
                <a16:creationId xmlns:a16="http://schemas.microsoft.com/office/drawing/2014/main" id="{BD0C6FE0-250F-4244-ED99-CD5ADB2C3493}"/>
              </a:ext>
            </a:extLst>
          </p:cNvPr>
          <p:cNvSpPr/>
          <p:nvPr/>
        </p:nvSpPr>
        <p:spPr>
          <a:xfrm>
            <a:off x="838200" y="1568116"/>
            <a:ext cx="5105400" cy="2006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OH0">
            <a:extLst>
              <a:ext uri="{FF2B5EF4-FFF2-40B4-BE49-F238E27FC236}">
                <a16:creationId xmlns:a16="http://schemas.microsoft.com/office/drawing/2014/main" id="{470588EC-4189-2770-D761-AF45DCD01CD0}"/>
              </a:ext>
            </a:extLst>
          </p:cNvPr>
          <p:cNvSpPr/>
          <p:nvPr/>
        </p:nvSpPr>
        <p:spPr>
          <a:xfrm>
            <a:off x="838200" y="1568116"/>
            <a:ext cx="51054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300" b="1" dirty="0">
                <a:solidFill>
                  <a:srgbClr val="FFFFFF"/>
                </a:solidFill>
                <a:latin typeface="Arial"/>
                <a:cs typeface="Arial"/>
              </a:rPr>
              <a:t>ARIMA</a:t>
            </a:r>
            <a:r>
              <a:rPr lang="en-US" sz="2300" dirty="0">
                <a:solidFill>
                  <a:srgbClr val="E7DEF3"/>
                </a:solidFill>
                <a:latin typeface="Arial"/>
                <a:cs typeface="Arial"/>
              </a:rPr>
              <a:t>  —  Statistical</a:t>
            </a:r>
          </a:p>
        </p:txBody>
      </p:sp>
      <p:sp>
        <p:nvSpPr>
          <p:cNvPr id="9" name="OA0">
            <a:extLst>
              <a:ext uri="{FF2B5EF4-FFF2-40B4-BE49-F238E27FC236}">
                <a16:creationId xmlns:a16="http://schemas.microsoft.com/office/drawing/2014/main" id="{1E25FE66-00D3-965C-FA85-64129947D909}"/>
              </a:ext>
            </a:extLst>
          </p:cNvPr>
          <p:cNvSpPr/>
          <p:nvPr/>
        </p:nvSpPr>
        <p:spPr>
          <a:xfrm>
            <a:off x="838200" y="1568116"/>
            <a:ext cx="51054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OD0">
            <a:extLst>
              <a:ext uri="{FF2B5EF4-FFF2-40B4-BE49-F238E27FC236}">
                <a16:creationId xmlns:a16="http://schemas.microsoft.com/office/drawing/2014/main" id="{985F5E23-C509-0251-36C6-BF5A15031C0D}"/>
              </a:ext>
            </a:extLst>
          </p:cNvPr>
          <p:cNvSpPr txBox="1"/>
          <p:nvPr/>
        </p:nvSpPr>
        <p:spPr>
          <a:xfrm>
            <a:off x="1041400" y="2304716"/>
            <a:ext cx="4699000" cy="1117600"/>
          </a:xfrm>
          <a:prstGeom prst="rect">
            <a:avLst/>
          </a:prstGeom>
          <a:noFill/>
        </p:spPr>
        <p:txBody>
          <a:bodyPr wrap="square" lIns="0" tIns="0" rIns="0" bIns="0" anchor="t">
            <a:normAutofit/>
          </a:bodyPr>
          <a:lstStyle/>
          <a:p>
            <a:pPr algn="l"/>
            <a:r>
              <a:rPr lang="en-US" sz="2200" dirty="0">
                <a:solidFill>
                  <a:srgbClr val="333333"/>
                </a:solidFill>
                <a:latin typeface="Arial"/>
                <a:cs typeface="Arial"/>
              </a:rPr>
              <a:t>Models a series from its own past — autocorrelation, trend (via differencing), and seasonality.</a:t>
            </a:r>
          </a:p>
        </p:txBody>
      </p:sp>
      <p:sp>
        <p:nvSpPr>
          <p:cNvPr id="13" name="OB1">
            <a:extLst>
              <a:ext uri="{FF2B5EF4-FFF2-40B4-BE49-F238E27FC236}">
                <a16:creationId xmlns:a16="http://schemas.microsoft.com/office/drawing/2014/main" id="{A10E3BB3-22D7-9729-A893-6D1FDF5B7BF9}"/>
              </a:ext>
            </a:extLst>
          </p:cNvPr>
          <p:cNvSpPr/>
          <p:nvPr/>
        </p:nvSpPr>
        <p:spPr>
          <a:xfrm>
            <a:off x="6248400" y="1568116"/>
            <a:ext cx="5105400" cy="2006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OH1">
            <a:extLst>
              <a:ext uri="{FF2B5EF4-FFF2-40B4-BE49-F238E27FC236}">
                <a16:creationId xmlns:a16="http://schemas.microsoft.com/office/drawing/2014/main" id="{3EDA366C-1112-3DF8-A59E-5A037285238E}"/>
              </a:ext>
            </a:extLst>
          </p:cNvPr>
          <p:cNvSpPr/>
          <p:nvPr/>
        </p:nvSpPr>
        <p:spPr>
          <a:xfrm>
            <a:off x="6248400" y="1568116"/>
            <a:ext cx="51054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300" b="1" dirty="0">
                <a:solidFill>
                  <a:srgbClr val="FFFFFF"/>
                </a:solidFill>
                <a:latin typeface="Arial"/>
                <a:cs typeface="Arial"/>
              </a:rPr>
              <a:t>GAM</a:t>
            </a:r>
            <a:r>
              <a:rPr lang="en-US" sz="2300" dirty="0">
                <a:solidFill>
                  <a:srgbClr val="E7DEF3"/>
                </a:solidFill>
                <a:latin typeface="Arial"/>
                <a:cs typeface="Arial"/>
              </a:rPr>
              <a:t>  —  Statistical</a:t>
            </a:r>
          </a:p>
        </p:txBody>
      </p:sp>
      <p:sp>
        <p:nvSpPr>
          <p:cNvPr id="17" name="OA1">
            <a:extLst>
              <a:ext uri="{FF2B5EF4-FFF2-40B4-BE49-F238E27FC236}">
                <a16:creationId xmlns:a16="http://schemas.microsoft.com/office/drawing/2014/main" id="{2AA635B8-89C3-D046-0BAF-A1E822526399}"/>
              </a:ext>
            </a:extLst>
          </p:cNvPr>
          <p:cNvSpPr/>
          <p:nvPr/>
        </p:nvSpPr>
        <p:spPr>
          <a:xfrm>
            <a:off x="6248400" y="1568116"/>
            <a:ext cx="51054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OD1">
            <a:extLst>
              <a:ext uri="{FF2B5EF4-FFF2-40B4-BE49-F238E27FC236}">
                <a16:creationId xmlns:a16="http://schemas.microsoft.com/office/drawing/2014/main" id="{8C548A33-1A8E-A0CE-4C29-2538C13226E9}"/>
              </a:ext>
            </a:extLst>
          </p:cNvPr>
          <p:cNvSpPr txBox="1"/>
          <p:nvPr/>
        </p:nvSpPr>
        <p:spPr>
          <a:xfrm>
            <a:off x="6451600" y="2304716"/>
            <a:ext cx="4699000" cy="1117600"/>
          </a:xfrm>
          <a:prstGeom prst="rect">
            <a:avLst/>
          </a:prstGeom>
          <a:noFill/>
        </p:spPr>
        <p:txBody>
          <a:bodyPr wrap="square" lIns="0" tIns="0" rIns="0" bIns="0" anchor="t">
            <a:normAutofit/>
          </a:bodyPr>
          <a:lstStyle/>
          <a:p>
            <a:pPr algn="l"/>
            <a:r>
              <a:rPr lang="en-US" sz="2200" dirty="0">
                <a:solidFill>
                  <a:srgbClr val="333333"/>
                </a:solidFill>
                <a:latin typeface="Arial"/>
                <a:cs typeface="Arial"/>
              </a:rPr>
              <a:t>Flexible regression using smooth spline terms to capture nonlinear trends and seasonality.</a:t>
            </a:r>
          </a:p>
        </p:txBody>
      </p:sp>
      <p:sp>
        <p:nvSpPr>
          <p:cNvPr id="21" name="OB2">
            <a:extLst>
              <a:ext uri="{FF2B5EF4-FFF2-40B4-BE49-F238E27FC236}">
                <a16:creationId xmlns:a16="http://schemas.microsoft.com/office/drawing/2014/main" id="{F2EF6E10-BBF9-4A4E-8B85-62855FACC3CF}"/>
              </a:ext>
            </a:extLst>
          </p:cNvPr>
          <p:cNvSpPr/>
          <p:nvPr/>
        </p:nvSpPr>
        <p:spPr>
          <a:xfrm>
            <a:off x="838200" y="4140200"/>
            <a:ext cx="5105400" cy="2006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OH2">
            <a:extLst>
              <a:ext uri="{FF2B5EF4-FFF2-40B4-BE49-F238E27FC236}">
                <a16:creationId xmlns:a16="http://schemas.microsoft.com/office/drawing/2014/main" id="{B0C1043A-2562-40CF-C1D0-9B5B04593512}"/>
              </a:ext>
            </a:extLst>
          </p:cNvPr>
          <p:cNvSpPr/>
          <p:nvPr/>
        </p:nvSpPr>
        <p:spPr>
          <a:xfrm>
            <a:off x="838200" y="4140200"/>
            <a:ext cx="51054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300" b="1" dirty="0" err="1">
                <a:solidFill>
                  <a:srgbClr val="FFFFFF"/>
                </a:solidFill>
                <a:latin typeface="Arial"/>
                <a:cs typeface="Arial"/>
              </a:rPr>
              <a:t>XGBoost</a:t>
            </a:r>
            <a:r>
              <a:rPr lang="en-US" sz="2300" dirty="0">
                <a:solidFill>
                  <a:srgbClr val="E7DEF3"/>
                </a:solidFill>
                <a:latin typeface="Arial"/>
                <a:cs typeface="Arial"/>
              </a:rPr>
              <a:t>  —  Machine learning</a:t>
            </a:r>
          </a:p>
        </p:txBody>
      </p:sp>
      <p:sp>
        <p:nvSpPr>
          <p:cNvPr id="25" name="OA2">
            <a:extLst>
              <a:ext uri="{FF2B5EF4-FFF2-40B4-BE49-F238E27FC236}">
                <a16:creationId xmlns:a16="http://schemas.microsoft.com/office/drawing/2014/main" id="{DD691DDA-AB44-4447-186F-CE0C67A116A2}"/>
              </a:ext>
            </a:extLst>
          </p:cNvPr>
          <p:cNvSpPr/>
          <p:nvPr/>
        </p:nvSpPr>
        <p:spPr>
          <a:xfrm>
            <a:off x="838200" y="4079641"/>
            <a:ext cx="51054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OD2">
            <a:extLst>
              <a:ext uri="{FF2B5EF4-FFF2-40B4-BE49-F238E27FC236}">
                <a16:creationId xmlns:a16="http://schemas.microsoft.com/office/drawing/2014/main" id="{012FACAA-3A58-365C-5D40-1DE97EDAE0C0}"/>
              </a:ext>
            </a:extLst>
          </p:cNvPr>
          <p:cNvSpPr txBox="1"/>
          <p:nvPr/>
        </p:nvSpPr>
        <p:spPr>
          <a:xfrm>
            <a:off x="1041400" y="4876800"/>
            <a:ext cx="4699000" cy="1117600"/>
          </a:xfrm>
          <a:prstGeom prst="rect">
            <a:avLst/>
          </a:prstGeom>
          <a:noFill/>
        </p:spPr>
        <p:txBody>
          <a:bodyPr wrap="square" lIns="0" tIns="0" rIns="0" bIns="0" anchor="t">
            <a:normAutofit/>
          </a:bodyPr>
          <a:lstStyle/>
          <a:p>
            <a:pPr algn="l"/>
            <a:r>
              <a:rPr lang="en-US" sz="2200" dirty="0">
                <a:solidFill>
                  <a:srgbClr val="333333"/>
                </a:solidFill>
                <a:latin typeface="Arial"/>
                <a:cs typeface="Arial"/>
              </a:rPr>
              <a:t>Gradient-boosted decision trees that learn from engineered features and lagged predictors.</a:t>
            </a:r>
          </a:p>
        </p:txBody>
      </p:sp>
      <p:sp>
        <p:nvSpPr>
          <p:cNvPr id="29" name="OB3">
            <a:extLst>
              <a:ext uri="{FF2B5EF4-FFF2-40B4-BE49-F238E27FC236}">
                <a16:creationId xmlns:a16="http://schemas.microsoft.com/office/drawing/2014/main" id="{F628EDE5-D899-0F0E-75D9-1705622735B2}"/>
              </a:ext>
            </a:extLst>
          </p:cNvPr>
          <p:cNvSpPr/>
          <p:nvPr/>
        </p:nvSpPr>
        <p:spPr>
          <a:xfrm>
            <a:off x="6248400" y="4140200"/>
            <a:ext cx="5105400" cy="2006600"/>
          </a:xfrm>
          <a:prstGeom prst="rect">
            <a:avLst/>
          </a:prstGeom>
          <a:solidFill>
            <a:srgbClr val="FFFFFF"/>
          </a:solidFill>
          <a:ln w="12700" cap="flat" cmpd="sng" algn="ctr">
            <a:solidFill>
              <a:srgbClr val="E2E0E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OH3">
            <a:extLst>
              <a:ext uri="{FF2B5EF4-FFF2-40B4-BE49-F238E27FC236}">
                <a16:creationId xmlns:a16="http://schemas.microsoft.com/office/drawing/2014/main" id="{59472340-BB25-FC2C-AAF0-A5BCA900869D}"/>
              </a:ext>
            </a:extLst>
          </p:cNvPr>
          <p:cNvSpPr/>
          <p:nvPr/>
        </p:nvSpPr>
        <p:spPr>
          <a:xfrm>
            <a:off x="6248400" y="4140200"/>
            <a:ext cx="5105400" cy="584200"/>
          </a:xfrm>
          <a:prstGeom prst="rect">
            <a:avLst/>
          </a:prstGeom>
          <a:solidFill>
            <a:srgbClr val="522D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wrap="square" lIns="137160" tIns="0" rIns="91440" bIns="0" anchor="ctr"/>
          <a:lstStyle/>
          <a:p>
            <a:pPr algn="ctr"/>
            <a:r>
              <a:rPr lang="en-US" sz="2300" b="1" dirty="0">
                <a:solidFill>
                  <a:srgbClr val="FFFFFF"/>
                </a:solidFill>
                <a:latin typeface="Arial"/>
                <a:cs typeface="Arial"/>
              </a:rPr>
              <a:t>Ensemble</a:t>
            </a:r>
            <a:r>
              <a:rPr lang="en-US" sz="2300" dirty="0">
                <a:solidFill>
                  <a:srgbClr val="E7DEF3"/>
                </a:solidFill>
                <a:latin typeface="Arial"/>
                <a:cs typeface="Arial"/>
              </a:rPr>
              <a:t>  —  Meta-model</a:t>
            </a:r>
          </a:p>
        </p:txBody>
      </p:sp>
      <p:sp>
        <p:nvSpPr>
          <p:cNvPr id="33" name="OA3">
            <a:extLst>
              <a:ext uri="{FF2B5EF4-FFF2-40B4-BE49-F238E27FC236}">
                <a16:creationId xmlns:a16="http://schemas.microsoft.com/office/drawing/2014/main" id="{DB9BBA51-B7FF-D1D6-D33B-2E4D00F8D469}"/>
              </a:ext>
            </a:extLst>
          </p:cNvPr>
          <p:cNvSpPr/>
          <p:nvPr/>
        </p:nvSpPr>
        <p:spPr>
          <a:xfrm>
            <a:off x="6248400" y="4079641"/>
            <a:ext cx="5105400" cy="63500"/>
          </a:xfrm>
          <a:prstGeom prst="rect">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OD3">
            <a:extLst>
              <a:ext uri="{FF2B5EF4-FFF2-40B4-BE49-F238E27FC236}">
                <a16:creationId xmlns:a16="http://schemas.microsoft.com/office/drawing/2014/main" id="{4B5F3680-6DFB-060C-6C3E-8AF9C5EDA2F5}"/>
              </a:ext>
            </a:extLst>
          </p:cNvPr>
          <p:cNvSpPr txBox="1"/>
          <p:nvPr/>
        </p:nvSpPr>
        <p:spPr>
          <a:xfrm>
            <a:off x="6451600" y="4876800"/>
            <a:ext cx="4699000" cy="1117600"/>
          </a:xfrm>
          <a:prstGeom prst="rect">
            <a:avLst/>
          </a:prstGeom>
          <a:noFill/>
        </p:spPr>
        <p:txBody>
          <a:bodyPr wrap="square" lIns="0" tIns="0" rIns="0" bIns="0" anchor="t">
            <a:normAutofit/>
          </a:bodyPr>
          <a:lstStyle/>
          <a:p>
            <a:pPr algn="l"/>
            <a:r>
              <a:rPr lang="en-US" sz="2200" dirty="0">
                <a:solidFill>
                  <a:srgbClr val="333333"/>
                </a:solidFill>
                <a:latin typeface="Arial"/>
                <a:cs typeface="Arial"/>
              </a:rPr>
              <a:t>Combines several models’ forecasts (mean, median, or weighted) — usually the most robust.</a:t>
            </a:r>
          </a:p>
        </p:txBody>
      </p:sp>
    </p:spTree>
    <p:extLst>
      <p:ext uri="{BB962C8B-B14F-4D97-AF65-F5344CB8AC3E}">
        <p14:creationId xmlns:p14="http://schemas.microsoft.com/office/powerpoint/2010/main" val="16652104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1A0B798-A363-E3A1-E81C-587C3C7EAB04}"/>
              </a:ext>
            </a:extLst>
          </p:cNvPr>
          <p:cNvSpPr/>
          <p:nvPr/>
        </p:nvSpPr>
        <p:spPr>
          <a:xfrm>
            <a:off x="583543" y="4890705"/>
            <a:ext cx="11044576" cy="1445342"/>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14AC45-D0B0-A2F6-5FF6-ADDCD2102A42}"/>
              </a:ext>
            </a:extLst>
          </p:cNvPr>
          <p:cNvSpPr/>
          <p:nvPr/>
        </p:nvSpPr>
        <p:spPr>
          <a:xfrm>
            <a:off x="563879" y="4395019"/>
            <a:ext cx="11082528" cy="462116"/>
          </a:xfrm>
          <a:prstGeom prst="rect">
            <a:avLst/>
          </a:prstGeom>
          <a:solidFill>
            <a:srgbClr val="FEEFE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F89ADEC-2D4E-17D4-BA3A-0D30F6FF82C1}"/>
              </a:ext>
            </a:extLst>
          </p:cNvPr>
          <p:cNvSpPr/>
          <p:nvPr/>
        </p:nvSpPr>
        <p:spPr>
          <a:xfrm>
            <a:off x="563879" y="1282371"/>
            <a:ext cx="11064240" cy="937013"/>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457352" y="274320"/>
            <a:ext cx="11277295" cy="731520"/>
          </a:xfrm>
          <a:prstGeom prst="rect">
            <a:avLst/>
          </a:prstGeom>
          <a:noFill/>
          <a:ln/>
        </p:spPr>
        <p:txBody>
          <a:bodyPr wrap="square" rtlCol="0" anchor="ctr"/>
          <a:lstStyle/>
          <a:p>
            <a:pPr marL="0" indent="0" algn="ctr">
              <a:buNone/>
            </a:pPr>
            <a:r>
              <a:rPr lang="en-US" sz="4400" b="1" dirty="0">
                <a:solidFill>
                  <a:srgbClr val="7030A0"/>
                </a:solidFill>
                <a:latin typeface="Arial" pitchFamily="34" charset="0"/>
                <a:ea typeface="Arial" pitchFamily="34" charset="-122"/>
                <a:cs typeface="Arial" pitchFamily="34" charset="-120"/>
              </a:rPr>
              <a:t>Ensembles: Combining Models</a:t>
            </a:r>
            <a:endParaRPr lang="en-US" sz="4400" dirty="0"/>
          </a:p>
        </p:txBody>
      </p:sp>
      <p:sp>
        <p:nvSpPr>
          <p:cNvPr id="3" name="Text 1"/>
          <p:cNvSpPr/>
          <p:nvPr/>
        </p:nvSpPr>
        <p:spPr>
          <a:xfrm>
            <a:off x="563879" y="1432803"/>
            <a:ext cx="11064240" cy="640080"/>
          </a:xfrm>
          <a:prstGeom prst="rect">
            <a:avLst/>
          </a:prstGeom>
          <a:noFill/>
          <a:ln/>
        </p:spPr>
        <p:txBody>
          <a:bodyPr wrap="square" rtlCol="0" anchor="ctr"/>
          <a:lstStyle/>
          <a:p>
            <a:pPr marL="0" indent="0" algn="ctr">
              <a:lnSpc>
                <a:spcPct val="105000"/>
              </a:lnSpc>
              <a:buNone/>
            </a:pPr>
            <a:r>
              <a:rPr lang="en-US" sz="2200" dirty="0">
                <a:solidFill>
                  <a:srgbClr val="1A1A1A"/>
                </a:solidFill>
                <a:latin typeface="Arial" pitchFamily="34" charset="0"/>
                <a:ea typeface="Arial" pitchFamily="34" charset="-122"/>
                <a:cs typeface="Arial" pitchFamily="34" charset="-120"/>
              </a:rPr>
              <a:t>Combine forecasts from several models into one prediction that's </a:t>
            </a:r>
            <a:r>
              <a:rPr lang="en-US" sz="2200" u="sng" dirty="0">
                <a:solidFill>
                  <a:srgbClr val="1A1A1A"/>
                </a:solidFill>
                <a:latin typeface="Arial" pitchFamily="34" charset="0"/>
                <a:ea typeface="Arial" pitchFamily="34" charset="-122"/>
                <a:cs typeface="Arial" pitchFamily="34" charset="-120"/>
              </a:rPr>
              <a:t>more robust</a:t>
            </a:r>
            <a:r>
              <a:rPr lang="en-US" sz="2200" dirty="0">
                <a:solidFill>
                  <a:srgbClr val="1A1A1A"/>
                </a:solidFill>
                <a:latin typeface="Arial" pitchFamily="34" charset="0"/>
                <a:ea typeface="Arial" pitchFamily="34" charset="-122"/>
                <a:cs typeface="Arial" pitchFamily="34" charset="-120"/>
              </a:rPr>
              <a:t> than any single model on its own.</a:t>
            </a:r>
            <a:endParaRPr lang="en-US" sz="2200" dirty="0"/>
          </a:p>
        </p:txBody>
      </p:sp>
      <p:sp>
        <p:nvSpPr>
          <p:cNvPr id="4" name="Text 2"/>
          <p:cNvSpPr/>
          <p:nvPr/>
        </p:nvSpPr>
        <p:spPr>
          <a:xfrm>
            <a:off x="563879" y="2418735"/>
            <a:ext cx="11170768" cy="1726541"/>
          </a:xfrm>
          <a:prstGeom prst="rect">
            <a:avLst/>
          </a:prstGeom>
          <a:noFill/>
          <a:ln/>
        </p:spPr>
        <p:txBody>
          <a:bodyPr wrap="square" rtlCol="0" anchor="t"/>
          <a:lstStyle/>
          <a:p>
            <a:pPr marL="342900" indent="-342900">
              <a:spcAft>
                <a:spcPts val="900"/>
              </a:spcAft>
              <a:buClr>
                <a:schemeClr val="tx1"/>
              </a:buClr>
              <a:buFont typeface="Arial" panose="020B0604020202020204" pitchFamily="34" charset="0"/>
              <a:buChar char="•"/>
            </a:pPr>
            <a:r>
              <a:rPr lang="en-US" sz="2100" dirty="0">
                <a:latin typeface="Arial" panose="020B0604020202020204" pitchFamily="34" charset="0"/>
                <a:cs typeface="Arial" panose="020B0604020202020204" pitchFamily="34" charset="0"/>
              </a:rPr>
              <a:t>There are a </a:t>
            </a:r>
            <a:r>
              <a:rPr lang="en-US" sz="2100" u="sng" dirty="0">
                <a:latin typeface="Arial" panose="020B0604020202020204" pitchFamily="34" charset="0"/>
                <a:cs typeface="Arial" panose="020B0604020202020204" pitchFamily="34" charset="0"/>
              </a:rPr>
              <a:t>multitude</a:t>
            </a:r>
            <a:r>
              <a:rPr lang="en-US" sz="2100" dirty="0">
                <a:latin typeface="Arial" panose="020B0604020202020204" pitchFamily="34" charset="0"/>
                <a:cs typeface="Arial" panose="020B0604020202020204" pitchFamily="34" charset="0"/>
              </a:rPr>
              <a:t> of ways to combine forecasts, including:</a:t>
            </a:r>
          </a:p>
          <a:p>
            <a:pPr marL="800100" lvl="1" indent="-342900">
              <a:spcAft>
                <a:spcPts val="900"/>
              </a:spcAft>
              <a:buClr>
                <a:schemeClr val="tx1"/>
              </a:buClr>
              <a:buFont typeface="Arial" panose="020B0604020202020204" pitchFamily="34" charset="0"/>
              <a:buChar char="•"/>
            </a:pPr>
            <a:r>
              <a:rPr lang="en-US" sz="2100" b="1" dirty="0">
                <a:solidFill>
                  <a:schemeClr val="accent2"/>
                </a:solidFill>
                <a:latin typeface="Arial" panose="020B0604020202020204" pitchFamily="34" charset="0"/>
                <a:ea typeface="Arial" pitchFamily="34" charset="-122"/>
                <a:cs typeface="Arial" panose="020B0604020202020204" pitchFamily="34" charset="0"/>
              </a:rPr>
              <a:t>Average</a:t>
            </a:r>
            <a:r>
              <a:rPr lang="en-US" sz="2100" dirty="0">
                <a:latin typeface="Arial" panose="020B0604020202020204" pitchFamily="34" charset="0"/>
                <a:ea typeface="Arial" pitchFamily="34" charset="-122"/>
                <a:cs typeface="Arial" panose="020B0604020202020204" pitchFamily="34" charset="0"/>
              </a:rPr>
              <a:t> or </a:t>
            </a:r>
            <a:r>
              <a:rPr lang="en-US" sz="2100" b="1" dirty="0">
                <a:solidFill>
                  <a:schemeClr val="accent2"/>
                </a:solidFill>
                <a:latin typeface="Arial" panose="020B0604020202020204" pitchFamily="34" charset="0"/>
                <a:ea typeface="Arial" pitchFamily="34" charset="-122"/>
                <a:cs typeface="Arial" panose="020B0604020202020204" pitchFamily="34" charset="0"/>
              </a:rPr>
              <a:t>median</a:t>
            </a:r>
            <a:r>
              <a:rPr lang="en-US" sz="2100" dirty="0">
                <a:latin typeface="Arial" panose="020B0604020202020204" pitchFamily="34" charset="0"/>
                <a:ea typeface="Arial" pitchFamily="34" charset="-122"/>
                <a:cs typeface="Arial" panose="020B0604020202020204" pitchFamily="34" charset="0"/>
              </a:rPr>
              <a:t> of the member forecasts.</a:t>
            </a:r>
            <a:endParaRPr lang="en-US" sz="2100" dirty="0">
              <a:latin typeface="Arial" panose="020B0604020202020204" pitchFamily="34" charset="0"/>
              <a:cs typeface="Arial" panose="020B0604020202020204" pitchFamily="34" charset="0"/>
            </a:endParaRPr>
          </a:p>
          <a:p>
            <a:pPr marL="800100" lvl="1" indent="-342900">
              <a:spcAft>
                <a:spcPts val="900"/>
              </a:spcAft>
              <a:buClr>
                <a:schemeClr val="tx1"/>
              </a:buClr>
              <a:buFont typeface="Arial" panose="020B0604020202020204" pitchFamily="34" charset="0"/>
              <a:buChar char="•"/>
            </a:pPr>
            <a:r>
              <a:rPr lang="en-US" sz="2100" b="1" dirty="0">
                <a:solidFill>
                  <a:schemeClr val="accent2"/>
                </a:solidFill>
                <a:latin typeface="Arial" panose="020B0604020202020204" pitchFamily="34" charset="0"/>
                <a:ea typeface="Arial" pitchFamily="34" charset="-122"/>
                <a:cs typeface="Arial" panose="020B0604020202020204" pitchFamily="34" charset="0"/>
              </a:rPr>
              <a:t>Weighted combination</a:t>
            </a:r>
            <a:r>
              <a:rPr lang="en-US" sz="2100" dirty="0">
                <a:latin typeface="Arial" panose="020B0604020202020204" pitchFamily="34" charset="0"/>
                <a:ea typeface="Arial" pitchFamily="34" charset="-122"/>
                <a:cs typeface="Arial" panose="020B0604020202020204" pitchFamily="34" charset="0"/>
              </a:rPr>
              <a:t>: members weighted by past skill.</a:t>
            </a:r>
            <a:endParaRPr lang="en-US" sz="2100" dirty="0">
              <a:latin typeface="Arial" panose="020B0604020202020204" pitchFamily="34" charset="0"/>
              <a:cs typeface="Arial" panose="020B0604020202020204" pitchFamily="34" charset="0"/>
            </a:endParaRPr>
          </a:p>
          <a:p>
            <a:pPr marL="800100" lvl="1" indent="-342900">
              <a:spcAft>
                <a:spcPts val="900"/>
              </a:spcAft>
              <a:buClr>
                <a:schemeClr val="tx1"/>
              </a:buClr>
              <a:buFont typeface="Arial" panose="020B0604020202020204" pitchFamily="34" charset="0"/>
              <a:buChar char="•"/>
            </a:pPr>
            <a:r>
              <a:rPr lang="en-US" sz="2100" b="1" dirty="0">
                <a:solidFill>
                  <a:schemeClr val="accent2"/>
                </a:solidFill>
                <a:latin typeface="Arial" panose="020B0604020202020204" pitchFamily="34" charset="0"/>
                <a:ea typeface="Arial" pitchFamily="34" charset="-122"/>
                <a:cs typeface="Arial" panose="020B0604020202020204" pitchFamily="34" charset="0"/>
              </a:rPr>
              <a:t>Stacking</a:t>
            </a:r>
            <a:r>
              <a:rPr lang="en-US" sz="2100" dirty="0">
                <a:latin typeface="Arial" panose="020B0604020202020204" pitchFamily="34" charset="0"/>
                <a:ea typeface="Arial" pitchFamily="34" charset="-122"/>
                <a:cs typeface="Arial" panose="020B0604020202020204" pitchFamily="34" charset="0"/>
              </a:rPr>
              <a:t>: a model learns the weights.</a:t>
            </a:r>
            <a:endParaRPr lang="en-US" sz="2100" dirty="0">
              <a:latin typeface="Arial" panose="020B0604020202020204" pitchFamily="34" charset="0"/>
              <a:cs typeface="Arial" panose="020B0604020202020204" pitchFamily="34" charset="0"/>
            </a:endParaRPr>
          </a:p>
        </p:txBody>
      </p:sp>
      <p:sp>
        <p:nvSpPr>
          <p:cNvPr id="9" name="Text 1">
            <a:extLst>
              <a:ext uri="{FF2B5EF4-FFF2-40B4-BE49-F238E27FC236}">
                <a16:creationId xmlns:a16="http://schemas.microsoft.com/office/drawing/2014/main" id="{E89F00F9-2F36-5944-E8E5-EFA991AD385B}"/>
              </a:ext>
            </a:extLst>
          </p:cNvPr>
          <p:cNvSpPr/>
          <p:nvPr/>
        </p:nvSpPr>
        <p:spPr>
          <a:xfrm>
            <a:off x="563879" y="4427470"/>
            <a:ext cx="11064240" cy="390337"/>
          </a:xfrm>
          <a:prstGeom prst="rect">
            <a:avLst/>
          </a:prstGeom>
          <a:noFill/>
          <a:ln/>
        </p:spPr>
        <p:txBody>
          <a:bodyPr wrap="square" rtlCol="0" anchor="ctr"/>
          <a:lstStyle/>
          <a:p>
            <a:pPr marL="0" indent="0" algn="ctr">
              <a:lnSpc>
                <a:spcPct val="105000"/>
              </a:lnSpc>
              <a:buNone/>
            </a:pPr>
            <a:r>
              <a:rPr lang="en-US" sz="2200" b="1" dirty="0">
                <a:solidFill>
                  <a:srgbClr val="1A1A1A"/>
                </a:solidFill>
                <a:latin typeface="Arial" pitchFamily="34" charset="0"/>
                <a:ea typeface="Arial" pitchFamily="34" charset="-122"/>
                <a:cs typeface="Arial" pitchFamily="34" charset="-120"/>
              </a:rPr>
              <a:t>Why ensembles work well</a:t>
            </a:r>
            <a:endParaRPr lang="en-US" sz="2200" b="1" dirty="0"/>
          </a:p>
        </p:txBody>
      </p:sp>
      <p:sp>
        <p:nvSpPr>
          <p:cNvPr id="11" name="TextBox 10">
            <a:extLst>
              <a:ext uri="{FF2B5EF4-FFF2-40B4-BE49-F238E27FC236}">
                <a16:creationId xmlns:a16="http://schemas.microsoft.com/office/drawing/2014/main" id="{2915D591-9FBC-FBBD-3FA0-91FE6099E929}"/>
              </a:ext>
            </a:extLst>
          </p:cNvPr>
          <p:cNvSpPr txBox="1"/>
          <p:nvPr/>
        </p:nvSpPr>
        <p:spPr>
          <a:xfrm>
            <a:off x="563879" y="4952381"/>
            <a:ext cx="11064240" cy="1246495"/>
          </a:xfrm>
          <a:prstGeom prst="rect">
            <a:avLst/>
          </a:prstGeom>
          <a:noFill/>
        </p:spPr>
        <p:txBody>
          <a:bodyPr wrap="square">
            <a:spAutoFit/>
          </a:bodyPr>
          <a:lstStyle/>
          <a:p>
            <a:pPr marL="342900" indent="-342900">
              <a:spcAft>
                <a:spcPts val="900"/>
              </a:spcAft>
              <a:buFont typeface="Arial" panose="020B0604020202020204" pitchFamily="34" charset="0"/>
              <a:buChar char="•"/>
            </a:pPr>
            <a:r>
              <a:rPr lang="en-US" sz="2000" dirty="0">
                <a:solidFill>
                  <a:srgbClr val="1A1A1A"/>
                </a:solidFill>
                <a:latin typeface="Arial" panose="020B0604020202020204" pitchFamily="34" charset="0"/>
                <a:ea typeface="Arial" pitchFamily="34" charset="-122"/>
                <a:cs typeface="Arial" panose="020B0604020202020204" pitchFamily="34" charset="0"/>
              </a:rPr>
              <a:t>Models make different mistakes, so their errors partly cancel.</a:t>
            </a:r>
            <a:endParaRPr lang="en-US" sz="2000" dirty="0">
              <a:latin typeface="Arial" panose="020B0604020202020204" pitchFamily="34" charset="0"/>
              <a:cs typeface="Arial" panose="020B0604020202020204" pitchFamily="34" charset="0"/>
            </a:endParaRPr>
          </a:p>
          <a:p>
            <a:pPr marL="342900" indent="-342900">
              <a:spcAft>
                <a:spcPts val="900"/>
              </a:spcAft>
              <a:buFont typeface="Arial" panose="020B0604020202020204" pitchFamily="34" charset="0"/>
              <a:buChar char="•"/>
            </a:pPr>
            <a:r>
              <a:rPr lang="en-US" sz="2000" dirty="0">
                <a:solidFill>
                  <a:srgbClr val="1A1A1A"/>
                </a:solidFill>
                <a:latin typeface="Arial" panose="020B0604020202020204" pitchFamily="34" charset="0"/>
                <a:ea typeface="Arial" pitchFamily="34" charset="-122"/>
                <a:cs typeface="Arial" panose="020B0604020202020204" pitchFamily="34" charset="0"/>
              </a:rPr>
              <a:t>No single model is best every season, so the ensemble hedges instead of betting on one.</a:t>
            </a:r>
            <a:endParaRPr lang="en-US" sz="2000" dirty="0">
              <a:latin typeface="Arial" panose="020B0604020202020204" pitchFamily="34" charset="0"/>
              <a:cs typeface="Arial" panose="020B0604020202020204" pitchFamily="34" charset="0"/>
            </a:endParaRPr>
          </a:p>
          <a:p>
            <a:pPr marL="342900" indent="-342900">
              <a:spcAft>
                <a:spcPts val="900"/>
              </a:spcAft>
              <a:buFont typeface="Arial" panose="020B0604020202020204" pitchFamily="34" charset="0"/>
              <a:buChar char="•"/>
            </a:pPr>
            <a:r>
              <a:rPr lang="en-US" sz="2000" dirty="0">
                <a:solidFill>
                  <a:srgbClr val="1A1A1A"/>
                </a:solidFill>
                <a:latin typeface="Arial" panose="020B0604020202020204" pitchFamily="34" charset="0"/>
                <a:ea typeface="Arial" pitchFamily="34" charset="-122"/>
                <a:cs typeface="Arial" panose="020B0604020202020204" pitchFamily="34" charset="0"/>
              </a:rPr>
              <a:t>The result is steadier across changing conditions, with better-calibrated intervals.</a:t>
            </a:r>
            <a:endParaRPr lang="en-US" sz="20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8" grpId="0" animBg="1"/>
      <p:bldP spid="7" grpId="0" animBg="1"/>
      <p:bldP spid="3" grpId="0" animBg="1"/>
      <p:bldP spid="9" grpId="0" animBg="1"/>
      <p:bldP spid="1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5CABC1-E31A-226A-05B3-C204E512AB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579" y="153888"/>
            <a:ext cx="11644842" cy="6550223"/>
          </a:xfrm>
          <a:prstGeom prst="rect">
            <a:avLst/>
          </a:prstGeom>
        </p:spPr>
      </p:pic>
      <p:sp>
        <p:nvSpPr>
          <p:cNvPr id="7" name="TextBox 6">
            <a:extLst>
              <a:ext uri="{FF2B5EF4-FFF2-40B4-BE49-F238E27FC236}">
                <a16:creationId xmlns:a16="http://schemas.microsoft.com/office/drawing/2014/main" id="{70715A98-9070-CF03-13F4-E8A721AAAF7B}"/>
              </a:ext>
            </a:extLst>
          </p:cNvPr>
          <p:cNvSpPr txBox="1"/>
          <p:nvPr/>
        </p:nvSpPr>
        <p:spPr>
          <a:xfrm>
            <a:off x="6494506" y="6550223"/>
            <a:ext cx="5627281" cy="615553"/>
          </a:xfrm>
          <a:prstGeom prst="rect">
            <a:avLst/>
          </a:prstGeom>
          <a:noFill/>
        </p:spPr>
        <p:txBody>
          <a:bodyPr wrap="square" rtlCol="0">
            <a:spAutoFit/>
          </a:bodyPr>
          <a:lstStyle/>
          <a:p>
            <a:pPr algn="r"/>
            <a:r>
              <a:rPr lang="en-US" sz="1600" dirty="0">
                <a:solidFill>
                  <a:schemeClr val="bg2">
                    <a:lumMod val="50000"/>
                  </a:schemeClr>
                </a:solidFill>
                <a:latin typeface="Arial" panose="020B0604020202020204" pitchFamily="34" charset="0"/>
                <a:cs typeface="Arial" panose="020B0604020202020204" pitchFamily="34" charset="0"/>
              </a:rPr>
              <a:t>Generated with Claude, for illustration purposes only. </a:t>
            </a:r>
          </a:p>
          <a:p>
            <a:endParaRPr lang="en-US" dirty="0"/>
          </a:p>
        </p:txBody>
      </p:sp>
    </p:spTree>
    <p:extLst>
      <p:ext uri="{BB962C8B-B14F-4D97-AF65-F5344CB8AC3E}">
        <p14:creationId xmlns:p14="http://schemas.microsoft.com/office/powerpoint/2010/main" val="42045154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7ADC8F-D20C-10F4-280F-D5ACF1566F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524" y="208364"/>
            <a:ext cx="11366952" cy="6441273"/>
          </a:xfrm>
          <a:prstGeom prst="rect">
            <a:avLst/>
          </a:prstGeom>
        </p:spPr>
      </p:pic>
    </p:spTree>
    <p:extLst>
      <p:ext uri="{BB962C8B-B14F-4D97-AF65-F5344CB8AC3E}">
        <p14:creationId xmlns:p14="http://schemas.microsoft.com/office/powerpoint/2010/main" val="21494733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4A426-D47D-A973-4CF5-32112076D2FB}"/>
              </a:ext>
            </a:extLst>
          </p:cNvPr>
          <p:cNvSpPr>
            <a:spLocks noGrp="1"/>
          </p:cNvSpPr>
          <p:nvPr>
            <p:ph type="title"/>
          </p:nvPr>
        </p:nvSpPr>
        <p:spPr>
          <a:xfrm>
            <a:off x="838200" y="227472"/>
            <a:ext cx="10515600" cy="1325563"/>
          </a:xfrm>
        </p:spPr>
        <p:txBody>
          <a:bodyPr>
            <a:normAutofit/>
          </a:bodyPr>
          <a:lstStyle/>
          <a:p>
            <a:pPr algn="ctr"/>
            <a:r>
              <a:rPr lang="en-US" b="1" dirty="0">
                <a:solidFill>
                  <a:srgbClr val="7030A0"/>
                </a:solidFill>
                <a:latin typeface="Arial" pitchFamily="34" charset="0"/>
                <a:cs typeface="Arial" pitchFamily="34" charset="0"/>
              </a:rPr>
              <a:t>Strengths, Weaknesses, and When to Use Each Model</a:t>
            </a:r>
          </a:p>
        </p:txBody>
      </p:sp>
      <p:graphicFrame>
        <p:nvGraphicFramePr>
          <p:cNvPr id="5" name="Table 4">
            <a:extLst>
              <a:ext uri="{FF2B5EF4-FFF2-40B4-BE49-F238E27FC236}">
                <a16:creationId xmlns:a16="http://schemas.microsoft.com/office/drawing/2014/main" id="{B5BC8CAF-A442-4E43-9F63-7EF2F5230C62}"/>
              </a:ext>
            </a:extLst>
          </p:cNvPr>
          <p:cNvGraphicFramePr>
            <a:graphicFrameLocks noGrp="1"/>
          </p:cNvGraphicFramePr>
          <p:nvPr>
            <p:extLst>
              <p:ext uri="{D42A27DB-BD31-4B8C-83A1-F6EECF244321}">
                <p14:modId xmlns:p14="http://schemas.microsoft.com/office/powerpoint/2010/main" val="2707899977"/>
              </p:ext>
            </p:extLst>
          </p:nvPr>
        </p:nvGraphicFramePr>
        <p:xfrm>
          <a:off x="414184" y="1734247"/>
          <a:ext cx="11363632" cy="4824575"/>
        </p:xfrm>
        <a:graphic>
          <a:graphicData uri="http://schemas.openxmlformats.org/drawingml/2006/table">
            <a:tbl>
              <a:tblPr firstRow="1" bandRow="1">
                <a:tableStyleId>{5940675A-B579-460E-94D1-54222C63F5DA}</a:tableStyleId>
              </a:tblPr>
              <a:tblGrid>
                <a:gridCol w="1708355">
                  <a:extLst>
                    <a:ext uri="{9D8B030D-6E8A-4147-A177-3AD203B41FA5}">
                      <a16:colId xmlns:a16="http://schemas.microsoft.com/office/drawing/2014/main" val="70506829"/>
                    </a:ext>
                  </a:extLst>
                </a:gridCol>
                <a:gridCol w="3460955">
                  <a:extLst>
                    <a:ext uri="{9D8B030D-6E8A-4147-A177-3AD203B41FA5}">
                      <a16:colId xmlns:a16="http://schemas.microsoft.com/office/drawing/2014/main" val="334022889"/>
                    </a:ext>
                  </a:extLst>
                </a:gridCol>
                <a:gridCol w="3174999">
                  <a:extLst>
                    <a:ext uri="{9D8B030D-6E8A-4147-A177-3AD203B41FA5}">
                      <a16:colId xmlns:a16="http://schemas.microsoft.com/office/drawing/2014/main" val="3132006990"/>
                    </a:ext>
                  </a:extLst>
                </a:gridCol>
                <a:gridCol w="3019323">
                  <a:extLst>
                    <a:ext uri="{9D8B030D-6E8A-4147-A177-3AD203B41FA5}">
                      <a16:colId xmlns:a16="http://schemas.microsoft.com/office/drawing/2014/main" val="3069282063"/>
                    </a:ext>
                  </a:extLst>
                </a:gridCol>
              </a:tblGrid>
              <a:tr h="892416">
                <a:tc>
                  <a:txBody>
                    <a:bodyPr/>
                    <a:lstStyle/>
                    <a:p>
                      <a:pPr algn="ctr"/>
                      <a:r>
                        <a:rPr lang="en-US" sz="2000" b="1" dirty="0">
                          <a:solidFill>
                            <a:schemeClr val="tx1"/>
                          </a:solidFill>
                          <a:latin typeface="Arial" panose="020B0604020202020204" pitchFamily="34" charset="0"/>
                          <a:cs typeface="Arial" panose="020B0604020202020204" pitchFamily="34" charset="0"/>
                        </a:rPr>
                        <a:t>Model</a:t>
                      </a:r>
                    </a:p>
                  </a:txBody>
                  <a:tcPr anchor="ctr">
                    <a:solidFill>
                      <a:schemeClr val="bg1">
                        <a:lumMod val="95000"/>
                      </a:schemeClr>
                    </a:solidFill>
                  </a:tcPr>
                </a:tc>
                <a:tc>
                  <a:txBody>
                    <a:bodyPr/>
                    <a:lstStyle/>
                    <a:p>
                      <a:pPr algn="ctr"/>
                      <a:r>
                        <a:rPr lang="en-US" sz="2000" b="1" dirty="0">
                          <a:solidFill>
                            <a:schemeClr val="tx1"/>
                          </a:solidFill>
                          <a:latin typeface="Arial" panose="020B0604020202020204" pitchFamily="34" charset="0"/>
                          <a:cs typeface="Arial" panose="020B0604020202020204" pitchFamily="34" charset="0"/>
                        </a:rPr>
                        <a:t>Strengths</a:t>
                      </a:r>
                    </a:p>
                  </a:txBody>
                  <a:tcPr anchor="ctr">
                    <a:solidFill>
                      <a:schemeClr val="bg1">
                        <a:lumMod val="95000"/>
                      </a:schemeClr>
                    </a:solidFill>
                  </a:tcPr>
                </a:tc>
                <a:tc>
                  <a:txBody>
                    <a:bodyPr/>
                    <a:lstStyle/>
                    <a:p>
                      <a:pPr algn="ctr"/>
                      <a:r>
                        <a:rPr lang="en-US" sz="2000" b="1" dirty="0">
                          <a:solidFill>
                            <a:schemeClr val="tx1"/>
                          </a:solidFill>
                          <a:latin typeface="Arial" panose="020B0604020202020204" pitchFamily="34" charset="0"/>
                          <a:cs typeface="Arial" panose="020B0604020202020204" pitchFamily="34" charset="0"/>
                        </a:rPr>
                        <a:t>Weaknesses</a:t>
                      </a:r>
                    </a:p>
                  </a:txBody>
                  <a:tcPr anchor="ctr">
                    <a:solidFill>
                      <a:schemeClr val="bg1">
                        <a:lumMod val="95000"/>
                      </a:schemeClr>
                    </a:solidFill>
                  </a:tcPr>
                </a:tc>
                <a:tc>
                  <a:txBody>
                    <a:bodyPr/>
                    <a:lstStyle/>
                    <a:p>
                      <a:pPr algn="ctr"/>
                      <a:r>
                        <a:rPr lang="en-US" sz="2000" b="1" dirty="0">
                          <a:solidFill>
                            <a:schemeClr val="tx1"/>
                          </a:solidFill>
                          <a:latin typeface="Arial" panose="020B0604020202020204" pitchFamily="34" charset="0"/>
                          <a:cs typeface="Arial" panose="020B0604020202020204" pitchFamily="34" charset="0"/>
                        </a:rPr>
                        <a:t>Optimal Use Case</a:t>
                      </a:r>
                    </a:p>
                  </a:txBody>
                  <a:tcPr anchor="ctr">
                    <a:solidFill>
                      <a:schemeClr val="bg1">
                        <a:lumMod val="95000"/>
                      </a:schemeClr>
                    </a:solidFill>
                  </a:tcPr>
                </a:tc>
                <a:extLst>
                  <a:ext uri="{0D108BD9-81ED-4DB2-BD59-A6C34878D82A}">
                    <a16:rowId xmlns:a16="http://schemas.microsoft.com/office/drawing/2014/main" val="580366927"/>
                  </a:ext>
                </a:extLst>
              </a:tr>
              <a:tr h="1028063">
                <a:tc>
                  <a:txBody>
                    <a:bodyPr/>
                    <a:lstStyle/>
                    <a:p>
                      <a:pPr algn="ctr"/>
                      <a:r>
                        <a:rPr lang="en-US" sz="2000" b="0" dirty="0">
                          <a:solidFill>
                            <a:schemeClr val="tx1"/>
                          </a:solidFill>
                          <a:latin typeface="Arial" panose="020B0604020202020204" pitchFamily="34" charset="0"/>
                          <a:cs typeface="Arial" panose="020B0604020202020204" pitchFamily="34" charset="0"/>
                        </a:rPr>
                        <a:t>ARIMA</a:t>
                      </a:r>
                    </a:p>
                  </a:txBody>
                  <a:tcPr anchor="ctr"/>
                </a:tc>
                <a:tc>
                  <a:txBody>
                    <a:bodyPr/>
                    <a:lstStyle/>
                    <a:p>
                      <a:pPr algn="ctr"/>
                      <a:r>
                        <a:rPr lang="en-US" sz="2000" dirty="0">
                          <a:solidFill>
                            <a:srgbClr val="1A1A1A"/>
                          </a:solidFill>
                          <a:latin typeface="Arial" panose="020B0604020202020204" pitchFamily="34" charset="0"/>
                          <a:cs typeface="Arial" panose="020B0604020202020204" pitchFamily="34" charset="0"/>
                        </a:rPr>
                        <a:t>Simple, fast, strong for short-term trends and seasonality</a:t>
                      </a:r>
                    </a:p>
                  </a:txBody>
                  <a:tcPr anchor="ctr"/>
                </a:tc>
                <a:tc>
                  <a:txBody>
                    <a:bodyPr/>
                    <a:lstStyle/>
                    <a:p>
                      <a:pPr algn="ctr"/>
                      <a:r>
                        <a:rPr lang="en-US" sz="2000">
                          <a:solidFill>
                            <a:srgbClr val="1A1A1A"/>
                          </a:solidFill>
                          <a:latin typeface="Arial" panose="020B0604020202020204" pitchFamily="34" charset="0"/>
                          <a:cs typeface="Arial" panose="020B0604020202020204" pitchFamily="34" charset="0"/>
                        </a:rPr>
                        <a:t>Assumes linear patterns; struggles with sudden shifts or extra predictors</a:t>
                      </a:r>
                    </a:p>
                  </a:txBody>
                  <a:tcPr anchor="ctr"/>
                </a:tc>
                <a:tc>
                  <a:txBody>
                    <a:bodyPr/>
                    <a:lstStyle/>
                    <a:p>
                      <a:pPr algn="ctr"/>
                      <a:r>
                        <a:rPr lang="en-US" sz="2000">
                          <a:solidFill>
                            <a:srgbClr val="1A1A1A"/>
                          </a:solidFill>
                          <a:latin typeface="Arial" panose="020B0604020202020204" pitchFamily="34" charset="0"/>
                          <a:cs typeface="Arial" panose="020B0604020202020204" pitchFamily="34" charset="0"/>
                        </a:rPr>
                        <a:t>Short-term forecasts from a single clean time series</a:t>
                      </a:r>
                    </a:p>
                  </a:txBody>
                  <a:tcPr anchor="ctr"/>
                </a:tc>
                <a:extLst>
                  <a:ext uri="{0D108BD9-81ED-4DB2-BD59-A6C34878D82A}">
                    <a16:rowId xmlns:a16="http://schemas.microsoft.com/office/drawing/2014/main" val="2876814838"/>
                  </a:ext>
                </a:extLst>
              </a:tr>
              <a:tr h="892416">
                <a:tc>
                  <a:txBody>
                    <a:bodyPr/>
                    <a:lstStyle/>
                    <a:p>
                      <a:pPr algn="ctr"/>
                      <a:r>
                        <a:rPr lang="en-US" sz="2000" b="0" dirty="0">
                          <a:solidFill>
                            <a:schemeClr val="tx1"/>
                          </a:solidFill>
                          <a:latin typeface="Arial" panose="020B0604020202020204" pitchFamily="34" charset="0"/>
                          <a:cs typeface="Arial" panose="020B0604020202020204" pitchFamily="34" charset="0"/>
                        </a:rPr>
                        <a:t>GAM</a:t>
                      </a:r>
                    </a:p>
                  </a:txBody>
                  <a:tcPr anchor="ctr"/>
                </a:tc>
                <a:tc>
                  <a:txBody>
                    <a:bodyPr/>
                    <a:lstStyle/>
                    <a:p>
                      <a:pPr algn="ctr"/>
                      <a:r>
                        <a:rPr lang="en-US" sz="2000" dirty="0">
                          <a:solidFill>
                            <a:srgbClr val="1A1A1A"/>
                          </a:solidFill>
                          <a:latin typeface="Arial" panose="020B0604020202020204" pitchFamily="34" charset="0"/>
                          <a:cs typeface="Arial" panose="020B0604020202020204" pitchFamily="34" charset="0"/>
                        </a:rPr>
                        <a:t>Flexible curves capture nonlinear trends; stays interpretable</a:t>
                      </a:r>
                    </a:p>
                  </a:txBody>
                  <a:tcPr anchor="ctr"/>
                </a:tc>
                <a:tc>
                  <a:txBody>
                    <a:bodyPr/>
                    <a:lstStyle/>
                    <a:p>
                      <a:pPr algn="ctr"/>
                      <a:r>
                        <a:rPr lang="en-US" sz="2000" dirty="0">
                          <a:solidFill>
                            <a:srgbClr val="1A1A1A"/>
                          </a:solidFill>
                          <a:latin typeface="Arial" panose="020B0604020202020204" pitchFamily="34" charset="0"/>
                          <a:cs typeface="Arial" panose="020B0604020202020204" pitchFamily="34" charset="0"/>
                        </a:rPr>
                        <a:t>Can overfit; needs careful smoothing choices</a:t>
                      </a:r>
                    </a:p>
                  </a:txBody>
                  <a:tcPr anchor="ctr"/>
                </a:tc>
                <a:tc>
                  <a:txBody>
                    <a:bodyPr/>
                    <a:lstStyle/>
                    <a:p>
                      <a:pPr algn="ctr"/>
                      <a:r>
                        <a:rPr lang="en-US" sz="2000">
                          <a:solidFill>
                            <a:srgbClr val="1A1A1A"/>
                          </a:solidFill>
                          <a:latin typeface="Arial" panose="020B0604020202020204" pitchFamily="34" charset="0"/>
                          <a:cs typeface="Arial" panose="020B0604020202020204" pitchFamily="34" charset="0"/>
                        </a:rPr>
                        <a:t>Nonlinear trends where you still want to explain the drivers</a:t>
                      </a:r>
                    </a:p>
                  </a:txBody>
                  <a:tcPr anchor="ctr"/>
                </a:tc>
                <a:extLst>
                  <a:ext uri="{0D108BD9-81ED-4DB2-BD59-A6C34878D82A}">
                    <a16:rowId xmlns:a16="http://schemas.microsoft.com/office/drawing/2014/main" val="3434335368"/>
                  </a:ext>
                </a:extLst>
              </a:tr>
              <a:tr h="892416">
                <a:tc>
                  <a:txBody>
                    <a:bodyPr/>
                    <a:lstStyle/>
                    <a:p>
                      <a:pPr algn="ctr"/>
                      <a:r>
                        <a:rPr lang="en-US" sz="2000" b="0" dirty="0" err="1">
                          <a:solidFill>
                            <a:schemeClr val="tx1"/>
                          </a:solidFill>
                          <a:latin typeface="Arial" panose="020B0604020202020204" pitchFamily="34" charset="0"/>
                          <a:cs typeface="Arial" panose="020B0604020202020204" pitchFamily="34" charset="0"/>
                        </a:rPr>
                        <a:t>XGBoost</a:t>
                      </a:r>
                      <a:endParaRPr lang="en-US" sz="2000" b="0" dirty="0">
                        <a:solidFill>
                          <a:schemeClr val="tx1"/>
                        </a:solidFill>
                        <a:latin typeface="Arial" panose="020B0604020202020204" pitchFamily="34" charset="0"/>
                        <a:cs typeface="Arial" panose="020B0604020202020204" pitchFamily="34" charset="0"/>
                      </a:endParaRPr>
                    </a:p>
                  </a:txBody>
                  <a:tcPr anchor="ctr"/>
                </a:tc>
                <a:tc>
                  <a:txBody>
                    <a:bodyPr/>
                    <a:lstStyle/>
                    <a:p>
                      <a:pPr algn="ctr"/>
                      <a:r>
                        <a:rPr lang="en-US" sz="2000" dirty="0">
                          <a:solidFill>
                            <a:srgbClr val="1A1A1A"/>
                          </a:solidFill>
                          <a:latin typeface="Arial" panose="020B0604020202020204" pitchFamily="34" charset="0"/>
                          <a:cs typeface="Arial" panose="020B0604020202020204" pitchFamily="34" charset="0"/>
                        </a:rPr>
                        <a:t>Handles many predictors and complex interactions; high accuracy</a:t>
                      </a:r>
                    </a:p>
                  </a:txBody>
                  <a:tcPr anchor="ctr"/>
                </a:tc>
                <a:tc>
                  <a:txBody>
                    <a:bodyPr/>
                    <a:lstStyle/>
                    <a:p>
                      <a:pPr algn="ctr"/>
                      <a:r>
                        <a:rPr lang="en-US" sz="2000">
                          <a:solidFill>
                            <a:srgbClr val="1A1A1A"/>
                          </a:solidFill>
                          <a:latin typeface="Arial" panose="020B0604020202020204" pitchFamily="34" charset="0"/>
                          <a:cs typeface="Arial" panose="020B0604020202020204" pitchFamily="34" charset="0"/>
                        </a:rPr>
                        <a:t>Needs more data; harder to interpret</a:t>
                      </a:r>
                    </a:p>
                  </a:txBody>
                  <a:tcPr anchor="ctr"/>
                </a:tc>
                <a:tc>
                  <a:txBody>
                    <a:bodyPr/>
                    <a:lstStyle/>
                    <a:p>
                      <a:pPr algn="ctr"/>
                      <a:r>
                        <a:rPr lang="en-US" sz="2000" dirty="0">
                          <a:solidFill>
                            <a:srgbClr val="1A1A1A"/>
                          </a:solidFill>
                          <a:latin typeface="Arial" panose="020B0604020202020204" pitchFamily="34" charset="0"/>
                          <a:cs typeface="Arial" panose="020B0604020202020204" pitchFamily="34" charset="0"/>
                        </a:rPr>
                        <a:t>Rich data with many features and nonlinear effects</a:t>
                      </a:r>
                    </a:p>
                  </a:txBody>
                  <a:tcPr anchor="ctr"/>
                </a:tc>
                <a:extLst>
                  <a:ext uri="{0D108BD9-81ED-4DB2-BD59-A6C34878D82A}">
                    <a16:rowId xmlns:a16="http://schemas.microsoft.com/office/drawing/2014/main" val="3668371035"/>
                  </a:ext>
                </a:extLst>
              </a:tr>
              <a:tr h="892416">
                <a:tc>
                  <a:txBody>
                    <a:bodyPr/>
                    <a:lstStyle/>
                    <a:p>
                      <a:pPr algn="ctr"/>
                      <a:r>
                        <a:rPr lang="en-US" sz="2000" b="0" dirty="0">
                          <a:solidFill>
                            <a:schemeClr val="tx1"/>
                          </a:solidFill>
                          <a:latin typeface="Arial" panose="020B0604020202020204" pitchFamily="34" charset="0"/>
                          <a:cs typeface="Arial" panose="020B0604020202020204" pitchFamily="34" charset="0"/>
                        </a:rPr>
                        <a:t>Ensembles</a:t>
                      </a:r>
                    </a:p>
                  </a:txBody>
                  <a:tcPr anchor="ctr"/>
                </a:tc>
                <a:tc>
                  <a:txBody>
                    <a:bodyPr/>
                    <a:lstStyle/>
                    <a:p>
                      <a:pPr algn="ctr"/>
                      <a:r>
                        <a:rPr lang="en-US" sz="2000">
                          <a:solidFill>
                            <a:srgbClr val="1A1A1A"/>
                          </a:solidFill>
                          <a:latin typeface="Arial" panose="020B0604020202020204" pitchFamily="34" charset="0"/>
                          <a:cs typeface="Arial" panose="020B0604020202020204" pitchFamily="34" charset="0"/>
                        </a:rPr>
                        <a:t>Combine models to boost accuracy and stability</a:t>
                      </a:r>
                    </a:p>
                  </a:txBody>
                  <a:tcPr anchor="ctr"/>
                </a:tc>
                <a:tc>
                  <a:txBody>
                    <a:bodyPr/>
                    <a:lstStyle/>
                    <a:p>
                      <a:pPr algn="ctr"/>
                      <a:r>
                        <a:rPr lang="en-US" sz="2000" dirty="0">
                          <a:solidFill>
                            <a:srgbClr val="1A1A1A"/>
                          </a:solidFill>
                          <a:latin typeface="Arial" panose="020B0604020202020204" pitchFamily="34" charset="0"/>
                          <a:cs typeface="Arial" panose="020B0604020202020204" pitchFamily="34" charset="0"/>
                        </a:rPr>
                        <a:t>More complex to build and run; less transparent</a:t>
                      </a:r>
                    </a:p>
                  </a:txBody>
                  <a:tcPr anchor="ctr"/>
                </a:tc>
                <a:tc>
                  <a:txBody>
                    <a:bodyPr/>
                    <a:lstStyle/>
                    <a:p>
                      <a:pPr algn="ctr"/>
                      <a:r>
                        <a:rPr lang="en-US" sz="2000" dirty="0">
                          <a:solidFill>
                            <a:srgbClr val="1A1A1A"/>
                          </a:solidFill>
                          <a:latin typeface="Arial" panose="020B0604020202020204" pitchFamily="34" charset="0"/>
                          <a:cs typeface="Arial" panose="020B0604020202020204" pitchFamily="34" charset="0"/>
                        </a:rPr>
                        <a:t>When robust, reliable forecasts matter most</a:t>
                      </a:r>
                    </a:p>
                  </a:txBody>
                  <a:tcPr anchor="ctr"/>
                </a:tc>
                <a:extLst>
                  <a:ext uri="{0D108BD9-81ED-4DB2-BD59-A6C34878D82A}">
                    <a16:rowId xmlns:a16="http://schemas.microsoft.com/office/drawing/2014/main" val="4290248661"/>
                  </a:ext>
                </a:extLst>
              </a:tr>
            </a:tbl>
          </a:graphicData>
        </a:graphic>
      </p:graphicFrame>
    </p:spTree>
    <p:extLst>
      <p:ext uri="{BB962C8B-B14F-4D97-AF65-F5344CB8AC3E}">
        <p14:creationId xmlns:p14="http://schemas.microsoft.com/office/powerpoint/2010/main" val="19381344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319DC-A763-5948-AD6B-E60742D326DE}"/>
              </a:ext>
            </a:extLst>
          </p:cNvPr>
          <p:cNvSpPr>
            <a:spLocks noGrp="1"/>
          </p:cNvSpPr>
          <p:nvPr>
            <p:ph type="title"/>
          </p:nvPr>
        </p:nvSpPr>
        <p:spPr>
          <a:xfrm>
            <a:off x="838200" y="54351"/>
            <a:ext cx="10515600" cy="1325563"/>
          </a:xfrm>
        </p:spPr>
        <p:txBody>
          <a:bodyPr>
            <a:normAutofit/>
          </a:bodyPr>
          <a:lstStyle/>
          <a:p>
            <a:pPr algn="ctr"/>
            <a:r>
              <a:rPr lang="en-US" b="1" dirty="0">
                <a:solidFill>
                  <a:srgbClr val="7030A0"/>
                </a:solidFill>
                <a:latin typeface="Arial"/>
                <a:cs typeface="Arial"/>
              </a:rPr>
              <a:t>Incorporating Predictors</a:t>
            </a:r>
          </a:p>
        </p:txBody>
      </p:sp>
      <p:sp>
        <p:nvSpPr>
          <p:cNvPr id="3" name="Content Placeholder 2">
            <a:extLst>
              <a:ext uri="{FF2B5EF4-FFF2-40B4-BE49-F238E27FC236}">
                <a16:creationId xmlns:a16="http://schemas.microsoft.com/office/drawing/2014/main" id="{2D0A9F0A-4005-C2BD-9305-33B28D6EB0EC}"/>
              </a:ext>
            </a:extLst>
          </p:cNvPr>
          <p:cNvSpPr>
            <a:spLocks noGrp="1"/>
          </p:cNvSpPr>
          <p:nvPr>
            <p:ph idx="1"/>
          </p:nvPr>
        </p:nvSpPr>
        <p:spPr>
          <a:xfrm>
            <a:off x="838200" y="1524835"/>
            <a:ext cx="10515600" cy="4948154"/>
          </a:xfrm>
        </p:spPr>
        <p:txBody>
          <a:bodyPr>
            <a:noAutofit/>
          </a:bodyPr>
          <a:lstStyle/>
          <a:p>
            <a:pPr marL="285750" indent="-285750" algn="l">
              <a:spcBef>
                <a:spcPts val="0"/>
              </a:spcBef>
              <a:spcAft>
                <a:spcPts val="1200"/>
              </a:spcAft>
              <a:buClr>
                <a:srgbClr val="F56600"/>
              </a:buClr>
              <a:buSzPct val="110000"/>
              <a:buFont typeface="Arial"/>
              <a:buChar char="•"/>
            </a:pPr>
            <a:r>
              <a:rPr lang="en-US" sz="2600" b="1" dirty="0">
                <a:solidFill>
                  <a:srgbClr val="522D80"/>
                </a:solidFill>
                <a:latin typeface="Arial"/>
                <a:cs typeface="Arial"/>
              </a:rPr>
              <a:t>Predictors add external signal </a:t>
            </a:r>
            <a:r>
              <a:rPr lang="en-US" sz="2600" dirty="0">
                <a:solidFill>
                  <a:srgbClr val="333333"/>
                </a:solidFill>
                <a:latin typeface="Arial"/>
                <a:cs typeface="Arial"/>
              </a:rPr>
              <a:t>beyond the outcome’s own history.</a:t>
            </a:r>
            <a:endParaRPr lang="en-US" sz="2600" b="1" dirty="0">
              <a:solidFill>
                <a:srgbClr val="522D80"/>
              </a:solidFill>
              <a:latin typeface="Arial"/>
              <a:cs typeface="Arial"/>
            </a:endParaRPr>
          </a:p>
          <a:p>
            <a:pPr marL="285750" indent="-285750" algn="l">
              <a:spcBef>
                <a:spcPts val="0"/>
              </a:spcBef>
              <a:spcAft>
                <a:spcPts val="1200"/>
              </a:spcAft>
              <a:buClr>
                <a:srgbClr val="F56600"/>
              </a:buClr>
              <a:buSzPct val="110000"/>
              <a:buFont typeface="Arial"/>
              <a:buChar char="•"/>
            </a:pPr>
            <a:r>
              <a:rPr lang="en-US" sz="2600" b="1" dirty="0">
                <a:solidFill>
                  <a:srgbClr val="522D80"/>
                </a:solidFill>
                <a:latin typeface="Arial"/>
                <a:cs typeface="Arial"/>
              </a:rPr>
              <a:t>Target history </a:t>
            </a:r>
            <a:r>
              <a:rPr lang="en-US" sz="2600" dirty="0">
                <a:solidFill>
                  <a:srgbClr val="333333"/>
                </a:solidFill>
                <a:latin typeface="Arial"/>
                <a:cs typeface="Arial"/>
              </a:rPr>
              <a:t>tells us “what has happened.”</a:t>
            </a:r>
            <a:endParaRPr lang="en-US" sz="2600" b="1" dirty="0">
              <a:solidFill>
                <a:srgbClr val="522D80"/>
              </a:solidFill>
              <a:latin typeface="Arial"/>
              <a:cs typeface="Arial"/>
            </a:endParaRPr>
          </a:p>
          <a:p>
            <a:pPr marL="285750" indent="-285750" algn="l">
              <a:spcBef>
                <a:spcPts val="0"/>
              </a:spcBef>
              <a:spcAft>
                <a:spcPts val="1200"/>
              </a:spcAft>
              <a:buClr>
                <a:srgbClr val="F56600"/>
              </a:buClr>
              <a:buSzPct val="110000"/>
              <a:buFont typeface="Arial"/>
              <a:buChar char="•"/>
            </a:pPr>
            <a:r>
              <a:rPr lang="en-US" sz="2600" b="1" dirty="0">
                <a:solidFill>
                  <a:srgbClr val="522D80"/>
                </a:solidFill>
                <a:latin typeface="Arial"/>
                <a:cs typeface="Arial"/>
              </a:rPr>
              <a:t>Predictors </a:t>
            </a:r>
            <a:r>
              <a:rPr lang="en-US" sz="2600" dirty="0">
                <a:solidFill>
                  <a:srgbClr val="333333"/>
                </a:solidFill>
                <a:latin typeface="Arial"/>
                <a:cs typeface="Arial"/>
              </a:rPr>
              <a:t>tell us “what may be changing.”</a:t>
            </a:r>
            <a:endParaRPr lang="en-US" sz="2600" b="1" dirty="0">
              <a:solidFill>
                <a:srgbClr val="522D80"/>
              </a:solidFill>
              <a:latin typeface="Arial"/>
              <a:cs typeface="Arial"/>
            </a:endParaRPr>
          </a:p>
          <a:p>
            <a:pPr marL="285750" indent="-285750" algn="l">
              <a:spcBef>
                <a:spcPts val="0"/>
              </a:spcBef>
              <a:spcAft>
                <a:spcPts val="1200"/>
              </a:spcAft>
              <a:buClr>
                <a:srgbClr val="F56600"/>
              </a:buClr>
              <a:buSzPct val="110000"/>
              <a:buFont typeface="Arial"/>
              <a:buChar char="•"/>
            </a:pPr>
            <a:r>
              <a:rPr lang="en-US" sz="2600" b="1" dirty="0">
                <a:solidFill>
                  <a:srgbClr val="522D80"/>
                </a:solidFill>
                <a:latin typeface="Arial"/>
                <a:cs typeface="Arial"/>
              </a:rPr>
              <a:t>Availability: </a:t>
            </a:r>
            <a:r>
              <a:rPr lang="en-US" sz="2600" dirty="0">
                <a:solidFill>
                  <a:srgbClr val="333333"/>
                </a:solidFill>
                <a:latin typeface="Arial"/>
                <a:cs typeface="Arial"/>
              </a:rPr>
              <a:t>predictors must be known at forecast time.</a:t>
            </a:r>
            <a:endParaRPr lang="en-US" sz="2600" b="1" dirty="0">
              <a:solidFill>
                <a:srgbClr val="522D80"/>
              </a:solidFill>
              <a:latin typeface="Arial"/>
              <a:cs typeface="Arial"/>
            </a:endParaRPr>
          </a:p>
          <a:p>
            <a:pPr marL="285750" indent="-285750" algn="l">
              <a:spcBef>
                <a:spcPts val="0"/>
              </a:spcBef>
              <a:spcAft>
                <a:spcPts val="1200"/>
              </a:spcAft>
              <a:buClr>
                <a:srgbClr val="F56600"/>
              </a:buClr>
              <a:buSzPct val="110000"/>
              <a:buFont typeface="Arial"/>
              <a:buChar char="•"/>
            </a:pPr>
            <a:r>
              <a:rPr lang="en-US" sz="2600" b="1" dirty="0">
                <a:solidFill>
                  <a:srgbClr val="522D80"/>
                </a:solidFill>
                <a:latin typeface="Arial"/>
                <a:cs typeface="Arial"/>
              </a:rPr>
              <a:t>For example, </a:t>
            </a:r>
            <a:r>
              <a:rPr lang="en-US" sz="2600" dirty="0">
                <a:solidFill>
                  <a:srgbClr val="333333"/>
                </a:solidFill>
                <a:latin typeface="Arial"/>
                <a:cs typeface="Arial"/>
              </a:rPr>
              <a:t>signals that can lead hospitalizations:</a:t>
            </a:r>
          </a:p>
          <a:p>
            <a:pPr marL="742950" lvl="1" indent="-285750">
              <a:spcBef>
                <a:spcPts val="700"/>
              </a:spcBef>
              <a:buClr>
                <a:srgbClr val="F56600"/>
              </a:buClr>
              <a:buSzPct val="110000"/>
              <a:buFont typeface="Arial"/>
              <a:buChar char="•"/>
            </a:pPr>
            <a:r>
              <a:rPr lang="en-US" sz="2600" dirty="0">
                <a:solidFill>
                  <a:srgbClr val="333333"/>
                </a:solidFill>
                <a:latin typeface="Arial"/>
                <a:cs typeface="Arial"/>
              </a:rPr>
              <a:t>Influenza RNA in wastewater may precede in-patient hospitalizations by ~2 weeks</a:t>
            </a:r>
          </a:p>
          <a:p>
            <a:pPr marL="742950" lvl="1" indent="-285750">
              <a:spcBef>
                <a:spcPts val="700"/>
              </a:spcBef>
              <a:buClr>
                <a:srgbClr val="F56600"/>
              </a:buClr>
              <a:buSzPct val="110000"/>
              <a:buFont typeface="Arial"/>
              <a:buChar char="•"/>
            </a:pPr>
            <a:r>
              <a:rPr lang="en-US" sz="2600" dirty="0">
                <a:solidFill>
                  <a:srgbClr val="333333"/>
                </a:solidFill>
                <a:latin typeface="Arial"/>
                <a:cs typeface="Arial"/>
              </a:rPr>
              <a:t>Influenza testing / positive labs may precede in-patient hospitalizations by 2 days to 2 weeks</a:t>
            </a:r>
          </a:p>
        </p:txBody>
      </p:sp>
    </p:spTree>
    <p:extLst>
      <p:ext uri="{BB962C8B-B14F-4D97-AF65-F5344CB8AC3E}">
        <p14:creationId xmlns:p14="http://schemas.microsoft.com/office/powerpoint/2010/main" val="266857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D3A62-0EB3-517B-FFA7-165D6E578C77}"/>
              </a:ext>
            </a:extLst>
          </p:cNvPr>
          <p:cNvSpPr>
            <a:spLocks noGrp="1"/>
          </p:cNvSpPr>
          <p:nvPr>
            <p:ph type="title"/>
          </p:nvPr>
        </p:nvSpPr>
        <p:spPr>
          <a:xfrm>
            <a:off x="838200" y="28229"/>
            <a:ext cx="10515600" cy="1325563"/>
          </a:xfrm>
        </p:spPr>
        <p:txBody>
          <a:bodyPr>
            <a:normAutofit/>
          </a:bodyPr>
          <a:lstStyle/>
          <a:p>
            <a:pPr algn="ctr"/>
            <a:r>
              <a:rPr lang="en-US" b="1" dirty="0">
                <a:solidFill>
                  <a:srgbClr val="7030A0"/>
                </a:solidFill>
                <a:latin typeface="Arial"/>
                <a:cs typeface="Arial"/>
              </a:rPr>
              <a:t>ARIMA: Incorporating Predictors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F4198EF-7D7F-B6FC-6493-B5962407FEDF}"/>
                  </a:ext>
                </a:extLst>
              </p:cNvPr>
              <p:cNvSpPr txBox="1"/>
              <p:nvPr/>
            </p:nvSpPr>
            <p:spPr>
              <a:xfrm>
                <a:off x="712694" y="5999624"/>
                <a:ext cx="10766612" cy="707886"/>
              </a:xfrm>
              <a:prstGeom prst="rect">
                <a:avLst/>
              </a:prstGeom>
              <a:solidFill>
                <a:srgbClr val="F7F0ED"/>
              </a:solidFill>
            </p:spPr>
            <p:txBody>
              <a:bodyPr wrap="square" rtlCol="0">
                <a:spAutoFit/>
              </a:bodyPr>
              <a:lstStyle/>
              <a:p>
                <a:pPr algn="ctr"/>
                <a:r>
                  <a:rPr lang="en-US" sz="2000" b="1" dirty="0">
                    <a:solidFill>
                      <a:srgbClr val="333333"/>
                    </a:solidFill>
                    <a:latin typeface="Arial" panose="020B0604020202020204" pitchFamily="34" charset="0"/>
                    <a:cs typeface="Arial" panose="020B0604020202020204" pitchFamily="34" charset="0"/>
                  </a:rPr>
                  <a:t>For example</a:t>
                </a:r>
                <a:r>
                  <a:rPr lang="en-US" sz="2000" dirty="0">
                    <a:solidFill>
                      <a:srgbClr val="333333"/>
                    </a:solidFill>
                    <a:latin typeface="Arial" panose="020B0604020202020204" pitchFamily="34" charset="0"/>
                    <a:cs typeface="Arial" panose="020B0604020202020204" pitchFamily="34" charset="0"/>
                  </a:rPr>
                  <a:t>, </a:t>
                </a:r>
                <a14:m>
                  <m:oMath xmlns:m="http://schemas.openxmlformats.org/officeDocument/2006/math">
                    <m:sSub>
                      <m:sSubPr>
                        <m:ctrlPr>
                          <a:rPr lang="en-US" sz="2000" b="0" i="1" smtClean="0">
                            <a:solidFill>
                              <a:srgbClr val="333333"/>
                            </a:solidFill>
                            <a:latin typeface="Cambria Math" panose="02040503050406030204" pitchFamily="18" charset="0"/>
                          </a:rPr>
                        </m:ctrlPr>
                      </m:sSubPr>
                      <m:e>
                        <m:r>
                          <a:rPr lang="en-US" sz="2000" b="0" i="1" smtClean="0">
                            <a:solidFill>
                              <a:srgbClr val="333333"/>
                            </a:solidFill>
                            <a:latin typeface="Cambria Math" panose="02040503050406030204" pitchFamily="18" charset="0"/>
                          </a:rPr>
                          <m:t>𝑥</m:t>
                        </m:r>
                      </m:e>
                      <m:sub>
                        <m:r>
                          <a:rPr lang="en-US" sz="2000" b="0" i="1" smtClean="0">
                            <a:solidFill>
                              <a:srgbClr val="333333"/>
                            </a:solidFill>
                            <a:latin typeface="Cambria Math" panose="02040503050406030204" pitchFamily="18" charset="0"/>
                          </a:rPr>
                          <m:t>𝑡</m:t>
                        </m:r>
                        <m:r>
                          <a:rPr lang="en-US" sz="2000" b="0" i="1" smtClean="0">
                            <a:solidFill>
                              <a:srgbClr val="333333"/>
                            </a:solidFill>
                            <a:latin typeface="Cambria Math" panose="02040503050406030204" pitchFamily="18" charset="0"/>
                          </a:rPr>
                          <m:t>−</m:t>
                        </m:r>
                        <m:r>
                          <a:rPr lang="en-US" sz="2000" b="0" i="1" smtClean="0">
                            <a:solidFill>
                              <a:srgbClr val="333333"/>
                            </a:solidFill>
                            <a:latin typeface="Cambria Math" panose="02040503050406030204" pitchFamily="18" charset="0"/>
                          </a:rPr>
                          <m:t>𝑙</m:t>
                        </m:r>
                      </m:sub>
                    </m:sSub>
                  </m:oMath>
                </a14:m>
                <a:r>
                  <a:rPr lang="en-US" sz="2000" dirty="0">
                    <a:solidFill>
                      <a:srgbClr val="333333"/>
                    </a:solidFill>
                    <a:latin typeface="Arial" panose="020B0604020202020204" pitchFamily="34" charset="0"/>
                    <a:cs typeface="Arial" panose="020B0604020202020204" pitchFamily="34" charset="0"/>
                  </a:rPr>
                  <a:t> may represent wastewater RNA concentration from 2 weeks ago </a:t>
                </a:r>
                <a14:m>
                  <m:oMath xmlns:m="http://schemas.openxmlformats.org/officeDocument/2006/math">
                    <m:r>
                      <a:rPr lang="en-US" sz="2000" b="0" i="1" smtClean="0">
                        <a:solidFill>
                          <a:srgbClr val="333333"/>
                        </a:solidFill>
                        <a:latin typeface="Cambria Math" panose="02040503050406030204" pitchFamily="18" charset="0"/>
                      </a:rPr>
                      <m:t>(</m:t>
                    </m:r>
                    <m:r>
                      <a:rPr lang="en-US" sz="2000" b="0" i="1" smtClean="0">
                        <a:solidFill>
                          <a:srgbClr val="333333"/>
                        </a:solidFill>
                        <a:latin typeface="Cambria Math" panose="02040503050406030204" pitchFamily="18" charset="0"/>
                      </a:rPr>
                      <m:t>𝑙</m:t>
                    </m:r>
                    <m:r>
                      <a:rPr lang="en-US" sz="2000" b="0" i="1" smtClean="0">
                        <a:solidFill>
                          <a:srgbClr val="333333"/>
                        </a:solidFill>
                        <a:latin typeface="Cambria Math" panose="02040503050406030204" pitchFamily="18" charset="0"/>
                      </a:rPr>
                      <m:t>=2)</m:t>
                    </m:r>
                  </m:oMath>
                </a14:m>
                <a:r>
                  <a:rPr lang="en-US" sz="2000" dirty="0">
                    <a:solidFill>
                      <a:srgbClr val="333333"/>
                    </a:solidFill>
                    <a:latin typeface="Arial" panose="020B0604020202020204" pitchFamily="34" charset="0"/>
                    <a:cs typeface="Arial" panose="020B0604020202020204" pitchFamily="34" charset="0"/>
                  </a:rPr>
                  <a:t> or positive labs for influenza based on EHR records from one week ago </a:t>
                </a:r>
                <a14:m>
                  <m:oMath xmlns:m="http://schemas.openxmlformats.org/officeDocument/2006/math">
                    <m:r>
                      <a:rPr lang="en-US" sz="2000" i="1">
                        <a:solidFill>
                          <a:srgbClr val="333333"/>
                        </a:solidFill>
                        <a:latin typeface="Cambria Math" panose="02040503050406030204" pitchFamily="18" charset="0"/>
                      </a:rPr>
                      <m:t>(</m:t>
                    </m:r>
                    <m:r>
                      <a:rPr lang="en-US" sz="2000" i="1">
                        <a:solidFill>
                          <a:srgbClr val="333333"/>
                        </a:solidFill>
                        <a:latin typeface="Cambria Math" panose="02040503050406030204" pitchFamily="18" charset="0"/>
                      </a:rPr>
                      <m:t>𝑙</m:t>
                    </m:r>
                    <m:r>
                      <a:rPr lang="en-US" sz="2000" i="1">
                        <a:solidFill>
                          <a:srgbClr val="333333"/>
                        </a:solidFill>
                        <a:latin typeface="Cambria Math" panose="02040503050406030204" pitchFamily="18" charset="0"/>
                      </a:rPr>
                      <m:t>=1)</m:t>
                    </m:r>
                  </m:oMath>
                </a14:m>
                <a:endParaRPr lang="en-US" sz="2000" dirty="0">
                  <a:solidFill>
                    <a:srgbClr val="333333"/>
                  </a:solidFill>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EF4198EF-7D7F-B6FC-6493-B5962407FEDF}"/>
                  </a:ext>
                </a:extLst>
              </p:cNvPr>
              <p:cNvSpPr txBox="1">
                <a:spLocks noRot="1" noChangeAspect="1" noMove="1" noResize="1" noEditPoints="1" noAdjustHandles="1" noChangeArrowheads="1" noChangeShapeType="1" noTextEdit="1"/>
              </p:cNvSpPr>
              <p:nvPr/>
            </p:nvSpPr>
            <p:spPr>
              <a:xfrm>
                <a:off x="712694" y="5999624"/>
                <a:ext cx="10766612" cy="707886"/>
              </a:xfrm>
              <a:prstGeom prst="rect">
                <a:avLst/>
              </a:prstGeom>
              <a:blipFill>
                <a:blip r:embed="rId3"/>
                <a:stretch>
                  <a:fillRect l="-227" t="-3448" r="-963" b="-1551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C2278F6-D1D0-E034-CEC6-71D050171FA2}"/>
              </a:ext>
            </a:extLst>
          </p:cNvPr>
          <p:cNvSpPr txBox="1"/>
          <p:nvPr/>
        </p:nvSpPr>
        <p:spPr>
          <a:xfrm>
            <a:off x="882317" y="1305664"/>
            <a:ext cx="1539204" cy="477054"/>
          </a:xfrm>
          <a:prstGeom prst="rect">
            <a:avLst/>
          </a:prstGeom>
          <a:noFill/>
        </p:spPr>
        <p:txBody>
          <a:bodyPr wrap="none" rtlCol="0">
            <a:spAutoFit/>
          </a:bodyPr>
          <a:lstStyle/>
          <a:p>
            <a:r>
              <a:rPr lang="en-US" sz="2500" dirty="0">
                <a:latin typeface="Arial" panose="020B0604020202020204" pitchFamily="34" charset="0"/>
                <a:cs typeface="Arial" panose="020B0604020202020204" pitchFamily="34" charset="0"/>
              </a:rPr>
              <a:t>Formula: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85B9F92-8B2B-6B0B-16B6-8047C8ABD771}"/>
                  </a:ext>
                </a:extLst>
              </p:cNvPr>
              <p:cNvSpPr txBox="1"/>
              <p:nvPr/>
            </p:nvSpPr>
            <p:spPr>
              <a:xfrm>
                <a:off x="3130289" y="1882407"/>
                <a:ext cx="6183110" cy="9316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500" b="0" i="1" smtClean="0">
                              <a:latin typeface="Cambria Math" panose="02040503050406030204" pitchFamily="18" charset="0"/>
                            </a:rPr>
                          </m:ctrlPr>
                        </m:sSubSupPr>
                        <m:e>
                          <m:r>
                            <a:rPr lang="en-US" sz="2500" b="0" i="1" smtClean="0">
                              <a:latin typeface="Cambria Math" panose="02040503050406030204" pitchFamily="18" charset="0"/>
                            </a:rPr>
                            <m:t>𝑦</m:t>
                          </m:r>
                        </m:e>
                        <m:sub>
                          <m:r>
                            <a:rPr lang="en-US" sz="2500" b="0" i="1" smtClean="0">
                              <a:latin typeface="Cambria Math" panose="02040503050406030204" pitchFamily="18" charset="0"/>
                            </a:rPr>
                            <m:t>𝑡</m:t>
                          </m:r>
                        </m:sub>
                        <m:sup>
                          <m:r>
                            <a:rPr lang="en-US" sz="2500" b="0" i="1" smtClean="0">
                              <a:latin typeface="Cambria Math" panose="02040503050406030204" pitchFamily="18" charset="0"/>
                            </a:rPr>
                            <m:t>′</m:t>
                          </m:r>
                        </m:sup>
                      </m:sSubSup>
                      <m:r>
                        <a:rPr lang="en-US" sz="2500" b="0" i="1" smtClean="0">
                          <a:latin typeface="Cambria Math" panose="02040503050406030204" pitchFamily="18" charset="0"/>
                        </a:rPr>
                        <m:t>=</m:t>
                      </m:r>
                      <m:r>
                        <a:rPr lang="en-US" sz="2500" b="0" i="1" smtClean="0">
                          <a:latin typeface="Cambria Math" panose="02040503050406030204" pitchFamily="18" charset="0"/>
                        </a:rPr>
                        <m:t>𝛼</m:t>
                      </m:r>
                      <m:r>
                        <a:rPr lang="en-US" sz="2500" b="0" i="1" smtClean="0">
                          <a:latin typeface="Cambria Math" panose="02040503050406030204" pitchFamily="18" charset="0"/>
                        </a:rPr>
                        <m:t>+</m:t>
                      </m:r>
                      <m:nary>
                        <m:naryPr>
                          <m:chr m:val="∑"/>
                          <m:subHide m:val="on"/>
                          <m:supHide m:val="on"/>
                          <m:ctrlPr>
                            <a:rPr lang="en-US" sz="2500" b="0" i="1" smtClean="0">
                              <a:latin typeface="Cambria Math" panose="02040503050406030204" pitchFamily="18" charset="0"/>
                            </a:rPr>
                          </m:ctrlPr>
                        </m:naryPr>
                        <m:sub/>
                        <m:sup/>
                        <m:e>
                          <m:sSub>
                            <m:sSubPr>
                              <m:ctrlPr>
                                <a:rPr lang="en-US" sz="2500" b="0" i="1" smtClean="0">
                                  <a:latin typeface="Cambria Math" panose="02040503050406030204" pitchFamily="18" charset="0"/>
                                  <a:ea typeface="Cambria Math" panose="02040503050406030204" pitchFamily="18" charset="0"/>
                                </a:rPr>
                              </m:ctrlPr>
                            </m:sSubPr>
                            <m:e>
                              <m:r>
                                <a:rPr lang="en-US" sz="2500" b="0" i="1" smtClean="0">
                                  <a:latin typeface="Cambria Math" panose="02040503050406030204" pitchFamily="18" charset="0"/>
                                  <a:ea typeface="Cambria Math" panose="02040503050406030204" pitchFamily="18" charset="0"/>
                                </a:rPr>
                                <m:t>𝜙</m:t>
                              </m:r>
                            </m:e>
                            <m:sub>
                              <m:r>
                                <a:rPr lang="en-US" sz="2500" b="0" i="1" smtClean="0">
                                  <a:latin typeface="Cambria Math" panose="02040503050406030204" pitchFamily="18" charset="0"/>
                                  <a:ea typeface="Cambria Math" panose="02040503050406030204" pitchFamily="18" charset="0"/>
                                </a:rPr>
                                <m:t>𝑖</m:t>
                              </m:r>
                            </m:sub>
                          </m:sSub>
                          <m:sSubSup>
                            <m:sSubSupPr>
                              <m:ctrlPr>
                                <a:rPr lang="en-US" sz="2500" i="1">
                                  <a:latin typeface="Cambria Math" panose="02040503050406030204" pitchFamily="18" charset="0"/>
                                </a:rPr>
                              </m:ctrlPr>
                            </m:sSubSupPr>
                            <m:e>
                              <m:r>
                                <a:rPr lang="en-US" sz="2500" i="1">
                                  <a:latin typeface="Cambria Math" panose="02040503050406030204" pitchFamily="18" charset="0"/>
                                </a:rPr>
                                <m:t>𝑦</m:t>
                              </m:r>
                            </m:e>
                            <m:sub>
                              <m:r>
                                <a:rPr lang="en-US" sz="2500" i="1">
                                  <a:latin typeface="Cambria Math" panose="02040503050406030204" pitchFamily="18" charset="0"/>
                                </a:rPr>
                                <m:t>𝑡</m:t>
                              </m:r>
                              <m:r>
                                <a:rPr lang="en-US" sz="2500" b="0" i="1" smtClean="0">
                                  <a:latin typeface="Cambria Math" panose="02040503050406030204" pitchFamily="18" charset="0"/>
                                </a:rPr>
                                <m:t>−</m:t>
                              </m:r>
                              <m:r>
                                <a:rPr lang="en-US" sz="2500" b="0" i="1" smtClean="0">
                                  <a:latin typeface="Cambria Math" panose="02040503050406030204" pitchFamily="18" charset="0"/>
                                </a:rPr>
                                <m:t>𝑖</m:t>
                              </m:r>
                            </m:sub>
                            <m:sup>
                              <m:r>
                                <a:rPr lang="en-US" sz="2500" i="1">
                                  <a:latin typeface="Cambria Math" panose="02040503050406030204" pitchFamily="18" charset="0"/>
                                </a:rPr>
                                <m:t>′</m:t>
                              </m:r>
                            </m:sup>
                          </m:sSubSup>
                          <m:r>
                            <a:rPr lang="en-US" sz="2500" b="0" i="1" smtClean="0">
                              <a:latin typeface="Cambria Math" panose="02040503050406030204" pitchFamily="18" charset="0"/>
                            </a:rPr>
                            <m:t>+</m:t>
                          </m:r>
                          <m:nary>
                            <m:naryPr>
                              <m:chr m:val="∑"/>
                              <m:subHide m:val="on"/>
                              <m:supHide m:val="on"/>
                              <m:ctrlPr>
                                <a:rPr lang="en-US" sz="2500" i="1">
                                  <a:latin typeface="Cambria Math" panose="02040503050406030204" pitchFamily="18" charset="0"/>
                                </a:rPr>
                              </m:ctrlPr>
                            </m:naryPr>
                            <m:sub/>
                            <m:sup/>
                            <m:e>
                              <m:sSub>
                                <m:sSubPr>
                                  <m:ctrlPr>
                                    <a:rPr lang="en-US" sz="2500" i="1">
                                      <a:latin typeface="Cambria Math" panose="02040503050406030204" pitchFamily="18" charset="0"/>
                                      <a:ea typeface="Cambria Math" panose="02040503050406030204" pitchFamily="18" charset="0"/>
                                    </a:rPr>
                                  </m:ctrlPr>
                                </m:sSubPr>
                                <m:e>
                                  <m:r>
                                    <a:rPr lang="en-US" sz="2500" i="1" smtClean="0">
                                      <a:latin typeface="Cambria Math" panose="02040503050406030204" pitchFamily="18" charset="0"/>
                                      <a:ea typeface="Cambria Math" panose="02040503050406030204" pitchFamily="18" charset="0"/>
                                    </a:rPr>
                                    <m:t>𝜃</m:t>
                                  </m:r>
                                </m:e>
                                <m:sub>
                                  <m:r>
                                    <a:rPr lang="en-US" sz="2500" b="0" i="1" smtClean="0">
                                      <a:latin typeface="Cambria Math" panose="02040503050406030204" pitchFamily="18" charset="0"/>
                                      <a:ea typeface="Cambria Math" panose="02040503050406030204" pitchFamily="18" charset="0"/>
                                    </a:rPr>
                                    <m:t>𝑗</m:t>
                                  </m:r>
                                </m:sub>
                              </m:sSub>
                              <m:sSub>
                                <m:sSubPr>
                                  <m:ctrlPr>
                                    <a:rPr lang="en-US" sz="2500" b="0" i="1" smtClean="0">
                                      <a:latin typeface="Cambria Math" panose="02040503050406030204" pitchFamily="18" charset="0"/>
                                      <a:ea typeface="Cambria Math" panose="02040503050406030204" pitchFamily="18" charset="0"/>
                                    </a:rPr>
                                  </m:ctrlPr>
                                </m:sSubPr>
                                <m:e>
                                  <m:r>
                                    <a:rPr lang="en-US" sz="2500" i="1" smtClean="0">
                                      <a:latin typeface="Cambria Math" panose="02040503050406030204" pitchFamily="18" charset="0"/>
                                      <a:ea typeface="Cambria Math" panose="02040503050406030204" pitchFamily="18" charset="0"/>
                                    </a:rPr>
                                    <m:t>𝜖</m:t>
                                  </m:r>
                                </m:e>
                                <m:sub>
                                  <m:r>
                                    <a:rPr lang="en-US" sz="2500" b="0" i="1" smtClean="0">
                                      <a:latin typeface="Cambria Math" panose="02040503050406030204" pitchFamily="18" charset="0"/>
                                      <a:ea typeface="Cambria Math" panose="02040503050406030204" pitchFamily="18" charset="0"/>
                                    </a:rPr>
                                    <m:t>𝑡</m:t>
                                  </m:r>
                                  <m:r>
                                    <a:rPr lang="en-US" sz="2500" b="0" i="1" smtClean="0">
                                      <a:latin typeface="Cambria Math" panose="02040503050406030204" pitchFamily="18" charset="0"/>
                                      <a:ea typeface="Cambria Math" panose="02040503050406030204" pitchFamily="18" charset="0"/>
                                    </a:rPr>
                                    <m:t>−</m:t>
                                  </m:r>
                                  <m:r>
                                    <a:rPr lang="en-US" sz="2500" b="0" i="1" smtClean="0">
                                      <a:latin typeface="Cambria Math" panose="02040503050406030204" pitchFamily="18" charset="0"/>
                                      <a:ea typeface="Cambria Math" panose="02040503050406030204" pitchFamily="18" charset="0"/>
                                    </a:rPr>
                                    <m:t>𝑗</m:t>
                                  </m:r>
                                </m:sub>
                              </m:sSub>
                              <m:r>
                                <a:rPr lang="en-US" sz="2500" i="1">
                                  <a:latin typeface="Cambria Math" panose="02040503050406030204" pitchFamily="18" charset="0"/>
                                </a:rPr>
                                <m:t>+</m:t>
                              </m:r>
                              <m:r>
                                <a:rPr lang="en-US" sz="2500" b="0" i="1" smtClean="0">
                                  <a:latin typeface="Cambria Math" panose="02040503050406030204" pitchFamily="18" charset="0"/>
                                </a:rPr>
                                <m:t>𝛽</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𝑥</m:t>
                                  </m:r>
                                </m:e>
                                <m:sub>
                                  <m:r>
                                    <a:rPr lang="en-US" sz="2500" b="0" i="1" smtClean="0">
                                      <a:latin typeface="Cambria Math" panose="02040503050406030204" pitchFamily="18" charset="0"/>
                                    </a:rPr>
                                    <m:t>𝑡</m:t>
                                  </m:r>
                                  <m:r>
                                    <a:rPr lang="en-US" sz="2500" b="0" i="1" smtClean="0">
                                      <a:latin typeface="Cambria Math" panose="02040503050406030204" pitchFamily="18" charset="0"/>
                                    </a:rPr>
                                    <m:t>−ℓ</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ea typeface="Cambria Math" panose="02040503050406030204" pitchFamily="18" charset="0"/>
                                    </a:rPr>
                                  </m:ctrlPr>
                                </m:sSubPr>
                                <m:e>
                                  <m:r>
                                    <a:rPr lang="en-US" sz="2500" b="0" i="1" smtClean="0">
                                      <a:latin typeface="Cambria Math" panose="02040503050406030204" pitchFamily="18" charset="0"/>
                                      <a:ea typeface="Cambria Math" panose="02040503050406030204" pitchFamily="18" charset="0"/>
                                    </a:rPr>
                                    <m:t>𝜖</m:t>
                                  </m:r>
                                </m:e>
                                <m:sub>
                                  <m:r>
                                    <a:rPr lang="en-US" sz="2500" b="0" i="1" smtClean="0">
                                      <a:latin typeface="Cambria Math" panose="02040503050406030204" pitchFamily="18" charset="0"/>
                                      <a:ea typeface="Cambria Math" panose="02040503050406030204" pitchFamily="18" charset="0"/>
                                    </a:rPr>
                                    <m:t>𝑡</m:t>
                                  </m:r>
                                </m:sub>
                              </m:sSub>
                            </m:e>
                          </m:nary>
                        </m:e>
                      </m:nary>
                    </m:oMath>
                  </m:oMathPara>
                </a14:m>
                <a:endParaRPr lang="en-US" sz="2500" dirty="0"/>
              </a:p>
            </p:txBody>
          </p:sp>
        </mc:Choice>
        <mc:Fallback xmlns="">
          <p:sp>
            <p:nvSpPr>
              <p:cNvPr id="7" name="TextBox 6">
                <a:extLst>
                  <a:ext uri="{FF2B5EF4-FFF2-40B4-BE49-F238E27FC236}">
                    <a16:creationId xmlns:a16="http://schemas.microsoft.com/office/drawing/2014/main" id="{185B9F92-8B2B-6B0B-16B6-8047C8ABD771}"/>
                  </a:ext>
                </a:extLst>
              </p:cNvPr>
              <p:cNvSpPr txBox="1">
                <a:spLocks noRot="1" noChangeAspect="1" noMove="1" noResize="1" noEditPoints="1" noAdjustHandles="1" noChangeArrowheads="1" noChangeShapeType="1" noTextEdit="1"/>
              </p:cNvSpPr>
              <p:nvPr/>
            </p:nvSpPr>
            <p:spPr>
              <a:xfrm>
                <a:off x="3130289" y="1882407"/>
                <a:ext cx="6183110" cy="93160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053977FD-1CE6-F770-966F-E5255C1F1DD3}"/>
                  </a:ext>
                </a:extLst>
              </p:cNvPr>
              <p:cNvGraphicFramePr>
                <a:graphicFrameLocks noGrp="1"/>
              </p:cNvGraphicFramePr>
              <p:nvPr>
                <p:extLst>
                  <p:ext uri="{D42A27DB-BD31-4B8C-83A1-F6EECF244321}">
                    <p14:modId xmlns:p14="http://schemas.microsoft.com/office/powerpoint/2010/main" val="1181192183"/>
                  </p:ext>
                </p:extLst>
              </p:nvPr>
            </p:nvGraphicFramePr>
            <p:xfrm>
              <a:off x="712694" y="3070772"/>
              <a:ext cx="10766612" cy="2743199"/>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434897">
                    <a:tc>
                      <a:txBody>
                        <a:bodyPr/>
                        <a:lstStyle/>
                        <a:p>
                          <a:pPr algn="ctr"/>
                          <a14:m>
                            <m:oMathPara xmlns:m="http://schemas.openxmlformats.org/officeDocument/2006/math">
                              <m:oMathParaPr>
                                <m:jc m:val="centerGroup"/>
                              </m:oMathParaPr>
                              <m:oMath xmlns:m="http://schemas.openxmlformats.org/officeDocument/2006/math">
                                <m:sSub>
                                  <m:sSubPr>
                                    <m:ctrlPr>
                                      <a:rPr lang="en-US" sz="1900" b="0" i="1" smtClean="0">
                                        <a:latin typeface="Cambria Math" panose="02040503050406030204" pitchFamily="18" charset="0"/>
                                        <a:cs typeface="Arial" panose="020B0604020202020204" pitchFamily="34" charset="0"/>
                                      </a:rPr>
                                    </m:ctrlPr>
                                  </m:sSubPr>
                                  <m:e>
                                    <m:r>
                                      <a:rPr lang="en-US" sz="1900" b="0" i="1" smtClean="0">
                                        <a:latin typeface="Cambria Math" panose="02040503050406030204" pitchFamily="18" charset="0"/>
                                        <a:cs typeface="Arial" panose="020B0604020202020204" pitchFamily="34" charset="0"/>
                                      </a:rPr>
                                      <m:t>𝑦</m:t>
                                    </m:r>
                                  </m:e>
                                  <m:sub>
                                    <m:r>
                                      <a:rPr lang="en-US" sz="1900" b="0" i="1" smtClean="0">
                                        <a:latin typeface="Cambria Math" panose="02040503050406030204" pitchFamily="18" charset="0"/>
                                        <a:cs typeface="Arial" panose="020B0604020202020204" pitchFamily="34" charset="0"/>
                                      </a:rPr>
                                      <m:t>𝑡</m:t>
                                    </m:r>
                                  </m:sub>
                                </m:sSub>
                              </m:oMath>
                            </m:oMathPara>
                          </a14:m>
                          <a:endParaRPr lang="en-US" sz="19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l"/>
                          <a:r>
                            <a:rPr lang="en-US" sz="1900" dirty="0">
                              <a:latin typeface="Arial" panose="020B0604020202020204" pitchFamily="34" charset="0"/>
                              <a:cs typeface="Arial" panose="020B0604020202020204" pitchFamily="34" charset="0"/>
                            </a:rPr>
                            <a:t>Weekly influenza admissions. </a:t>
                          </a:r>
                        </a:p>
                      </a:txBody>
                      <a:tcPr anchor="ctr">
                        <a:solidFill>
                          <a:schemeClr val="bg1"/>
                        </a:solidFill>
                      </a:tcPr>
                    </a:tc>
                    <a:extLst>
                      <a:ext uri="{0D108BD9-81ED-4DB2-BD59-A6C34878D82A}">
                        <a16:rowId xmlns:a16="http://schemas.microsoft.com/office/drawing/2014/main" val="1232624375"/>
                      </a:ext>
                    </a:extLst>
                  </a:tr>
                  <a:tr h="769434">
                    <a:tc>
                      <a:txBody>
                        <a:bodyPr/>
                        <a:lstStyle/>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𝑡</m:t>
                                    </m:r>
                                    <m:r>
                                      <a:rPr lang="en-US" sz="2000" b="0" i="1" smtClean="0">
                                        <a:latin typeface="Cambria Math" panose="02040503050406030204" pitchFamily="18" charset="0"/>
                                      </a:rPr>
                                      <m:t>−ℓ</m:t>
                                    </m:r>
                                  </m:sub>
                                </m:sSub>
                              </m:oMath>
                            </m:oMathPara>
                          </a14:m>
                          <a:endParaRPr lang="en-US" sz="19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l"/>
                          <a:r>
                            <a:rPr lang="en-US" sz="1900" dirty="0">
                              <a:latin typeface="Arial" panose="020B0604020202020204" pitchFamily="34" charset="0"/>
                              <a:cs typeface="Arial" panose="020B0604020202020204" pitchFamily="34" charset="0"/>
                            </a:rPr>
                            <a:t>The lagged wastewater signal. </a:t>
                          </a:r>
                        </a:p>
                      </a:txBody>
                      <a:tcPr anchor="ctr">
                        <a:solidFill>
                          <a:schemeClr val="bg1"/>
                        </a:solidFill>
                      </a:tcPr>
                    </a:tc>
                    <a:extLst>
                      <a:ext uri="{0D108BD9-81ED-4DB2-BD59-A6C34878D82A}">
                        <a16:rowId xmlns:a16="http://schemas.microsoft.com/office/drawing/2014/main" val="2974297070"/>
                      </a:ext>
                    </a:extLst>
                  </a:tr>
                  <a:tr h="769434">
                    <a:tc>
                      <a:txBody>
                        <a:bodyPr/>
                        <a:lstStyle/>
                        <a:p>
                          <a:pPr algn="ctr"/>
                          <a14:m>
                            <m:oMathPara xmlns:m="http://schemas.openxmlformats.org/officeDocument/2006/math">
                              <m:oMathParaPr>
                                <m:jc m:val="centerGroup"/>
                              </m:oMathParaPr>
                              <m:oMath xmlns:m="http://schemas.openxmlformats.org/officeDocument/2006/math">
                                <m:r>
                                  <m:rPr>
                                    <m:sty m:val="p"/>
                                  </m:rPr>
                                  <a:rPr lang="en-US" sz="1900" b="0" i="1" smtClean="0">
                                    <a:latin typeface="Cambria Math" panose="02040503050406030204" pitchFamily="18" charset="0"/>
                                    <a:cs typeface="Arial" panose="020B0604020202020204" pitchFamily="34" charset="0"/>
                                  </a:rPr>
                                  <m:t>β</m:t>
                                </m:r>
                              </m:oMath>
                            </m:oMathPara>
                          </a14:m>
                          <a:endParaRPr lang="en-US" sz="1900" b="0" dirty="0">
                            <a:latin typeface="Arial" panose="020B0604020202020204" pitchFamily="34" charset="0"/>
                            <a:cs typeface="Arial" panose="020B0604020202020204" pitchFamily="34" charset="0"/>
                          </a:endParaRPr>
                        </a:p>
                      </a:txBody>
                      <a:tcPr anchor="ctr">
                        <a:solidFill>
                          <a:schemeClr val="bg1"/>
                        </a:solidFill>
                      </a:tcPr>
                    </a:tc>
                    <a:tc>
                      <a:txBody>
                        <a:bodyPr/>
                        <a:lstStyle/>
                        <a:p>
                          <a:pPr algn="l"/>
                          <a:r>
                            <a:rPr lang="en-US" sz="1900" dirty="0">
                              <a:latin typeface="Arial" panose="020B0604020202020204" pitchFamily="34" charset="0"/>
                              <a:cs typeface="Arial" panose="020B0604020202020204" pitchFamily="34" charset="0"/>
                            </a:rPr>
                            <a:t>The estimated effect of the predictor. </a:t>
                          </a:r>
                        </a:p>
                      </a:txBody>
                      <a:tcPr anchor="ctr">
                        <a:solidFill>
                          <a:schemeClr val="bg1"/>
                        </a:solidFill>
                      </a:tcPr>
                    </a:tc>
                    <a:extLst>
                      <a:ext uri="{0D108BD9-81ED-4DB2-BD59-A6C34878D82A}">
                        <a16:rowId xmlns:a16="http://schemas.microsoft.com/office/drawing/2014/main" val="2695673171"/>
                      </a:ext>
                    </a:extLst>
                  </a:tr>
                  <a:tr h="769434">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ℓ</m:t>
                                </m:r>
                              </m:oMath>
                            </m:oMathPara>
                          </a14:m>
                          <a:endParaRPr lang="en-US" sz="1900" dirty="0">
                            <a:latin typeface="Arial" panose="020B0604020202020204" pitchFamily="34" charset="0"/>
                            <a:cs typeface="Arial" panose="020B0604020202020204" pitchFamily="34" charset="0"/>
                          </a:endParaRPr>
                        </a:p>
                      </a:txBody>
                      <a:tcPr anchor="ctr">
                        <a:solidFill>
                          <a:schemeClr val="bg1"/>
                        </a:solidFill>
                      </a:tcPr>
                    </a:tc>
                    <a:tc>
                      <a:txBody>
                        <a:bodyPr/>
                        <a:lstStyle/>
                        <a:p>
                          <a:pPr algn="l"/>
                          <a:r>
                            <a:rPr lang="en-US" sz="1900" dirty="0">
                              <a:latin typeface="Arial" panose="020B0604020202020204" pitchFamily="34" charset="0"/>
                              <a:cs typeface="Arial" panose="020B0604020202020204" pitchFamily="34" charset="0"/>
                            </a:rPr>
                            <a:t>The lag chosen based on plausibility/performance. </a:t>
                          </a:r>
                        </a:p>
                      </a:txBody>
                      <a:tcPr anchor="ctr">
                        <a:solidFill>
                          <a:schemeClr val="bg1"/>
                        </a:solidFill>
                      </a:tcPr>
                    </a:tc>
                    <a:extLst>
                      <a:ext uri="{0D108BD9-81ED-4DB2-BD59-A6C34878D82A}">
                        <a16:rowId xmlns:a16="http://schemas.microsoft.com/office/drawing/2014/main" val="1160402683"/>
                      </a:ext>
                    </a:extLst>
                  </a:tr>
                </a:tbl>
              </a:graphicData>
            </a:graphic>
          </p:graphicFrame>
        </mc:Choice>
        <mc:Fallback xmlns="">
          <p:graphicFrame>
            <p:nvGraphicFramePr>
              <p:cNvPr id="8" name="Table 7">
                <a:extLst>
                  <a:ext uri="{FF2B5EF4-FFF2-40B4-BE49-F238E27FC236}">
                    <a16:creationId xmlns:a16="http://schemas.microsoft.com/office/drawing/2014/main" id="{053977FD-1CE6-F770-966F-E5255C1F1DD3}"/>
                  </a:ext>
                </a:extLst>
              </p:cNvPr>
              <p:cNvGraphicFramePr>
                <a:graphicFrameLocks noGrp="1"/>
              </p:cNvGraphicFramePr>
              <p:nvPr>
                <p:extLst>
                  <p:ext uri="{D42A27DB-BD31-4B8C-83A1-F6EECF244321}">
                    <p14:modId xmlns:p14="http://schemas.microsoft.com/office/powerpoint/2010/main" val="1181192183"/>
                  </p:ext>
                </p:extLst>
              </p:nvPr>
            </p:nvGraphicFramePr>
            <p:xfrm>
              <a:off x="712694" y="3070772"/>
              <a:ext cx="10766612" cy="2743199"/>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434897">
                    <a:tc>
                      <a:txBody>
                        <a:bodyPr/>
                        <a:lstStyle/>
                        <a:p>
                          <a:endParaRPr lang="en-US"/>
                        </a:p>
                      </a:txBody>
                      <a:tcPr anchor="ctr">
                        <a:blipFill>
                          <a:blip r:embed="rId5"/>
                          <a:stretch>
                            <a:fillRect l="-833" t="-7042" r="-197000" b="-556338"/>
                          </a:stretch>
                        </a:blipFill>
                      </a:tcPr>
                    </a:tc>
                    <a:tc>
                      <a:txBody>
                        <a:bodyPr/>
                        <a:lstStyle/>
                        <a:p>
                          <a:pPr algn="l"/>
                          <a:r>
                            <a:rPr lang="en-US" sz="1900" dirty="0">
                              <a:latin typeface="Arial" panose="020B0604020202020204" pitchFamily="34" charset="0"/>
                              <a:cs typeface="Arial" panose="020B0604020202020204" pitchFamily="34" charset="0"/>
                            </a:rPr>
                            <a:t>Weekly influenza admissions. </a:t>
                          </a:r>
                        </a:p>
                      </a:txBody>
                      <a:tcPr anchor="ctr">
                        <a:solidFill>
                          <a:schemeClr val="bg1"/>
                        </a:solidFill>
                      </a:tcPr>
                    </a:tc>
                    <a:extLst>
                      <a:ext uri="{0D108BD9-81ED-4DB2-BD59-A6C34878D82A}">
                        <a16:rowId xmlns:a16="http://schemas.microsoft.com/office/drawing/2014/main" val="1232624375"/>
                      </a:ext>
                    </a:extLst>
                  </a:tr>
                  <a:tr h="769434">
                    <a:tc>
                      <a:txBody>
                        <a:bodyPr/>
                        <a:lstStyle/>
                        <a:p>
                          <a:endParaRPr lang="en-US"/>
                        </a:p>
                      </a:txBody>
                      <a:tcPr anchor="ctr">
                        <a:blipFill>
                          <a:blip r:embed="rId5"/>
                          <a:stretch>
                            <a:fillRect l="-833" t="-59843" r="-197000" b="-211024"/>
                          </a:stretch>
                        </a:blipFill>
                      </a:tcPr>
                    </a:tc>
                    <a:tc>
                      <a:txBody>
                        <a:bodyPr/>
                        <a:lstStyle/>
                        <a:p>
                          <a:pPr algn="l"/>
                          <a:r>
                            <a:rPr lang="en-US" sz="1900" dirty="0">
                              <a:latin typeface="Arial" panose="020B0604020202020204" pitchFamily="34" charset="0"/>
                              <a:cs typeface="Arial" panose="020B0604020202020204" pitchFamily="34" charset="0"/>
                            </a:rPr>
                            <a:t>The lagged wastewater signal. </a:t>
                          </a:r>
                        </a:p>
                      </a:txBody>
                      <a:tcPr anchor="ctr">
                        <a:solidFill>
                          <a:schemeClr val="bg1"/>
                        </a:solidFill>
                      </a:tcPr>
                    </a:tc>
                    <a:extLst>
                      <a:ext uri="{0D108BD9-81ED-4DB2-BD59-A6C34878D82A}">
                        <a16:rowId xmlns:a16="http://schemas.microsoft.com/office/drawing/2014/main" val="2974297070"/>
                      </a:ext>
                    </a:extLst>
                  </a:tr>
                  <a:tr h="769434">
                    <a:tc>
                      <a:txBody>
                        <a:bodyPr/>
                        <a:lstStyle/>
                        <a:p>
                          <a:endParaRPr lang="en-US"/>
                        </a:p>
                      </a:txBody>
                      <a:tcPr anchor="ctr">
                        <a:blipFill>
                          <a:blip r:embed="rId5"/>
                          <a:stretch>
                            <a:fillRect l="-833" t="-161111" r="-197000" b="-112698"/>
                          </a:stretch>
                        </a:blipFill>
                      </a:tcPr>
                    </a:tc>
                    <a:tc>
                      <a:txBody>
                        <a:bodyPr/>
                        <a:lstStyle/>
                        <a:p>
                          <a:pPr algn="l"/>
                          <a:r>
                            <a:rPr lang="en-US" sz="1900" dirty="0">
                              <a:latin typeface="Arial" panose="020B0604020202020204" pitchFamily="34" charset="0"/>
                              <a:cs typeface="Arial" panose="020B0604020202020204" pitchFamily="34" charset="0"/>
                            </a:rPr>
                            <a:t>The estimated effect of the predictor. </a:t>
                          </a:r>
                        </a:p>
                      </a:txBody>
                      <a:tcPr anchor="ctr">
                        <a:solidFill>
                          <a:schemeClr val="bg1"/>
                        </a:solidFill>
                      </a:tcPr>
                    </a:tc>
                    <a:extLst>
                      <a:ext uri="{0D108BD9-81ED-4DB2-BD59-A6C34878D82A}">
                        <a16:rowId xmlns:a16="http://schemas.microsoft.com/office/drawing/2014/main" val="2695673171"/>
                      </a:ext>
                    </a:extLst>
                  </a:tr>
                  <a:tr h="769434">
                    <a:tc>
                      <a:txBody>
                        <a:bodyPr/>
                        <a:lstStyle/>
                        <a:p>
                          <a:endParaRPr lang="en-US"/>
                        </a:p>
                      </a:txBody>
                      <a:tcPr anchor="ctr">
                        <a:blipFill>
                          <a:blip r:embed="rId5"/>
                          <a:stretch>
                            <a:fillRect l="-833" t="-259055" r="-197000" b="-11811"/>
                          </a:stretch>
                        </a:blipFill>
                      </a:tcPr>
                    </a:tc>
                    <a:tc>
                      <a:txBody>
                        <a:bodyPr/>
                        <a:lstStyle/>
                        <a:p>
                          <a:pPr algn="l"/>
                          <a:r>
                            <a:rPr lang="en-US" sz="1900" dirty="0">
                              <a:latin typeface="Arial" panose="020B0604020202020204" pitchFamily="34" charset="0"/>
                              <a:cs typeface="Arial" panose="020B0604020202020204" pitchFamily="34" charset="0"/>
                            </a:rPr>
                            <a:t>The lag chosen based on plausibility/performance. </a:t>
                          </a:r>
                        </a:p>
                      </a:txBody>
                      <a:tcPr anchor="ctr">
                        <a:solidFill>
                          <a:schemeClr val="bg1"/>
                        </a:solidFill>
                      </a:tcPr>
                    </a:tc>
                    <a:extLst>
                      <a:ext uri="{0D108BD9-81ED-4DB2-BD59-A6C34878D82A}">
                        <a16:rowId xmlns:a16="http://schemas.microsoft.com/office/drawing/2014/main" val="1160402683"/>
                      </a:ext>
                    </a:extLst>
                  </a:tr>
                </a:tbl>
              </a:graphicData>
            </a:graphic>
          </p:graphicFrame>
        </mc:Fallback>
      </mc:AlternateContent>
    </p:spTree>
    <p:extLst>
      <p:ext uri="{BB962C8B-B14F-4D97-AF65-F5344CB8AC3E}">
        <p14:creationId xmlns:p14="http://schemas.microsoft.com/office/powerpoint/2010/main" val="15686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AF26F47-0F6F-5B58-DC2E-0DAF86BDA91D}"/>
              </a:ext>
            </a:extLst>
          </p:cNvPr>
          <p:cNvPicPr>
            <a:picLocks noChangeAspect="1"/>
          </p:cNvPicPr>
          <p:nvPr/>
        </p:nvPicPr>
        <p:blipFill>
          <a:blip r:embed="rId3"/>
          <a:srcRect t="12305"/>
          <a:stretch>
            <a:fillRect/>
          </a:stretch>
        </p:blipFill>
        <p:spPr>
          <a:xfrm>
            <a:off x="1912412" y="1552073"/>
            <a:ext cx="8367176" cy="5101391"/>
          </a:xfrm>
          <a:prstGeom prst="rect">
            <a:avLst/>
          </a:prstGeom>
        </p:spPr>
      </p:pic>
      <p:sp>
        <p:nvSpPr>
          <p:cNvPr id="7" name="TextBox 6">
            <a:extLst>
              <a:ext uri="{FF2B5EF4-FFF2-40B4-BE49-F238E27FC236}">
                <a16:creationId xmlns:a16="http://schemas.microsoft.com/office/drawing/2014/main" id="{FB72976A-8413-4247-9973-5C52020A3DFD}"/>
              </a:ext>
            </a:extLst>
          </p:cNvPr>
          <p:cNvSpPr txBox="1"/>
          <p:nvPr/>
        </p:nvSpPr>
        <p:spPr>
          <a:xfrm>
            <a:off x="84221" y="45413"/>
            <a:ext cx="12107779" cy="1446550"/>
          </a:xfrm>
          <a:prstGeom prst="rect">
            <a:avLst/>
          </a:prstGeom>
          <a:noFill/>
        </p:spPr>
        <p:txBody>
          <a:bodyPr vertOverflow="overflow" vert="horz" wrap="square" rtlCol="0" anchor="ctr" anchorCtr="0">
            <a:spAutoFit/>
          </a:bodyPr>
          <a:lstStyle/>
          <a:p>
            <a:pPr algn="ctr"/>
            <a:r>
              <a:rPr lang="en-US" sz="4400" b="1" dirty="0">
                <a:solidFill>
                  <a:srgbClr val="7030A0"/>
                </a:solidFill>
                <a:latin typeface="Arial"/>
                <a:cs typeface="Arial"/>
              </a:rPr>
              <a:t>Positive Tests as a Leading Indicator (South Carolina)</a:t>
            </a:r>
          </a:p>
        </p:txBody>
      </p:sp>
    </p:spTree>
    <p:extLst>
      <p:ext uri="{BB962C8B-B14F-4D97-AF65-F5344CB8AC3E}">
        <p14:creationId xmlns:p14="http://schemas.microsoft.com/office/powerpoint/2010/main" val="12119846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352" y="400650"/>
            <a:ext cx="11277295" cy="822960"/>
          </a:xfrm>
          <a:prstGeom prst="rect">
            <a:avLst/>
          </a:prstGeom>
          <a:noFill/>
          <a:ln/>
        </p:spPr>
        <p:txBody>
          <a:bodyPr wrap="square" rtlCol="0" anchor="ctr"/>
          <a:lstStyle/>
          <a:p>
            <a:pPr marL="0" indent="0" algn="ctr">
              <a:buNone/>
            </a:pPr>
            <a:r>
              <a:rPr lang="en-US" sz="4400" b="1" dirty="0">
                <a:solidFill>
                  <a:srgbClr val="7030A0"/>
                </a:solidFill>
                <a:latin typeface="Arial" pitchFamily="34" charset="0"/>
                <a:ea typeface="Arial" pitchFamily="34" charset="-122"/>
                <a:cs typeface="Arial" pitchFamily="34" charset="-120"/>
              </a:rPr>
              <a:t>Training and Testing Periods</a:t>
            </a:r>
            <a:endParaRPr lang="en-US" sz="4400" dirty="0"/>
          </a:p>
        </p:txBody>
      </p:sp>
      <p:sp>
        <p:nvSpPr>
          <p:cNvPr id="3" name="Shape 1"/>
          <p:cNvSpPr/>
          <p:nvPr/>
        </p:nvSpPr>
        <p:spPr>
          <a:xfrm>
            <a:off x="612648" y="1696450"/>
            <a:ext cx="5175504" cy="4526280"/>
          </a:xfrm>
          <a:prstGeom prst="roundRect">
            <a:avLst>
              <a:gd name="adj" fmla="val 4444"/>
            </a:avLst>
          </a:prstGeom>
          <a:solidFill>
            <a:srgbClr val="FEEFE5"/>
          </a:solidFill>
          <a:ln>
            <a:solidFill>
              <a:srgbClr val="FEEFE5"/>
            </a:solidFill>
          </a:ln>
          <a:effectLst>
            <a:outerShdw blurRad="88900" dist="25400" dir="5400000" algn="bl" rotWithShape="0">
              <a:srgbClr val="8A7AA0">
                <a:alpha val="22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890016" y="1934194"/>
            <a:ext cx="740665" cy="740665"/>
          </a:xfrm>
          <a:prstGeom prst="rect">
            <a:avLst/>
          </a:prstGeom>
        </p:spPr>
      </p:pic>
      <p:sp>
        <p:nvSpPr>
          <p:cNvPr id="5" name="Text 2"/>
          <p:cNvSpPr/>
          <p:nvPr/>
        </p:nvSpPr>
        <p:spPr>
          <a:xfrm>
            <a:off x="1719072" y="2080498"/>
            <a:ext cx="3803904" cy="548640"/>
          </a:xfrm>
          <a:prstGeom prst="rect">
            <a:avLst/>
          </a:prstGeom>
          <a:noFill/>
          <a:ln/>
        </p:spPr>
        <p:txBody>
          <a:bodyPr wrap="square" rtlCol="0" anchor="ctr"/>
          <a:lstStyle/>
          <a:p>
            <a:pPr marL="0" indent="0">
              <a:buNone/>
            </a:pPr>
            <a:r>
              <a:rPr lang="en-US" sz="2700" b="1" dirty="0">
                <a:solidFill>
                  <a:srgbClr val="7030A0"/>
                </a:solidFill>
                <a:latin typeface="Arial" pitchFamily="34" charset="0"/>
                <a:ea typeface="Arial" pitchFamily="34" charset="-122"/>
                <a:cs typeface="Arial" pitchFamily="34" charset="-120"/>
              </a:rPr>
              <a:t>Training</a:t>
            </a:r>
            <a:endParaRPr lang="en-US" sz="2700" dirty="0"/>
          </a:p>
        </p:txBody>
      </p:sp>
      <p:sp>
        <p:nvSpPr>
          <p:cNvPr id="6" name="Text 3"/>
          <p:cNvSpPr/>
          <p:nvPr/>
        </p:nvSpPr>
        <p:spPr>
          <a:xfrm>
            <a:off x="1024128" y="2902015"/>
            <a:ext cx="4352544" cy="1234440"/>
          </a:xfrm>
          <a:prstGeom prst="rect">
            <a:avLst/>
          </a:prstGeom>
          <a:noFill/>
          <a:ln/>
        </p:spPr>
        <p:txBody>
          <a:bodyPr wrap="square" rtlCol="0" anchor="t"/>
          <a:lstStyle/>
          <a:p>
            <a:pPr marL="0" indent="0">
              <a:lnSpc>
                <a:spcPct val="108000"/>
              </a:lnSpc>
              <a:buNone/>
            </a:pPr>
            <a:r>
              <a:rPr lang="en-US" dirty="0">
                <a:solidFill>
                  <a:srgbClr val="1A1A1A"/>
                </a:solidFill>
                <a:latin typeface="Arial" pitchFamily="34" charset="0"/>
                <a:ea typeface="Arial" pitchFamily="34" charset="-122"/>
                <a:cs typeface="Arial" pitchFamily="34" charset="-120"/>
              </a:rPr>
              <a:t>The past data the model learns from. It studies examples where the outcome is already known and adjusts to capture the patterns.</a:t>
            </a:r>
            <a:endParaRPr lang="en-US" dirty="0"/>
          </a:p>
        </p:txBody>
      </p:sp>
      <p:sp>
        <p:nvSpPr>
          <p:cNvPr id="7" name="Text 4"/>
          <p:cNvSpPr/>
          <p:nvPr/>
        </p:nvSpPr>
        <p:spPr>
          <a:xfrm>
            <a:off x="1024128" y="4259175"/>
            <a:ext cx="4352544" cy="640080"/>
          </a:xfrm>
          <a:prstGeom prst="rect">
            <a:avLst/>
          </a:prstGeom>
          <a:noFill/>
          <a:ln/>
        </p:spPr>
        <p:txBody>
          <a:bodyPr wrap="square" rtlCol="0" anchor="t"/>
          <a:lstStyle/>
          <a:p>
            <a:pPr marL="0" indent="0">
              <a:lnSpc>
                <a:spcPct val="105000"/>
              </a:lnSpc>
              <a:buNone/>
            </a:pPr>
            <a:r>
              <a:rPr lang="en-US" i="1" dirty="0">
                <a:solidFill>
                  <a:srgbClr val="7030A0"/>
                </a:solidFill>
                <a:latin typeface="Arial" pitchFamily="34" charset="0"/>
                <a:ea typeface="Arial" pitchFamily="34" charset="-122"/>
                <a:cs typeface="Arial" pitchFamily="34" charset="-120"/>
              </a:rPr>
              <a:t>Like studying practice problems with the answer key.</a:t>
            </a:r>
            <a:endParaRPr lang="en-US" dirty="0"/>
          </a:p>
        </p:txBody>
      </p:sp>
      <p:sp>
        <p:nvSpPr>
          <p:cNvPr id="8" name="Shape 5"/>
          <p:cNvSpPr/>
          <p:nvPr/>
        </p:nvSpPr>
        <p:spPr>
          <a:xfrm>
            <a:off x="1024128" y="5006578"/>
            <a:ext cx="4352544" cy="0"/>
          </a:xfrm>
          <a:prstGeom prst="line">
            <a:avLst/>
          </a:prstGeom>
          <a:noFill/>
          <a:ln w="19050">
            <a:solidFill>
              <a:srgbClr val="D9CBEA"/>
            </a:solidFill>
            <a:prstDash val="solid"/>
          </a:ln>
        </p:spPr>
        <p:txBody>
          <a:bodyPr/>
          <a:lstStyle/>
          <a:p>
            <a:endParaRPr lang="en-US"/>
          </a:p>
        </p:txBody>
      </p:sp>
      <p:sp>
        <p:nvSpPr>
          <p:cNvPr id="9" name="Text 6"/>
          <p:cNvSpPr/>
          <p:nvPr/>
        </p:nvSpPr>
        <p:spPr>
          <a:xfrm>
            <a:off x="1024128" y="5116306"/>
            <a:ext cx="4352544" cy="274320"/>
          </a:xfrm>
          <a:prstGeom prst="rect">
            <a:avLst/>
          </a:prstGeom>
          <a:noFill/>
          <a:ln/>
        </p:spPr>
        <p:txBody>
          <a:bodyPr wrap="square" rtlCol="0" anchor="ctr"/>
          <a:lstStyle/>
          <a:p>
            <a:pPr marL="0" indent="0">
              <a:buNone/>
            </a:pPr>
            <a:r>
              <a:rPr lang="en-US" sz="1200" b="1" kern="0" spc="200" dirty="0">
                <a:solidFill>
                  <a:srgbClr val="7030A0"/>
                </a:solidFill>
                <a:latin typeface="Arial" pitchFamily="34" charset="0"/>
                <a:ea typeface="Arial" pitchFamily="34" charset="-122"/>
                <a:cs typeface="Arial" pitchFamily="34" charset="-120"/>
              </a:rPr>
              <a:t>OUR TRAINING PERIOD</a:t>
            </a:r>
            <a:endParaRPr lang="en-US" sz="1200" dirty="0"/>
          </a:p>
        </p:txBody>
      </p:sp>
      <p:sp>
        <p:nvSpPr>
          <p:cNvPr id="10" name="Text 7"/>
          <p:cNvSpPr/>
          <p:nvPr/>
        </p:nvSpPr>
        <p:spPr>
          <a:xfrm>
            <a:off x="1024128" y="5401213"/>
            <a:ext cx="4352544" cy="365760"/>
          </a:xfrm>
          <a:prstGeom prst="rect">
            <a:avLst/>
          </a:prstGeom>
          <a:noFill/>
          <a:ln/>
        </p:spPr>
        <p:txBody>
          <a:bodyPr wrap="square" rtlCol="0" anchor="ctr"/>
          <a:lstStyle/>
          <a:p>
            <a:pPr marL="0" indent="0">
              <a:buNone/>
            </a:pPr>
            <a:r>
              <a:rPr lang="en-US" sz="1900" b="1" dirty="0">
                <a:solidFill>
                  <a:srgbClr val="1A1A1A"/>
                </a:solidFill>
                <a:latin typeface="Arial" pitchFamily="34" charset="0"/>
                <a:ea typeface="Arial" pitchFamily="34" charset="-122"/>
                <a:cs typeface="Arial" pitchFamily="34" charset="-120"/>
              </a:rPr>
              <a:t>2020-08-08  →  2025-05-16</a:t>
            </a:r>
            <a:endParaRPr lang="en-US" sz="1900" dirty="0"/>
          </a:p>
        </p:txBody>
      </p:sp>
      <p:sp>
        <p:nvSpPr>
          <p:cNvPr id="11" name="Text 8"/>
          <p:cNvSpPr/>
          <p:nvPr/>
        </p:nvSpPr>
        <p:spPr>
          <a:xfrm>
            <a:off x="1024128" y="5774674"/>
            <a:ext cx="4352544" cy="320040"/>
          </a:xfrm>
          <a:prstGeom prst="rect">
            <a:avLst/>
          </a:prstGeom>
          <a:noFill/>
          <a:ln/>
        </p:spPr>
        <p:txBody>
          <a:bodyPr wrap="square" rtlCol="0" anchor="ctr"/>
          <a:lstStyle/>
          <a:p>
            <a:pPr marL="0" indent="0">
              <a:buNone/>
            </a:pPr>
            <a:r>
              <a:rPr lang="en-US" sz="1250" i="1" dirty="0">
                <a:solidFill>
                  <a:srgbClr val="6A7178"/>
                </a:solidFill>
                <a:latin typeface="Arial" pitchFamily="34" charset="0"/>
                <a:ea typeface="Arial" pitchFamily="34" charset="-122"/>
                <a:cs typeface="Arial" pitchFamily="34" charset="-120"/>
              </a:rPr>
              <a:t>Rolling Window (grows one week at a time)</a:t>
            </a:r>
            <a:endParaRPr lang="en-US" sz="1250" dirty="0"/>
          </a:p>
        </p:txBody>
      </p:sp>
      <p:sp>
        <p:nvSpPr>
          <p:cNvPr id="12" name="Shape 9"/>
          <p:cNvSpPr/>
          <p:nvPr/>
        </p:nvSpPr>
        <p:spPr>
          <a:xfrm>
            <a:off x="6400800" y="1696450"/>
            <a:ext cx="5175504" cy="4526280"/>
          </a:xfrm>
          <a:prstGeom prst="roundRect">
            <a:avLst>
              <a:gd name="adj" fmla="val 4444"/>
            </a:avLst>
          </a:prstGeom>
          <a:solidFill>
            <a:srgbClr val="FEEFE5"/>
          </a:solidFill>
          <a:ln>
            <a:solidFill>
              <a:srgbClr val="FEEFE5"/>
            </a:solidFill>
          </a:ln>
          <a:effectLst>
            <a:outerShdw blurRad="88900" dist="25400" dir="5400000" algn="bl" rotWithShape="0">
              <a:srgbClr val="8A7AA0">
                <a:alpha val="22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755891" y="1934195"/>
            <a:ext cx="740664" cy="740664"/>
          </a:xfrm>
          <a:prstGeom prst="rect">
            <a:avLst/>
          </a:prstGeom>
        </p:spPr>
      </p:pic>
      <p:sp>
        <p:nvSpPr>
          <p:cNvPr id="14" name="Text 10"/>
          <p:cNvSpPr/>
          <p:nvPr/>
        </p:nvSpPr>
        <p:spPr>
          <a:xfrm>
            <a:off x="7496555" y="2080498"/>
            <a:ext cx="3803904" cy="548640"/>
          </a:xfrm>
          <a:prstGeom prst="rect">
            <a:avLst/>
          </a:prstGeom>
          <a:noFill/>
          <a:ln/>
        </p:spPr>
        <p:txBody>
          <a:bodyPr wrap="square" rtlCol="0" anchor="ctr"/>
          <a:lstStyle/>
          <a:p>
            <a:pPr marL="0" indent="0">
              <a:buNone/>
            </a:pPr>
            <a:r>
              <a:rPr lang="en-US" sz="2700" b="1" dirty="0">
                <a:solidFill>
                  <a:srgbClr val="7030A0"/>
                </a:solidFill>
                <a:latin typeface="Arial" pitchFamily="34" charset="0"/>
                <a:ea typeface="Arial" pitchFamily="34" charset="-122"/>
                <a:cs typeface="Arial" pitchFamily="34" charset="-120"/>
              </a:rPr>
              <a:t>Testing</a:t>
            </a:r>
            <a:endParaRPr lang="en-US" sz="2700" dirty="0"/>
          </a:p>
        </p:txBody>
      </p:sp>
      <p:sp>
        <p:nvSpPr>
          <p:cNvPr id="15" name="Text 11"/>
          <p:cNvSpPr/>
          <p:nvPr/>
        </p:nvSpPr>
        <p:spPr>
          <a:xfrm>
            <a:off x="6947915" y="2789158"/>
            <a:ext cx="4352544" cy="1234440"/>
          </a:xfrm>
          <a:prstGeom prst="rect">
            <a:avLst/>
          </a:prstGeom>
          <a:noFill/>
          <a:ln/>
        </p:spPr>
        <p:txBody>
          <a:bodyPr wrap="square" rtlCol="0" anchor="t"/>
          <a:lstStyle/>
          <a:p>
            <a:pPr marL="0" indent="0">
              <a:lnSpc>
                <a:spcPct val="108000"/>
              </a:lnSpc>
              <a:buNone/>
            </a:pPr>
            <a:r>
              <a:rPr lang="en-US" dirty="0">
                <a:solidFill>
                  <a:srgbClr val="1A1A1A"/>
                </a:solidFill>
                <a:latin typeface="Arial" pitchFamily="34" charset="0"/>
                <a:ea typeface="Arial" pitchFamily="34" charset="-122"/>
                <a:cs typeface="Arial" pitchFamily="34" charset="-120"/>
              </a:rPr>
              <a:t>Fresh data the model has not seen. We use it to check how well the model really forecasts, by comparing its predictions to the real outcomes.</a:t>
            </a:r>
            <a:endParaRPr lang="en-US" dirty="0"/>
          </a:p>
        </p:txBody>
      </p:sp>
      <p:sp>
        <p:nvSpPr>
          <p:cNvPr id="16" name="Text 12"/>
          <p:cNvSpPr/>
          <p:nvPr/>
        </p:nvSpPr>
        <p:spPr>
          <a:xfrm>
            <a:off x="6947914" y="4211050"/>
            <a:ext cx="4216909" cy="640080"/>
          </a:xfrm>
          <a:prstGeom prst="rect">
            <a:avLst/>
          </a:prstGeom>
          <a:noFill/>
          <a:ln/>
        </p:spPr>
        <p:txBody>
          <a:bodyPr wrap="square" rtlCol="0" anchor="t"/>
          <a:lstStyle/>
          <a:p>
            <a:pPr marL="0" indent="0">
              <a:lnSpc>
                <a:spcPct val="105000"/>
              </a:lnSpc>
              <a:buNone/>
            </a:pPr>
            <a:r>
              <a:rPr lang="en-US" i="1" dirty="0">
                <a:solidFill>
                  <a:srgbClr val="7030A0"/>
                </a:solidFill>
                <a:latin typeface="Arial" pitchFamily="34" charset="0"/>
                <a:ea typeface="Arial" pitchFamily="34" charset="-122"/>
                <a:cs typeface="Arial" pitchFamily="34" charset="-120"/>
              </a:rPr>
              <a:t>Like sitting an exam with new questions.</a:t>
            </a:r>
            <a:endParaRPr lang="en-US" dirty="0"/>
          </a:p>
        </p:txBody>
      </p:sp>
      <p:sp>
        <p:nvSpPr>
          <p:cNvPr id="17" name="Shape 13"/>
          <p:cNvSpPr/>
          <p:nvPr/>
        </p:nvSpPr>
        <p:spPr>
          <a:xfrm>
            <a:off x="6812280" y="5006578"/>
            <a:ext cx="4352544" cy="0"/>
          </a:xfrm>
          <a:prstGeom prst="line">
            <a:avLst/>
          </a:prstGeom>
          <a:noFill/>
          <a:ln w="19050">
            <a:solidFill>
              <a:srgbClr val="D9CBEA"/>
            </a:solidFill>
            <a:prstDash val="solid"/>
          </a:ln>
        </p:spPr>
        <p:txBody>
          <a:bodyPr/>
          <a:lstStyle/>
          <a:p>
            <a:endParaRPr lang="en-US"/>
          </a:p>
        </p:txBody>
      </p:sp>
      <p:sp>
        <p:nvSpPr>
          <p:cNvPr id="18" name="Text 14"/>
          <p:cNvSpPr/>
          <p:nvPr/>
        </p:nvSpPr>
        <p:spPr>
          <a:xfrm>
            <a:off x="6812280" y="5116306"/>
            <a:ext cx="4352544" cy="274320"/>
          </a:xfrm>
          <a:prstGeom prst="rect">
            <a:avLst/>
          </a:prstGeom>
          <a:noFill/>
          <a:ln/>
        </p:spPr>
        <p:txBody>
          <a:bodyPr wrap="square" rtlCol="0" anchor="ctr"/>
          <a:lstStyle/>
          <a:p>
            <a:pPr marL="0" indent="0">
              <a:buNone/>
            </a:pPr>
            <a:r>
              <a:rPr lang="en-US" sz="1200" b="1" kern="0" spc="200" dirty="0">
                <a:solidFill>
                  <a:srgbClr val="7030A0"/>
                </a:solidFill>
                <a:latin typeface="Arial" pitchFamily="34" charset="0"/>
                <a:ea typeface="Arial" pitchFamily="34" charset="-122"/>
                <a:cs typeface="Arial" pitchFamily="34" charset="-120"/>
              </a:rPr>
              <a:t>OUR TESTING PERIOD</a:t>
            </a:r>
            <a:endParaRPr lang="en-US" sz="1200" dirty="0"/>
          </a:p>
        </p:txBody>
      </p:sp>
      <p:sp>
        <p:nvSpPr>
          <p:cNvPr id="19" name="Text 15"/>
          <p:cNvSpPr/>
          <p:nvPr/>
        </p:nvSpPr>
        <p:spPr>
          <a:xfrm>
            <a:off x="6812280" y="5410838"/>
            <a:ext cx="4352544" cy="365760"/>
          </a:xfrm>
          <a:prstGeom prst="rect">
            <a:avLst/>
          </a:prstGeom>
          <a:noFill/>
          <a:ln/>
        </p:spPr>
        <p:txBody>
          <a:bodyPr wrap="square" rtlCol="0" anchor="ctr"/>
          <a:lstStyle/>
          <a:p>
            <a:pPr marL="0" indent="0">
              <a:buNone/>
            </a:pPr>
            <a:r>
              <a:rPr lang="en-US" sz="1900" b="1" dirty="0">
                <a:solidFill>
                  <a:srgbClr val="1A1A1A"/>
                </a:solidFill>
                <a:latin typeface="Arial" pitchFamily="34" charset="0"/>
                <a:ea typeface="Arial" pitchFamily="34" charset="-122"/>
                <a:cs typeface="Arial" pitchFamily="34" charset="-120"/>
              </a:rPr>
              <a:t>2025-10-04  →  2026-06-06</a:t>
            </a:r>
            <a:endParaRPr lang="en-US" sz="1900" dirty="0"/>
          </a:p>
        </p:txBody>
      </p:sp>
      <p:sp>
        <p:nvSpPr>
          <p:cNvPr id="20" name="Text 16"/>
          <p:cNvSpPr/>
          <p:nvPr/>
        </p:nvSpPr>
        <p:spPr>
          <a:xfrm>
            <a:off x="6812280" y="5774674"/>
            <a:ext cx="4352544" cy="320040"/>
          </a:xfrm>
          <a:prstGeom prst="rect">
            <a:avLst/>
          </a:prstGeom>
          <a:noFill/>
          <a:ln/>
        </p:spPr>
        <p:txBody>
          <a:bodyPr wrap="square" rtlCol="0" anchor="ctr"/>
          <a:lstStyle/>
          <a:p>
            <a:pPr marL="0" indent="0">
              <a:buNone/>
            </a:pPr>
            <a:r>
              <a:rPr lang="en-US" sz="1250" i="1" dirty="0">
                <a:solidFill>
                  <a:srgbClr val="6A7178"/>
                </a:solidFill>
                <a:latin typeface="Arial" pitchFamily="34" charset="0"/>
                <a:ea typeface="Arial" pitchFamily="34" charset="-122"/>
                <a:cs typeface="Arial" pitchFamily="34" charset="-120"/>
              </a:rPr>
              <a:t>Rolling Window; Held out to score the forecasts</a:t>
            </a:r>
            <a:endParaRPr lang="en-US" sz="12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0AA324-40DD-A63E-F714-F8681E573A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90500"/>
            <a:ext cx="11430000" cy="6477000"/>
          </a:xfrm>
          <a:prstGeom prst="rect">
            <a:avLst/>
          </a:prstGeom>
        </p:spPr>
      </p:pic>
    </p:spTree>
    <p:extLst>
      <p:ext uri="{BB962C8B-B14F-4D97-AF65-F5344CB8AC3E}">
        <p14:creationId xmlns:p14="http://schemas.microsoft.com/office/powerpoint/2010/main" val="25513821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83840"/>
            <a:ext cx="11274552" cy="777240"/>
          </a:xfrm>
          <a:prstGeom prst="rect">
            <a:avLst/>
          </a:prstGeom>
          <a:noFill/>
          <a:ln/>
        </p:spPr>
        <p:txBody>
          <a:bodyPr wrap="square" rtlCol="0" anchor="ctr"/>
          <a:lstStyle/>
          <a:p>
            <a:pPr marL="0" indent="0" algn="ctr">
              <a:buNone/>
            </a:pPr>
            <a:r>
              <a:rPr lang="en-US" sz="4400" b="1" dirty="0">
                <a:solidFill>
                  <a:srgbClr val="7030A0"/>
                </a:solidFill>
                <a:latin typeface="Arial" pitchFamily="34" charset="0"/>
                <a:ea typeface="Arial" pitchFamily="34" charset="-122"/>
                <a:cs typeface="Arial" pitchFamily="34" charset="-120"/>
              </a:rPr>
              <a:t>Overview: Model Evaluation</a:t>
            </a:r>
            <a:endParaRPr lang="en-US" sz="4400" dirty="0">
              <a:solidFill>
                <a:srgbClr val="7030A0"/>
              </a:solidFill>
            </a:endParaRPr>
          </a:p>
        </p:txBody>
      </p:sp>
      <p:sp>
        <p:nvSpPr>
          <p:cNvPr id="3" name="Text 1"/>
          <p:cNvSpPr/>
          <p:nvPr/>
        </p:nvSpPr>
        <p:spPr>
          <a:xfrm>
            <a:off x="621792" y="1182463"/>
            <a:ext cx="10881360" cy="1304239"/>
          </a:xfrm>
          <a:prstGeom prst="rect">
            <a:avLst/>
          </a:prstGeom>
          <a:noFill/>
          <a:ln/>
        </p:spPr>
        <p:txBody>
          <a:bodyPr wrap="square" rtlCol="0" anchor="t"/>
          <a:lstStyle/>
          <a:p>
            <a:pPr marL="342900" indent="-342900" algn="l">
              <a:spcAft>
                <a:spcPts val="600"/>
              </a:spcAft>
              <a:buSzPct val="100000"/>
              <a:buChar char="•"/>
            </a:pPr>
            <a:r>
              <a:rPr lang="en-US" sz="2000" dirty="0">
                <a:latin typeface="Arial" panose="020B0604020202020204" pitchFamily="34" charset="0"/>
                <a:ea typeface="Arial" pitchFamily="34" charset="-122"/>
                <a:cs typeface="Arial" panose="020B0604020202020204" pitchFamily="34" charset="0"/>
              </a:rPr>
              <a:t>Once a model is fit, we measure how well its forecasts perform, judging both point accuracy and how well the model captures uncertainty.</a:t>
            </a:r>
            <a:endParaRPr lang="en-US" sz="2000" dirty="0">
              <a:latin typeface="Arial" panose="020B0604020202020204" pitchFamily="34" charset="0"/>
              <a:cs typeface="Arial" panose="020B0604020202020204" pitchFamily="34" charset="0"/>
            </a:endParaRPr>
          </a:p>
          <a:p>
            <a:pPr marL="342900" indent="-342900" algn="l">
              <a:buSzPct val="100000"/>
              <a:buChar char="•"/>
            </a:pPr>
            <a:r>
              <a:rPr lang="en-US" sz="2000" dirty="0">
                <a:latin typeface="Arial" panose="020B0604020202020204" pitchFamily="34" charset="0"/>
                <a:ea typeface="Arial" pitchFamily="34" charset="-122"/>
                <a:cs typeface="Arial" panose="020B0604020202020204" pitchFamily="34" charset="0"/>
              </a:rPr>
              <a:t>Three metrics do this, one for the center of the forecast, one for its spread, and one for overall forecast skill:</a:t>
            </a:r>
            <a:endParaRPr lang="en-US" sz="2000" dirty="0">
              <a:latin typeface="Arial" panose="020B0604020202020204" pitchFamily="34" charset="0"/>
              <a:cs typeface="Arial" panose="020B0604020202020204" pitchFamily="34" charset="0"/>
            </a:endParaRPr>
          </a:p>
        </p:txBody>
      </p:sp>
      <p:sp>
        <p:nvSpPr>
          <p:cNvPr id="4" name="Shape 2"/>
          <p:cNvSpPr/>
          <p:nvPr/>
        </p:nvSpPr>
        <p:spPr>
          <a:xfrm>
            <a:off x="685800" y="2695088"/>
            <a:ext cx="3429000" cy="2331720"/>
          </a:xfrm>
          <a:prstGeom prst="roundRect">
            <a:avLst>
              <a:gd name="adj" fmla="val 3922"/>
            </a:avLst>
          </a:prstGeom>
          <a:solidFill>
            <a:srgbClr val="FFFFFF"/>
          </a:solidFill>
          <a:ln w="25400">
            <a:solidFill>
              <a:srgbClr val="12897B"/>
            </a:solidFill>
            <a:prstDash val="solid"/>
          </a:ln>
        </p:spPr>
        <p:txBody>
          <a:bodyPr/>
          <a:lstStyle/>
          <a:p>
            <a:endParaRPr lang="en-US">
              <a:latin typeface="Arial" panose="020B0604020202020204" pitchFamily="34" charset="0"/>
              <a:cs typeface="Arial" panose="020B0604020202020204" pitchFamily="34" charset="0"/>
            </a:endParaRPr>
          </a:p>
        </p:txBody>
      </p:sp>
      <p:sp>
        <p:nvSpPr>
          <p:cNvPr id="5" name="Text 3"/>
          <p:cNvSpPr/>
          <p:nvPr/>
        </p:nvSpPr>
        <p:spPr>
          <a:xfrm>
            <a:off x="886968" y="2805776"/>
            <a:ext cx="3026664" cy="457200"/>
          </a:xfrm>
          <a:prstGeom prst="rect">
            <a:avLst/>
          </a:prstGeom>
          <a:noFill/>
          <a:ln/>
        </p:spPr>
        <p:txBody>
          <a:bodyPr wrap="square" rtlCol="0" anchor="t"/>
          <a:lstStyle/>
          <a:p>
            <a:pPr marL="0" indent="0" algn="ctr">
              <a:buNone/>
            </a:pPr>
            <a:r>
              <a:rPr lang="en-US" sz="2000" b="1" dirty="0">
                <a:solidFill>
                  <a:srgbClr val="12897B"/>
                </a:solidFill>
                <a:latin typeface="Arial" panose="020B0604020202020204" pitchFamily="34" charset="0"/>
                <a:ea typeface="Arial" pitchFamily="34" charset="-122"/>
                <a:cs typeface="Arial" panose="020B0604020202020204" pitchFamily="34" charset="0"/>
              </a:rPr>
              <a:t>Mean Absolute Error</a:t>
            </a:r>
            <a:endParaRPr lang="en-US" sz="2000" dirty="0">
              <a:latin typeface="Arial" panose="020B0604020202020204" pitchFamily="34" charset="0"/>
              <a:cs typeface="Arial" panose="020B0604020202020204" pitchFamily="34" charset="0"/>
            </a:endParaRPr>
          </a:p>
        </p:txBody>
      </p:sp>
      <p:sp>
        <p:nvSpPr>
          <p:cNvPr id="6" name="Text 4"/>
          <p:cNvSpPr/>
          <p:nvPr/>
        </p:nvSpPr>
        <p:spPr>
          <a:xfrm>
            <a:off x="886968" y="3227843"/>
            <a:ext cx="3026664" cy="292608"/>
          </a:xfrm>
          <a:prstGeom prst="rect">
            <a:avLst/>
          </a:prstGeom>
          <a:noFill/>
          <a:ln/>
        </p:spPr>
        <p:txBody>
          <a:bodyPr wrap="square" rtlCol="0" anchor="t"/>
          <a:lstStyle/>
          <a:p>
            <a:pPr marL="0" indent="0" algn="ctr">
              <a:buNone/>
            </a:pPr>
            <a:r>
              <a:rPr lang="en-US" sz="1600" b="1" i="1" kern="0" spc="100" dirty="0">
                <a:solidFill>
                  <a:srgbClr val="12897B"/>
                </a:solidFill>
                <a:latin typeface="Arial" panose="020B0604020202020204" pitchFamily="34" charset="0"/>
                <a:ea typeface="Arial" pitchFamily="34" charset="-122"/>
                <a:cs typeface="Arial" panose="020B0604020202020204" pitchFamily="34" charset="0"/>
              </a:rPr>
              <a:t>POINT ACCURACY</a:t>
            </a:r>
            <a:endParaRPr lang="en-US" sz="1600" dirty="0">
              <a:latin typeface="Arial" panose="020B0604020202020204" pitchFamily="34" charset="0"/>
              <a:cs typeface="Arial" panose="020B0604020202020204" pitchFamily="34" charset="0"/>
            </a:endParaRPr>
          </a:p>
        </p:txBody>
      </p:sp>
      <p:sp>
        <p:nvSpPr>
          <p:cNvPr id="7" name="Text 5"/>
          <p:cNvSpPr/>
          <p:nvPr/>
        </p:nvSpPr>
        <p:spPr>
          <a:xfrm>
            <a:off x="886968" y="3653760"/>
            <a:ext cx="3026664" cy="1143000"/>
          </a:xfrm>
          <a:prstGeom prst="rect">
            <a:avLst/>
          </a:prstGeom>
          <a:noFill/>
          <a:ln/>
        </p:spPr>
        <p:txBody>
          <a:bodyPr wrap="square" rtlCol="0" anchor="t"/>
          <a:lstStyle/>
          <a:p>
            <a:pPr marL="0" indent="0" algn="ctr">
              <a:buNone/>
            </a:pPr>
            <a:r>
              <a:rPr lang="en-US" dirty="0">
                <a:solidFill>
                  <a:srgbClr val="3B3B3B"/>
                </a:solidFill>
                <a:latin typeface="Arial" panose="020B0604020202020204" pitchFamily="34" charset="0"/>
                <a:ea typeface="Arial" pitchFamily="34" charset="-122"/>
                <a:cs typeface="Arial" panose="020B0604020202020204" pitchFamily="34" charset="0"/>
              </a:rPr>
              <a:t>Average absolute gap between the median forecast and what actually happened. Lower is better.</a:t>
            </a:r>
            <a:endParaRPr lang="en-US" dirty="0">
              <a:latin typeface="Arial" panose="020B0604020202020204" pitchFamily="34" charset="0"/>
              <a:cs typeface="Arial" panose="020B0604020202020204" pitchFamily="34" charset="0"/>
            </a:endParaRPr>
          </a:p>
        </p:txBody>
      </p:sp>
      <p:sp>
        <p:nvSpPr>
          <p:cNvPr id="8" name="Shape 6"/>
          <p:cNvSpPr/>
          <p:nvPr/>
        </p:nvSpPr>
        <p:spPr>
          <a:xfrm>
            <a:off x="4379976" y="2695088"/>
            <a:ext cx="3429000" cy="2331720"/>
          </a:xfrm>
          <a:prstGeom prst="roundRect">
            <a:avLst>
              <a:gd name="adj" fmla="val 3922"/>
            </a:avLst>
          </a:prstGeom>
          <a:solidFill>
            <a:srgbClr val="FFFFFF"/>
          </a:solidFill>
          <a:ln w="25400">
            <a:solidFill>
              <a:srgbClr val="12897B"/>
            </a:solidFill>
            <a:prstDash val="solid"/>
          </a:ln>
        </p:spPr>
        <p:txBody>
          <a:bodyPr/>
          <a:lstStyle/>
          <a:p>
            <a:endParaRPr lang="en-US">
              <a:latin typeface="Arial" panose="020B0604020202020204" pitchFamily="34" charset="0"/>
              <a:cs typeface="Arial" panose="020B0604020202020204" pitchFamily="34" charset="0"/>
            </a:endParaRPr>
          </a:p>
        </p:txBody>
      </p:sp>
      <p:sp>
        <p:nvSpPr>
          <p:cNvPr id="9" name="Text 7"/>
          <p:cNvSpPr/>
          <p:nvPr/>
        </p:nvSpPr>
        <p:spPr>
          <a:xfrm>
            <a:off x="4581144" y="2805776"/>
            <a:ext cx="3026664" cy="457200"/>
          </a:xfrm>
          <a:prstGeom prst="rect">
            <a:avLst/>
          </a:prstGeom>
          <a:noFill/>
          <a:ln/>
        </p:spPr>
        <p:txBody>
          <a:bodyPr wrap="square" rtlCol="0" anchor="t"/>
          <a:lstStyle/>
          <a:p>
            <a:pPr marL="0" indent="0" algn="ctr">
              <a:buNone/>
            </a:pPr>
            <a:r>
              <a:rPr lang="en-US" sz="2000" b="1" dirty="0">
                <a:solidFill>
                  <a:srgbClr val="12897B"/>
                </a:solidFill>
                <a:latin typeface="Arial" panose="020B0604020202020204" pitchFamily="34" charset="0"/>
                <a:ea typeface="Arial" pitchFamily="34" charset="-122"/>
                <a:cs typeface="Arial" panose="020B0604020202020204" pitchFamily="34" charset="0"/>
              </a:rPr>
              <a:t>95% PI Coverage</a:t>
            </a:r>
            <a:endParaRPr lang="en-US" sz="2000" dirty="0">
              <a:latin typeface="Arial" panose="020B0604020202020204" pitchFamily="34" charset="0"/>
              <a:cs typeface="Arial" panose="020B0604020202020204" pitchFamily="34" charset="0"/>
            </a:endParaRPr>
          </a:p>
        </p:txBody>
      </p:sp>
      <p:sp>
        <p:nvSpPr>
          <p:cNvPr id="10" name="Text 8"/>
          <p:cNvSpPr/>
          <p:nvPr/>
        </p:nvSpPr>
        <p:spPr>
          <a:xfrm>
            <a:off x="4581144" y="3227843"/>
            <a:ext cx="3026664" cy="292608"/>
          </a:xfrm>
          <a:prstGeom prst="rect">
            <a:avLst/>
          </a:prstGeom>
          <a:noFill/>
          <a:ln/>
        </p:spPr>
        <p:txBody>
          <a:bodyPr wrap="square" rtlCol="0" anchor="t"/>
          <a:lstStyle/>
          <a:p>
            <a:pPr marL="0" indent="0" algn="ctr">
              <a:buNone/>
            </a:pPr>
            <a:r>
              <a:rPr lang="en-US" sz="1600" b="1" i="1" kern="0" spc="100" dirty="0">
                <a:solidFill>
                  <a:srgbClr val="12897B"/>
                </a:solidFill>
                <a:latin typeface="Arial" panose="020B0604020202020204" pitchFamily="34" charset="0"/>
                <a:ea typeface="Arial" pitchFamily="34" charset="-122"/>
                <a:cs typeface="Arial" panose="020B0604020202020204" pitchFamily="34" charset="0"/>
              </a:rPr>
              <a:t>CALIBRATION</a:t>
            </a:r>
            <a:endParaRPr lang="en-US" sz="1600" dirty="0">
              <a:latin typeface="Arial" panose="020B0604020202020204" pitchFamily="34" charset="0"/>
              <a:cs typeface="Arial" panose="020B0604020202020204" pitchFamily="34" charset="0"/>
            </a:endParaRPr>
          </a:p>
        </p:txBody>
      </p:sp>
      <p:sp>
        <p:nvSpPr>
          <p:cNvPr id="11" name="Text 9"/>
          <p:cNvSpPr/>
          <p:nvPr/>
        </p:nvSpPr>
        <p:spPr>
          <a:xfrm>
            <a:off x="4581144" y="3673984"/>
            <a:ext cx="3119067" cy="1143000"/>
          </a:xfrm>
          <a:prstGeom prst="rect">
            <a:avLst/>
          </a:prstGeom>
          <a:noFill/>
          <a:ln/>
        </p:spPr>
        <p:txBody>
          <a:bodyPr wrap="square" rtlCol="0" anchor="t"/>
          <a:lstStyle/>
          <a:p>
            <a:pPr marL="0" indent="0" algn="ctr">
              <a:buNone/>
            </a:pPr>
            <a:r>
              <a:rPr lang="en-US" dirty="0">
                <a:solidFill>
                  <a:srgbClr val="3B3B3B"/>
                </a:solidFill>
                <a:latin typeface="Arial" panose="020B0604020202020204" pitchFamily="34" charset="0"/>
                <a:ea typeface="Arial" pitchFamily="34" charset="-122"/>
                <a:cs typeface="Arial" panose="020B0604020202020204" pitchFamily="34" charset="0"/>
              </a:rPr>
              <a:t>How often the truth falls inside the 95% interval. Should land near 95%.</a:t>
            </a:r>
            <a:endParaRPr lang="en-US" dirty="0">
              <a:latin typeface="Arial" panose="020B0604020202020204" pitchFamily="34" charset="0"/>
              <a:cs typeface="Arial" panose="020B0604020202020204" pitchFamily="34" charset="0"/>
            </a:endParaRPr>
          </a:p>
        </p:txBody>
      </p:sp>
      <p:sp>
        <p:nvSpPr>
          <p:cNvPr id="12" name="Shape 10"/>
          <p:cNvSpPr/>
          <p:nvPr/>
        </p:nvSpPr>
        <p:spPr>
          <a:xfrm>
            <a:off x="8074152" y="2695088"/>
            <a:ext cx="3429000" cy="2331720"/>
          </a:xfrm>
          <a:prstGeom prst="roundRect">
            <a:avLst>
              <a:gd name="adj" fmla="val 3922"/>
            </a:avLst>
          </a:prstGeom>
          <a:solidFill>
            <a:srgbClr val="F3EEF9"/>
          </a:solidFill>
          <a:ln w="38100">
            <a:solidFill>
              <a:srgbClr val="7030A0"/>
            </a:solidFill>
            <a:prstDash val="solid"/>
          </a:ln>
        </p:spPr>
        <p:txBody>
          <a:bodyPr/>
          <a:lstStyle/>
          <a:p>
            <a:endParaRPr lang="en-US">
              <a:latin typeface="Arial" panose="020B0604020202020204" pitchFamily="34" charset="0"/>
              <a:cs typeface="Arial" panose="020B0604020202020204" pitchFamily="34" charset="0"/>
            </a:endParaRPr>
          </a:p>
        </p:txBody>
      </p:sp>
      <p:sp>
        <p:nvSpPr>
          <p:cNvPr id="13" name="Text 11"/>
          <p:cNvSpPr/>
          <p:nvPr/>
        </p:nvSpPr>
        <p:spPr>
          <a:xfrm>
            <a:off x="8174736" y="2813487"/>
            <a:ext cx="3227832" cy="457200"/>
          </a:xfrm>
          <a:prstGeom prst="rect">
            <a:avLst/>
          </a:prstGeom>
          <a:noFill/>
          <a:ln/>
        </p:spPr>
        <p:txBody>
          <a:bodyPr wrap="square" rtlCol="0" anchor="t"/>
          <a:lstStyle/>
          <a:p>
            <a:pPr marL="0" indent="0" algn="ctr">
              <a:buNone/>
            </a:pPr>
            <a:r>
              <a:rPr lang="en-US" sz="2000" b="1" dirty="0">
                <a:solidFill>
                  <a:srgbClr val="7030A0"/>
                </a:solidFill>
                <a:latin typeface="Arial" panose="020B0604020202020204" pitchFamily="34" charset="0"/>
                <a:ea typeface="Arial" pitchFamily="34" charset="-122"/>
                <a:cs typeface="Arial" panose="020B0604020202020204" pitchFamily="34" charset="0"/>
              </a:rPr>
              <a:t>Weighted Interval Score</a:t>
            </a:r>
            <a:endParaRPr lang="en-US" sz="2000" dirty="0">
              <a:latin typeface="Arial" panose="020B0604020202020204" pitchFamily="34" charset="0"/>
              <a:cs typeface="Arial" panose="020B0604020202020204" pitchFamily="34" charset="0"/>
            </a:endParaRPr>
          </a:p>
        </p:txBody>
      </p:sp>
      <p:sp>
        <p:nvSpPr>
          <p:cNvPr id="14" name="Text 12"/>
          <p:cNvSpPr/>
          <p:nvPr/>
        </p:nvSpPr>
        <p:spPr>
          <a:xfrm>
            <a:off x="8165592" y="3215811"/>
            <a:ext cx="3026664" cy="292608"/>
          </a:xfrm>
          <a:prstGeom prst="rect">
            <a:avLst/>
          </a:prstGeom>
          <a:noFill/>
          <a:ln/>
        </p:spPr>
        <p:txBody>
          <a:bodyPr wrap="square" rtlCol="0" anchor="t"/>
          <a:lstStyle/>
          <a:p>
            <a:pPr marL="0" indent="0" algn="ctr">
              <a:buNone/>
            </a:pPr>
            <a:r>
              <a:rPr lang="en-US" sz="1600" b="1" i="1" kern="0" spc="100" dirty="0">
                <a:solidFill>
                  <a:srgbClr val="7030A0"/>
                </a:solidFill>
                <a:latin typeface="Arial" panose="020B0604020202020204" pitchFamily="34" charset="0"/>
                <a:ea typeface="Arial" pitchFamily="34" charset="-122"/>
                <a:cs typeface="Arial" panose="020B0604020202020204" pitchFamily="34" charset="0"/>
              </a:rPr>
              <a:t>OVERALL SKILL</a:t>
            </a:r>
            <a:endParaRPr lang="en-US" sz="1600" dirty="0">
              <a:latin typeface="Arial" panose="020B0604020202020204" pitchFamily="34" charset="0"/>
              <a:cs typeface="Arial" panose="020B0604020202020204" pitchFamily="34" charset="0"/>
            </a:endParaRPr>
          </a:p>
        </p:txBody>
      </p:sp>
      <p:sp>
        <p:nvSpPr>
          <p:cNvPr id="15" name="Text 13"/>
          <p:cNvSpPr/>
          <p:nvPr/>
        </p:nvSpPr>
        <p:spPr>
          <a:xfrm>
            <a:off x="8275320" y="3673984"/>
            <a:ext cx="3026664" cy="1143000"/>
          </a:xfrm>
          <a:prstGeom prst="rect">
            <a:avLst/>
          </a:prstGeom>
          <a:noFill/>
          <a:ln/>
        </p:spPr>
        <p:txBody>
          <a:bodyPr wrap="square" rtlCol="0" anchor="t"/>
          <a:lstStyle/>
          <a:p>
            <a:pPr marL="0" indent="0" algn="ctr">
              <a:buNone/>
            </a:pPr>
            <a:r>
              <a:rPr lang="en-US" dirty="0">
                <a:solidFill>
                  <a:srgbClr val="3B3B3B"/>
                </a:solidFill>
                <a:latin typeface="Arial" panose="020B0604020202020204" pitchFamily="34" charset="0"/>
                <a:ea typeface="Arial" pitchFamily="34" charset="-122"/>
                <a:cs typeface="Arial" panose="020B0604020202020204" pitchFamily="34" charset="0"/>
              </a:rPr>
              <a:t>A single score across all quantiles that rewards forecasts that are both sharp and well-calibrated. </a:t>
            </a:r>
            <a:endParaRPr lang="en-US" dirty="0">
              <a:latin typeface="Arial" panose="020B0604020202020204" pitchFamily="34" charset="0"/>
              <a:cs typeface="Arial" panose="020B0604020202020204" pitchFamily="34" charset="0"/>
            </a:endParaRPr>
          </a:p>
        </p:txBody>
      </p:sp>
      <p:sp>
        <p:nvSpPr>
          <p:cNvPr id="16" name="Shape 14"/>
          <p:cNvSpPr/>
          <p:nvPr/>
        </p:nvSpPr>
        <p:spPr>
          <a:xfrm>
            <a:off x="457200" y="5113433"/>
            <a:ext cx="11381874" cy="680972"/>
          </a:xfrm>
          <a:prstGeom prst="rightArrow">
            <a:avLst/>
          </a:prstGeom>
          <a:solidFill>
            <a:srgbClr val="ECECEC"/>
          </a:solidFill>
          <a:ln w="12700">
            <a:solidFill>
              <a:srgbClr val="333333"/>
            </a:solidFill>
            <a:prstDash val="solid"/>
          </a:ln>
        </p:spPr>
        <p:txBody>
          <a:bodyPr/>
          <a:lstStyle/>
          <a:p>
            <a:endParaRPr lang="en-US"/>
          </a:p>
        </p:txBody>
      </p:sp>
      <p:sp>
        <p:nvSpPr>
          <p:cNvPr id="17" name="Text 15"/>
          <p:cNvSpPr/>
          <p:nvPr/>
        </p:nvSpPr>
        <p:spPr>
          <a:xfrm>
            <a:off x="704240" y="5324224"/>
            <a:ext cx="2743200" cy="292608"/>
          </a:xfrm>
          <a:prstGeom prst="rect">
            <a:avLst/>
          </a:prstGeom>
          <a:noFill/>
          <a:ln/>
        </p:spPr>
        <p:txBody>
          <a:bodyPr wrap="square" rtlCol="0" anchor="ctr"/>
          <a:lstStyle/>
          <a:p>
            <a:pPr marL="0" indent="0" algn="l">
              <a:buNone/>
            </a:pPr>
            <a:r>
              <a:rPr lang="en-US" b="1" i="1" dirty="0">
                <a:solidFill>
                  <a:srgbClr val="595959"/>
                </a:solidFill>
                <a:latin typeface="Arial" pitchFamily="34" charset="0"/>
                <a:ea typeface="Arial" pitchFamily="34" charset="-122"/>
                <a:cs typeface="Arial" pitchFamily="34" charset="-120"/>
              </a:rPr>
              <a:t>Point Accuracy</a:t>
            </a:r>
            <a:endParaRPr lang="en-US" dirty="0"/>
          </a:p>
        </p:txBody>
      </p:sp>
      <p:sp>
        <p:nvSpPr>
          <p:cNvPr id="18" name="Text 16"/>
          <p:cNvSpPr/>
          <p:nvPr/>
        </p:nvSpPr>
        <p:spPr>
          <a:xfrm>
            <a:off x="7808976" y="5307615"/>
            <a:ext cx="3383280" cy="292608"/>
          </a:xfrm>
          <a:prstGeom prst="rect">
            <a:avLst/>
          </a:prstGeom>
          <a:noFill/>
          <a:ln/>
        </p:spPr>
        <p:txBody>
          <a:bodyPr wrap="square" rtlCol="0" anchor="ctr"/>
          <a:lstStyle/>
          <a:p>
            <a:pPr marL="0" indent="0" algn="r">
              <a:buNone/>
            </a:pPr>
            <a:r>
              <a:rPr lang="en-US" b="1" i="1" dirty="0">
                <a:solidFill>
                  <a:srgbClr val="595959"/>
                </a:solidFill>
                <a:latin typeface="Arial" pitchFamily="34" charset="0"/>
                <a:ea typeface="Arial" pitchFamily="34" charset="-122"/>
                <a:cs typeface="Arial" pitchFamily="34" charset="-120"/>
              </a:rPr>
              <a:t>Overall Forecast Skill</a:t>
            </a:r>
            <a:endParaRPr lang="en-US" dirty="0"/>
          </a:p>
        </p:txBody>
      </p:sp>
      <p:sp>
        <p:nvSpPr>
          <p:cNvPr id="19" name="Text 17"/>
          <p:cNvSpPr/>
          <p:nvPr/>
        </p:nvSpPr>
        <p:spPr>
          <a:xfrm>
            <a:off x="685800" y="5859372"/>
            <a:ext cx="10817352" cy="765197"/>
          </a:xfrm>
          <a:prstGeom prst="roundRect">
            <a:avLst>
              <a:gd name="adj" fmla="val 7778"/>
            </a:avLst>
          </a:prstGeom>
          <a:solidFill>
            <a:srgbClr val="F7F0ED"/>
          </a:solidFill>
          <a:ln/>
        </p:spPr>
        <p:txBody>
          <a:bodyPr wrap="square" lIns="152400" tIns="152400" rIns="152400" bIns="152400" rtlCol="0" anchor="ctr"/>
          <a:lstStyle/>
          <a:p>
            <a:pPr marL="0" indent="0" algn="ctr">
              <a:buNone/>
            </a:pPr>
            <a:r>
              <a:rPr lang="en-US" sz="2000" b="1" dirty="0">
                <a:solidFill>
                  <a:srgbClr val="7030A0"/>
                </a:solidFill>
                <a:latin typeface="Arial" pitchFamily="34" charset="0"/>
                <a:ea typeface="Arial" pitchFamily="34" charset="-122"/>
                <a:cs typeface="Arial" pitchFamily="34" charset="-120"/>
              </a:rPr>
              <a:t>In short:  </a:t>
            </a:r>
            <a:r>
              <a:rPr lang="en-US" sz="2000" dirty="0">
                <a:solidFill>
                  <a:srgbClr val="3B3B3B"/>
                </a:solidFill>
                <a:latin typeface="Arial" pitchFamily="34" charset="0"/>
                <a:ea typeface="Arial" pitchFamily="34" charset="-122"/>
                <a:cs typeface="Arial" pitchFamily="34" charset="-120"/>
              </a:rPr>
              <a:t>MAE checks accuracy, coverage checks the calibration, and </a:t>
            </a:r>
            <a:r>
              <a:rPr lang="en-US" sz="2000" dirty="0">
                <a:latin typeface="Arial" pitchFamily="34" charset="0"/>
                <a:ea typeface="Arial" pitchFamily="34" charset="-122"/>
                <a:cs typeface="Arial" pitchFamily="34" charset="-120"/>
              </a:rPr>
              <a:t>WIS</a:t>
            </a:r>
            <a:r>
              <a:rPr lang="en-US" sz="2000" dirty="0">
                <a:solidFill>
                  <a:srgbClr val="3B3B3B"/>
                </a:solidFill>
                <a:latin typeface="Arial" pitchFamily="34" charset="0"/>
                <a:ea typeface="Arial" pitchFamily="34" charset="-122"/>
                <a:cs typeface="Arial" pitchFamily="34" charset="-120"/>
              </a:rPr>
              <a:t> combines sharpness (interval width) and calibration into one score.</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7FDF5-37DF-8B87-DE93-8FA3D6A62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2BA0A-56BD-0723-4B79-7511193D39F3}"/>
              </a:ext>
            </a:extLst>
          </p:cNvPr>
          <p:cNvSpPr>
            <a:spLocks noGrp="1"/>
          </p:cNvSpPr>
          <p:nvPr>
            <p:ph type="title"/>
          </p:nvPr>
        </p:nvSpPr>
        <p:spPr>
          <a:xfrm>
            <a:off x="838200" y="28950"/>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Mean Absolute Error (MAE)</a:t>
            </a:r>
            <a:endParaRPr lang="en-US"/>
          </a:p>
        </p:txBody>
      </p:sp>
      <p:sp>
        <p:nvSpPr>
          <p:cNvPr id="3" name="Content Placeholder 2">
            <a:extLst>
              <a:ext uri="{FF2B5EF4-FFF2-40B4-BE49-F238E27FC236}">
                <a16:creationId xmlns:a16="http://schemas.microsoft.com/office/drawing/2014/main" id="{C53FA6B4-04E0-D49C-3D07-87D77F566C91}"/>
              </a:ext>
            </a:extLst>
          </p:cNvPr>
          <p:cNvSpPr>
            <a:spLocks noGrp="1"/>
          </p:cNvSpPr>
          <p:nvPr>
            <p:ph idx="1"/>
          </p:nvPr>
        </p:nvSpPr>
        <p:spPr>
          <a:xfrm>
            <a:off x="838200" y="1559974"/>
            <a:ext cx="10515600" cy="1141391"/>
          </a:xfrm>
        </p:spPr>
        <p:txBody>
          <a:bodyPr>
            <a:normAutofit/>
          </a:bodyPr>
          <a:lstStyle/>
          <a:p>
            <a:r>
              <a:rPr lang="en-US" sz="2500">
                <a:latin typeface="Arial" panose="020B0604020202020204" pitchFamily="34" charset="0"/>
                <a:cs typeface="Arial" panose="020B0604020202020204" pitchFamily="34" charset="0"/>
              </a:rPr>
              <a:t>Measure of how </a:t>
            </a:r>
            <a:r>
              <a:rPr lang="en-US" sz="2500" b="1">
                <a:solidFill>
                  <a:schemeClr val="accent2"/>
                </a:solidFill>
                <a:latin typeface="Arial" panose="020B0604020202020204" pitchFamily="34" charset="0"/>
                <a:cs typeface="Arial" panose="020B0604020202020204" pitchFamily="34" charset="0"/>
              </a:rPr>
              <a:t>accurate</a:t>
            </a:r>
            <a:r>
              <a:rPr lang="en-US" sz="2500">
                <a:latin typeface="Arial" panose="020B0604020202020204" pitchFamily="34" charset="0"/>
                <a:cs typeface="Arial" panose="020B0604020202020204" pitchFamily="34" charset="0"/>
              </a:rPr>
              <a:t> point (single value per time point) forecasts are (i.e., </a:t>
            </a:r>
            <a:r>
              <a:rPr lang="en-US" sz="2400">
                <a:latin typeface="Arial" panose="020B0604020202020204" pitchFamily="34" charset="0"/>
                <a:cs typeface="Arial" panose="020B0604020202020204" pitchFamily="34" charset="0"/>
              </a:rPr>
              <a:t>how far the model's predictions fall from the observed case counts). </a:t>
            </a:r>
            <a:endParaRPr lang="en-US" sz="250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A74FC49-1B83-94E1-7D58-3AB18E17317D}"/>
                  </a:ext>
                </a:extLst>
              </p:cNvPr>
              <p:cNvSpPr txBox="1"/>
              <p:nvPr/>
            </p:nvSpPr>
            <p:spPr>
              <a:xfrm>
                <a:off x="4246520" y="2912708"/>
                <a:ext cx="3698961" cy="14885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𝑀𝐴𝐸</m:t>
                      </m:r>
                      <m:r>
                        <a:rPr lang="en-US" sz="280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1</m:t>
                          </m:r>
                        </m:num>
                        <m:den>
                          <m: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𝑁</m:t>
                          </m:r>
                        </m:den>
                      </m:f>
                      <m:nary>
                        <m:naryPr>
                          <m:chr m:val="∑"/>
                          <m:ctrlP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𝑖</m:t>
                          </m:r>
                          <m: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𝑁</m:t>
                          </m:r>
                        </m:sup>
                        <m:e>
                          <m: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𝑦</m:t>
                              </m:r>
                            </m:e>
                            <m:sub>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𝑦</m:t>
                                  </m:r>
                                </m:e>
                              </m:acc>
                            </m:e>
                            <m:sub>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m:t>
                          </m:r>
                        </m:e>
                      </m:nary>
                    </m:oMath>
                  </m:oMathPara>
                </a14:m>
                <a:endParaRPr lang="en-US" sz="2700" b="0">
                  <a:ea typeface="Cambria Math" panose="02040503050406030204" pitchFamily="18" charset="0"/>
                </a:endParaRPr>
              </a:p>
              <a:p>
                <a:endParaRPr lang="en-US" b="0"/>
              </a:p>
            </p:txBody>
          </p:sp>
        </mc:Choice>
        <mc:Fallback xmlns="">
          <p:sp>
            <p:nvSpPr>
              <p:cNvPr id="9" name="TextBox 8">
                <a:extLst>
                  <a:ext uri="{FF2B5EF4-FFF2-40B4-BE49-F238E27FC236}">
                    <a16:creationId xmlns:a16="http://schemas.microsoft.com/office/drawing/2014/main" id="{EA74FC49-1B83-94E1-7D58-3AB18E17317D}"/>
                  </a:ext>
                </a:extLst>
              </p:cNvPr>
              <p:cNvSpPr txBox="1">
                <a:spLocks noRot="1" noChangeAspect="1" noMove="1" noResize="1" noEditPoints="1" noAdjustHandles="1" noChangeArrowheads="1" noChangeShapeType="1" noTextEdit="1"/>
              </p:cNvSpPr>
              <p:nvPr/>
            </p:nvSpPr>
            <p:spPr>
              <a:xfrm>
                <a:off x="4246520" y="2912708"/>
                <a:ext cx="3698961" cy="148854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15AAE869-737E-4B6B-A9C3-4E98AFE0B576}"/>
                  </a:ext>
                </a:extLst>
              </p:cNvPr>
              <p:cNvGraphicFramePr>
                <a:graphicFrameLocks noGrp="1"/>
              </p:cNvGraphicFramePr>
              <p:nvPr/>
            </p:nvGraphicFramePr>
            <p:xfrm>
              <a:off x="838200" y="4612600"/>
              <a:ext cx="10766612" cy="1228873"/>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𝑁</m:t>
                                </m:r>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Number of observations</a:t>
                          </a:r>
                        </a:p>
                      </a:txBody>
                      <a:tcPr>
                        <a:solidFill>
                          <a:schemeClr val="bg1"/>
                        </a:solidFill>
                      </a:tcPr>
                    </a:tc>
                    <a:extLst>
                      <a:ext uri="{0D108BD9-81ED-4DB2-BD59-A6C34878D82A}">
                        <a16:rowId xmlns:a16="http://schemas.microsoft.com/office/drawing/2014/main" val="1232624375"/>
                      </a:ext>
                    </a:extLst>
                  </a:tr>
                  <a:tr h="436393">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𝑦</m:t>
                                    </m:r>
                                  </m:e>
                                  <m:sub>
                                    <m:r>
                                      <a:rPr lang="en-US" sz="2000" b="0" i="1" smtClean="0">
                                        <a:latin typeface="Cambria Math" panose="02040503050406030204" pitchFamily="18" charset="0"/>
                                        <a:cs typeface="Arial" panose="020B0604020202020204" pitchFamily="34" charset="0"/>
                                      </a:rPr>
                                      <m:t>𝑖</m:t>
                                    </m:r>
                                  </m:sub>
                                </m:sSub>
                              </m:oMath>
                            </m:oMathPara>
                          </a14:m>
                          <a:endParaRPr lang="en-US" sz="2000" b="0">
                            <a:latin typeface="Arial" panose="020B0604020202020204" pitchFamily="34" charset="0"/>
                            <a:cs typeface="Arial" panose="020B0604020202020204" pitchFamily="34" charset="0"/>
                          </a:endParaRPr>
                        </a:p>
                      </a:txBody>
                      <a:tcPr>
                        <a:solidFill>
                          <a:schemeClr val="bg1"/>
                        </a:solidFill>
                      </a:tcPr>
                    </a:tc>
                    <a:tc>
                      <a:txBody>
                        <a:bodyPr/>
                        <a:lstStyle/>
                        <a:p>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Observed value</a:t>
                          </a:r>
                          <a:endParaRPr lang="en-US" sz="200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297429707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en-US" sz="20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sz="20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𝑦</m:t>
                                        </m:r>
                                      </m:e>
                                    </m:acc>
                                  </m:e>
                                  <m:sub>
                                    <m:r>
                                      <a:rPr lang="en-US" sz="20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𝑖</m:t>
                                    </m:r>
                                  </m:sub>
                                </m:sSub>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Predicted value (e.g., median forecast value) </a:t>
                          </a:r>
                        </a:p>
                      </a:txBody>
                      <a:tcPr>
                        <a:solidFill>
                          <a:schemeClr val="bg1"/>
                        </a:solidFill>
                      </a:tcPr>
                    </a:tc>
                    <a:extLst>
                      <a:ext uri="{0D108BD9-81ED-4DB2-BD59-A6C34878D82A}">
                        <a16:rowId xmlns:a16="http://schemas.microsoft.com/office/drawing/2014/main" val="2695673171"/>
                      </a:ext>
                    </a:extLst>
                  </a:tr>
                </a:tbl>
              </a:graphicData>
            </a:graphic>
          </p:graphicFrame>
        </mc:Choice>
        <mc:Fallback xmlns="">
          <p:graphicFrame>
            <p:nvGraphicFramePr>
              <p:cNvPr id="16" name="Table 15">
                <a:extLst>
                  <a:ext uri="{FF2B5EF4-FFF2-40B4-BE49-F238E27FC236}">
                    <a16:creationId xmlns:a16="http://schemas.microsoft.com/office/drawing/2014/main" id="{15AAE869-737E-4B6B-A9C3-4E98AFE0B576}"/>
                  </a:ext>
                </a:extLst>
              </p:cNvPr>
              <p:cNvGraphicFramePr>
                <a:graphicFrameLocks noGrp="1"/>
              </p:cNvGraphicFramePr>
              <p:nvPr/>
            </p:nvGraphicFramePr>
            <p:xfrm>
              <a:off x="838200" y="4612600"/>
              <a:ext cx="10766612" cy="1228873"/>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96240">
                    <a:tc>
                      <a:txBody>
                        <a:bodyPr/>
                        <a:lstStyle/>
                        <a:p>
                          <a:endParaRPr lang="en-US"/>
                        </a:p>
                      </a:txBody>
                      <a:tcPr>
                        <a:blipFill>
                          <a:blip r:embed="rId4"/>
                          <a:stretch>
                            <a:fillRect l="-833" t="-7692" r="-197000" b="-240000"/>
                          </a:stretch>
                        </a:blipFill>
                      </a:tcPr>
                    </a:tc>
                    <a:tc>
                      <a:txBody>
                        <a:bodyPr/>
                        <a:lstStyle/>
                        <a:p>
                          <a:r>
                            <a:rPr lang="en-US" sz="2000">
                              <a:latin typeface="Arial" panose="020B0604020202020204" pitchFamily="34" charset="0"/>
                              <a:cs typeface="Arial" panose="020B0604020202020204" pitchFamily="34" charset="0"/>
                            </a:rPr>
                            <a:t>Number of observations</a:t>
                          </a:r>
                        </a:p>
                      </a:txBody>
                      <a:tcPr>
                        <a:solidFill>
                          <a:schemeClr val="bg1"/>
                        </a:solidFill>
                      </a:tcPr>
                    </a:tc>
                    <a:extLst>
                      <a:ext uri="{0D108BD9-81ED-4DB2-BD59-A6C34878D82A}">
                        <a16:rowId xmlns:a16="http://schemas.microsoft.com/office/drawing/2014/main" val="1232624375"/>
                      </a:ext>
                    </a:extLst>
                  </a:tr>
                  <a:tr h="436393">
                    <a:tc>
                      <a:txBody>
                        <a:bodyPr/>
                        <a:lstStyle/>
                        <a:p>
                          <a:endParaRPr lang="en-US"/>
                        </a:p>
                      </a:txBody>
                      <a:tcPr>
                        <a:blipFill>
                          <a:blip r:embed="rId4"/>
                          <a:stretch>
                            <a:fillRect l="-833" t="-95890" r="-197000" b="-113699"/>
                          </a:stretch>
                        </a:blipFill>
                      </a:tcPr>
                    </a:tc>
                    <a:tc>
                      <a:txBody>
                        <a:bodyPr/>
                        <a:lstStyle/>
                        <a:p>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Observed value</a:t>
                          </a:r>
                          <a:endParaRPr lang="en-US" sz="200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2974297070"/>
                      </a:ext>
                    </a:extLst>
                  </a:tr>
                  <a:tr h="396240">
                    <a:tc>
                      <a:txBody>
                        <a:bodyPr/>
                        <a:lstStyle/>
                        <a:p>
                          <a:endParaRPr lang="en-US"/>
                        </a:p>
                      </a:txBody>
                      <a:tcPr>
                        <a:blipFill>
                          <a:blip r:embed="rId4"/>
                          <a:stretch>
                            <a:fillRect l="-833" t="-220000" r="-197000" b="-27692"/>
                          </a:stretch>
                        </a:blipFill>
                      </a:tcPr>
                    </a:tc>
                    <a:tc>
                      <a:txBody>
                        <a:bodyPr/>
                        <a:lstStyle/>
                        <a:p>
                          <a:r>
                            <a:rPr lang="en-US" sz="2000">
                              <a:latin typeface="Arial" panose="020B0604020202020204" pitchFamily="34" charset="0"/>
                              <a:cs typeface="Arial" panose="020B0604020202020204" pitchFamily="34" charset="0"/>
                            </a:rPr>
                            <a:t>Predicted value (e.g., median forecast value) </a:t>
                          </a:r>
                        </a:p>
                      </a:txBody>
                      <a:tcPr>
                        <a:solidFill>
                          <a:schemeClr val="bg1"/>
                        </a:solidFill>
                      </a:tcPr>
                    </a:tc>
                    <a:extLst>
                      <a:ext uri="{0D108BD9-81ED-4DB2-BD59-A6C34878D82A}">
                        <a16:rowId xmlns:a16="http://schemas.microsoft.com/office/drawing/2014/main" val="2695673171"/>
                      </a:ext>
                    </a:extLst>
                  </a:tr>
                </a:tbl>
              </a:graphicData>
            </a:graphic>
          </p:graphicFrame>
        </mc:Fallback>
      </mc:AlternateContent>
      <p:sp>
        <p:nvSpPr>
          <p:cNvPr id="4" name="Content Placeholder 2">
            <a:extLst>
              <a:ext uri="{FF2B5EF4-FFF2-40B4-BE49-F238E27FC236}">
                <a16:creationId xmlns:a16="http://schemas.microsoft.com/office/drawing/2014/main" id="{50024A1B-892A-00E4-28EF-B06F61AA65D3}"/>
              </a:ext>
            </a:extLst>
          </p:cNvPr>
          <p:cNvSpPr txBox="1">
            <a:spLocks/>
          </p:cNvSpPr>
          <p:nvPr/>
        </p:nvSpPr>
        <p:spPr>
          <a:xfrm>
            <a:off x="838200" y="6180632"/>
            <a:ext cx="10515600" cy="6248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500" b="1">
                <a:latin typeface="Arial" panose="020B0604020202020204" pitchFamily="34" charset="0"/>
                <a:cs typeface="Arial" panose="020B0604020202020204" pitchFamily="34" charset="0"/>
              </a:rPr>
              <a:t>Ideal Value: </a:t>
            </a:r>
            <a:r>
              <a:rPr lang="en-US" sz="2500">
                <a:latin typeface="Arial" panose="020B0604020202020204" pitchFamily="34" charset="0"/>
                <a:cs typeface="Arial" panose="020B0604020202020204" pitchFamily="34" charset="0"/>
              </a:rPr>
              <a:t>Lower is better! </a:t>
            </a:r>
          </a:p>
        </p:txBody>
      </p:sp>
    </p:spTree>
    <p:extLst>
      <p:ext uri="{BB962C8B-B14F-4D97-AF65-F5344CB8AC3E}">
        <p14:creationId xmlns:p14="http://schemas.microsoft.com/office/powerpoint/2010/main" val="87490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4E86CE-EC07-5055-1D73-8A4554646C79}"/>
              </a:ext>
            </a:extLst>
          </p:cNvPr>
          <p:cNvSpPr/>
          <p:nvPr/>
        </p:nvSpPr>
        <p:spPr>
          <a:xfrm>
            <a:off x="772297" y="1303638"/>
            <a:ext cx="10416746" cy="7537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0" name="Picture 2" descr="Mean Squared Error : Overview, Examples, Concepts and More | Simplilearn">
            <a:extLst>
              <a:ext uri="{FF2B5EF4-FFF2-40B4-BE49-F238E27FC236}">
                <a16:creationId xmlns:a16="http://schemas.microsoft.com/office/drawing/2014/main" id="{3731D230-5FD7-C726-9D80-2565B6D436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8655" y="462221"/>
            <a:ext cx="5664029" cy="5675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9990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9D2F2-C365-4373-F283-AAF37B787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E6619-3C07-DE17-7A51-E8993D9587D5}"/>
              </a:ext>
            </a:extLst>
          </p:cNvPr>
          <p:cNvSpPr>
            <a:spLocks noGrp="1"/>
          </p:cNvSpPr>
          <p:nvPr>
            <p:ph type="title"/>
          </p:nvPr>
        </p:nvSpPr>
        <p:spPr>
          <a:xfrm>
            <a:off x="838200" y="28950"/>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95% Prediction Interval (PI) Coverage </a:t>
            </a:r>
            <a:endParaRPr lang="en-US"/>
          </a:p>
        </p:txBody>
      </p:sp>
      <p:sp>
        <p:nvSpPr>
          <p:cNvPr id="3" name="Content Placeholder 2">
            <a:extLst>
              <a:ext uri="{FF2B5EF4-FFF2-40B4-BE49-F238E27FC236}">
                <a16:creationId xmlns:a16="http://schemas.microsoft.com/office/drawing/2014/main" id="{A1169172-84EF-A3BC-74B6-AF5E6BC45099}"/>
              </a:ext>
            </a:extLst>
          </p:cNvPr>
          <p:cNvSpPr>
            <a:spLocks noGrp="1"/>
          </p:cNvSpPr>
          <p:nvPr>
            <p:ph idx="1"/>
          </p:nvPr>
        </p:nvSpPr>
        <p:spPr>
          <a:xfrm>
            <a:off x="838200" y="1265014"/>
            <a:ext cx="10515600" cy="4351338"/>
          </a:xfrm>
        </p:spPr>
        <p:txBody>
          <a:bodyPr>
            <a:normAutofit/>
          </a:bodyPr>
          <a:lstStyle/>
          <a:p>
            <a:r>
              <a:rPr lang="en-US" sz="2500">
                <a:latin typeface="Arial" panose="020B0604020202020204" pitchFamily="34" charset="0"/>
                <a:cs typeface="Arial" panose="020B0604020202020204" pitchFamily="34" charset="0"/>
              </a:rPr>
              <a:t>M</a:t>
            </a:r>
            <a:r>
              <a:rPr lang="en-US">
                <a:latin typeface="Arial" panose="020B0604020202020204" pitchFamily="34" charset="0"/>
                <a:cs typeface="Arial" panose="020B0604020202020204" pitchFamily="34" charset="0"/>
              </a:rPr>
              <a:t>easures how often the observed value is captured within the bounds of the 95% prediction interval (i.e., measure of how well the </a:t>
            </a:r>
            <a:r>
              <a:rPr lang="en-US" b="1">
                <a:solidFill>
                  <a:schemeClr val="accent2"/>
                </a:solidFill>
                <a:latin typeface="Arial" panose="020B0604020202020204" pitchFamily="34" charset="0"/>
                <a:cs typeface="Arial" panose="020B0604020202020204" pitchFamily="34" charset="0"/>
              </a:rPr>
              <a:t>model captures uncertainty</a:t>
            </a:r>
            <a:r>
              <a:rPr lang="en-US">
                <a:latin typeface="Arial" panose="020B0604020202020204" pitchFamily="34" charset="0"/>
                <a:cs typeface="Arial" panose="020B0604020202020204" pitchFamily="34" charset="0"/>
              </a:rPr>
              <a:t>). </a:t>
            </a:r>
            <a:endParaRPr lang="en-US" sz="250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A8B66CBB-6DA7-249B-4BC2-3589D4C82F4C}"/>
                  </a:ext>
                </a:extLst>
              </p:cNvPr>
              <p:cNvGraphicFramePr>
                <a:graphicFrameLocks noGrp="1"/>
              </p:cNvGraphicFramePr>
              <p:nvPr/>
            </p:nvGraphicFramePr>
            <p:xfrm>
              <a:off x="838200" y="3983354"/>
              <a:ext cx="10766612" cy="1665266"/>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𝑁</m:t>
                                </m:r>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Number of observations</a:t>
                          </a:r>
                        </a:p>
                      </a:txBody>
                      <a:tcPr>
                        <a:solidFill>
                          <a:schemeClr val="bg1"/>
                        </a:solidFill>
                      </a:tcPr>
                    </a:tc>
                    <a:extLst>
                      <a:ext uri="{0D108BD9-81ED-4DB2-BD59-A6C34878D82A}">
                        <a16:rowId xmlns:a16="http://schemas.microsoft.com/office/drawing/2014/main" val="1232624375"/>
                      </a:ext>
                    </a:extLst>
                  </a:tr>
                  <a:tr h="436393">
                    <a:tc>
                      <a:txBody>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cs typeface="Arial" panose="020B0604020202020204" pitchFamily="34" charset="0"/>
                                  </a:rPr>
                                  <m:t>𝟏</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sz="2000" b="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Indicator (1 if the observation falls in the interval, 0 otherwise)</a:t>
                          </a:r>
                        </a:p>
                      </a:txBody>
                      <a:tcPr>
                        <a:solidFill>
                          <a:schemeClr val="bg1"/>
                        </a:solidFill>
                      </a:tcPr>
                    </a:tc>
                    <a:extLst>
                      <a:ext uri="{0D108BD9-81ED-4DB2-BD59-A6C34878D82A}">
                        <a16:rowId xmlns:a16="http://schemas.microsoft.com/office/drawing/2014/main" val="2479001902"/>
                      </a:ext>
                    </a:extLst>
                  </a:tr>
                  <a:tr h="436393">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𝑦</m:t>
                                    </m:r>
                                  </m:e>
                                  <m:sub>
                                    <m:r>
                                      <a:rPr lang="en-US" sz="2000" b="0" i="1" smtClean="0">
                                        <a:latin typeface="Cambria Math" panose="02040503050406030204" pitchFamily="18" charset="0"/>
                                        <a:cs typeface="Arial" panose="020B0604020202020204" pitchFamily="34" charset="0"/>
                                      </a:rPr>
                                      <m:t>𝑖</m:t>
                                    </m:r>
                                  </m:sub>
                                </m:sSub>
                              </m:oMath>
                            </m:oMathPara>
                          </a14:m>
                          <a:endParaRPr lang="en-US" sz="2000" b="0">
                            <a:latin typeface="Arial" panose="020B0604020202020204" pitchFamily="34" charset="0"/>
                            <a:cs typeface="Arial" panose="020B0604020202020204" pitchFamily="34" charset="0"/>
                          </a:endParaRPr>
                        </a:p>
                      </a:txBody>
                      <a:tcPr>
                        <a:solidFill>
                          <a:schemeClr val="bg1"/>
                        </a:solidFill>
                      </a:tcPr>
                    </a:tc>
                    <a:tc>
                      <a:txBody>
                        <a:bodyPr/>
                        <a:lstStyle/>
                        <a:p>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Observed value</a:t>
                          </a:r>
                          <a:endParaRPr lang="en-US" sz="200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297429707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𝑙</m:t>
                                    </m:r>
                                  </m:e>
                                  <m:sub>
                                    <m:r>
                                      <a:rPr lang="en-US" sz="2000" b="0" i="1" smtClean="0">
                                        <a:latin typeface="Cambria Math" panose="02040503050406030204" pitchFamily="18" charset="0"/>
                                        <a:cs typeface="Arial" panose="020B0604020202020204" pitchFamily="34" charset="0"/>
                                      </a:rPr>
                                      <m:t>𝑖</m:t>
                                    </m:r>
                                  </m:sub>
                                </m:sSub>
                                <m:r>
                                  <a:rPr lang="en-US" sz="2000" b="0" i="1" smtClean="0">
                                    <a:latin typeface="Cambria Math" panose="02040503050406030204" pitchFamily="18" charset="0"/>
                                    <a:cs typeface="Arial" panose="020B0604020202020204" pitchFamily="34" charset="0"/>
                                  </a:rPr>
                                  <m:t>, </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𝑢</m:t>
                                    </m:r>
                                  </m:e>
                                  <m:sub>
                                    <m:r>
                                      <a:rPr lang="en-US" sz="2000" b="0" i="1" smtClean="0">
                                        <a:latin typeface="Cambria Math" panose="02040503050406030204" pitchFamily="18" charset="0"/>
                                        <a:cs typeface="Arial" panose="020B0604020202020204" pitchFamily="34" charset="0"/>
                                      </a:rPr>
                                      <m:t>𝑖</m:t>
                                    </m:r>
                                  </m:sub>
                                </m:sSub>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Lower/Upper bounds of the 95% PI</a:t>
                          </a:r>
                        </a:p>
                      </a:txBody>
                      <a:tcPr>
                        <a:solidFill>
                          <a:schemeClr val="bg1"/>
                        </a:solidFill>
                      </a:tcPr>
                    </a:tc>
                    <a:extLst>
                      <a:ext uri="{0D108BD9-81ED-4DB2-BD59-A6C34878D82A}">
                        <a16:rowId xmlns:a16="http://schemas.microsoft.com/office/drawing/2014/main" val="2695673171"/>
                      </a:ext>
                    </a:extLst>
                  </a:tr>
                </a:tbl>
              </a:graphicData>
            </a:graphic>
          </p:graphicFrame>
        </mc:Choice>
        <mc:Fallback xmlns="">
          <p:graphicFrame>
            <p:nvGraphicFramePr>
              <p:cNvPr id="16" name="Table 15">
                <a:extLst>
                  <a:ext uri="{FF2B5EF4-FFF2-40B4-BE49-F238E27FC236}">
                    <a16:creationId xmlns:a16="http://schemas.microsoft.com/office/drawing/2014/main" id="{A8B66CBB-6DA7-249B-4BC2-3589D4C82F4C}"/>
                  </a:ext>
                </a:extLst>
              </p:cNvPr>
              <p:cNvGraphicFramePr>
                <a:graphicFrameLocks noGrp="1"/>
              </p:cNvGraphicFramePr>
              <p:nvPr/>
            </p:nvGraphicFramePr>
            <p:xfrm>
              <a:off x="838200" y="3983354"/>
              <a:ext cx="10766612" cy="1665266"/>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96240">
                    <a:tc>
                      <a:txBody>
                        <a:bodyPr/>
                        <a:lstStyle/>
                        <a:p>
                          <a:endParaRPr lang="en-US"/>
                        </a:p>
                      </a:txBody>
                      <a:tcPr>
                        <a:blipFill>
                          <a:blip r:embed="rId3"/>
                          <a:stretch>
                            <a:fillRect l="-833" t="-7692" r="-197000" b="-350769"/>
                          </a:stretch>
                        </a:blipFill>
                      </a:tcPr>
                    </a:tc>
                    <a:tc>
                      <a:txBody>
                        <a:bodyPr/>
                        <a:lstStyle/>
                        <a:p>
                          <a:r>
                            <a:rPr lang="en-US" sz="2000">
                              <a:latin typeface="Arial" panose="020B0604020202020204" pitchFamily="34" charset="0"/>
                              <a:cs typeface="Arial" panose="020B0604020202020204" pitchFamily="34" charset="0"/>
                            </a:rPr>
                            <a:t>Number of observations</a:t>
                          </a:r>
                        </a:p>
                      </a:txBody>
                      <a:tcPr>
                        <a:solidFill>
                          <a:schemeClr val="bg1"/>
                        </a:solidFill>
                      </a:tcPr>
                    </a:tc>
                    <a:extLst>
                      <a:ext uri="{0D108BD9-81ED-4DB2-BD59-A6C34878D82A}">
                        <a16:rowId xmlns:a16="http://schemas.microsoft.com/office/drawing/2014/main" val="1232624375"/>
                      </a:ext>
                    </a:extLst>
                  </a:tr>
                  <a:tr h="436393">
                    <a:tc>
                      <a:txBody>
                        <a:bodyPr/>
                        <a:lstStyle/>
                        <a:p>
                          <a:endParaRPr lang="en-US"/>
                        </a:p>
                      </a:txBody>
                      <a:tcPr>
                        <a:blipFill>
                          <a:blip r:embed="rId3"/>
                          <a:stretch>
                            <a:fillRect l="-833" t="-97222" r="-197000" b="-216667"/>
                          </a:stretch>
                        </a:blipFill>
                      </a:tcPr>
                    </a:tc>
                    <a:tc>
                      <a:txBody>
                        <a:bodyPr/>
                        <a:lstStyle/>
                        <a:p>
                          <a:r>
                            <a:rPr lang="en-US" sz="2000">
                              <a:latin typeface="Arial" panose="020B0604020202020204" pitchFamily="34" charset="0"/>
                              <a:cs typeface="Arial" panose="020B0604020202020204" pitchFamily="34" charset="0"/>
                            </a:rPr>
                            <a:t>Indicator (1 if the observation falls in the interval, 0 otherwise)</a:t>
                          </a:r>
                        </a:p>
                      </a:txBody>
                      <a:tcPr>
                        <a:solidFill>
                          <a:schemeClr val="bg1"/>
                        </a:solidFill>
                      </a:tcPr>
                    </a:tc>
                    <a:extLst>
                      <a:ext uri="{0D108BD9-81ED-4DB2-BD59-A6C34878D82A}">
                        <a16:rowId xmlns:a16="http://schemas.microsoft.com/office/drawing/2014/main" val="2479001902"/>
                      </a:ext>
                    </a:extLst>
                  </a:tr>
                  <a:tr h="436393">
                    <a:tc>
                      <a:txBody>
                        <a:bodyPr/>
                        <a:lstStyle/>
                        <a:p>
                          <a:endParaRPr lang="en-US"/>
                        </a:p>
                      </a:txBody>
                      <a:tcPr>
                        <a:blipFill>
                          <a:blip r:embed="rId3"/>
                          <a:stretch>
                            <a:fillRect l="-833" t="-197222" r="-197000" b="-116667"/>
                          </a:stretch>
                        </a:blipFill>
                      </a:tcPr>
                    </a:tc>
                    <a:tc>
                      <a:txBody>
                        <a:bodyPr/>
                        <a:lstStyle/>
                        <a:p>
                          <a:r>
                            <a:rPr kumimoji="0" 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Observed value</a:t>
                          </a:r>
                          <a:endParaRPr lang="en-US" sz="200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2974297070"/>
                      </a:ext>
                    </a:extLst>
                  </a:tr>
                  <a:tr h="396240">
                    <a:tc>
                      <a:txBody>
                        <a:bodyPr/>
                        <a:lstStyle/>
                        <a:p>
                          <a:endParaRPr lang="en-US"/>
                        </a:p>
                      </a:txBody>
                      <a:tcPr>
                        <a:blipFill>
                          <a:blip r:embed="rId3"/>
                          <a:stretch>
                            <a:fillRect l="-833" t="-329231" r="-197000" b="-29231"/>
                          </a:stretch>
                        </a:blipFill>
                      </a:tcPr>
                    </a:tc>
                    <a:tc>
                      <a:txBody>
                        <a:bodyPr/>
                        <a:lstStyle/>
                        <a:p>
                          <a:r>
                            <a:rPr lang="en-US" sz="2000">
                              <a:latin typeface="Arial" panose="020B0604020202020204" pitchFamily="34" charset="0"/>
                              <a:cs typeface="Arial" panose="020B0604020202020204" pitchFamily="34" charset="0"/>
                            </a:rPr>
                            <a:t>Lower/Upper bounds of the 95% PI</a:t>
                          </a:r>
                        </a:p>
                      </a:txBody>
                      <a:tcPr>
                        <a:solidFill>
                          <a:schemeClr val="bg1"/>
                        </a:solidFill>
                      </a:tcPr>
                    </a:tc>
                    <a:extLst>
                      <a:ext uri="{0D108BD9-81ED-4DB2-BD59-A6C34878D82A}">
                        <a16:rowId xmlns:a16="http://schemas.microsoft.com/office/drawing/2014/main" val="2695673171"/>
                      </a:ext>
                    </a:extLst>
                  </a:tr>
                </a:tbl>
              </a:graphicData>
            </a:graphic>
          </p:graphicFrame>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FB52306-0829-3837-0868-4B9DF84E52F6}"/>
                  </a:ext>
                </a:extLst>
              </p:cNvPr>
              <p:cNvSpPr txBox="1"/>
              <p:nvPr/>
            </p:nvSpPr>
            <p:spPr>
              <a:xfrm>
                <a:off x="2789582" y="2579276"/>
                <a:ext cx="6612836"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95% </m:t>
                      </m:r>
                      <m:r>
                        <a:rPr lang="en-US" sz="2800" b="0" i="1" smtClean="0">
                          <a:latin typeface="Cambria Math" panose="02040503050406030204" pitchFamily="18" charset="0"/>
                        </a:rPr>
                        <m:t>𝑃𝐼</m:t>
                      </m:r>
                      <m:r>
                        <a:rPr lang="en-US" sz="2800" b="0" i="1" smtClean="0">
                          <a:latin typeface="Cambria Math" panose="02040503050406030204" pitchFamily="18" charset="0"/>
                        </a:rPr>
                        <m:t> </m:t>
                      </m:r>
                      <m:r>
                        <a:rPr lang="en-US" sz="2800" b="0" i="1" smtClean="0">
                          <a:latin typeface="Cambria Math" panose="02040503050406030204" pitchFamily="18" charset="0"/>
                        </a:rPr>
                        <m:t>𝐶𝑜𝑣𝑒𝑟𝑎𝑔𝑒</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𝑁</m:t>
                          </m:r>
                        </m:den>
                      </m:f>
                      <m:nary>
                        <m:naryPr>
                          <m:chr m:val="∑"/>
                          <m:ctrlP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𝑖</m:t>
                          </m:r>
                          <m: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=1</m:t>
                          </m:r>
                        </m:sub>
                        <m:sup>
                          <m:r>
                            <a:rPr lang="en-US" sz="2800" i="1">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𝑁</m:t>
                          </m:r>
                        </m:sup>
                        <m:e>
                          <m:r>
                            <a:rPr lang="en-US" sz="2800" b="1"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𝟏</m:t>
                          </m:r>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𝑙</m:t>
                              </m:r>
                            </m:e>
                            <m:sub>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𝑦</m:t>
                              </m:r>
                            </m:e>
                            <m:sub>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𝑢</m:t>
                              </m:r>
                            </m:e>
                            <m:sub>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𝑖</m:t>
                              </m:r>
                            </m:sub>
                          </m:sSub>
                          <m:r>
                            <a:rPr lang="en-US" sz="28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m:t>
                          </m:r>
                        </m:e>
                      </m:nary>
                    </m:oMath>
                  </m:oMathPara>
                </a14:m>
                <a:endParaRPr lang="en-US" sz="2800"/>
              </a:p>
            </p:txBody>
          </p:sp>
        </mc:Choice>
        <mc:Fallback xmlns="">
          <p:sp>
            <p:nvSpPr>
              <p:cNvPr id="4" name="TextBox 3">
                <a:extLst>
                  <a:ext uri="{FF2B5EF4-FFF2-40B4-BE49-F238E27FC236}">
                    <a16:creationId xmlns:a16="http://schemas.microsoft.com/office/drawing/2014/main" id="{DFB52306-0829-3837-0868-4B9DF84E52F6}"/>
                  </a:ext>
                </a:extLst>
              </p:cNvPr>
              <p:cNvSpPr txBox="1">
                <a:spLocks noRot="1" noChangeAspect="1" noMove="1" noResize="1" noEditPoints="1" noAdjustHandles="1" noChangeArrowheads="1" noChangeShapeType="1" noTextEdit="1"/>
              </p:cNvSpPr>
              <p:nvPr/>
            </p:nvSpPr>
            <p:spPr>
              <a:xfrm>
                <a:off x="2789582" y="2579276"/>
                <a:ext cx="6612836" cy="1211550"/>
              </a:xfrm>
              <a:prstGeom prst="rect">
                <a:avLst/>
              </a:prstGeom>
              <a:blipFill>
                <a:blip r:embed="rId4"/>
                <a:stretch>
                  <a:fillRect/>
                </a:stretch>
              </a:blipFill>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0E556244-8BBE-FD5F-B1EE-59EFA9A53DCC}"/>
              </a:ext>
            </a:extLst>
          </p:cNvPr>
          <p:cNvSpPr txBox="1">
            <a:spLocks/>
          </p:cNvSpPr>
          <p:nvPr/>
        </p:nvSpPr>
        <p:spPr>
          <a:xfrm>
            <a:off x="838200" y="5954496"/>
            <a:ext cx="10515600" cy="6248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500" b="1">
                <a:latin typeface="Arial" panose="020B0604020202020204" pitchFamily="34" charset="0"/>
                <a:cs typeface="Arial" panose="020B0604020202020204" pitchFamily="34" charset="0"/>
              </a:rPr>
              <a:t>Ideal Value: </a:t>
            </a:r>
            <a:r>
              <a:rPr lang="en-US" sz="2500">
                <a:latin typeface="Arial" panose="020B0604020202020204" pitchFamily="34" charset="0"/>
                <a:cs typeface="Arial" panose="020B0604020202020204" pitchFamily="34" charset="0"/>
              </a:rPr>
              <a:t>~95%; Below 95% = intervals too narrow (overconfident); above 95% = too wide (underconfident).</a:t>
            </a:r>
          </a:p>
        </p:txBody>
      </p:sp>
    </p:spTree>
    <p:extLst>
      <p:ext uri="{BB962C8B-B14F-4D97-AF65-F5344CB8AC3E}">
        <p14:creationId xmlns:p14="http://schemas.microsoft.com/office/powerpoint/2010/main" val="1937544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B4E0C9C-8E58-C039-5D28-375288B2A4D3}"/>
              </a:ext>
            </a:extLst>
          </p:cNvPr>
          <p:cNvSpPr/>
          <p:nvPr/>
        </p:nvSpPr>
        <p:spPr>
          <a:xfrm rot="20253485">
            <a:off x="904180" y="3108855"/>
            <a:ext cx="6803107" cy="239338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A06F5DF-ABE3-8475-9CC3-87EB1CA823CD}"/>
              </a:ext>
            </a:extLst>
          </p:cNvPr>
          <p:cNvSpPr/>
          <p:nvPr/>
        </p:nvSpPr>
        <p:spPr>
          <a:xfrm>
            <a:off x="342900" y="4114800"/>
            <a:ext cx="581025" cy="1562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5A4E78F8-B1C2-E66A-E0DE-DCE709CDE98A}"/>
              </a:ext>
            </a:extLst>
          </p:cNvPr>
          <p:cNvCxnSpPr>
            <a:cxnSpLocks/>
          </p:cNvCxnSpPr>
          <p:nvPr/>
        </p:nvCxnSpPr>
        <p:spPr>
          <a:xfrm>
            <a:off x="571500" y="728662"/>
            <a:ext cx="0" cy="4948238"/>
          </a:xfrm>
          <a:prstGeom prst="line">
            <a:avLst/>
          </a:prstGeom>
          <a:ln w="57150"/>
        </p:spPr>
        <p:style>
          <a:lnRef idx="1">
            <a:schemeClr val="dk1"/>
          </a:lnRef>
          <a:fillRef idx="0">
            <a:schemeClr val="dk1"/>
          </a:fillRef>
          <a:effectRef idx="0">
            <a:schemeClr val="dk1"/>
          </a:effectRef>
          <a:fontRef idx="minor">
            <a:schemeClr val="tx1"/>
          </a:fontRef>
        </p:style>
      </p:cxnSp>
      <p:sp>
        <p:nvSpPr>
          <p:cNvPr id="28" name="Rectangle 27">
            <a:extLst>
              <a:ext uri="{FF2B5EF4-FFF2-40B4-BE49-F238E27FC236}">
                <a16:creationId xmlns:a16="http://schemas.microsoft.com/office/drawing/2014/main" id="{2CE8C59D-BFA8-A5AD-D3BC-F8B27915ED56}"/>
              </a:ext>
            </a:extLst>
          </p:cNvPr>
          <p:cNvSpPr/>
          <p:nvPr/>
        </p:nvSpPr>
        <p:spPr>
          <a:xfrm rot="5002338">
            <a:off x="3125966" y="2366382"/>
            <a:ext cx="1679063" cy="64072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CBEFCD65-5CBC-7AA5-64FD-4EAEF9AF4808}"/>
              </a:ext>
            </a:extLst>
          </p:cNvPr>
          <p:cNvCxnSpPr>
            <a:cxnSpLocks/>
          </p:cNvCxnSpPr>
          <p:nvPr/>
        </p:nvCxnSpPr>
        <p:spPr>
          <a:xfrm flipH="1">
            <a:off x="554214" y="5686425"/>
            <a:ext cx="6400800" cy="0"/>
          </a:xfrm>
          <a:prstGeom prst="line">
            <a:avLst/>
          </a:prstGeom>
          <a:ln w="571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6C487684-7245-B0D1-2CF4-7E715B638099}"/>
              </a:ext>
            </a:extLst>
          </p:cNvPr>
          <p:cNvCxnSpPr>
            <a:cxnSpLocks/>
          </p:cNvCxnSpPr>
          <p:nvPr/>
        </p:nvCxnSpPr>
        <p:spPr>
          <a:xfrm flipV="1">
            <a:off x="952500" y="3124200"/>
            <a:ext cx="6000750" cy="1614487"/>
          </a:xfrm>
          <a:prstGeom prst="line">
            <a:avLst/>
          </a:prstGeom>
          <a:ln w="3810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B980EFC-2488-661A-6F89-FE4FFDF570B2}"/>
              </a:ext>
            </a:extLst>
          </p:cNvPr>
          <p:cNvCxnSpPr>
            <a:cxnSpLocks/>
          </p:cNvCxnSpPr>
          <p:nvPr/>
        </p:nvCxnSpPr>
        <p:spPr>
          <a:xfrm flipV="1">
            <a:off x="942975" y="1866900"/>
            <a:ext cx="6000750" cy="2495550"/>
          </a:xfrm>
          <a:prstGeom prst="line">
            <a:avLst/>
          </a:prstGeom>
          <a:ln w="38100">
            <a:solidFill>
              <a:schemeClr val="accent2"/>
            </a:solidFill>
            <a:prstDash val="sysDash"/>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767788C-4262-6962-0A3F-626C7AB29181}"/>
              </a:ext>
            </a:extLst>
          </p:cNvPr>
          <p:cNvCxnSpPr>
            <a:cxnSpLocks/>
          </p:cNvCxnSpPr>
          <p:nvPr/>
        </p:nvCxnSpPr>
        <p:spPr>
          <a:xfrm flipV="1">
            <a:off x="942975" y="4410075"/>
            <a:ext cx="6000750" cy="695325"/>
          </a:xfrm>
          <a:prstGeom prst="line">
            <a:avLst/>
          </a:prstGeom>
          <a:ln w="38100">
            <a:solidFill>
              <a:schemeClr val="accent2"/>
            </a:solidFill>
            <a:prstDash val="sysDash"/>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E0F42043-D565-A024-616C-C8B235A72A28}"/>
              </a:ext>
            </a:extLst>
          </p:cNvPr>
          <p:cNvSpPr/>
          <p:nvPr/>
        </p:nvSpPr>
        <p:spPr>
          <a:xfrm>
            <a:off x="7010400" y="1666874"/>
            <a:ext cx="1400175" cy="37242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A8904F5-9D8A-5A9C-654B-1BA7FDDE3771}"/>
              </a:ext>
            </a:extLst>
          </p:cNvPr>
          <p:cNvSpPr/>
          <p:nvPr/>
        </p:nvSpPr>
        <p:spPr>
          <a:xfrm>
            <a:off x="1266825" y="4429125"/>
            <a:ext cx="365760" cy="365760"/>
          </a:xfrm>
          <a:prstGeom prst="ellipse">
            <a:avLst/>
          </a:prstGeom>
          <a:solidFill>
            <a:schemeClr val="bg1"/>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122BECA6-AB10-D84D-F6D4-3FE9C2888B5E}"/>
              </a:ext>
            </a:extLst>
          </p:cNvPr>
          <p:cNvSpPr/>
          <p:nvPr/>
        </p:nvSpPr>
        <p:spPr>
          <a:xfrm>
            <a:off x="2758441" y="4013240"/>
            <a:ext cx="365760" cy="365760"/>
          </a:xfrm>
          <a:prstGeom prst="ellipse">
            <a:avLst/>
          </a:prstGeom>
          <a:solidFill>
            <a:schemeClr val="bg1"/>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7E0DCAF-C3F3-2DF3-C000-0CB16A4F4B59}"/>
              </a:ext>
            </a:extLst>
          </p:cNvPr>
          <p:cNvSpPr/>
          <p:nvPr/>
        </p:nvSpPr>
        <p:spPr>
          <a:xfrm>
            <a:off x="6244591" y="3068002"/>
            <a:ext cx="365760" cy="365760"/>
          </a:xfrm>
          <a:prstGeom prst="ellipse">
            <a:avLst/>
          </a:prstGeom>
          <a:solidFill>
            <a:schemeClr val="bg1"/>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987C360-1CCF-4798-BE40-007D37BD6702}"/>
              </a:ext>
            </a:extLst>
          </p:cNvPr>
          <p:cNvSpPr/>
          <p:nvPr/>
        </p:nvSpPr>
        <p:spPr>
          <a:xfrm>
            <a:off x="4491991" y="3546213"/>
            <a:ext cx="365760" cy="365760"/>
          </a:xfrm>
          <a:prstGeom prst="ellipse">
            <a:avLst/>
          </a:prstGeom>
          <a:solidFill>
            <a:schemeClr val="bg1"/>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44643811-76A4-7215-BA41-8DA9C9EEB346}"/>
              </a:ext>
            </a:extLst>
          </p:cNvPr>
          <p:cNvSpPr/>
          <p:nvPr/>
        </p:nvSpPr>
        <p:spPr>
          <a:xfrm>
            <a:off x="1285875" y="5229225"/>
            <a:ext cx="276225" cy="2743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DD2A67DE-45F1-A535-A1E7-C6BDF0607B5A}"/>
              </a:ext>
            </a:extLst>
          </p:cNvPr>
          <p:cNvSpPr/>
          <p:nvPr/>
        </p:nvSpPr>
        <p:spPr>
          <a:xfrm>
            <a:off x="2803208" y="3675405"/>
            <a:ext cx="276225" cy="2743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996111F3-E76D-E7B8-8EF5-FAC2BD74B32B}"/>
              </a:ext>
            </a:extLst>
          </p:cNvPr>
          <p:cNvSpPr/>
          <p:nvPr/>
        </p:nvSpPr>
        <p:spPr>
          <a:xfrm>
            <a:off x="4536758" y="4179424"/>
            <a:ext cx="276225" cy="2743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5F3CC288-3516-184F-A042-B748BB62EA6E}"/>
              </a:ext>
            </a:extLst>
          </p:cNvPr>
          <p:cNvSpPr/>
          <p:nvPr/>
        </p:nvSpPr>
        <p:spPr>
          <a:xfrm>
            <a:off x="6266499" y="1502807"/>
            <a:ext cx="276225" cy="2743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12F50CB5-0D9B-00D9-44E1-0DB315EE0063}"/>
              </a:ext>
            </a:extLst>
          </p:cNvPr>
          <p:cNvSpPr txBox="1"/>
          <p:nvPr/>
        </p:nvSpPr>
        <p:spPr>
          <a:xfrm rot="16200000">
            <a:off x="-1324456" y="3105181"/>
            <a:ext cx="3277564" cy="400110"/>
          </a:xfrm>
          <a:prstGeom prst="rect">
            <a:avLst/>
          </a:prstGeom>
          <a:noFill/>
        </p:spPr>
        <p:txBody>
          <a:bodyPr wrap="none" rtlCol="0">
            <a:spAutoFit/>
          </a:bodyPr>
          <a:lstStyle/>
          <a:p>
            <a:r>
              <a:rPr lang="en-US" sz="2000">
                <a:latin typeface="Arial" panose="020B0604020202020204" pitchFamily="34" charset="0"/>
                <a:cs typeface="Arial" panose="020B0604020202020204" pitchFamily="34" charset="0"/>
              </a:rPr>
              <a:t>Total Influenza Admissions </a:t>
            </a:r>
          </a:p>
        </p:txBody>
      </p:sp>
      <p:sp>
        <p:nvSpPr>
          <p:cNvPr id="47" name="TextBox 46">
            <a:extLst>
              <a:ext uri="{FF2B5EF4-FFF2-40B4-BE49-F238E27FC236}">
                <a16:creationId xmlns:a16="http://schemas.microsoft.com/office/drawing/2014/main" id="{5E853A89-B37E-73C5-583B-DF392FBC0484}"/>
              </a:ext>
            </a:extLst>
          </p:cNvPr>
          <p:cNvSpPr txBox="1"/>
          <p:nvPr/>
        </p:nvSpPr>
        <p:spPr>
          <a:xfrm>
            <a:off x="3381299" y="5777269"/>
            <a:ext cx="1034450" cy="400110"/>
          </a:xfrm>
          <a:prstGeom prst="rect">
            <a:avLst/>
          </a:prstGeom>
          <a:noFill/>
        </p:spPr>
        <p:txBody>
          <a:bodyPr wrap="none" rtlCol="0">
            <a:spAutoFit/>
          </a:bodyPr>
          <a:lstStyle/>
          <a:p>
            <a:r>
              <a:rPr lang="en-US" sz="2000">
                <a:latin typeface="Arial" panose="020B0604020202020204" pitchFamily="34" charset="0"/>
                <a:cs typeface="Arial" panose="020B0604020202020204" pitchFamily="34" charset="0"/>
              </a:rPr>
              <a:t>Weeks </a:t>
            </a:r>
          </a:p>
        </p:txBody>
      </p:sp>
      <p:graphicFrame>
        <p:nvGraphicFramePr>
          <p:cNvPr id="48" name="Table 47">
            <a:extLst>
              <a:ext uri="{FF2B5EF4-FFF2-40B4-BE49-F238E27FC236}">
                <a16:creationId xmlns:a16="http://schemas.microsoft.com/office/drawing/2014/main" id="{4A3110B4-2428-0120-8C8A-4EB857F86E01}"/>
              </a:ext>
            </a:extLst>
          </p:cNvPr>
          <p:cNvGraphicFramePr>
            <a:graphicFrameLocks noGrp="1"/>
          </p:cNvGraphicFramePr>
          <p:nvPr/>
        </p:nvGraphicFramePr>
        <p:xfrm>
          <a:off x="952500" y="815988"/>
          <a:ext cx="3833378" cy="1696588"/>
        </p:xfrm>
        <a:graphic>
          <a:graphicData uri="http://schemas.openxmlformats.org/drawingml/2006/table">
            <a:tbl>
              <a:tblPr firstRow="1" bandRow="1">
                <a:tableStyleId>{5940675A-B579-460E-94D1-54222C63F5DA}</a:tableStyleId>
              </a:tblPr>
              <a:tblGrid>
                <a:gridCol w="1390856">
                  <a:extLst>
                    <a:ext uri="{9D8B030D-6E8A-4147-A177-3AD203B41FA5}">
                      <a16:colId xmlns:a16="http://schemas.microsoft.com/office/drawing/2014/main" val="2345712236"/>
                    </a:ext>
                  </a:extLst>
                </a:gridCol>
                <a:gridCol w="2442522">
                  <a:extLst>
                    <a:ext uri="{9D8B030D-6E8A-4147-A177-3AD203B41FA5}">
                      <a16:colId xmlns:a16="http://schemas.microsoft.com/office/drawing/2014/main" val="267319641"/>
                    </a:ext>
                  </a:extLst>
                </a:gridCol>
              </a:tblGrid>
              <a:tr h="424147">
                <a:tc gridSpan="2">
                  <a:txBody>
                    <a:bodyPr/>
                    <a:lstStyle/>
                    <a:p>
                      <a:pPr algn="ctr"/>
                      <a:r>
                        <a:rPr lang="en-US" b="1">
                          <a:latin typeface="Arial" panose="020B0604020202020204" pitchFamily="34" charset="0"/>
                          <a:cs typeface="Arial" panose="020B0604020202020204" pitchFamily="34" charset="0"/>
                        </a:rPr>
                        <a:t>Legend</a:t>
                      </a:r>
                    </a:p>
                  </a:txBody>
                  <a:tcPr anchor="ctr"/>
                </a:tc>
                <a:tc hMerge="1">
                  <a:txBody>
                    <a:bodyPr/>
                    <a:lstStyle/>
                    <a:p>
                      <a:endParaRPr lang="en-US"/>
                    </a:p>
                  </a:txBody>
                  <a:tcPr/>
                </a:tc>
                <a:extLst>
                  <a:ext uri="{0D108BD9-81ED-4DB2-BD59-A6C34878D82A}">
                    <a16:rowId xmlns:a16="http://schemas.microsoft.com/office/drawing/2014/main" val="516605611"/>
                  </a:ext>
                </a:extLst>
              </a:tr>
              <a:tr h="424147">
                <a:tc>
                  <a:txBody>
                    <a:bodyPr/>
                    <a:lstStyle/>
                    <a:p>
                      <a:endParaRPr lang="en-US"/>
                    </a:p>
                  </a:txBody>
                  <a:tcPr/>
                </a:tc>
                <a:tc>
                  <a:txBody>
                    <a:bodyPr/>
                    <a:lstStyle/>
                    <a:p>
                      <a:pPr algn="ctr"/>
                      <a:r>
                        <a:rPr lang="en-US" sz="1700">
                          <a:latin typeface="Arial" panose="020B0604020202020204" pitchFamily="34" charset="0"/>
                          <a:cs typeface="Arial" panose="020B0604020202020204" pitchFamily="34" charset="0"/>
                        </a:rPr>
                        <a:t>Observed Data</a:t>
                      </a:r>
                    </a:p>
                  </a:txBody>
                  <a:tcPr anchor="ctr"/>
                </a:tc>
                <a:extLst>
                  <a:ext uri="{0D108BD9-81ED-4DB2-BD59-A6C34878D82A}">
                    <a16:rowId xmlns:a16="http://schemas.microsoft.com/office/drawing/2014/main" val="1706858866"/>
                  </a:ext>
                </a:extLst>
              </a:tr>
              <a:tr h="424147">
                <a:tc>
                  <a:txBody>
                    <a:bodyPr/>
                    <a:lstStyle/>
                    <a:p>
                      <a:endParaRPr lang="en-US"/>
                    </a:p>
                  </a:txBody>
                  <a:tcPr/>
                </a:tc>
                <a:tc>
                  <a:txBody>
                    <a:bodyPr/>
                    <a:lstStyle/>
                    <a:p>
                      <a:pPr algn="ctr"/>
                      <a:r>
                        <a:rPr lang="en-US" sz="1700">
                          <a:latin typeface="Arial" panose="020B0604020202020204" pitchFamily="34" charset="0"/>
                          <a:cs typeface="Arial" panose="020B0604020202020204" pitchFamily="34" charset="0"/>
                        </a:rPr>
                        <a:t>Forecasted Median</a:t>
                      </a:r>
                    </a:p>
                  </a:txBody>
                  <a:tcPr anchor="ctr"/>
                </a:tc>
                <a:extLst>
                  <a:ext uri="{0D108BD9-81ED-4DB2-BD59-A6C34878D82A}">
                    <a16:rowId xmlns:a16="http://schemas.microsoft.com/office/drawing/2014/main" val="2613459112"/>
                  </a:ext>
                </a:extLst>
              </a:tr>
              <a:tr h="424147">
                <a:tc>
                  <a:txBody>
                    <a:bodyPr/>
                    <a:lstStyle/>
                    <a:p>
                      <a:endParaRPr lang="en-US"/>
                    </a:p>
                  </a:txBody>
                  <a:tcPr/>
                </a:tc>
                <a:tc>
                  <a:txBody>
                    <a:bodyPr/>
                    <a:lstStyle/>
                    <a:p>
                      <a:pPr algn="ctr"/>
                      <a:r>
                        <a:rPr lang="en-US" sz="1700">
                          <a:latin typeface="Arial" panose="020B0604020202020204" pitchFamily="34" charset="0"/>
                          <a:cs typeface="Arial" panose="020B0604020202020204" pitchFamily="34" charset="0"/>
                        </a:rPr>
                        <a:t>95% PI Bounds</a:t>
                      </a:r>
                    </a:p>
                  </a:txBody>
                  <a:tcPr anchor="ctr"/>
                </a:tc>
                <a:extLst>
                  <a:ext uri="{0D108BD9-81ED-4DB2-BD59-A6C34878D82A}">
                    <a16:rowId xmlns:a16="http://schemas.microsoft.com/office/drawing/2014/main" val="1905483567"/>
                  </a:ext>
                </a:extLst>
              </a:tr>
            </a:tbl>
          </a:graphicData>
        </a:graphic>
      </p:graphicFrame>
      <p:sp>
        <p:nvSpPr>
          <p:cNvPr id="50" name="Oval 49">
            <a:extLst>
              <a:ext uri="{FF2B5EF4-FFF2-40B4-BE49-F238E27FC236}">
                <a16:creationId xmlns:a16="http://schemas.microsoft.com/office/drawing/2014/main" id="{49213478-0198-7F63-BCBC-BAACD17591F2}"/>
              </a:ext>
            </a:extLst>
          </p:cNvPr>
          <p:cNvSpPr/>
          <p:nvPr/>
        </p:nvSpPr>
        <p:spPr>
          <a:xfrm>
            <a:off x="1529370" y="1324060"/>
            <a:ext cx="254662" cy="264735"/>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AF8631F3-CB56-7C6F-CC77-57E25C174B4A}"/>
              </a:ext>
            </a:extLst>
          </p:cNvPr>
          <p:cNvCxnSpPr>
            <a:cxnSpLocks/>
          </p:cNvCxnSpPr>
          <p:nvPr/>
        </p:nvCxnSpPr>
        <p:spPr>
          <a:xfrm>
            <a:off x="1296162" y="1879575"/>
            <a:ext cx="701814" cy="0"/>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52" name="Oval 51">
            <a:extLst>
              <a:ext uri="{FF2B5EF4-FFF2-40B4-BE49-F238E27FC236}">
                <a16:creationId xmlns:a16="http://schemas.microsoft.com/office/drawing/2014/main" id="{DAFD1A46-9958-F9C5-586A-A8BB68F4D8E2}"/>
              </a:ext>
            </a:extLst>
          </p:cNvPr>
          <p:cNvSpPr/>
          <p:nvPr/>
        </p:nvSpPr>
        <p:spPr>
          <a:xfrm>
            <a:off x="1488757" y="1699208"/>
            <a:ext cx="337208" cy="352980"/>
          </a:xfrm>
          <a:prstGeom prst="ellipse">
            <a:avLst/>
          </a:prstGeom>
          <a:solidFill>
            <a:schemeClr val="bg1"/>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8FE4F0CF-9421-179F-D65E-4B657635EC9A}"/>
              </a:ext>
            </a:extLst>
          </p:cNvPr>
          <p:cNvCxnSpPr>
            <a:cxnSpLocks/>
          </p:cNvCxnSpPr>
          <p:nvPr/>
        </p:nvCxnSpPr>
        <p:spPr>
          <a:xfrm>
            <a:off x="1310068" y="2321773"/>
            <a:ext cx="701814" cy="0"/>
          </a:xfrm>
          <a:prstGeom prst="line">
            <a:avLst/>
          </a:prstGeom>
          <a:ln w="57150">
            <a:solidFill>
              <a:schemeClr val="accent2"/>
            </a:solidFill>
            <a:prstDash val="sysDash"/>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30F14429-6E45-E8D4-3FD2-72F996D5F923}"/>
              </a:ext>
            </a:extLst>
          </p:cNvPr>
          <p:cNvSpPr txBox="1"/>
          <p:nvPr/>
        </p:nvSpPr>
        <p:spPr>
          <a:xfrm>
            <a:off x="7253189" y="1798501"/>
            <a:ext cx="4597400" cy="430887"/>
          </a:xfrm>
          <a:prstGeom prst="rect">
            <a:avLst/>
          </a:prstGeom>
          <a:noFill/>
        </p:spPr>
        <p:txBody>
          <a:bodyPr wrap="square" rtlCol="0">
            <a:spAutoFit/>
          </a:bodyPr>
          <a:lstStyle/>
          <a:p>
            <a:pPr algn="ctr"/>
            <a:r>
              <a:rPr lang="en-US" sz="2100" b="1">
                <a:latin typeface="Arial" panose="020B0604020202020204" pitchFamily="34" charset="0"/>
                <a:cs typeface="Arial" panose="020B0604020202020204" pitchFamily="34" charset="0"/>
              </a:rPr>
              <a:t>Calculating the 95% PI Coverage </a:t>
            </a: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A54E99A5-B1C2-4AA0-60F3-77E28B5D76C4}"/>
                  </a:ext>
                </a:extLst>
              </p:cNvPr>
              <p:cNvSpPr txBox="1"/>
              <p:nvPr/>
            </p:nvSpPr>
            <p:spPr>
              <a:xfrm>
                <a:off x="7389299" y="2350053"/>
                <a:ext cx="4083430" cy="3153492"/>
              </a:xfrm>
              <a:prstGeom prst="rect">
                <a:avLst/>
              </a:prstGeom>
              <a:noFill/>
            </p:spPr>
            <p:txBody>
              <a:bodyPr wrap="square" rtlCol="0">
                <a:spAutoFit/>
              </a:bodyPr>
              <a:lstStyle/>
              <a:p>
                <a:pPr marL="342900" indent="-342900">
                  <a:spcAft>
                    <a:spcPts val="600"/>
                  </a:spcAft>
                  <a:buFont typeface="+mj-lt"/>
                  <a:buAutoNum type="arabicPeriod"/>
                </a:pPr>
                <a:r>
                  <a:rPr lang="en-US" sz="2000">
                    <a:latin typeface="Arial" panose="020B0604020202020204" pitchFamily="34" charset="0"/>
                    <a:cs typeface="Arial" panose="020B0604020202020204" pitchFamily="34" charset="0"/>
                  </a:rPr>
                  <a:t>We are working with four dates of data (N = 4). </a:t>
                </a:r>
              </a:p>
              <a:p>
                <a:pPr marL="342900" indent="-342900">
                  <a:spcAft>
                    <a:spcPts val="1800"/>
                  </a:spcAft>
                  <a:buFont typeface="+mj-lt"/>
                  <a:buAutoNum type="arabicPeriod"/>
                </a:pPr>
                <a:r>
                  <a:rPr lang="en-US" sz="2000">
                    <a:latin typeface="Arial" panose="020B0604020202020204" pitchFamily="34" charset="0"/>
                    <a:cs typeface="Arial" panose="020B0604020202020204" pitchFamily="34" charset="0"/>
                  </a:rPr>
                  <a:t>For 2 of those 4 dates, the observed data falls within the bounds. </a:t>
                </a:r>
              </a:p>
              <a:p>
                <a:pPr/>
                <a14:m>
                  <m:oMathPara xmlns:m="http://schemas.openxmlformats.org/officeDocument/2006/math">
                    <m:oMathParaPr>
                      <m:jc m:val="centerGroup"/>
                    </m:oMathParaPr>
                    <m:oMath xmlns:m="http://schemas.openxmlformats.org/officeDocument/2006/math">
                      <m:f>
                        <m:fPr>
                          <m:ctrlPr>
                            <a:rPr lang="en-US" sz="2000" i="1" dirty="0" smtClean="0">
                              <a:latin typeface="Cambria Math" panose="02040503050406030204" pitchFamily="18" charset="0"/>
                            </a:rPr>
                          </m:ctrlPr>
                        </m:fPr>
                        <m:num>
                          <m:r>
                            <a:rPr lang="en-US" sz="2000" i="1" dirty="0">
                              <a:latin typeface="Cambria Math" panose="02040503050406030204" pitchFamily="18" charset="0"/>
                            </a:rPr>
                            <m:t># </m:t>
                          </m:r>
                          <m:r>
                            <a:rPr lang="en-US" sz="2000" i="1" dirty="0">
                              <a:latin typeface="Cambria Math" panose="02040503050406030204" pitchFamily="18" charset="0"/>
                            </a:rPr>
                            <m:t>𝑂𝑏𝑠𝑒𝑟𝑣𝑒𝑑</m:t>
                          </m:r>
                          <m:r>
                            <a:rPr lang="en-US" sz="2000" i="1" dirty="0">
                              <a:latin typeface="Cambria Math" panose="02040503050406030204" pitchFamily="18" charset="0"/>
                            </a:rPr>
                            <m:t> </m:t>
                          </m:r>
                          <m:r>
                            <a:rPr lang="en-US" sz="2000" i="1" dirty="0">
                              <a:latin typeface="Cambria Math" panose="02040503050406030204" pitchFamily="18" charset="0"/>
                            </a:rPr>
                            <m:t>𝑑𝑎𝑡𝑎</m:t>
                          </m:r>
                          <m:r>
                            <a:rPr lang="en-US" sz="2000" i="1" dirty="0">
                              <a:latin typeface="Cambria Math" panose="02040503050406030204" pitchFamily="18" charset="0"/>
                            </a:rPr>
                            <m:t> </m:t>
                          </m:r>
                          <m:r>
                            <a:rPr lang="en-US" sz="2000" i="1" dirty="0">
                              <a:latin typeface="Cambria Math" panose="02040503050406030204" pitchFamily="18" charset="0"/>
                            </a:rPr>
                            <m:t>𝑑𝑎𝑡𝑒𝑠</m:t>
                          </m:r>
                          <m:r>
                            <a:rPr lang="en-US" sz="2000" i="1" dirty="0">
                              <a:latin typeface="Cambria Math" panose="02040503050406030204" pitchFamily="18" charset="0"/>
                            </a:rPr>
                            <m:t> </m:t>
                          </m:r>
                          <m:r>
                            <a:rPr lang="en-US" sz="2000" i="1" dirty="0">
                              <a:latin typeface="Cambria Math" panose="02040503050406030204" pitchFamily="18" charset="0"/>
                            </a:rPr>
                            <m:t>𝑤𝑖𝑡h𝑖𝑛</m:t>
                          </m:r>
                          <m:r>
                            <a:rPr lang="en-US" sz="2000" i="1" dirty="0">
                              <a:latin typeface="Cambria Math" panose="02040503050406030204" pitchFamily="18" charset="0"/>
                            </a:rPr>
                            <m:t> </m:t>
                          </m:r>
                          <m:r>
                            <a:rPr lang="en-US" sz="2000" i="1" dirty="0">
                              <a:latin typeface="Cambria Math" panose="02040503050406030204" pitchFamily="18" charset="0"/>
                            </a:rPr>
                            <m:t>𝑏𝑜𝑢𝑛𝑑𝑠</m:t>
                          </m:r>
                        </m:num>
                        <m:den>
                          <m:r>
                            <a:rPr lang="en-US" sz="2000" b="0" i="1" dirty="0" smtClean="0">
                              <a:latin typeface="Cambria Math" panose="02040503050406030204" pitchFamily="18" charset="0"/>
                            </a:rPr>
                            <m:t>𝑇𝑜𝑡𝑎𝑙</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𝑁𝑢𝑚𝑏𝑒𝑟</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𝑜𝑓</m:t>
                          </m:r>
                          <m:r>
                            <a:rPr lang="en-US" sz="2000" b="0" i="1" dirty="0" smtClean="0">
                              <a:latin typeface="Cambria Math" panose="02040503050406030204" pitchFamily="18" charset="0"/>
                            </a:rPr>
                            <m:t> </m:t>
                          </m:r>
                          <m:r>
                            <a:rPr lang="en-US" sz="2000" b="0" i="1" dirty="0" smtClean="0">
                              <a:latin typeface="Cambria Math" panose="02040503050406030204" pitchFamily="18" charset="0"/>
                            </a:rPr>
                            <m:t>𝐷𝑎𝑡𝑒𝑠</m:t>
                          </m:r>
                          <m:r>
                            <a:rPr lang="en-US" sz="2000" b="0" i="1" dirty="0" smtClean="0">
                              <a:latin typeface="Cambria Math" panose="02040503050406030204" pitchFamily="18" charset="0"/>
                            </a:rPr>
                            <m:t> </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𝑁</m:t>
                              </m:r>
                            </m:e>
                          </m:d>
                          <m:r>
                            <a:rPr lang="en-US" sz="2000" b="0" i="1" dirty="0" smtClean="0">
                              <a:latin typeface="Cambria Math" panose="02040503050406030204" pitchFamily="18" charset="0"/>
                            </a:rPr>
                            <m:t> </m:t>
                          </m:r>
                        </m:den>
                      </m:f>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2</m:t>
                          </m:r>
                        </m:num>
                        <m:den>
                          <m:r>
                            <a:rPr lang="en-US" sz="2000" b="0" i="1" dirty="0" smtClean="0">
                              <a:latin typeface="Cambria Math" panose="02040503050406030204" pitchFamily="18" charset="0"/>
                            </a:rPr>
                            <m:t>4</m:t>
                          </m:r>
                        </m:den>
                      </m:f>
                      <m:r>
                        <a:rPr lang="en-US" sz="2000" b="0" i="1" dirty="0" smtClean="0">
                          <a:latin typeface="Cambria Math" panose="02040503050406030204" pitchFamily="18" charset="0"/>
                        </a:rPr>
                        <m:t>=</m:t>
                      </m:r>
                      <m:r>
                        <a:rPr lang="en-US" sz="2000" b="1" i="1" dirty="0" smtClean="0">
                          <a:latin typeface="Cambria Math" panose="02040503050406030204" pitchFamily="18" charset="0"/>
                        </a:rPr>
                        <m:t>𝟎</m:t>
                      </m:r>
                      <m:r>
                        <a:rPr lang="en-US" sz="2000" b="1" i="1" dirty="0" smtClean="0">
                          <a:latin typeface="Cambria Math" panose="02040503050406030204" pitchFamily="18" charset="0"/>
                        </a:rPr>
                        <m:t>.</m:t>
                      </m:r>
                      <m:r>
                        <a:rPr lang="en-US" sz="2000" b="1" i="1" dirty="0" smtClean="0">
                          <a:latin typeface="Cambria Math" panose="02040503050406030204" pitchFamily="18" charset="0"/>
                        </a:rPr>
                        <m:t>𝟓</m:t>
                      </m:r>
                      <m:r>
                        <a:rPr lang="en-US" sz="2000" b="1" i="1" dirty="0" smtClean="0">
                          <a:latin typeface="Cambria Math" panose="02040503050406030204" pitchFamily="18" charset="0"/>
                        </a:rPr>
                        <m:t> </m:t>
                      </m:r>
                      <m:r>
                        <a:rPr lang="en-US" sz="2000" b="1" i="1" dirty="0" smtClean="0">
                          <a:latin typeface="Cambria Math" panose="02040503050406030204" pitchFamily="18" charset="0"/>
                        </a:rPr>
                        <m:t>𝒐𝒓</m:t>
                      </m:r>
                      <m:r>
                        <a:rPr lang="en-US" sz="2000" b="1" i="1" dirty="0" smtClean="0">
                          <a:latin typeface="Cambria Math" panose="02040503050406030204" pitchFamily="18" charset="0"/>
                        </a:rPr>
                        <m:t> </m:t>
                      </m:r>
                      <m:r>
                        <a:rPr lang="en-US" sz="2000" b="1" i="1" dirty="0" smtClean="0">
                          <a:latin typeface="Cambria Math" panose="02040503050406030204" pitchFamily="18" charset="0"/>
                        </a:rPr>
                        <m:t>𝟓𝟎</m:t>
                      </m:r>
                      <m:r>
                        <a:rPr lang="en-US" sz="2000" b="1" i="1" dirty="0" smtClean="0">
                          <a:latin typeface="Cambria Math" panose="02040503050406030204" pitchFamily="18" charset="0"/>
                        </a:rPr>
                        <m:t>% </m:t>
                      </m:r>
                      <m:r>
                        <a:rPr lang="en-US" sz="2000" b="1" i="1" dirty="0" smtClean="0">
                          <a:latin typeface="Cambria Math" panose="02040503050406030204" pitchFamily="18" charset="0"/>
                        </a:rPr>
                        <m:t>𝑷𝑰</m:t>
                      </m:r>
                      <m:r>
                        <a:rPr lang="en-US" sz="2000" b="1" i="1" dirty="0" smtClean="0">
                          <a:latin typeface="Cambria Math" panose="02040503050406030204" pitchFamily="18" charset="0"/>
                        </a:rPr>
                        <m:t> </m:t>
                      </m:r>
                      <m:r>
                        <a:rPr lang="en-US" sz="2000" b="1" i="1" dirty="0" smtClean="0">
                          <a:latin typeface="Cambria Math" panose="02040503050406030204" pitchFamily="18" charset="0"/>
                        </a:rPr>
                        <m:t>𝑪𝒐𝒗𝒆𝒓𝒂𝒈𝒆</m:t>
                      </m:r>
                      <m:r>
                        <a:rPr lang="en-US" sz="2000" b="1" i="1" dirty="0" smtClean="0">
                          <a:latin typeface="Cambria Math" panose="02040503050406030204" pitchFamily="18" charset="0"/>
                        </a:rPr>
                        <m:t> </m:t>
                      </m:r>
                    </m:oMath>
                  </m:oMathPara>
                </a14:m>
                <a:endParaRPr lang="en-US" sz="2000" b="1">
                  <a:latin typeface="Arial" panose="020B0604020202020204" pitchFamily="34" charset="0"/>
                  <a:cs typeface="Arial" panose="020B0604020202020204" pitchFamily="34" charset="0"/>
                </a:endParaRPr>
              </a:p>
            </p:txBody>
          </p:sp>
        </mc:Choice>
        <mc:Fallback xmlns="">
          <p:sp>
            <p:nvSpPr>
              <p:cNvPr id="60" name="TextBox 59">
                <a:extLst>
                  <a:ext uri="{FF2B5EF4-FFF2-40B4-BE49-F238E27FC236}">
                    <a16:creationId xmlns:a16="http://schemas.microsoft.com/office/drawing/2014/main" id="{A54E99A5-B1C2-4AA0-60F3-77E28B5D76C4}"/>
                  </a:ext>
                </a:extLst>
              </p:cNvPr>
              <p:cNvSpPr txBox="1">
                <a:spLocks noRot="1" noChangeAspect="1" noMove="1" noResize="1" noEditPoints="1" noAdjustHandles="1" noChangeArrowheads="1" noChangeShapeType="1" noTextEdit="1"/>
              </p:cNvSpPr>
              <p:nvPr/>
            </p:nvSpPr>
            <p:spPr>
              <a:xfrm>
                <a:off x="7389299" y="2350053"/>
                <a:ext cx="4083430" cy="3153492"/>
              </a:xfrm>
              <a:prstGeom prst="rect">
                <a:avLst/>
              </a:prstGeom>
              <a:blipFill>
                <a:blip r:embed="rId3"/>
                <a:stretch>
                  <a:fillRect l="-1343" t="-967" r="-18657"/>
                </a:stretch>
              </a:blipFill>
            </p:spPr>
            <p:txBody>
              <a:bodyPr/>
              <a:lstStyle/>
              <a:p>
                <a:r>
                  <a:rPr lang="en-US">
                    <a:noFill/>
                  </a:rPr>
                  <a:t> </a:t>
                </a:r>
              </a:p>
            </p:txBody>
          </p:sp>
        </mc:Fallback>
      </mc:AlternateContent>
      <p:sp>
        <p:nvSpPr>
          <p:cNvPr id="63" name="Rectangle 62">
            <a:extLst>
              <a:ext uri="{FF2B5EF4-FFF2-40B4-BE49-F238E27FC236}">
                <a16:creationId xmlns:a16="http://schemas.microsoft.com/office/drawing/2014/main" id="{7A8BB570-42AA-DB16-9D68-D8C868A207FE}"/>
              </a:ext>
            </a:extLst>
          </p:cNvPr>
          <p:cNvSpPr/>
          <p:nvPr/>
        </p:nvSpPr>
        <p:spPr>
          <a:xfrm>
            <a:off x="7190423" y="1541170"/>
            <a:ext cx="4792057" cy="4188469"/>
          </a:xfrm>
          <a:prstGeom prst="rect">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41725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E618E-22F7-E67B-E464-622EBBA5B0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C7AE5-82A9-AC85-29AB-1B209CA0E233}"/>
              </a:ext>
            </a:extLst>
          </p:cNvPr>
          <p:cNvSpPr>
            <a:spLocks noGrp="1"/>
          </p:cNvSpPr>
          <p:nvPr>
            <p:ph type="title"/>
          </p:nvPr>
        </p:nvSpPr>
        <p:spPr>
          <a:xfrm>
            <a:off x="838200" y="7434"/>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Interval Score (IS)</a:t>
            </a:r>
            <a:endParaRPr lang="en-US" dirty="0"/>
          </a:p>
        </p:txBody>
      </p:sp>
      <p:sp>
        <p:nvSpPr>
          <p:cNvPr id="3" name="Content Placeholder 2">
            <a:extLst>
              <a:ext uri="{FF2B5EF4-FFF2-40B4-BE49-F238E27FC236}">
                <a16:creationId xmlns:a16="http://schemas.microsoft.com/office/drawing/2014/main" id="{0F53AC6F-1487-022A-EE66-EDA91EB4189A}"/>
              </a:ext>
            </a:extLst>
          </p:cNvPr>
          <p:cNvSpPr>
            <a:spLocks noGrp="1"/>
          </p:cNvSpPr>
          <p:nvPr>
            <p:ph idx="1"/>
          </p:nvPr>
        </p:nvSpPr>
        <p:spPr>
          <a:xfrm>
            <a:off x="838200" y="1047245"/>
            <a:ext cx="10515600" cy="4351338"/>
          </a:xfrm>
        </p:spPr>
        <p:txBody>
          <a:bodyPr>
            <a:normAutofit/>
          </a:bodyPr>
          <a:lstStyle/>
          <a:p>
            <a:r>
              <a:rPr lang="en-US" sz="2400">
                <a:latin typeface="Arial" panose="020B0604020202020204" pitchFamily="34" charset="0"/>
                <a:cs typeface="Arial" panose="020B0604020202020204" pitchFamily="34" charset="0"/>
              </a:rPr>
              <a:t>Measures how well a </a:t>
            </a:r>
            <a:r>
              <a:rPr lang="en-US" sz="2400" b="1">
                <a:latin typeface="Arial" panose="020B0604020202020204" pitchFamily="34" charset="0"/>
                <a:cs typeface="Arial" panose="020B0604020202020204" pitchFamily="34" charset="0"/>
              </a:rPr>
              <a:t>single</a:t>
            </a:r>
            <a:r>
              <a:rPr lang="en-US" sz="2400">
                <a:latin typeface="Arial" panose="020B0604020202020204" pitchFamily="34" charset="0"/>
                <a:cs typeface="Arial" panose="020B0604020202020204" pitchFamily="34" charset="0"/>
              </a:rPr>
              <a:t> prediction interval performs, rewarding intervals that are narrow but penalizing ones that the observed value falls outside, in the units of the observed data.</a:t>
            </a:r>
            <a:endParaRPr lang="en-US" sz="250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A16DFA5E-1FCE-EC7D-A818-994CD66CBB5E}"/>
                  </a:ext>
                </a:extLst>
              </p:cNvPr>
              <p:cNvGraphicFramePr>
                <a:graphicFrameLocks noGrp="1"/>
              </p:cNvGraphicFramePr>
              <p:nvPr>
                <p:extLst>
                  <p:ext uri="{D42A27DB-BD31-4B8C-83A1-F6EECF244321}">
                    <p14:modId xmlns:p14="http://schemas.microsoft.com/office/powerpoint/2010/main" val="2970405320"/>
                  </p:ext>
                </p:extLst>
              </p:nvPr>
            </p:nvGraphicFramePr>
            <p:xfrm>
              <a:off x="838200" y="4711700"/>
              <a:ext cx="10766612" cy="1463040"/>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42900">
                    <a:tc>
                      <a:txBody>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cs typeface="Arial" panose="020B0604020202020204" pitchFamily="34" charset="0"/>
                                  </a:rPr>
                                  <m:t>𝑙</m:t>
                                </m:r>
                                <m:r>
                                  <a:rPr lang="en-US" sz="1800" b="0" i="1" smtClean="0">
                                    <a:latin typeface="Cambria Math" panose="02040503050406030204" pitchFamily="18" charset="0"/>
                                    <a:cs typeface="Arial" panose="020B0604020202020204" pitchFamily="34" charset="0"/>
                                  </a:rPr>
                                  <m:t>, </m:t>
                                </m:r>
                                <m:r>
                                  <a:rPr lang="en-US" sz="1800" b="0" i="1" smtClean="0">
                                    <a:latin typeface="Cambria Math" panose="02040503050406030204" pitchFamily="18" charset="0"/>
                                    <a:cs typeface="Arial" panose="020B0604020202020204" pitchFamily="34" charset="0"/>
                                  </a:rPr>
                                  <m:t>𝑢</m:t>
                                </m:r>
                              </m:oMath>
                            </m:oMathPara>
                          </a14:m>
                          <a:endParaRPr lang="en-US" sz="1800">
                            <a:latin typeface="Arial" panose="020B0604020202020204" pitchFamily="34" charset="0"/>
                            <a:cs typeface="Arial" panose="020B0604020202020204" pitchFamily="34" charset="0"/>
                          </a:endParaRPr>
                        </a:p>
                      </a:txBody>
                      <a:tcPr>
                        <a:solidFill>
                          <a:schemeClr val="bg1"/>
                        </a:solidFill>
                      </a:tcPr>
                    </a:tc>
                    <a:tc>
                      <a:txBody>
                        <a:bodyPr/>
                        <a:lstStyle/>
                        <a:p>
                          <a:r>
                            <a:rPr lang="en-US" sz="1800">
                              <a:latin typeface="Arial" panose="020B0604020202020204" pitchFamily="34" charset="0"/>
                              <a:cs typeface="Arial" panose="020B0604020202020204" pitchFamily="34" charset="0"/>
                            </a:rPr>
                            <a:t>Lower/Upper bounds of prediction interval</a:t>
                          </a:r>
                        </a:p>
                      </a:txBody>
                      <a:tcPr>
                        <a:solidFill>
                          <a:schemeClr val="bg1"/>
                        </a:solidFill>
                      </a:tcPr>
                    </a:tc>
                    <a:extLst>
                      <a:ext uri="{0D108BD9-81ED-4DB2-BD59-A6C34878D82A}">
                        <a16:rowId xmlns:a16="http://schemas.microsoft.com/office/drawing/2014/main" val="1232624375"/>
                      </a:ext>
                    </a:extLst>
                  </a:tr>
                  <a:tr h="342900">
                    <a:tc>
                      <a:txBody>
                        <a:bodyPr/>
                        <a:lstStyle/>
                        <a:p>
                          <a:pPr/>
                          <a14:m>
                            <m:oMathPara xmlns:m="http://schemas.openxmlformats.org/officeDocument/2006/math">
                              <m:oMathParaPr>
                                <m:jc m:val="centerGroup"/>
                              </m:oMathParaPr>
                              <m:oMath xmlns:m="http://schemas.openxmlformats.org/officeDocument/2006/math">
                                <m:r>
                                  <a:rPr lang="en-US" sz="1800" b="0" i="1" dirty="0" smtClean="0">
                                    <a:latin typeface="Cambria Math" panose="02040503050406030204" pitchFamily="18" charset="0"/>
                                  </a:rPr>
                                  <m:t>𝑦</m:t>
                                </m:r>
                              </m:oMath>
                            </m:oMathPara>
                          </a14:m>
                          <a:endParaRPr sz="1800">
                            <a:latin typeface="Arial" panose="020B0604020202020204" pitchFamily="34" charset="0"/>
                            <a:cs typeface="Arial" panose="020B0604020202020204" pitchFamily="34"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latin typeface="Arial" panose="020B0604020202020204" pitchFamily="34" charset="0"/>
                              <a:cs typeface="Arial" panose="020B0604020202020204" pitchFamily="34" charset="0"/>
                            </a:rPr>
                            <a:t>Observed value </a:t>
                          </a:r>
                          <a:endParaRPr lang="en-US" sz="1800" b="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2974297070"/>
                      </a:ext>
                    </a:extLst>
                  </a:tr>
                  <a:tr h="342900">
                    <a:tc>
                      <a:txBody>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cs typeface="Arial" panose="020B0604020202020204" pitchFamily="34" charset="0"/>
                                  </a:rPr>
                                  <m:t>𝟏</m:t>
                                </m:r>
                                <m:r>
                                  <a:rPr lang="en-US" sz="1800" b="0" i="1" smtClean="0">
                                    <a:latin typeface="Cambria Math" panose="02040503050406030204" pitchFamily="18" charset="0"/>
                                    <a:cs typeface="Arial" panose="020B0604020202020204" pitchFamily="34" charset="0"/>
                                  </a:rPr>
                                  <m:t>(</m:t>
                                </m:r>
                                <m:r>
                                  <a:rPr lang="en-US" sz="1800" b="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sz="1800" b="0">
                            <a:latin typeface="Arial" panose="020B0604020202020204" pitchFamily="34" charset="0"/>
                            <a:cs typeface="Arial" panose="020B0604020202020204" pitchFamily="34" charset="0"/>
                          </a:endParaRPr>
                        </a:p>
                      </a:txBody>
                      <a:tcPr>
                        <a:solidFill>
                          <a:schemeClr val="bg1"/>
                        </a:solidFill>
                      </a:tcPr>
                    </a:tc>
                    <a:tc>
                      <a:txBody>
                        <a:bodyPr/>
                        <a:lstStyle/>
                        <a:p>
                          <a:r>
                            <a:rPr lang="en-US" sz="1800">
                              <a:latin typeface="Arial" panose="020B0604020202020204" pitchFamily="34" charset="0"/>
                              <a:cs typeface="Arial" panose="020B0604020202020204" pitchFamily="34" charset="0"/>
                            </a:rPr>
                            <a:t>Indicator becomes 1 if condition within is TRUE </a:t>
                          </a:r>
                        </a:p>
                      </a:txBody>
                      <a:tcPr>
                        <a:solidFill>
                          <a:schemeClr val="bg1"/>
                        </a:solidFill>
                      </a:tcPr>
                    </a:tc>
                    <a:extLst>
                      <a:ext uri="{0D108BD9-81ED-4DB2-BD59-A6C34878D82A}">
                        <a16:rowId xmlns:a16="http://schemas.microsoft.com/office/drawing/2014/main" val="2695673171"/>
                      </a:ext>
                    </a:extLst>
                  </a:tr>
                  <a:tr h="342900">
                    <a:tc>
                      <a:txBody>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cs typeface="Arial" panose="020B0604020202020204" pitchFamily="34" charset="0"/>
                                  </a:rPr>
                                  <m:t>𝛼</m:t>
                                </m:r>
                              </m:oMath>
                            </m:oMathPara>
                          </a14:m>
                          <a:endParaRPr lang="en-US" sz="1800">
                            <a:latin typeface="Arial" panose="020B0604020202020204" pitchFamily="34" charset="0"/>
                            <a:cs typeface="Arial" panose="020B0604020202020204" pitchFamily="34" charset="0"/>
                          </a:endParaRPr>
                        </a:p>
                      </a:txBody>
                      <a:tcPr>
                        <a:solidFill>
                          <a:schemeClr val="bg1"/>
                        </a:solidFill>
                      </a:tcPr>
                    </a:tc>
                    <a:tc>
                      <a:txBody>
                        <a:bodyPr/>
                        <a:lstStyle/>
                        <a:p>
                          <a:r>
                            <a:rPr lang="en-US" sz="1800">
                              <a:latin typeface="Arial" panose="020B0604020202020204" pitchFamily="34" charset="0"/>
                              <a:cs typeface="Arial" panose="020B0604020202020204" pitchFamily="34" charset="0"/>
                            </a:rPr>
                            <a:t>Significance level (e.g., 0.05 for a 95% interval)</a:t>
                          </a:r>
                        </a:p>
                      </a:txBody>
                      <a:tcPr>
                        <a:solidFill>
                          <a:schemeClr val="bg1"/>
                        </a:solidFill>
                      </a:tcPr>
                    </a:tc>
                    <a:extLst>
                      <a:ext uri="{0D108BD9-81ED-4DB2-BD59-A6C34878D82A}">
                        <a16:rowId xmlns:a16="http://schemas.microsoft.com/office/drawing/2014/main" val="3220579129"/>
                      </a:ext>
                    </a:extLst>
                  </a:tr>
                </a:tbl>
              </a:graphicData>
            </a:graphic>
          </p:graphicFrame>
        </mc:Choice>
        <mc:Fallback xmlns="">
          <p:graphicFrame>
            <p:nvGraphicFramePr>
              <p:cNvPr id="16" name="Table 15">
                <a:extLst>
                  <a:ext uri="{FF2B5EF4-FFF2-40B4-BE49-F238E27FC236}">
                    <a16:creationId xmlns:a16="http://schemas.microsoft.com/office/drawing/2014/main" id="{A16DFA5E-1FCE-EC7D-A818-994CD66CBB5E}"/>
                  </a:ext>
                </a:extLst>
              </p:cNvPr>
              <p:cNvGraphicFramePr>
                <a:graphicFrameLocks noGrp="1"/>
              </p:cNvGraphicFramePr>
              <p:nvPr>
                <p:extLst>
                  <p:ext uri="{D42A27DB-BD31-4B8C-83A1-F6EECF244321}">
                    <p14:modId xmlns:p14="http://schemas.microsoft.com/office/powerpoint/2010/main" val="2970405320"/>
                  </p:ext>
                </p:extLst>
              </p:nvPr>
            </p:nvGraphicFramePr>
            <p:xfrm>
              <a:off x="838200" y="4711700"/>
              <a:ext cx="10766612" cy="1463040"/>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65760">
                    <a:tc>
                      <a:txBody>
                        <a:bodyPr/>
                        <a:lstStyle/>
                        <a:p>
                          <a:endParaRPr lang="en-US"/>
                        </a:p>
                      </a:txBody>
                      <a:tcPr>
                        <a:blipFill>
                          <a:blip r:embed="rId3"/>
                          <a:stretch>
                            <a:fillRect l="-833" t="-8333" r="-197000" b="-328333"/>
                          </a:stretch>
                        </a:blipFill>
                      </a:tcPr>
                    </a:tc>
                    <a:tc>
                      <a:txBody>
                        <a:bodyPr/>
                        <a:lstStyle/>
                        <a:p>
                          <a:r>
                            <a:rPr lang="en-US" sz="1800">
                              <a:latin typeface="Arial" panose="020B0604020202020204" pitchFamily="34" charset="0"/>
                              <a:cs typeface="Arial" panose="020B0604020202020204" pitchFamily="34" charset="0"/>
                            </a:rPr>
                            <a:t>Lower/Upper bounds of prediction interval</a:t>
                          </a:r>
                        </a:p>
                      </a:txBody>
                      <a:tcPr>
                        <a:solidFill>
                          <a:schemeClr val="bg1"/>
                        </a:solidFill>
                      </a:tcPr>
                    </a:tc>
                    <a:extLst>
                      <a:ext uri="{0D108BD9-81ED-4DB2-BD59-A6C34878D82A}">
                        <a16:rowId xmlns:a16="http://schemas.microsoft.com/office/drawing/2014/main" val="1232624375"/>
                      </a:ext>
                    </a:extLst>
                  </a:tr>
                  <a:tr h="365760">
                    <a:tc>
                      <a:txBody>
                        <a:bodyPr/>
                        <a:lstStyle/>
                        <a:p>
                          <a:endParaRPr lang="en-US"/>
                        </a:p>
                      </a:txBody>
                      <a:tcPr>
                        <a:blipFill>
                          <a:blip r:embed="rId3"/>
                          <a:stretch>
                            <a:fillRect l="-833" t="-106557" r="-197000" b="-22295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latin typeface="Arial" panose="020B0604020202020204" pitchFamily="34" charset="0"/>
                              <a:cs typeface="Arial" panose="020B0604020202020204" pitchFamily="34" charset="0"/>
                            </a:rPr>
                            <a:t>Observed value </a:t>
                          </a:r>
                          <a:endParaRPr lang="en-US" sz="1800" b="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2974297070"/>
                      </a:ext>
                    </a:extLst>
                  </a:tr>
                  <a:tr h="365760">
                    <a:tc>
                      <a:txBody>
                        <a:bodyPr/>
                        <a:lstStyle/>
                        <a:p>
                          <a:endParaRPr lang="en-US"/>
                        </a:p>
                      </a:txBody>
                      <a:tcPr>
                        <a:blipFill>
                          <a:blip r:embed="rId3"/>
                          <a:stretch>
                            <a:fillRect l="-833" t="-210000" r="-197000" b="-126667"/>
                          </a:stretch>
                        </a:blipFill>
                      </a:tcPr>
                    </a:tc>
                    <a:tc>
                      <a:txBody>
                        <a:bodyPr/>
                        <a:lstStyle/>
                        <a:p>
                          <a:r>
                            <a:rPr lang="en-US" sz="1800">
                              <a:latin typeface="Arial" panose="020B0604020202020204" pitchFamily="34" charset="0"/>
                              <a:cs typeface="Arial" panose="020B0604020202020204" pitchFamily="34" charset="0"/>
                            </a:rPr>
                            <a:t>Indicator becomes 1 if condition within is TRUE </a:t>
                          </a:r>
                        </a:p>
                      </a:txBody>
                      <a:tcPr>
                        <a:solidFill>
                          <a:schemeClr val="bg1"/>
                        </a:solidFill>
                      </a:tcPr>
                    </a:tc>
                    <a:extLst>
                      <a:ext uri="{0D108BD9-81ED-4DB2-BD59-A6C34878D82A}">
                        <a16:rowId xmlns:a16="http://schemas.microsoft.com/office/drawing/2014/main" val="2695673171"/>
                      </a:ext>
                    </a:extLst>
                  </a:tr>
                  <a:tr h="365760">
                    <a:tc>
                      <a:txBody>
                        <a:bodyPr/>
                        <a:lstStyle/>
                        <a:p>
                          <a:endParaRPr lang="en-US"/>
                        </a:p>
                      </a:txBody>
                      <a:tcPr>
                        <a:blipFill>
                          <a:blip r:embed="rId3"/>
                          <a:stretch>
                            <a:fillRect l="-833" t="-310000" r="-197000" b="-26667"/>
                          </a:stretch>
                        </a:blipFill>
                      </a:tcPr>
                    </a:tc>
                    <a:tc>
                      <a:txBody>
                        <a:bodyPr/>
                        <a:lstStyle/>
                        <a:p>
                          <a:r>
                            <a:rPr lang="en-US" sz="1800">
                              <a:latin typeface="Arial" panose="020B0604020202020204" pitchFamily="34" charset="0"/>
                              <a:cs typeface="Arial" panose="020B0604020202020204" pitchFamily="34" charset="0"/>
                            </a:rPr>
                            <a:t>Significance level (e.g., 0.05 for a 95% interval)</a:t>
                          </a:r>
                        </a:p>
                      </a:txBody>
                      <a:tcPr>
                        <a:solidFill>
                          <a:schemeClr val="bg1"/>
                        </a:solidFill>
                      </a:tcPr>
                    </a:tc>
                    <a:extLst>
                      <a:ext uri="{0D108BD9-81ED-4DB2-BD59-A6C34878D82A}">
                        <a16:rowId xmlns:a16="http://schemas.microsoft.com/office/drawing/2014/main" val="3220579129"/>
                      </a:ext>
                    </a:extLst>
                  </a:tr>
                </a:tbl>
              </a:graphicData>
            </a:graphic>
          </p:graphicFrame>
        </mc:Fallback>
      </mc:AlternateContent>
      <p:sp>
        <p:nvSpPr>
          <p:cNvPr id="5" name="Content Placeholder 2">
            <a:extLst>
              <a:ext uri="{FF2B5EF4-FFF2-40B4-BE49-F238E27FC236}">
                <a16:creationId xmlns:a16="http://schemas.microsoft.com/office/drawing/2014/main" id="{5F1446A5-AC2F-AF0A-8EBD-AA1545A8F0FD}"/>
              </a:ext>
            </a:extLst>
          </p:cNvPr>
          <p:cNvSpPr txBox="1">
            <a:spLocks/>
          </p:cNvSpPr>
          <p:nvPr/>
        </p:nvSpPr>
        <p:spPr>
          <a:xfrm>
            <a:off x="838200" y="6233167"/>
            <a:ext cx="10515600" cy="6248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500" b="1">
                <a:latin typeface="Arial" panose="020B0604020202020204" pitchFamily="34" charset="0"/>
                <a:cs typeface="Arial" panose="020B0604020202020204" pitchFamily="34" charset="0"/>
              </a:rPr>
              <a:t>Ideal Value: </a:t>
            </a:r>
            <a:r>
              <a:rPr lang="en-US" sz="2500">
                <a:latin typeface="Arial" panose="020B0604020202020204" pitchFamily="34" charset="0"/>
                <a:cs typeface="Arial" panose="020B0604020202020204" pitchFamily="34" charset="0"/>
              </a:rPr>
              <a:t>Lower is better!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C51796-179C-F323-85CF-A50D6B0CA370}"/>
                  </a:ext>
                </a:extLst>
              </p:cNvPr>
              <p:cNvSpPr txBox="1"/>
              <p:nvPr/>
            </p:nvSpPr>
            <p:spPr>
              <a:xfrm>
                <a:off x="2443137" y="3135172"/>
                <a:ext cx="6661375" cy="7973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m:rPr>
                              <m:sty m:val="p"/>
                            </m:rPr>
                            <a:rPr lang="en-US" b="0" i="1" smtClean="0">
                              <a:latin typeface="Cambria Math" panose="02040503050406030204" pitchFamily="18" charset="0"/>
                            </a:rPr>
                            <m:t>α</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0"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𝑙</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𝛼</m:t>
                          </m:r>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1" i="1" smtClean="0">
                          <a:latin typeface="Cambria Math" panose="02040503050406030204" pitchFamily="18" charset="0"/>
                        </a:rPr>
                        <m:t>𝟏</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𝑙</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𝛼</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𝑢</m:t>
                          </m:r>
                        </m:e>
                      </m:d>
                      <m:r>
                        <a:rPr lang="en-US" b="0" i="1" smtClean="0">
                          <a:latin typeface="Cambria Math" panose="02040503050406030204" pitchFamily="18" charset="0"/>
                        </a:rPr>
                        <m:t>∗</m:t>
                      </m:r>
                      <m:r>
                        <a:rPr lang="en-US" b="1" i="1" smtClean="0">
                          <a:latin typeface="Cambria Math" panose="02040503050406030204" pitchFamily="18" charset="0"/>
                        </a:rPr>
                        <m:t>𝟏</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m:oMathPara>
                </a14:m>
                <a:endParaRPr lang="en-US" b="0" i="1"/>
              </a:p>
              <a:p>
                <a:endParaRPr lang="en-US" b="0"/>
              </a:p>
            </p:txBody>
          </p:sp>
        </mc:Choice>
        <mc:Fallback xmlns="">
          <p:sp>
            <p:nvSpPr>
              <p:cNvPr id="4" name="TextBox 3">
                <a:extLst>
                  <a:ext uri="{FF2B5EF4-FFF2-40B4-BE49-F238E27FC236}">
                    <a16:creationId xmlns:a16="http://schemas.microsoft.com/office/drawing/2014/main" id="{BEC51796-179C-F323-85CF-A50D6B0CA370}"/>
                  </a:ext>
                </a:extLst>
              </p:cNvPr>
              <p:cNvSpPr txBox="1">
                <a:spLocks noRot="1" noChangeAspect="1" noMove="1" noResize="1" noEditPoints="1" noAdjustHandles="1" noChangeArrowheads="1" noChangeShapeType="1" noTextEdit="1"/>
              </p:cNvSpPr>
              <p:nvPr/>
            </p:nvSpPr>
            <p:spPr>
              <a:xfrm>
                <a:off x="2443137" y="3135172"/>
                <a:ext cx="6661375" cy="797398"/>
              </a:xfrm>
              <a:prstGeom prst="rect">
                <a:avLst/>
              </a:prstGeom>
              <a:blipFill>
                <a:blip r:embed="rId4"/>
                <a:stretch>
                  <a:fillRect/>
                </a:stretch>
              </a:blipFill>
            </p:spPr>
            <p:txBody>
              <a:bodyPr/>
              <a:lstStyle/>
              <a:p>
                <a:r>
                  <a:rPr lang="en-US">
                    <a:noFill/>
                  </a:rPr>
                  <a:t> </a:t>
                </a:r>
              </a:p>
            </p:txBody>
          </p:sp>
        </mc:Fallback>
      </mc:AlternateContent>
      <p:sp>
        <p:nvSpPr>
          <p:cNvPr id="6" name="Right Brace 5">
            <a:extLst>
              <a:ext uri="{FF2B5EF4-FFF2-40B4-BE49-F238E27FC236}">
                <a16:creationId xmlns:a16="http://schemas.microsoft.com/office/drawing/2014/main" id="{55D45413-7C3F-83E1-620D-B0376CB687BC}"/>
              </a:ext>
            </a:extLst>
          </p:cNvPr>
          <p:cNvSpPr/>
          <p:nvPr/>
        </p:nvSpPr>
        <p:spPr>
          <a:xfrm rot="16200000" flipH="1">
            <a:off x="3862231" y="3344141"/>
            <a:ext cx="304029" cy="683487"/>
          </a:xfrm>
          <a:prstGeom prst="rightBrace">
            <a:avLst/>
          </a:prstGeom>
          <a:noFill/>
          <a:ln w="38100">
            <a:solidFill>
              <a:srgbClr val="F667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Right Brace 6">
            <a:extLst>
              <a:ext uri="{FF2B5EF4-FFF2-40B4-BE49-F238E27FC236}">
                <a16:creationId xmlns:a16="http://schemas.microsoft.com/office/drawing/2014/main" id="{B7049C2D-BC26-D3A5-BC8C-FE1504C07E45}"/>
              </a:ext>
            </a:extLst>
          </p:cNvPr>
          <p:cNvSpPr/>
          <p:nvPr/>
        </p:nvSpPr>
        <p:spPr>
          <a:xfrm rot="5400000" flipH="1" flipV="1">
            <a:off x="5522467" y="1955610"/>
            <a:ext cx="304029" cy="2202870"/>
          </a:xfrm>
          <a:prstGeom prst="rightBrace">
            <a:avLst/>
          </a:prstGeom>
          <a:ln w="38100">
            <a:solidFill>
              <a:srgbClr val="F667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Right Brace 7">
            <a:extLst>
              <a:ext uri="{FF2B5EF4-FFF2-40B4-BE49-F238E27FC236}">
                <a16:creationId xmlns:a16="http://schemas.microsoft.com/office/drawing/2014/main" id="{7EECE05F-92BC-742C-FA54-223655DA9B80}"/>
              </a:ext>
            </a:extLst>
          </p:cNvPr>
          <p:cNvSpPr/>
          <p:nvPr/>
        </p:nvSpPr>
        <p:spPr>
          <a:xfrm rot="16200000" flipH="1">
            <a:off x="7832021" y="2662114"/>
            <a:ext cx="304029" cy="2111431"/>
          </a:xfrm>
          <a:prstGeom prst="rightBrace">
            <a:avLst/>
          </a:prstGeom>
          <a:ln w="38100">
            <a:solidFill>
              <a:srgbClr val="F667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645FDA78-424A-D729-4128-8024EFF3B632}"/>
              </a:ext>
            </a:extLst>
          </p:cNvPr>
          <p:cNvSpPr txBox="1"/>
          <p:nvPr/>
        </p:nvSpPr>
        <p:spPr>
          <a:xfrm>
            <a:off x="3316901" y="3897370"/>
            <a:ext cx="1394687" cy="369332"/>
          </a:xfrm>
          <a:prstGeom prst="rect">
            <a:avLst/>
          </a:prstGeom>
          <a:noFill/>
          <a:ln w="28575">
            <a:solidFill>
              <a:srgbClr val="522D80"/>
            </a:solidFill>
          </a:ln>
        </p:spPr>
        <p:txBody>
          <a:bodyPr wrap="square" rtlCol="0">
            <a:spAutoFit/>
          </a:bodyPr>
          <a:lstStyle/>
          <a:p>
            <a:pPr algn="ctr"/>
            <a:r>
              <a:rPr lang="en-US">
                <a:solidFill>
                  <a:srgbClr val="522D80"/>
                </a:solidFill>
                <a:latin typeface="Arial" panose="020B0604020202020204" pitchFamily="34" charset="0"/>
                <a:cs typeface="Arial" panose="020B0604020202020204" pitchFamily="34" charset="0"/>
              </a:rPr>
              <a:t>Dispersion</a:t>
            </a:r>
          </a:p>
        </p:txBody>
      </p:sp>
      <p:sp>
        <p:nvSpPr>
          <p:cNvPr id="11" name="TextBox 10">
            <a:extLst>
              <a:ext uri="{FF2B5EF4-FFF2-40B4-BE49-F238E27FC236}">
                <a16:creationId xmlns:a16="http://schemas.microsoft.com/office/drawing/2014/main" id="{55CC4C51-A0E5-593C-DE85-A8B3BA5BC25D}"/>
              </a:ext>
            </a:extLst>
          </p:cNvPr>
          <p:cNvSpPr txBox="1"/>
          <p:nvPr/>
        </p:nvSpPr>
        <p:spPr>
          <a:xfrm>
            <a:off x="4698890" y="2466103"/>
            <a:ext cx="1930509" cy="369332"/>
          </a:xfrm>
          <a:prstGeom prst="rect">
            <a:avLst/>
          </a:prstGeom>
          <a:noFill/>
          <a:ln w="28575">
            <a:solidFill>
              <a:srgbClr val="522D80"/>
            </a:solidFill>
          </a:ln>
        </p:spPr>
        <p:txBody>
          <a:bodyPr wrap="square" rtlCol="0">
            <a:spAutoFit/>
          </a:bodyPr>
          <a:lstStyle/>
          <a:p>
            <a:pPr algn="ctr"/>
            <a:r>
              <a:rPr lang="en-US">
                <a:solidFill>
                  <a:srgbClr val="522D80"/>
                </a:solidFill>
                <a:latin typeface="Arial" panose="020B0604020202020204" pitchFamily="34" charset="0"/>
                <a:cs typeface="Arial" panose="020B0604020202020204" pitchFamily="34" charset="0"/>
              </a:rPr>
              <a:t>Overprediction</a:t>
            </a:r>
          </a:p>
        </p:txBody>
      </p:sp>
      <p:sp>
        <p:nvSpPr>
          <p:cNvPr id="12" name="TextBox 11">
            <a:extLst>
              <a:ext uri="{FF2B5EF4-FFF2-40B4-BE49-F238E27FC236}">
                <a16:creationId xmlns:a16="http://schemas.microsoft.com/office/drawing/2014/main" id="{1EFD9427-C33F-4975-6129-555C3DECA2E5}"/>
              </a:ext>
            </a:extLst>
          </p:cNvPr>
          <p:cNvSpPr txBox="1"/>
          <p:nvPr/>
        </p:nvSpPr>
        <p:spPr>
          <a:xfrm>
            <a:off x="7047931" y="3900429"/>
            <a:ext cx="1872208" cy="369332"/>
          </a:xfrm>
          <a:prstGeom prst="rect">
            <a:avLst/>
          </a:prstGeom>
          <a:noFill/>
          <a:ln w="28575">
            <a:solidFill>
              <a:srgbClr val="522D80"/>
            </a:solidFill>
          </a:ln>
        </p:spPr>
        <p:txBody>
          <a:bodyPr wrap="square" rtlCol="0">
            <a:spAutoFit/>
          </a:bodyPr>
          <a:lstStyle/>
          <a:p>
            <a:pPr algn="ctr"/>
            <a:r>
              <a:rPr lang="en-US">
                <a:solidFill>
                  <a:srgbClr val="522D80"/>
                </a:solidFill>
                <a:latin typeface="Arial" panose="020B0604020202020204" pitchFamily="34" charset="0"/>
                <a:cs typeface="Arial" panose="020B0604020202020204" pitchFamily="34" charset="0"/>
              </a:rPr>
              <a:t>Underprediction</a:t>
            </a:r>
          </a:p>
        </p:txBody>
      </p:sp>
    </p:spTree>
    <p:extLst>
      <p:ext uri="{BB962C8B-B14F-4D97-AF65-F5344CB8AC3E}">
        <p14:creationId xmlns:p14="http://schemas.microsoft.com/office/powerpoint/2010/main" val="353697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10" grpId="0" animBg="1"/>
      <p:bldP spid="11" grpId="0" animBg="1"/>
      <p:bldP spid="1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3A285-A9A9-47A8-BE3A-091B78DF6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719309-7AFB-F4AD-6839-6F0C4A16718C}"/>
              </a:ext>
            </a:extLst>
          </p:cNvPr>
          <p:cNvSpPr>
            <a:spLocks noGrp="1"/>
          </p:cNvSpPr>
          <p:nvPr>
            <p:ph type="title"/>
          </p:nvPr>
        </p:nvSpPr>
        <p:spPr>
          <a:xfrm>
            <a:off x="838200" y="-89034"/>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Weighted Interval Score (WIS)</a:t>
            </a:r>
            <a:endParaRPr lang="en-US" dirty="0"/>
          </a:p>
        </p:txBody>
      </p:sp>
      <p:sp>
        <p:nvSpPr>
          <p:cNvPr id="3" name="Content Placeholder 2">
            <a:extLst>
              <a:ext uri="{FF2B5EF4-FFF2-40B4-BE49-F238E27FC236}">
                <a16:creationId xmlns:a16="http://schemas.microsoft.com/office/drawing/2014/main" id="{F40F01A2-164C-D0DC-DFE2-6A5579FFC6CF}"/>
              </a:ext>
            </a:extLst>
          </p:cNvPr>
          <p:cNvSpPr>
            <a:spLocks noGrp="1"/>
          </p:cNvSpPr>
          <p:nvPr>
            <p:ph idx="1"/>
          </p:nvPr>
        </p:nvSpPr>
        <p:spPr>
          <a:xfrm>
            <a:off x="838200" y="1068374"/>
            <a:ext cx="10515600" cy="4351338"/>
          </a:xfrm>
        </p:spPr>
        <p:txBody>
          <a:bodyPr>
            <a:normAutofit/>
          </a:bodyPr>
          <a:lstStyle/>
          <a:p>
            <a:r>
              <a:rPr lang="en-US" sz="2400">
                <a:latin typeface="Arial" panose="020B0604020202020204" pitchFamily="34" charset="0"/>
                <a:cs typeface="Arial" panose="020B0604020202020204" pitchFamily="34" charset="0"/>
              </a:rPr>
              <a:t>Measures overall forecast quality, focusing on how close the whole predicted distribution is to the observed value, in the units of the observed data. It rewards forecasts that are both </a:t>
            </a:r>
            <a:r>
              <a:rPr lang="en-US" sz="2400" b="1">
                <a:solidFill>
                  <a:schemeClr val="accent2"/>
                </a:solidFill>
                <a:latin typeface="Arial" panose="020B0604020202020204" pitchFamily="34" charset="0"/>
                <a:cs typeface="Arial" panose="020B0604020202020204" pitchFamily="34" charset="0"/>
              </a:rPr>
              <a:t>accurate</a:t>
            </a:r>
            <a:r>
              <a:rPr lang="en-US" sz="2400">
                <a:latin typeface="Arial" panose="020B0604020202020204" pitchFamily="34" charset="0"/>
                <a:cs typeface="Arial" panose="020B0604020202020204" pitchFamily="34" charset="0"/>
              </a:rPr>
              <a:t> and </a:t>
            </a:r>
            <a:r>
              <a:rPr lang="en-US" sz="2400" b="1">
                <a:solidFill>
                  <a:schemeClr val="accent2"/>
                </a:solidFill>
                <a:latin typeface="Arial" panose="020B0604020202020204" pitchFamily="34" charset="0"/>
                <a:cs typeface="Arial" panose="020B0604020202020204" pitchFamily="34" charset="0"/>
              </a:rPr>
              <a:t>appropriately confident</a:t>
            </a:r>
            <a:r>
              <a:rPr lang="en-US" sz="2400">
                <a:latin typeface="Arial" panose="020B0604020202020204" pitchFamily="34" charset="0"/>
                <a:cs typeface="Arial" panose="020B0604020202020204" pitchFamily="34" charset="0"/>
              </a:rPr>
              <a:t>.</a:t>
            </a:r>
            <a:endParaRPr lang="en-US" sz="250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A3613E1-B83F-C6D0-B991-AEC2AF6FFD93}"/>
                  </a:ext>
                </a:extLst>
              </p:cNvPr>
              <p:cNvSpPr txBox="1"/>
              <p:nvPr/>
            </p:nvSpPr>
            <p:spPr>
              <a:xfrm>
                <a:off x="1888598" y="2484881"/>
                <a:ext cx="8113888" cy="15155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500" i="1" smtClean="0">
                          <a:latin typeface="Cambria Math" panose="02040503050406030204" pitchFamily="18" charset="0"/>
                        </a:rPr>
                        <m:t>𝑊𝐼𝑆</m:t>
                      </m:r>
                      <m:r>
                        <a:rPr lang="en-US" sz="2500" i="1" smtClean="0">
                          <a:latin typeface="Cambria Math" panose="02040503050406030204" pitchFamily="18" charset="0"/>
                        </a:rPr>
                        <m:t>=</m:t>
                      </m:r>
                      <m:f>
                        <m:fPr>
                          <m:ctrlPr>
                            <a:rPr lang="en-US" sz="2500" i="1">
                              <a:latin typeface="Cambria Math" panose="02040503050406030204" pitchFamily="18" charset="0"/>
                            </a:rPr>
                          </m:ctrlPr>
                        </m:fPr>
                        <m:num>
                          <m:r>
                            <a:rPr lang="en-US" sz="2500" i="1">
                              <a:latin typeface="Cambria Math" panose="02040503050406030204" pitchFamily="18" charset="0"/>
                            </a:rPr>
                            <m:t>1</m:t>
                          </m:r>
                        </m:num>
                        <m:den>
                          <m:r>
                            <a:rPr lang="en-US" sz="2500" i="1">
                              <a:latin typeface="Cambria Math" panose="02040503050406030204" pitchFamily="18" charset="0"/>
                            </a:rPr>
                            <m:t>𝐾</m:t>
                          </m:r>
                          <m:r>
                            <a:rPr lang="en-US" sz="2500" i="1">
                              <a:latin typeface="Cambria Math" panose="02040503050406030204" pitchFamily="18" charset="0"/>
                            </a:rPr>
                            <m:t>+0.5</m:t>
                          </m:r>
                        </m:den>
                      </m:f>
                      <m:r>
                        <a:rPr lang="en-US" sz="2500" i="1">
                          <a:latin typeface="Cambria Math" panose="02040503050406030204" pitchFamily="18" charset="0"/>
                        </a:rPr>
                        <m:t>∗</m:t>
                      </m:r>
                      <m:d>
                        <m:dPr>
                          <m:ctrlPr>
                            <a:rPr lang="en-US" sz="2500" i="1">
                              <a:latin typeface="Cambria Math" panose="02040503050406030204" pitchFamily="18" charset="0"/>
                            </a:rPr>
                          </m:ctrlPr>
                        </m:dPr>
                        <m:e>
                          <m:r>
                            <a:rPr lang="en-US" sz="2500" b="0" i="1" smtClean="0">
                              <a:latin typeface="Cambria Math" panose="02040503050406030204" pitchFamily="18" charset="0"/>
                            </a:rPr>
                            <m:t>0.5</m:t>
                          </m:r>
                          <m:r>
                            <a:rPr lang="en-US" sz="2500" i="1">
                              <a:latin typeface="Cambria Math" panose="02040503050406030204" pitchFamily="18" charset="0"/>
                            </a:rPr>
                            <m:t>∗</m:t>
                          </m:r>
                          <m:d>
                            <m:dPr>
                              <m:begChr m:val="|"/>
                              <m:endChr m:val="|"/>
                              <m:ctrlPr>
                                <a:rPr lang="en-US" sz="2500" i="1">
                                  <a:latin typeface="Cambria Math" panose="02040503050406030204" pitchFamily="18" charset="0"/>
                                </a:rPr>
                              </m:ctrlPr>
                            </m:dPr>
                            <m:e>
                              <m:r>
                                <a:rPr lang="en-US" sz="2500" i="1">
                                  <a:latin typeface="Cambria Math" panose="02040503050406030204" pitchFamily="18" charset="0"/>
                                </a:rPr>
                                <m:t>𝑦</m:t>
                              </m:r>
                              <m:r>
                                <a:rPr lang="en-US" sz="2500" i="1">
                                  <a:latin typeface="Cambria Math" panose="02040503050406030204" pitchFamily="18" charset="0"/>
                                </a:rPr>
                                <m:t>−</m:t>
                              </m:r>
                              <m:r>
                                <a:rPr lang="en-US" sz="2500" i="1">
                                  <a:latin typeface="Cambria Math" panose="02040503050406030204" pitchFamily="18" charset="0"/>
                                </a:rPr>
                                <m:t>𝑚</m:t>
                              </m:r>
                            </m:e>
                          </m:d>
                          <m:r>
                            <a:rPr lang="en-US" sz="2500" i="1">
                              <a:latin typeface="Cambria Math" panose="02040503050406030204" pitchFamily="18" charset="0"/>
                            </a:rPr>
                            <m:t>+</m:t>
                          </m:r>
                          <m:nary>
                            <m:naryPr>
                              <m:chr m:val="∑"/>
                              <m:ctrlPr>
                                <a:rPr lang="en-US" sz="2500" i="1">
                                  <a:latin typeface="Cambria Math" panose="02040503050406030204" pitchFamily="18" charset="0"/>
                                </a:rPr>
                              </m:ctrlPr>
                            </m:naryPr>
                            <m:sub>
                              <m:r>
                                <m:rPr>
                                  <m:brk m:alnAt="23"/>
                                </m:rPr>
                                <a:rPr lang="en-US" sz="2500" i="1">
                                  <a:latin typeface="Cambria Math" panose="02040503050406030204" pitchFamily="18" charset="0"/>
                                </a:rPr>
                                <m:t>𝑘</m:t>
                              </m:r>
                              <m:r>
                                <a:rPr lang="en-US" sz="2500" i="1">
                                  <a:latin typeface="Cambria Math" panose="02040503050406030204" pitchFamily="18" charset="0"/>
                                </a:rPr>
                                <m:t>=1</m:t>
                              </m:r>
                            </m:sub>
                            <m:sup>
                              <m:r>
                                <a:rPr lang="en-US" sz="2500" i="1">
                                  <a:latin typeface="Cambria Math" panose="02040503050406030204" pitchFamily="18" charset="0"/>
                                </a:rPr>
                                <m:t>𝐾</m:t>
                              </m:r>
                            </m:sup>
                            <m:e>
                              <m:sSub>
                                <m:sSubPr>
                                  <m:ctrlPr>
                                    <a:rPr lang="en-US" sz="2500" i="1">
                                      <a:latin typeface="Cambria Math" panose="02040503050406030204" pitchFamily="18" charset="0"/>
                                    </a:rPr>
                                  </m:ctrlPr>
                                </m:sSubPr>
                                <m:e>
                                  <m:r>
                                    <a:rPr lang="en-US" sz="2500" i="1">
                                      <a:latin typeface="Cambria Math" panose="02040503050406030204" pitchFamily="18" charset="0"/>
                                    </a:rPr>
                                    <m:t>𝑤</m:t>
                                  </m:r>
                                </m:e>
                                <m:sub>
                                  <m:r>
                                    <a:rPr lang="en-US" sz="2500" i="1">
                                      <a:latin typeface="Cambria Math" panose="02040503050406030204" pitchFamily="18" charset="0"/>
                                    </a:rPr>
                                    <m:t>𝑘</m:t>
                                  </m:r>
                                </m:sub>
                              </m:sSub>
                              <m:r>
                                <a:rPr lang="en-US" sz="2500" i="1">
                                  <a:latin typeface="Cambria Math" panose="02040503050406030204" pitchFamily="18" charset="0"/>
                                </a:rPr>
                                <m:t>∗</m:t>
                              </m:r>
                              <m:r>
                                <a:rPr lang="en-US" sz="2500" i="1">
                                  <a:latin typeface="Cambria Math" panose="02040503050406030204" pitchFamily="18" charset="0"/>
                                </a:rPr>
                                <m:t>𝐼</m:t>
                              </m:r>
                              <m:sSub>
                                <m:sSubPr>
                                  <m:ctrlPr>
                                    <a:rPr lang="en-US" sz="2500" i="1">
                                      <a:latin typeface="Cambria Math" panose="02040503050406030204" pitchFamily="18" charset="0"/>
                                    </a:rPr>
                                  </m:ctrlPr>
                                </m:sSubPr>
                                <m:e>
                                  <m:r>
                                    <a:rPr lang="en-US" sz="2500" i="1">
                                      <a:latin typeface="Cambria Math" panose="02040503050406030204" pitchFamily="18" charset="0"/>
                                    </a:rPr>
                                    <m:t>𝑆</m:t>
                                  </m:r>
                                </m:e>
                                <m:sub>
                                  <m:sSub>
                                    <m:sSubPr>
                                      <m:ctrlPr>
                                        <a:rPr lang="en-US" sz="2500" i="1">
                                          <a:latin typeface="Cambria Math" panose="02040503050406030204" pitchFamily="18" charset="0"/>
                                        </a:rPr>
                                      </m:ctrlPr>
                                    </m:sSubPr>
                                    <m:e>
                                      <m:r>
                                        <a:rPr lang="en-US" sz="2500" i="1">
                                          <a:latin typeface="Cambria Math" panose="02040503050406030204" pitchFamily="18" charset="0"/>
                                        </a:rPr>
                                        <m:t>𝛼</m:t>
                                      </m:r>
                                    </m:e>
                                    <m:sub>
                                      <m:r>
                                        <a:rPr lang="en-US" sz="2500" i="1">
                                          <a:latin typeface="Cambria Math" panose="02040503050406030204" pitchFamily="18" charset="0"/>
                                        </a:rPr>
                                        <m:t>𝑘</m:t>
                                      </m:r>
                                    </m:sub>
                                  </m:sSub>
                                </m:sub>
                              </m:sSub>
                              <m:r>
                                <a:rPr lang="en-US" sz="2500" i="1">
                                  <a:latin typeface="Cambria Math" panose="02040503050406030204" pitchFamily="18" charset="0"/>
                                </a:rPr>
                                <m:t>(</m:t>
                              </m:r>
                              <m:r>
                                <a:rPr lang="en-US" sz="2500" i="1">
                                  <a:latin typeface="Cambria Math" panose="02040503050406030204" pitchFamily="18" charset="0"/>
                                </a:rPr>
                                <m:t>𝐹</m:t>
                              </m:r>
                              <m:r>
                                <a:rPr lang="en-US" sz="2500" i="1">
                                  <a:latin typeface="Cambria Math" panose="02040503050406030204" pitchFamily="18" charset="0"/>
                                </a:rPr>
                                <m:t>,</m:t>
                              </m:r>
                              <m:r>
                                <a:rPr lang="en-US" sz="2500" i="1">
                                  <a:latin typeface="Cambria Math" panose="02040503050406030204" pitchFamily="18" charset="0"/>
                                </a:rPr>
                                <m:t>𝑦</m:t>
                              </m:r>
                              <m:r>
                                <a:rPr lang="en-US" sz="2500" i="1">
                                  <a:latin typeface="Cambria Math" panose="02040503050406030204" pitchFamily="18" charset="0"/>
                                </a:rPr>
                                <m:t>)</m:t>
                              </m:r>
                            </m:e>
                          </m:nary>
                        </m:e>
                      </m:d>
                    </m:oMath>
                  </m:oMathPara>
                </a14:m>
                <a:endParaRPr lang="en-US" sz="2500" b="0">
                  <a:ea typeface="Cambria Math" panose="02040503050406030204" pitchFamily="18" charset="0"/>
                </a:endParaRPr>
              </a:p>
              <a:p>
                <a:endParaRPr lang="en-US" b="0"/>
              </a:p>
            </p:txBody>
          </p:sp>
        </mc:Choice>
        <mc:Fallback xmlns="">
          <p:sp>
            <p:nvSpPr>
              <p:cNvPr id="9" name="TextBox 8">
                <a:extLst>
                  <a:ext uri="{FF2B5EF4-FFF2-40B4-BE49-F238E27FC236}">
                    <a16:creationId xmlns:a16="http://schemas.microsoft.com/office/drawing/2014/main" id="{FA3613E1-B83F-C6D0-B991-AEC2AF6FFD93}"/>
                  </a:ext>
                </a:extLst>
              </p:cNvPr>
              <p:cNvSpPr txBox="1">
                <a:spLocks noRot="1" noChangeAspect="1" noMove="1" noResize="1" noEditPoints="1" noAdjustHandles="1" noChangeArrowheads="1" noChangeShapeType="1" noTextEdit="1"/>
              </p:cNvSpPr>
              <p:nvPr/>
            </p:nvSpPr>
            <p:spPr>
              <a:xfrm>
                <a:off x="1888598" y="2484881"/>
                <a:ext cx="8113888" cy="151554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951AAE1C-0E27-8727-0D44-8535E1D5AC1A}"/>
                  </a:ext>
                </a:extLst>
              </p:cNvPr>
              <p:cNvGraphicFramePr>
                <a:graphicFrameLocks noGrp="1"/>
              </p:cNvGraphicFramePr>
              <p:nvPr/>
            </p:nvGraphicFramePr>
            <p:xfrm>
              <a:off x="838200" y="4025812"/>
              <a:ext cx="10766612" cy="2151147"/>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cs typeface="Arial" panose="020B0604020202020204" pitchFamily="34" charset="0"/>
                                  </a:rPr>
                                  <m:t>𝐾</m:t>
                                </m:r>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b="0">
                              <a:latin typeface="Arial" panose="020B0604020202020204" pitchFamily="34" charset="0"/>
                              <a:cs typeface="Arial" panose="020B0604020202020204" pitchFamily="34" charset="0"/>
                            </a:rPr>
                            <a:t>Number of Prediction Intervals sets</a:t>
                          </a:r>
                        </a:p>
                      </a:txBody>
                      <a:tcPr>
                        <a:solidFill>
                          <a:schemeClr val="bg1"/>
                        </a:solidFill>
                      </a:tcPr>
                    </a:tc>
                    <a:extLst>
                      <a:ext uri="{0D108BD9-81ED-4DB2-BD59-A6C34878D82A}">
                        <a16:rowId xmlns:a16="http://schemas.microsoft.com/office/drawing/2014/main" val="1232624375"/>
                      </a:ext>
                    </a:extLst>
                  </a:tr>
                  <a:tr h="436393">
                    <a:tc>
                      <a:txBody>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𝑦</m:t>
                                </m:r>
                              </m:oMath>
                            </m:oMathPara>
                          </a14:m>
                          <a:endParaRPr sz="2000">
                            <a:latin typeface="Arial" panose="020B0604020202020204" pitchFamily="34" charset="0"/>
                            <a:cs typeface="Arial" panose="020B0604020202020204" pitchFamily="34"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latin typeface="Arial" panose="020B0604020202020204" pitchFamily="34" charset="0"/>
                              <a:cs typeface="Arial" panose="020B0604020202020204" pitchFamily="34" charset="0"/>
                            </a:rPr>
                            <a:t>Observed value </a:t>
                          </a:r>
                          <a:endParaRPr lang="en-US" sz="2000" b="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2974297070"/>
                      </a:ext>
                    </a:extLst>
                  </a:tr>
                  <a:tr h="370840">
                    <a:tc>
                      <a:txBody>
                        <a:bodyPr/>
                        <a:lstStyle/>
                        <a:p>
                          <a:pPr/>
                          <a14:m>
                            <m:oMathPara xmlns:m="http://schemas.openxmlformats.org/officeDocument/2006/math">
                              <m:oMathParaPr>
                                <m:jc m:val="centerGroup"/>
                              </m:oMathParaPr>
                              <m:oMath xmlns:m="http://schemas.openxmlformats.org/officeDocument/2006/math">
                                <m:r>
                                  <a:rPr lang="en-US" sz="2000" b="0" i="1" smtClean="0">
                                    <a:solidFill>
                                      <a:srgbClr val="0E101A"/>
                                    </a:solidFill>
                                    <a:latin typeface="Cambria Math" panose="02040503050406030204" pitchFamily="18" charset="0"/>
                                    <a:ea typeface="Cambria Math" panose="02040503050406030204" pitchFamily="18" charset="0"/>
                                    <a:cs typeface="Times New Roman" panose="02020603050405020304" pitchFamily="18" charset="0"/>
                                  </a:rPr>
                                  <m:t>𝑚</m:t>
                                </m:r>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Forecasted Median </a:t>
                          </a:r>
                        </a:p>
                      </a:txBody>
                      <a:tcPr>
                        <a:solidFill>
                          <a:schemeClr val="bg1"/>
                        </a:solidFill>
                      </a:tcPr>
                    </a:tc>
                    <a:extLst>
                      <a:ext uri="{0D108BD9-81ED-4DB2-BD59-A6C34878D82A}">
                        <a16:rowId xmlns:a16="http://schemas.microsoft.com/office/drawing/2014/main" val="269567317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𝑤</m:t>
                                    </m:r>
                                  </m:e>
                                  <m:sub>
                                    <m:r>
                                      <a:rPr lang="en-US" sz="2000" b="0" i="1" smtClean="0">
                                        <a:latin typeface="Cambria Math" panose="02040503050406030204" pitchFamily="18" charset="0"/>
                                        <a:cs typeface="Arial" panose="020B0604020202020204" pitchFamily="34" charset="0"/>
                                      </a:rPr>
                                      <m:t>𝑘</m:t>
                                    </m:r>
                                  </m:sub>
                                </m:sSub>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latin typeface="Arial" panose="020B0604020202020204" pitchFamily="34" charset="0"/>
                              <a:cs typeface="Arial" panose="020B0604020202020204" pitchFamily="34" charset="0"/>
                            </a:rPr>
                            <a:t>Weight Assigned to each interval; </a:t>
                          </a:r>
                          <a14:m>
                            <m:oMath xmlns:m="http://schemas.openxmlformats.org/officeDocument/2006/math">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w</m:t>
                                  </m:r>
                                </m:e>
                                <m:sub>
                                  <m:r>
                                    <m:rPr>
                                      <m:sty m:val="p"/>
                                    </m:rPr>
                                    <a:rPr lang="en-US" sz="2000" b="0" i="0" dirty="0" smtClean="0">
                                      <a:latin typeface="Cambria Math" panose="02040503050406030204" pitchFamily="18" charset="0"/>
                                    </a:rPr>
                                    <m:t>k</m:t>
                                  </m:r>
                                </m:sub>
                              </m:sSub>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𝛼</m:t>
                                      </m:r>
                                    </m:e>
                                    <m:sub>
                                      <m:r>
                                        <a:rPr lang="en-US" sz="2000" b="0" i="1" dirty="0" smtClean="0">
                                          <a:latin typeface="Cambria Math" panose="02040503050406030204" pitchFamily="18" charset="0"/>
                                        </a:rPr>
                                        <m:t>𝑘</m:t>
                                      </m:r>
                                    </m:sub>
                                  </m:sSub>
                                </m:num>
                                <m:den>
                                  <m:r>
                                    <a:rPr lang="en-US" sz="2000" b="0" i="1" dirty="0" smtClean="0">
                                      <a:latin typeface="Cambria Math" panose="02040503050406030204" pitchFamily="18" charset="0"/>
                                    </a:rPr>
                                    <m:t>2</m:t>
                                  </m:r>
                                </m:den>
                              </m:f>
                            </m:oMath>
                          </a14:m>
                          <a:endParaRPr lang="en-US" sz="2000" b="0" i="1">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4045749803"/>
                      </a:ext>
                    </a:extLst>
                  </a:tr>
                  <a:tr h="370840">
                    <a:tc>
                      <a:txBody>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𝐼</m:t>
                                </m:r>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sSub>
                                      <m:sSubPr>
                                        <m:ctrlPr>
                                          <a:rPr lang="en-US" sz="2000" i="1">
                                            <a:latin typeface="Cambria Math" panose="02040503050406030204" pitchFamily="18" charset="0"/>
                                          </a:rPr>
                                        </m:ctrlPr>
                                      </m:sSubPr>
                                      <m:e>
                                        <m:r>
                                          <a:rPr lang="en-US" sz="2000" i="1">
                                            <a:latin typeface="Cambria Math" panose="02040503050406030204" pitchFamily="18" charset="0"/>
                                          </a:rPr>
                                          <m:t>𝛼</m:t>
                                        </m:r>
                                      </m:e>
                                      <m:sub>
                                        <m:r>
                                          <a:rPr lang="en-US" sz="2000" i="1">
                                            <a:latin typeface="Cambria Math" panose="02040503050406030204" pitchFamily="18" charset="0"/>
                                          </a:rPr>
                                          <m:t>𝑘</m:t>
                                        </m:r>
                                      </m:sub>
                                    </m:sSub>
                                  </m:sub>
                                </m:sSub>
                                <m:r>
                                  <a:rPr lang="en-US" sz="2000" i="1">
                                    <a:latin typeface="Cambria Math" panose="02040503050406030204" pitchFamily="18" charset="0"/>
                                  </a:rPr>
                                  <m:t>(</m:t>
                                </m:r>
                                <m:r>
                                  <a:rPr lang="en-US" sz="2000" i="1">
                                    <a:latin typeface="Cambria Math" panose="02040503050406030204" pitchFamily="18" charset="0"/>
                                  </a:rPr>
                                  <m:t>𝐹</m:t>
                                </m:r>
                                <m:r>
                                  <a:rPr lang="en-US" sz="2000" i="1">
                                    <a:latin typeface="Cambria Math" panose="02040503050406030204" pitchFamily="18" charset="0"/>
                                  </a:rPr>
                                  <m:t>,</m:t>
                                </m:r>
                                <m:r>
                                  <a:rPr lang="en-US" sz="2000" i="1">
                                    <a:latin typeface="Cambria Math" panose="02040503050406030204" pitchFamily="18" charset="0"/>
                                  </a:rPr>
                                  <m:t>𝑦</m:t>
                                </m:r>
                                <m:r>
                                  <a:rPr lang="en-US" sz="2000" b="0" i="1" smtClean="0">
                                    <a:latin typeface="Cambria Math" panose="02040503050406030204" pitchFamily="18" charset="0"/>
                                  </a:rPr>
                                  <m:t>)</m:t>
                                </m:r>
                              </m:oMath>
                            </m:oMathPara>
                          </a14:m>
                          <a:endParaRPr lang="en-US" sz="2000">
                            <a:latin typeface="Arial" panose="020B0604020202020204" pitchFamily="34" charset="0"/>
                            <a:cs typeface="Arial" panose="020B0604020202020204" pitchFamily="34" charset="0"/>
                          </a:endParaRPr>
                        </a:p>
                      </a:txBody>
                      <a:tcPr>
                        <a:solidFill>
                          <a:schemeClr val="bg1"/>
                        </a:solidFill>
                      </a:tcPr>
                    </a:tc>
                    <a:tc>
                      <a:txBody>
                        <a:bodyPr/>
                        <a:lstStyle/>
                        <a:p>
                          <a:r>
                            <a:rPr lang="en-US" sz="2000">
                              <a:latin typeface="Arial" panose="020B0604020202020204" pitchFamily="34" charset="0"/>
                              <a:cs typeface="Arial" panose="020B0604020202020204" pitchFamily="34" charset="0"/>
                            </a:rPr>
                            <a:t>Interval score </a:t>
                          </a:r>
                        </a:p>
                      </a:txBody>
                      <a:tcPr>
                        <a:solidFill>
                          <a:schemeClr val="bg1"/>
                        </a:solidFill>
                      </a:tcPr>
                    </a:tc>
                    <a:extLst>
                      <a:ext uri="{0D108BD9-81ED-4DB2-BD59-A6C34878D82A}">
                        <a16:rowId xmlns:a16="http://schemas.microsoft.com/office/drawing/2014/main" val="943748695"/>
                      </a:ext>
                    </a:extLst>
                  </a:tr>
                </a:tbl>
              </a:graphicData>
            </a:graphic>
          </p:graphicFrame>
        </mc:Choice>
        <mc:Fallback xmlns="">
          <p:graphicFrame>
            <p:nvGraphicFramePr>
              <p:cNvPr id="16" name="Table 15">
                <a:extLst>
                  <a:ext uri="{FF2B5EF4-FFF2-40B4-BE49-F238E27FC236}">
                    <a16:creationId xmlns:a16="http://schemas.microsoft.com/office/drawing/2014/main" id="{951AAE1C-0E27-8727-0D44-8535E1D5AC1A}"/>
                  </a:ext>
                </a:extLst>
              </p:cNvPr>
              <p:cNvGraphicFramePr>
                <a:graphicFrameLocks noGrp="1"/>
              </p:cNvGraphicFramePr>
              <p:nvPr/>
            </p:nvGraphicFramePr>
            <p:xfrm>
              <a:off x="838200" y="4025812"/>
              <a:ext cx="10766612" cy="2151147"/>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3653118">
                      <a:extLst>
                        <a:ext uri="{9D8B030D-6E8A-4147-A177-3AD203B41FA5}">
                          <a16:colId xmlns:a16="http://schemas.microsoft.com/office/drawing/2014/main" val="908373203"/>
                        </a:ext>
                      </a:extLst>
                    </a:gridCol>
                    <a:gridCol w="7113494">
                      <a:extLst>
                        <a:ext uri="{9D8B030D-6E8A-4147-A177-3AD203B41FA5}">
                          <a16:colId xmlns:a16="http://schemas.microsoft.com/office/drawing/2014/main" val="1390186629"/>
                        </a:ext>
                      </a:extLst>
                    </a:gridCol>
                  </a:tblGrid>
                  <a:tr h="396240">
                    <a:tc>
                      <a:txBody>
                        <a:bodyPr/>
                        <a:lstStyle/>
                        <a:p>
                          <a:endParaRPr lang="en-US"/>
                        </a:p>
                      </a:txBody>
                      <a:tcPr>
                        <a:blipFill>
                          <a:blip r:embed="rId4"/>
                          <a:stretch>
                            <a:fillRect l="-833" t="-7692" r="-197000" b="-467692"/>
                          </a:stretch>
                        </a:blipFill>
                      </a:tcPr>
                    </a:tc>
                    <a:tc>
                      <a:txBody>
                        <a:bodyPr/>
                        <a:lstStyle/>
                        <a:p>
                          <a:r>
                            <a:rPr lang="en-US" sz="2000" b="0">
                              <a:latin typeface="Arial" panose="020B0604020202020204" pitchFamily="34" charset="0"/>
                              <a:cs typeface="Arial" panose="020B0604020202020204" pitchFamily="34" charset="0"/>
                            </a:rPr>
                            <a:t>Number of Prediction Intervals sets</a:t>
                          </a:r>
                        </a:p>
                      </a:txBody>
                      <a:tcPr>
                        <a:solidFill>
                          <a:schemeClr val="bg1"/>
                        </a:solidFill>
                      </a:tcPr>
                    </a:tc>
                    <a:extLst>
                      <a:ext uri="{0D108BD9-81ED-4DB2-BD59-A6C34878D82A}">
                        <a16:rowId xmlns:a16="http://schemas.microsoft.com/office/drawing/2014/main" val="1232624375"/>
                      </a:ext>
                    </a:extLst>
                  </a:tr>
                  <a:tr h="436393">
                    <a:tc>
                      <a:txBody>
                        <a:bodyPr/>
                        <a:lstStyle/>
                        <a:p>
                          <a:endParaRPr lang="en-US"/>
                        </a:p>
                      </a:txBody>
                      <a:tcPr>
                        <a:blipFill>
                          <a:blip r:embed="rId4"/>
                          <a:stretch>
                            <a:fillRect l="-833" t="-97222" r="-197000" b="-322222"/>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latin typeface="Arial" panose="020B0604020202020204" pitchFamily="34" charset="0"/>
                              <a:cs typeface="Arial" panose="020B0604020202020204" pitchFamily="34" charset="0"/>
                            </a:rPr>
                            <a:t>Observed value </a:t>
                          </a:r>
                          <a:endParaRPr lang="en-US" sz="2000" b="0">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2974297070"/>
                      </a:ext>
                    </a:extLst>
                  </a:tr>
                  <a:tr h="396240">
                    <a:tc>
                      <a:txBody>
                        <a:bodyPr/>
                        <a:lstStyle/>
                        <a:p>
                          <a:endParaRPr lang="en-US"/>
                        </a:p>
                      </a:txBody>
                      <a:tcPr>
                        <a:blipFill>
                          <a:blip r:embed="rId4"/>
                          <a:stretch>
                            <a:fillRect l="-833" t="-218462" r="-197000" b="-256923"/>
                          </a:stretch>
                        </a:blipFill>
                      </a:tcPr>
                    </a:tc>
                    <a:tc>
                      <a:txBody>
                        <a:bodyPr/>
                        <a:lstStyle/>
                        <a:p>
                          <a:r>
                            <a:rPr lang="en-US" sz="2000">
                              <a:latin typeface="Arial" panose="020B0604020202020204" pitchFamily="34" charset="0"/>
                              <a:cs typeface="Arial" panose="020B0604020202020204" pitchFamily="34" charset="0"/>
                            </a:rPr>
                            <a:t>Forecasted Median </a:t>
                          </a:r>
                        </a:p>
                      </a:txBody>
                      <a:tcPr>
                        <a:solidFill>
                          <a:schemeClr val="bg1"/>
                        </a:solidFill>
                      </a:tcPr>
                    </a:tc>
                    <a:extLst>
                      <a:ext uri="{0D108BD9-81ED-4DB2-BD59-A6C34878D82A}">
                        <a16:rowId xmlns:a16="http://schemas.microsoft.com/office/drawing/2014/main" val="2695673171"/>
                      </a:ext>
                    </a:extLst>
                  </a:tr>
                  <a:tr h="497713">
                    <a:tc>
                      <a:txBody>
                        <a:bodyPr/>
                        <a:lstStyle/>
                        <a:p>
                          <a:endParaRPr lang="en-US"/>
                        </a:p>
                      </a:txBody>
                      <a:tcPr>
                        <a:blipFill>
                          <a:blip r:embed="rId4"/>
                          <a:stretch>
                            <a:fillRect l="-833" t="-252439" r="-197000" b="-103659"/>
                          </a:stretch>
                        </a:blipFill>
                      </a:tcPr>
                    </a:tc>
                    <a:tc>
                      <a:txBody>
                        <a:bodyPr/>
                        <a:lstStyle/>
                        <a:p>
                          <a:endParaRPr lang="en-US"/>
                        </a:p>
                      </a:txBody>
                      <a:tcPr>
                        <a:blipFill>
                          <a:blip r:embed="rId4"/>
                          <a:stretch>
                            <a:fillRect l="-51842" t="-252439" r="-1285" b="-103659"/>
                          </a:stretch>
                        </a:blipFill>
                      </a:tcPr>
                    </a:tc>
                    <a:extLst>
                      <a:ext uri="{0D108BD9-81ED-4DB2-BD59-A6C34878D82A}">
                        <a16:rowId xmlns:a16="http://schemas.microsoft.com/office/drawing/2014/main" val="4045749803"/>
                      </a:ext>
                    </a:extLst>
                  </a:tr>
                  <a:tr h="424561">
                    <a:tc>
                      <a:txBody>
                        <a:bodyPr/>
                        <a:lstStyle/>
                        <a:p>
                          <a:endParaRPr lang="en-US"/>
                        </a:p>
                      </a:txBody>
                      <a:tcPr>
                        <a:blipFill>
                          <a:blip r:embed="rId4"/>
                          <a:stretch>
                            <a:fillRect l="-833" t="-412857" r="-197000" b="-21429"/>
                          </a:stretch>
                        </a:blipFill>
                      </a:tcPr>
                    </a:tc>
                    <a:tc>
                      <a:txBody>
                        <a:bodyPr/>
                        <a:lstStyle/>
                        <a:p>
                          <a:r>
                            <a:rPr lang="en-US" sz="2000">
                              <a:latin typeface="Arial" panose="020B0604020202020204" pitchFamily="34" charset="0"/>
                              <a:cs typeface="Arial" panose="020B0604020202020204" pitchFamily="34" charset="0"/>
                            </a:rPr>
                            <a:t>Interval score </a:t>
                          </a:r>
                        </a:p>
                      </a:txBody>
                      <a:tcPr>
                        <a:solidFill>
                          <a:schemeClr val="bg1"/>
                        </a:solidFill>
                      </a:tcPr>
                    </a:tc>
                    <a:extLst>
                      <a:ext uri="{0D108BD9-81ED-4DB2-BD59-A6C34878D82A}">
                        <a16:rowId xmlns:a16="http://schemas.microsoft.com/office/drawing/2014/main" val="943748695"/>
                      </a:ext>
                    </a:extLst>
                  </a:tr>
                </a:tbl>
              </a:graphicData>
            </a:graphic>
          </p:graphicFrame>
        </mc:Fallback>
      </mc:AlternateContent>
      <p:sp>
        <p:nvSpPr>
          <p:cNvPr id="5" name="Content Placeholder 2">
            <a:extLst>
              <a:ext uri="{FF2B5EF4-FFF2-40B4-BE49-F238E27FC236}">
                <a16:creationId xmlns:a16="http://schemas.microsoft.com/office/drawing/2014/main" id="{C18F0604-9245-FFF1-D73F-8CCE2482928B}"/>
              </a:ext>
            </a:extLst>
          </p:cNvPr>
          <p:cNvSpPr txBox="1">
            <a:spLocks/>
          </p:cNvSpPr>
          <p:nvPr/>
        </p:nvSpPr>
        <p:spPr>
          <a:xfrm>
            <a:off x="838200" y="6337944"/>
            <a:ext cx="10515600" cy="6248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500" b="1">
                <a:latin typeface="Arial" panose="020B0604020202020204" pitchFamily="34" charset="0"/>
                <a:cs typeface="Arial" panose="020B0604020202020204" pitchFamily="34" charset="0"/>
              </a:rPr>
              <a:t>Ideal Value: </a:t>
            </a:r>
            <a:r>
              <a:rPr lang="en-US" sz="2500">
                <a:latin typeface="Arial" panose="020B0604020202020204" pitchFamily="34" charset="0"/>
                <a:cs typeface="Arial" panose="020B0604020202020204" pitchFamily="34" charset="0"/>
              </a:rPr>
              <a:t>Lower is better! </a:t>
            </a:r>
          </a:p>
        </p:txBody>
      </p:sp>
    </p:spTree>
    <p:extLst>
      <p:ext uri="{BB962C8B-B14F-4D97-AF65-F5344CB8AC3E}">
        <p14:creationId xmlns:p14="http://schemas.microsoft.com/office/powerpoint/2010/main" val="16031426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A49FA-254A-31ED-A686-9F282ED842CE}"/>
              </a:ext>
            </a:extLst>
          </p:cNvPr>
          <p:cNvSpPr/>
          <p:nvPr/>
        </p:nvSpPr>
        <p:spPr>
          <a:xfrm>
            <a:off x="433137" y="1265101"/>
            <a:ext cx="7591926" cy="688841"/>
          </a:xfrm>
          <a:prstGeom prst="rect">
            <a:avLst/>
          </a:prstGeom>
          <a:solidFill>
            <a:srgbClr val="F7F0ED"/>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C6A56AC1-EDFA-4281-BE7C-E66BB353B6B7}"/>
              </a:ext>
            </a:extLst>
          </p:cNvPr>
          <p:cNvSpPr/>
          <p:nvPr/>
        </p:nvSpPr>
        <p:spPr>
          <a:xfrm rot="2160000">
            <a:off x="10546575" y="2614342"/>
            <a:ext cx="431800" cy="228600"/>
          </a:xfrm>
          <a:prstGeom prst="rightArrow">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Arrow: Right 18">
            <a:extLst>
              <a:ext uri="{FF2B5EF4-FFF2-40B4-BE49-F238E27FC236}">
                <a16:creationId xmlns:a16="http://schemas.microsoft.com/office/drawing/2014/main" id="{2BE3DAC1-C2CD-47DC-985E-6D6B81406384}"/>
              </a:ext>
            </a:extLst>
          </p:cNvPr>
          <p:cNvSpPr/>
          <p:nvPr/>
        </p:nvSpPr>
        <p:spPr>
          <a:xfrm rot="6480000">
            <a:off x="10991075" y="3998642"/>
            <a:ext cx="431800" cy="228600"/>
          </a:xfrm>
          <a:prstGeom prst="rightArrow">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Arrow: Right 19">
            <a:extLst>
              <a:ext uri="{FF2B5EF4-FFF2-40B4-BE49-F238E27FC236}">
                <a16:creationId xmlns:a16="http://schemas.microsoft.com/office/drawing/2014/main" id="{DCDF3D0F-B42B-45E9-88A8-2A919DC65BC7}"/>
              </a:ext>
            </a:extLst>
          </p:cNvPr>
          <p:cNvSpPr/>
          <p:nvPr/>
        </p:nvSpPr>
        <p:spPr>
          <a:xfrm rot="10800000">
            <a:off x="9809975" y="4862242"/>
            <a:ext cx="431800" cy="228600"/>
          </a:xfrm>
          <a:prstGeom prst="rightArrow">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Arrow: Right 20">
            <a:extLst>
              <a:ext uri="{FF2B5EF4-FFF2-40B4-BE49-F238E27FC236}">
                <a16:creationId xmlns:a16="http://schemas.microsoft.com/office/drawing/2014/main" id="{CC3CD47C-A926-43D5-A660-FB8766B12163}"/>
              </a:ext>
            </a:extLst>
          </p:cNvPr>
          <p:cNvSpPr/>
          <p:nvPr/>
        </p:nvSpPr>
        <p:spPr>
          <a:xfrm rot="15120000">
            <a:off x="8628875" y="3998642"/>
            <a:ext cx="431800" cy="228600"/>
          </a:xfrm>
          <a:prstGeom prst="rightArrow">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Arrow: Right 21">
            <a:extLst>
              <a:ext uri="{FF2B5EF4-FFF2-40B4-BE49-F238E27FC236}">
                <a16:creationId xmlns:a16="http://schemas.microsoft.com/office/drawing/2014/main" id="{EC45B353-1C07-49D6-80D5-E19B011EB6DB}"/>
              </a:ext>
            </a:extLst>
          </p:cNvPr>
          <p:cNvSpPr/>
          <p:nvPr/>
        </p:nvSpPr>
        <p:spPr>
          <a:xfrm rot="19440000">
            <a:off x="9073375" y="2614342"/>
            <a:ext cx="431800" cy="228600"/>
          </a:xfrm>
          <a:prstGeom prst="rightArrow">
            <a:avLst/>
          </a:prstGeom>
          <a:solidFill>
            <a:srgbClr val="F566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Oval 22">
            <a:extLst>
              <a:ext uri="{FF2B5EF4-FFF2-40B4-BE49-F238E27FC236}">
                <a16:creationId xmlns:a16="http://schemas.microsoft.com/office/drawing/2014/main" id="{3E631D89-98AA-4B6F-8BAD-C6662EAB147E}"/>
              </a:ext>
            </a:extLst>
          </p:cNvPr>
          <p:cNvSpPr/>
          <p:nvPr/>
        </p:nvSpPr>
        <p:spPr>
          <a:xfrm>
            <a:off x="9492475" y="1953942"/>
            <a:ext cx="1066800" cy="1066800"/>
          </a:xfrm>
          <a:prstGeom prst="ellipse">
            <a:avLst/>
          </a:prstGeom>
          <a:solidFill>
            <a:srgbClr val="FFFFFF"/>
          </a:solidFill>
          <a:ln w="28575" cap="flat" cmpd="sng" algn="ctr">
            <a:solidFill>
              <a:srgbClr val="F566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a:solidFill>
                  <a:srgbClr val="1A1A2E"/>
                </a:solidFill>
                <a:latin typeface="Arial"/>
                <a:cs typeface="Arial"/>
              </a:rPr>
              <a:t>Diagnose</a:t>
            </a:r>
          </a:p>
        </p:txBody>
      </p:sp>
      <p:sp>
        <p:nvSpPr>
          <p:cNvPr id="24" name="Oval 23">
            <a:extLst>
              <a:ext uri="{FF2B5EF4-FFF2-40B4-BE49-F238E27FC236}">
                <a16:creationId xmlns:a16="http://schemas.microsoft.com/office/drawing/2014/main" id="{AF4ED71E-3EE6-419C-B647-7B37D3AF99E7}"/>
              </a:ext>
            </a:extLst>
          </p:cNvPr>
          <p:cNvSpPr/>
          <p:nvPr/>
        </p:nvSpPr>
        <p:spPr>
          <a:xfrm>
            <a:off x="10673575" y="2817542"/>
            <a:ext cx="1066800" cy="1066800"/>
          </a:xfrm>
          <a:prstGeom prst="ellipse">
            <a:avLst/>
          </a:prstGeom>
          <a:solidFill>
            <a:srgbClr val="FFFFFF"/>
          </a:solidFill>
          <a:ln w="28575" cap="flat" cmpd="sng" algn="ctr">
            <a:solidFill>
              <a:srgbClr val="F566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dirty="0">
                <a:solidFill>
                  <a:srgbClr val="1A1A2E"/>
                </a:solidFill>
                <a:latin typeface="Arial"/>
                <a:cs typeface="Arial"/>
              </a:rPr>
              <a:t>  Modify</a:t>
            </a:r>
          </a:p>
        </p:txBody>
      </p:sp>
      <p:sp>
        <p:nvSpPr>
          <p:cNvPr id="25" name="Oval 24">
            <a:extLst>
              <a:ext uri="{FF2B5EF4-FFF2-40B4-BE49-F238E27FC236}">
                <a16:creationId xmlns:a16="http://schemas.microsoft.com/office/drawing/2014/main" id="{DF728EC9-8970-46F1-A45F-AA392C64BEEF}"/>
              </a:ext>
            </a:extLst>
          </p:cNvPr>
          <p:cNvSpPr/>
          <p:nvPr/>
        </p:nvSpPr>
        <p:spPr>
          <a:xfrm>
            <a:off x="10229075" y="4201842"/>
            <a:ext cx="1066800" cy="1066800"/>
          </a:xfrm>
          <a:prstGeom prst="ellipse">
            <a:avLst/>
          </a:prstGeom>
          <a:solidFill>
            <a:srgbClr val="FFFFFF"/>
          </a:solidFill>
          <a:ln w="28575" cap="flat" cmpd="sng" algn="ctr">
            <a:solidFill>
              <a:srgbClr val="F566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dirty="0">
                <a:solidFill>
                  <a:srgbClr val="1A1A2E"/>
                </a:solidFill>
                <a:latin typeface="Arial"/>
                <a:cs typeface="Arial"/>
              </a:rPr>
              <a:t>   Refit</a:t>
            </a:r>
          </a:p>
        </p:txBody>
      </p:sp>
      <p:sp>
        <p:nvSpPr>
          <p:cNvPr id="26" name="Oval 25">
            <a:extLst>
              <a:ext uri="{FF2B5EF4-FFF2-40B4-BE49-F238E27FC236}">
                <a16:creationId xmlns:a16="http://schemas.microsoft.com/office/drawing/2014/main" id="{55F561C0-4679-4844-9712-5A5AC3774CD9}"/>
              </a:ext>
            </a:extLst>
          </p:cNvPr>
          <p:cNvSpPr/>
          <p:nvPr/>
        </p:nvSpPr>
        <p:spPr>
          <a:xfrm>
            <a:off x="8755875" y="4201842"/>
            <a:ext cx="1066800" cy="1066800"/>
          </a:xfrm>
          <a:prstGeom prst="ellipse">
            <a:avLst/>
          </a:prstGeom>
          <a:solidFill>
            <a:srgbClr val="FFFFFF"/>
          </a:solidFill>
          <a:ln w="28575" cap="flat" cmpd="sng" algn="ctr">
            <a:solidFill>
              <a:srgbClr val="F566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100" b="1" dirty="0">
                <a:solidFill>
                  <a:srgbClr val="1A1A2E"/>
                </a:solidFill>
                <a:latin typeface="Arial"/>
                <a:cs typeface="Arial"/>
              </a:rPr>
              <a:t>Re-evaluate</a:t>
            </a:r>
          </a:p>
        </p:txBody>
      </p:sp>
      <p:sp>
        <p:nvSpPr>
          <p:cNvPr id="27" name="Oval 26">
            <a:extLst>
              <a:ext uri="{FF2B5EF4-FFF2-40B4-BE49-F238E27FC236}">
                <a16:creationId xmlns:a16="http://schemas.microsoft.com/office/drawing/2014/main" id="{91605660-E90D-4201-BCBB-1CF523F11771}"/>
              </a:ext>
            </a:extLst>
          </p:cNvPr>
          <p:cNvSpPr/>
          <p:nvPr/>
        </p:nvSpPr>
        <p:spPr>
          <a:xfrm>
            <a:off x="8311375" y="2817542"/>
            <a:ext cx="1066800" cy="1066800"/>
          </a:xfrm>
          <a:prstGeom prst="ellipse">
            <a:avLst/>
          </a:prstGeom>
          <a:solidFill>
            <a:srgbClr val="FFFFFF"/>
          </a:solidFill>
          <a:ln w="28575" cap="flat" cmpd="sng" algn="ctr">
            <a:solidFill>
              <a:srgbClr val="F566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dirty="0">
                <a:solidFill>
                  <a:srgbClr val="1A1A2E"/>
                </a:solidFill>
                <a:latin typeface="Arial"/>
                <a:cs typeface="Arial"/>
              </a:rPr>
              <a:t> Decide</a:t>
            </a:r>
          </a:p>
        </p:txBody>
      </p:sp>
      <p:sp>
        <p:nvSpPr>
          <p:cNvPr id="28" name="TextBox 27">
            <a:extLst>
              <a:ext uri="{FF2B5EF4-FFF2-40B4-BE49-F238E27FC236}">
                <a16:creationId xmlns:a16="http://schemas.microsoft.com/office/drawing/2014/main" id="{EDAFFE28-8F0C-45FA-8ED9-D00FBB5316D4}"/>
              </a:ext>
            </a:extLst>
          </p:cNvPr>
          <p:cNvSpPr txBox="1"/>
          <p:nvPr/>
        </p:nvSpPr>
        <p:spPr>
          <a:xfrm>
            <a:off x="9426187" y="3277618"/>
            <a:ext cx="1231349" cy="765474"/>
          </a:xfrm>
          <a:prstGeom prst="rect">
            <a:avLst/>
          </a:prstGeom>
          <a:noFill/>
        </p:spPr>
        <p:txBody>
          <a:bodyPr vertOverflow="overflow" vert="horz" wrap="none" rtlCol="0" anchor="ctr" anchorCtr="0">
            <a:noAutofit/>
          </a:bodyPr>
          <a:lstStyle/>
          <a:p>
            <a:pPr algn="ctr"/>
            <a:r>
              <a:rPr lang="en-US" sz="1600" b="1" dirty="0">
                <a:solidFill>
                  <a:srgbClr val="1A1A2E"/>
                </a:solidFill>
                <a:latin typeface="Arial"/>
                <a:cs typeface="Arial"/>
              </a:rPr>
              <a:t>Refinement </a:t>
            </a:r>
          </a:p>
          <a:p>
            <a:pPr algn="ctr"/>
            <a:r>
              <a:rPr lang="en-US" sz="1600" b="1" dirty="0">
                <a:solidFill>
                  <a:srgbClr val="1A1A2E"/>
                </a:solidFill>
                <a:latin typeface="Arial"/>
                <a:cs typeface="Arial"/>
              </a:rPr>
              <a:t>Loop</a:t>
            </a:r>
          </a:p>
        </p:txBody>
      </p:sp>
      <p:sp>
        <p:nvSpPr>
          <p:cNvPr id="29" name="RefineContent">
            <a:extLst>
              <a:ext uri="{FF2B5EF4-FFF2-40B4-BE49-F238E27FC236}">
                <a16:creationId xmlns:a16="http://schemas.microsoft.com/office/drawing/2014/main" id="{E48D7D54-4172-4D44-9272-08227A49D678}"/>
              </a:ext>
            </a:extLst>
          </p:cNvPr>
          <p:cNvSpPr txBox="1"/>
          <p:nvPr/>
        </p:nvSpPr>
        <p:spPr>
          <a:xfrm>
            <a:off x="431530" y="1265101"/>
            <a:ext cx="7626396" cy="4589289"/>
          </a:xfrm>
          <a:prstGeom prst="rect">
            <a:avLst/>
          </a:prstGeom>
          <a:noFill/>
        </p:spPr>
        <p:txBody>
          <a:bodyPr vertOverflow="overflow" vert="horz" wrap="square" rtlCol="0" anchor="t" anchorCtr="0">
            <a:noAutofit/>
          </a:bodyPr>
          <a:lstStyle/>
          <a:p>
            <a:pPr marL="0" indent="0" algn="ctr">
              <a:spcAft>
                <a:spcPts val="1200"/>
              </a:spcAft>
              <a:buNone/>
            </a:pPr>
            <a:r>
              <a:rPr lang="en-US" sz="1900" dirty="0">
                <a:solidFill>
                  <a:srgbClr val="333333"/>
                </a:solidFill>
                <a:latin typeface="Arial"/>
                <a:cs typeface="Arial"/>
              </a:rPr>
              <a:t>In infectious disease forecasting, refinement means improving the forecasting system based on what we learn from evaluation.</a:t>
            </a:r>
          </a:p>
          <a:p>
            <a:pPr marL="300038" indent="-300038" algn="l">
              <a:spcAft>
                <a:spcPts val="600"/>
              </a:spcAft>
              <a:buClr>
                <a:srgbClr val="F56600"/>
              </a:buClr>
              <a:buFont typeface="Arial"/>
              <a:buAutoNum type="arabicPeriod"/>
            </a:pPr>
            <a:r>
              <a:rPr lang="en-US" sz="1900" b="1" dirty="0">
                <a:solidFill>
                  <a:srgbClr val="522D80"/>
                </a:solidFill>
                <a:latin typeface="Arial"/>
                <a:cs typeface="Arial"/>
              </a:rPr>
              <a:t>Diagnose</a:t>
            </a:r>
            <a:r>
              <a:rPr lang="en-US" sz="1900" dirty="0">
                <a:solidFill>
                  <a:srgbClr val="333333"/>
                </a:solidFill>
                <a:latin typeface="Arial"/>
                <a:cs typeface="Arial"/>
              </a:rPr>
              <a:t> — Where does performance break down? By horizon, season phase, geography, outcome, or uncertainty.</a:t>
            </a:r>
          </a:p>
          <a:p>
            <a:pPr marL="300038" indent="-300038" algn="l">
              <a:spcAft>
                <a:spcPts val="600"/>
              </a:spcAft>
              <a:buClr>
                <a:srgbClr val="F56600"/>
              </a:buClr>
              <a:buFont typeface="Arial"/>
              <a:buAutoNum type="arabicPeriod"/>
            </a:pPr>
            <a:r>
              <a:rPr lang="en-US" sz="1900" b="1" dirty="0">
                <a:solidFill>
                  <a:srgbClr val="522D80"/>
                </a:solidFill>
                <a:latin typeface="Arial"/>
                <a:cs typeface="Arial"/>
              </a:rPr>
              <a:t>Modify</a:t>
            </a:r>
            <a:r>
              <a:rPr lang="en-US" sz="1900" dirty="0">
                <a:solidFill>
                  <a:srgbClr val="333333"/>
                </a:solidFill>
                <a:latin typeface="Arial"/>
                <a:cs typeface="Arial"/>
              </a:rPr>
              <a:t> — Make a targeted change to the data, predictors, model structure, or uncertainty estimates.</a:t>
            </a:r>
          </a:p>
          <a:p>
            <a:pPr marL="300038" indent="-300038" algn="l">
              <a:spcAft>
                <a:spcPts val="600"/>
              </a:spcAft>
              <a:buClr>
                <a:srgbClr val="F56600"/>
              </a:buClr>
              <a:buFont typeface="Arial"/>
              <a:buAutoNum type="arabicPeriod"/>
            </a:pPr>
            <a:r>
              <a:rPr lang="en-US" sz="1900" b="1" dirty="0">
                <a:solidFill>
                  <a:srgbClr val="522D80"/>
                </a:solidFill>
                <a:latin typeface="Arial"/>
                <a:cs typeface="Arial"/>
              </a:rPr>
              <a:t>Refit</a:t>
            </a:r>
            <a:r>
              <a:rPr lang="en-US" sz="1900" dirty="0">
                <a:solidFill>
                  <a:srgbClr val="333333"/>
                </a:solidFill>
                <a:latin typeface="Arial"/>
                <a:cs typeface="Arial"/>
              </a:rPr>
              <a:t> — Train the revised model using the same forecasting setup.</a:t>
            </a:r>
          </a:p>
          <a:p>
            <a:pPr marL="300038" indent="-300038" algn="l">
              <a:spcAft>
                <a:spcPts val="600"/>
              </a:spcAft>
              <a:buClr>
                <a:srgbClr val="F56600"/>
              </a:buClr>
              <a:buFont typeface="Arial"/>
              <a:buAutoNum type="arabicPeriod"/>
            </a:pPr>
            <a:r>
              <a:rPr lang="en-US" sz="1900" b="1" dirty="0">
                <a:solidFill>
                  <a:srgbClr val="522D80"/>
                </a:solidFill>
                <a:latin typeface="Arial"/>
                <a:cs typeface="Arial"/>
              </a:rPr>
              <a:t>Re-evaluate</a:t>
            </a:r>
            <a:r>
              <a:rPr lang="en-US" sz="1900" dirty="0">
                <a:solidFill>
                  <a:srgbClr val="333333"/>
                </a:solidFill>
                <a:latin typeface="Arial"/>
                <a:cs typeface="Arial"/>
              </a:rPr>
              <a:t> — Compare forecasts against held-out observations.</a:t>
            </a:r>
          </a:p>
          <a:p>
            <a:pPr marL="300038" indent="-300038" algn="l">
              <a:spcAft>
                <a:spcPts val="600"/>
              </a:spcAft>
              <a:buClr>
                <a:srgbClr val="F56600"/>
              </a:buClr>
              <a:buFont typeface="Arial"/>
              <a:buAutoNum type="arabicPeriod"/>
            </a:pPr>
            <a:r>
              <a:rPr lang="en-US" sz="1900" b="1" dirty="0">
                <a:solidFill>
                  <a:srgbClr val="522D80"/>
                </a:solidFill>
                <a:latin typeface="Arial"/>
                <a:cs typeface="Arial"/>
              </a:rPr>
              <a:t>Decide</a:t>
            </a:r>
            <a:r>
              <a:rPr lang="en-US" sz="1900" dirty="0">
                <a:solidFill>
                  <a:srgbClr val="333333"/>
                </a:solidFill>
                <a:latin typeface="Arial"/>
                <a:cs typeface="Arial"/>
              </a:rPr>
              <a:t> — Keep the refinement only if it improves out-of-sample forecast performance (i.e., in testing period).</a:t>
            </a:r>
          </a:p>
          <a:p>
            <a:pPr marL="742950" lvl="1" indent="-285750">
              <a:spcAft>
                <a:spcPts val="600"/>
              </a:spcAft>
              <a:buClr>
                <a:srgbClr val="F56600"/>
              </a:buClr>
              <a:buSzPct val="110000"/>
              <a:buFont typeface="Arial"/>
              <a:buChar char="•"/>
            </a:pPr>
            <a:r>
              <a:rPr lang="en-US" sz="1900" b="1" dirty="0">
                <a:solidFill>
                  <a:srgbClr val="522D80"/>
                </a:solidFill>
                <a:latin typeface="Arial"/>
                <a:cs typeface="Arial"/>
              </a:rPr>
              <a:t>Example: </a:t>
            </a:r>
            <a:r>
              <a:rPr lang="en-US" sz="1900" dirty="0">
                <a:solidFill>
                  <a:srgbClr val="333333"/>
                </a:solidFill>
                <a:latin typeface="Arial"/>
                <a:cs typeface="Arial"/>
              </a:rPr>
              <a:t>if flu hospitalization forecasts become less reliable at longer horizons, we may test whether adding wastewater improves 2– or 3-week-ahead forecasts.</a:t>
            </a:r>
          </a:p>
        </p:txBody>
      </p:sp>
      <p:sp>
        <p:nvSpPr>
          <p:cNvPr id="2" name="TextBox 1">
            <a:extLst>
              <a:ext uri="{FF2B5EF4-FFF2-40B4-BE49-F238E27FC236}">
                <a16:creationId xmlns:a16="http://schemas.microsoft.com/office/drawing/2014/main" id="{B1EDE452-3F83-4C4D-8D71-6C1F5F868BCF}"/>
              </a:ext>
            </a:extLst>
          </p:cNvPr>
          <p:cNvSpPr txBox="1"/>
          <p:nvPr/>
        </p:nvSpPr>
        <p:spPr>
          <a:xfrm>
            <a:off x="838200" y="96701"/>
            <a:ext cx="10515600" cy="1168400"/>
          </a:xfrm>
          <a:prstGeom prst="rect">
            <a:avLst/>
          </a:prstGeom>
          <a:noFill/>
        </p:spPr>
        <p:txBody>
          <a:bodyPr vertOverflow="overflow" vert="horz" wrap="square" rtlCol="0" anchor="ctr" anchorCtr="0">
            <a:noAutofit/>
          </a:bodyPr>
          <a:lstStyle/>
          <a:p>
            <a:pPr algn="ctr"/>
            <a:r>
              <a:rPr lang="en-US" sz="4400" b="1" dirty="0">
                <a:solidFill>
                  <a:srgbClr val="7030A0"/>
                </a:solidFill>
                <a:latin typeface="Arial"/>
                <a:cs typeface="Arial"/>
              </a:rPr>
              <a:t>Model Refinement: An Iterative Loop</a:t>
            </a:r>
          </a:p>
        </p:txBody>
      </p:sp>
      <p:sp>
        <p:nvSpPr>
          <p:cNvPr id="5" name="TextBox 4">
            <a:extLst>
              <a:ext uri="{FF2B5EF4-FFF2-40B4-BE49-F238E27FC236}">
                <a16:creationId xmlns:a16="http://schemas.microsoft.com/office/drawing/2014/main" id="{C63FBB1B-F555-7740-5FFE-1A0A7C62F97A}"/>
              </a:ext>
            </a:extLst>
          </p:cNvPr>
          <p:cNvSpPr txBox="1"/>
          <p:nvPr/>
        </p:nvSpPr>
        <p:spPr>
          <a:xfrm>
            <a:off x="702526" y="5854390"/>
            <a:ext cx="10651274" cy="384721"/>
          </a:xfrm>
          <a:prstGeom prst="rect">
            <a:avLst/>
          </a:prstGeom>
          <a:noFill/>
        </p:spPr>
        <p:txBody>
          <a:bodyPr wrap="square">
            <a:spAutoFit/>
          </a:bodyPr>
          <a:lstStyle/>
          <a:p>
            <a:pPr>
              <a:spcAft>
                <a:spcPts val="600"/>
              </a:spcAft>
              <a:buClr>
                <a:srgbClr val="F56600"/>
              </a:buClr>
              <a:buSzPct val="110000"/>
            </a:pPr>
            <a:r>
              <a:rPr lang="en-US" sz="1900" b="1" dirty="0">
                <a:solidFill>
                  <a:srgbClr val="522D80"/>
                </a:solidFill>
                <a:latin typeface="Arial"/>
                <a:cs typeface="Arial"/>
              </a:rPr>
              <a:t>Note: </a:t>
            </a:r>
            <a:r>
              <a:rPr lang="en-US" sz="1900" dirty="0">
                <a:solidFill>
                  <a:srgbClr val="333333"/>
                </a:solidFill>
                <a:latin typeface="Arial"/>
                <a:cs typeface="Arial"/>
              </a:rPr>
              <a:t>refinement should improve future forecasts, not just make the model fit past data better.</a:t>
            </a:r>
          </a:p>
        </p:txBody>
      </p:sp>
    </p:spTree>
    <p:extLst>
      <p:ext uri="{BB962C8B-B14F-4D97-AF65-F5344CB8AC3E}">
        <p14:creationId xmlns:p14="http://schemas.microsoft.com/office/powerpoint/2010/main" val="99982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7DE9-E9E4-769E-B1C2-9F919E44810D}"/>
              </a:ext>
            </a:extLst>
          </p:cNvPr>
          <p:cNvSpPr>
            <a:spLocks noGrp="1"/>
          </p:cNvSpPr>
          <p:nvPr>
            <p:ph type="title"/>
          </p:nvPr>
        </p:nvSpPr>
        <p:spPr>
          <a:xfrm>
            <a:off x="461211" y="4165"/>
            <a:ext cx="11269579" cy="1325563"/>
          </a:xfrm>
        </p:spPr>
        <p:txBody>
          <a:bodyPr>
            <a:normAutofit/>
          </a:bodyPr>
          <a:lstStyle/>
          <a:p>
            <a:pPr algn="ctr"/>
            <a:r>
              <a:rPr lang="en-US" b="1" dirty="0">
                <a:solidFill>
                  <a:srgbClr val="7030A0"/>
                </a:solidFill>
                <a:latin typeface="Arial"/>
                <a:cs typeface="Arial"/>
              </a:rPr>
              <a:t>Model Refinement: What Can We Refine?</a:t>
            </a:r>
          </a:p>
        </p:txBody>
      </p:sp>
      <p:sp>
        <p:nvSpPr>
          <p:cNvPr id="3" name="Content Placeholder 2">
            <a:extLst>
              <a:ext uri="{FF2B5EF4-FFF2-40B4-BE49-F238E27FC236}">
                <a16:creationId xmlns:a16="http://schemas.microsoft.com/office/drawing/2014/main" id="{5197CA60-3571-CA33-3D6C-5D2CBD24B018}"/>
              </a:ext>
            </a:extLst>
          </p:cNvPr>
          <p:cNvSpPr>
            <a:spLocks noGrp="1"/>
          </p:cNvSpPr>
          <p:nvPr>
            <p:ph idx="1"/>
          </p:nvPr>
        </p:nvSpPr>
        <p:spPr>
          <a:xfrm>
            <a:off x="621631" y="1257537"/>
            <a:ext cx="10952747" cy="4351338"/>
          </a:xfrm>
        </p:spPr>
        <p:txBody>
          <a:bodyPr>
            <a:noAutofit/>
          </a:bodyPr>
          <a:lstStyle/>
          <a:p>
            <a:pPr marL="285750" indent="-285750" algn="l">
              <a:lnSpc>
                <a:spcPct val="100000"/>
              </a:lnSpc>
              <a:spcBef>
                <a:spcPts val="0"/>
              </a:spcBef>
              <a:spcAft>
                <a:spcPts val="1200"/>
              </a:spcAft>
              <a:buClr>
                <a:srgbClr val="F56600"/>
              </a:buClr>
              <a:buSzPct val="110000"/>
              <a:buFont typeface="Arial"/>
              <a:buChar char="•"/>
            </a:pPr>
            <a:r>
              <a:rPr lang="en-US" sz="1900" b="1" dirty="0">
                <a:solidFill>
                  <a:srgbClr val="522D80"/>
                </a:solidFill>
                <a:latin typeface="Arial"/>
                <a:cs typeface="Arial"/>
              </a:rPr>
              <a:t>Data &amp; observation process</a:t>
            </a:r>
            <a:r>
              <a:rPr lang="en-US" sz="1900" dirty="0">
                <a:solidFill>
                  <a:srgbClr val="333333"/>
                </a:solidFill>
                <a:latin typeface="Arial"/>
                <a:cs typeface="Arial"/>
              </a:rPr>
              <a:t> — reporting delays, missingness, revisions, outliers, transformations, nowcasting.</a:t>
            </a:r>
          </a:p>
          <a:p>
            <a:pPr marL="285750" indent="-285750" algn="l">
              <a:lnSpc>
                <a:spcPct val="100000"/>
              </a:lnSpc>
              <a:spcBef>
                <a:spcPts val="0"/>
              </a:spcBef>
              <a:spcAft>
                <a:spcPts val="1200"/>
              </a:spcAft>
              <a:buClr>
                <a:srgbClr val="F56600"/>
              </a:buClr>
              <a:buSzPct val="110000"/>
              <a:buFont typeface="Arial"/>
              <a:buChar char="•"/>
            </a:pPr>
            <a:r>
              <a:rPr lang="en-US" sz="1900" b="1" dirty="0">
                <a:solidFill>
                  <a:srgbClr val="522D80"/>
                </a:solidFill>
                <a:latin typeface="Arial"/>
                <a:cs typeface="Arial"/>
              </a:rPr>
              <a:t>Predictors &amp; features</a:t>
            </a:r>
            <a:r>
              <a:rPr lang="en-US" sz="1900" dirty="0">
                <a:solidFill>
                  <a:srgbClr val="333333"/>
                </a:solidFill>
                <a:latin typeface="Arial"/>
                <a:cs typeface="Arial"/>
              </a:rPr>
              <a:t> — lagged outcomes, tests/labs, wastewater, digital traces, mobility, vaccination, weather, calendar terms, rolling averages.</a:t>
            </a:r>
          </a:p>
          <a:p>
            <a:pPr marL="742950" lvl="1" indent="-285750">
              <a:lnSpc>
                <a:spcPct val="100000"/>
              </a:lnSpc>
              <a:spcBef>
                <a:spcPts val="0"/>
              </a:spcBef>
              <a:spcAft>
                <a:spcPts val="1200"/>
              </a:spcAft>
              <a:buClr>
                <a:srgbClr val="F56600"/>
              </a:buClr>
              <a:buSzPct val="110000"/>
              <a:buFont typeface="Arial"/>
              <a:buChar char="•"/>
            </a:pPr>
            <a:r>
              <a:rPr lang="en-US" sz="1900" dirty="0">
                <a:solidFill>
                  <a:srgbClr val="333333"/>
                </a:solidFill>
                <a:latin typeface="Arial"/>
                <a:cs typeface="Arial"/>
              </a:rPr>
              <a:t>Predictor transformations and interactions can also be explored (e.g., slope of past 3 lagged outcomes, log(wastewater), wastewater*septic tank use interaction) </a:t>
            </a:r>
          </a:p>
          <a:p>
            <a:pPr marL="285750" indent="-285750" algn="l">
              <a:lnSpc>
                <a:spcPct val="100000"/>
              </a:lnSpc>
              <a:spcBef>
                <a:spcPts val="0"/>
              </a:spcBef>
              <a:spcAft>
                <a:spcPts val="1200"/>
              </a:spcAft>
              <a:buClr>
                <a:srgbClr val="F56600"/>
              </a:buClr>
              <a:buSzPct val="110000"/>
              <a:buFont typeface="Arial"/>
              <a:buChar char="•"/>
            </a:pPr>
            <a:r>
              <a:rPr lang="en-US" sz="1900" b="1" dirty="0">
                <a:solidFill>
                  <a:srgbClr val="522D80"/>
                </a:solidFill>
                <a:latin typeface="Arial"/>
                <a:cs typeface="Arial"/>
              </a:rPr>
              <a:t>Model structure</a:t>
            </a:r>
            <a:r>
              <a:rPr lang="en-US" sz="1900" dirty="0">
                <a:solidFill>
                  <a:srgbClr val="333333"/>
                </a:solidFill>
                <a:latin typeface="Arial"/>
                <a:cs typeface="Arial"/>
              </a:rPr>
              <a:t> — seasonality, lag structure, nonlinear terms, model class, hyperparameters.</a:t>
            </a:r>
          </a:p>
          <a:p>
            <a:pPr marL="285750" indent="-285750" algn="l">
              <a:lnSpc>
                <a:spcPct val="100000"/>
              </a:lnSpc>
              <a:spcBef>
                <a:spcPts val="0"/>
              </a:spcBef>
              <a:spcAft>
                <a:spcPts val="1200"/>
              </a:spcAft>
              <a:buClr>
                <a:srgbClr val="F56600"/>
              </a:buClr>
              <a:buSzPct val="110000"/>
              <a:buFont typeface="Arial"/>
              <a:buChar char="•"/>
            </a:pPr>
            <a:r>
              <a:rPr lang="en-US" sz="1900" b="1" dirty="0">
                <a:solidFill>
                  <a:srgbClr val="522D80"/>
                </a:solidFill>
                <a:latin typeface="Arial"/>
                <a:cs typeface="Arial"/>
              </a:rPr>
              <a:t>Training strategy</a:t>
            </a:r>
            <a:r>
              <a:rPr lang="en-US" sz="1900" dirty="0">
                <a:solidFill>
                  <a:srgbClr val="333333"/>
                </a:solidFill>
                <a:latin typeface="Arial"/>
                <a:cs typeface="Arial"/>
              </a:rPr>
              <a:t> — rolling vs. expanding windows, recency weighting, geographic pooling, season-specific training.</a:t>
            </a:r>
          </a:p>
          <a:p>
            <a:pPr marL="285750" indent="-285750" algn="l">
              <a:lnSpc>
                <a:spcPct val="100000"/>
              </a:lnSpc>
              <a:spcBef>
                <a:spcPts val="0"/>
              </a:spcBef>
              <a:spcAft>
                <a:spcPts val="1200"/>
              </a:spcAft>
              <a:buClr>
                <a:srgbClr val="F56600"/>
              </a:buClr>
              <a:buSzPct val="110000"/>
              <a:buFont typeface="Arial"/>
              <a:buChar char="•"/>
            </a:pPr>
            <a:r>
              <a:rPr lang="en-US" sz="1900" b="1" dirty="0">
                <a:solidFill>
                  <a:srgbClr val="522D80"/>
                </a:solidFill>
                <a:latin typeface="Arial"/>
                <a:cs typeface="Arial"/>
              </a:rPr>
              <a:t>Uncertainty estimates</a:t>
            </a:r>
            <a:r>
              <a:rPr lang="en-US" sz="1900" dirty="0">
                <a:solidFill>
                  <a:srgbClr val="333333"/>
                </a:solidFill>
                <a:latin typeface="Arial"/>
                <a:cs typeface="Arial"/>
              </a:rPr>
              <a:t> — prediction intervals, quantile forecasts, residual assumptions, calibration, ensemble weighting.</a:t>
            </a:r>
          </a:p>
          <a:p>
            <a:pPr marL="285750" indent="-285750" algn="l">
              <a:lnSpc>
                <a:spcPct val="100000"/>
              </a:lnSpc>
              <a:spcBef>
                <a:spcPts val="0"/>
              </a:spcBef>
              <a:spcAft>
                <a:spcPts val="1200"/>
              </a:spcAft>
              <a:buClr>
                <a:srgbClr val="F56600"/>
              </a:buClr>
              <a:buSzPct val="110000"/>
              <a:buFont typeface="Arial"/>
              <a:buChar char="•"/>
            </a:pPr>
            <a:r>
              <a:rPr lang="en-US" sz="1900" b="1" dirty="0">
                <a:solidFill>
                  <a:srgbClr val="522D80"/>
                </a:solidFill>
                <a:latin typeface="Arial"/>
                <a:cs typeface="Arial"/>
              </a:rPr>
              <a:t>Example (flu forecasting): </a:t>
            </a:r>
            <a:r>
              <a:rPr lang="en-US" sz="1900" dirty="0">
                <a:solidFill>
                  <a:srgbClr val="333333"/>
                </a:solidFill>
                <a:latin typeface="Arial"/>
                <a:cs typeface="Arial"/>
              </a:rPr>
              <a:t>add lagged wastewater trends, or move from ARIMA to XGBoost.</a:t>
            </a:r>
          </a:p>
          <a:p>
            <a:pPr marL="285750" indent="-285750" algn="l">
              <a:lnSpc>
                <a:spcPct val="100000"/>
              </a:lnSpc>
              <a:spcBef>
                <a:spcPts val="0"/>
              </a:spcBef>
              <a:spcAft>
                <a:spcPts val="1200"/>
              </a:spcAft>
              <a:buClr>
                <a:srgbClr val="F56600"/>
              </a:buClr>
              <a:buSzPct val="110000"/>
              <a:buFont typeface="Arial"/>
              <a:buChar char="•"/>
            </a:pPr>
            <a:r>
              <a:rPr lang="en-US" sz="1900" b="1" dirty="0">
                <a:solidFill>
                  <a:srgbClr val="522D80"/>
                </a:solidFill>
                <a:latin typeface="Arial"/>
                <a:cs typeface="Arial"/>
              </a:rPr>
              <a:t>Key idea: </a:t>
            </a:r>
            <a:r>
              <a:rPr lang="en-US" sz="1900" dirty="0">
                <a:solidFill>
                  <a:srgbClr val="333333"/>
                </a:solidFill>
                <a:latin typeface="Arial"/>
                <a:cs typeface="Arial"/>
              </a:rPr>
              <a:t>each refinement should target a weakness found during evaluation.</a:t>
            </a:r>
          </a:p>
        </p:txBody>
      </p:sp>
    </p:spTree>
    <p:extLst>
      <p:ext uri="{BB962C8B-B14F-4D97-AF65-F5344CB8AC3E}">
        <p14:creationId xmlns:p14="http://schemas.microsoft.com/office/powerpoint/2010/main" val="319116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F021-9DFC-BCCE-77EB-0A943B4DA255}"/>
              </a:ext>
            </a:extLst>
          </p:cNvPr>
          <p:cNvSpPr>
            <a:spLocks noGrp="1"/>
          </p:cNvSpPr>
          <p:nvPr>
            <p:ph type="title"/>
          </p:nvPr>
        </p:nvSpPr>
        <p:spPr>
          <a:xfrm>
            <a:off x="838200" y="292936"/>
            <a:ext cx="10515600" cy="1325563"/>
          </a:xfrm>
        </p:spPr>
        <p:txBody>
          <a:bodyPr>
            <a:normAutofit/>
          </a:bodyPr>
          <a:lstStyle/>
          <a:p>
            <a:pPr algn="ctr"/>
            <a:r>
              <a:rPr lang="en-US" b="1" dirty="0">
                <a:solidFill>
                  <a:srgbClr val="7030A0"/>
                </a:solidFill>
                <a:latin typeface="Arial"/>
                <a:cs typeface="Arial"/>
              </a:rPr>
              <a:t>Model Refinement: General Strategy</a:t>
            </a:r>
          </a:p>
        </p:txBody>
      </p:sp>
      <p:sp>
        <p:nvSpPr>
          <p:cNvPr id="3" name="Content Placeholder 2">
            <a:extLst>
              <a:ext uri="{FF2B5EF4-FFF2-40B4-BE49-F238E27FC236}">
                <a16:creationId xmlns:a16="http://schemas.microsoft.com/office/drawing/2014/main" id="{2F6248B4-FAB9-BE77-0E07-8972B59D9DE4}"/>
              </a:ext>
            </a:extLst>
          </p:cNvPr>
          <p:cNvSpPr>
            <a:spLocks noGrp="1"/>
          </p:cNvSpPr>
          <p:nvPr>
            <p:ph idx="1"/>
          </p:nvPr>
        </p:nvSpPr>
        <p:spPr>
          <a:xfrm>
            <a:off x="838200" y="1789530"/>
            <a:ext cx="10515600" cy="4351338"/>
          </a:xfrm>
        </p:spPr>
        <p:txBody>
          <a:bodyPr>
            <a:noAutofit/>
          </a:bodyPr>
          <a:lstStyle/>
          <a:p>
            <a:pPr marL="285750" indent="-285750" algn="l">
              <a:lnSpc>
                <a:spcPct val="100000"/>
              </a:lnSpc>
              <a:spcBef>
                <a:spcPts val="0"/>
              </a:spcBef>
              <a:spcAft>
                <a:spcPts val="1200"/>
              </a:spcAft>
              <a:buClr>
                <a:srgbClr val="F56600"/>
              </a:buClr>
              <a:buSzPct val="110000"/>
              <a:buFont typeface="Arial"/>
              <a:buChar char="•"/>
            </a:pPr>
            <a:r>
              <a:rPr lang="en-US" sz="2000" b="1" dirty="0">
                <a:solidFill>
                  <a:srgbClr val="522D80"/>
                </a:solidFill>
                <a:latin typeface="Arial"/>
                <a:cs typeface="Arial"/>
              </a:rPr>
              <a:t>Start with a baseline</a:t>
            </a:r>
            <a:r>
              <a:rPr lang="en-US" sz="2000" dirty="0">
                <a:solidFill>
                  <a:srgbClr val="333333"/>
                </a:solidFill>
                <a:latin typeface="Arial"/>
                <a:cs typeface="Arial"/>
              </a:rPr>
              <a:t> — a simple, reproducible model as the benchmark.</a:t>
            </a:r>
          </a:p>
          <a:p>
            <a:pPr marL="285750" indent="-285750" algn="l">
              <a:lnSpc>
                <a:spcPct val="100000"/>
              </a:lnSpc>
              <a:spcBef>
                <a:spcPts val="0"/>
              </a:spcBef>
              <a:spcAft>
                <a:spcPts val="1200"/>
              </a:spcAft>
              <a:buClr>
                <a:srgbClr val="F56600"/>
              </a:buClr>
              <a:buSzPct val="110000"/>
              <a:buFont typeface="Arial"/>
              <a:buChar char="•"/>
            </a:pPr>
            <a:r>
              <a:rPr lang="en-US" sz="2000" b="1" dirty="0">
                <a:solidFill>
                  <a:srgbClr val="522D80"/>
                </a:solidFill>
                <a:latin typeface="Arial"/>
                <a:cs typeface="Arial"/>
              </a:rPr>
              <a:t>Identify the weakness</a:t>
            </a:r>
            <a:r>
              <a:rPr lang="en-US" sz="2000" dirty="0">
                <a:solidFill>
                  <a:srgbClr val="333333"/>
                </a:solidFill>
                <a:latin typeface="Arial"/>
                <a:cs typeface="Arial"/>
              </a:rPr>
              <a:t> — use evaluation metrics and plots to find where forecasts fail.</a:t>
            </a:r>
          </a:p>
          <a:p>
            <a:pPr marL="285750" indent="-285750" algn="l">
              <a:lnSpc>
                <a:spcPct val="100000"/>
              </a:lnSpc>
              <a:spcBef>
                <a:spcPts val="0"/>
              </a:spcBef>
              <a:spcAft>
                <a:spcPts val="1200"/>
              </a:spcAft>
              <a:buClr>
                <a:srgbClr val="F56600"/>
              </a:buClr>
              <a:buSzPct val="110000"/>
              <a:buFont typeface="Arial"/>
              <a:buChar char="•"/>
            </a:pPr>
            <a:r>
              <a:rPr lang="en-US" sz="2000" b="1" dirty="0">
                <a:solidFill>
                  <a:srgbClr val="522D80"/>
                </a:solidFill>
                <a:latin typeface="Arial"/>
                <a:cs typeface="Arial"/>
              </a:rPr>
              <a:t>Change one major component</a:t>
            </a:r>
            <a:r>
              <a:rPr lang="en-US" sz="2000" dirty="0">
                <a:solidFill>
                  <a:srgbClr val="333333"/>
                </a:solidFill>
                <a:latin typeface="Arial"/>
                <a:cs typeface="Arial"/>
              </a:rPr>
              <a:t> — data, predictors, model form, training setup, or uncertainty method.</a:t>
            </a:r>
          </a:p>
          <a:p>
            <a:pPr marL="285750" indent="-285750" algn="l">
              <a:lnSpc>
                <a:spcPct val="100000"/>
              </a:lnSpc>
              <a:spcBef>
                <a:spcPts val="0"/>
              </a:spcBef>
              <a:spcAft>
                <a:spcPts val="1200"/>
              </a:spcAft>
              <a:buClr>
                <a:srgbClr val="F56600"/>
              </a:buClr>
              <a:buSzPct val="110000"/>
              <a:buFont typeface="Arial"/>
              <a:buChar char="•"/>
            </a:pPr>
            <a:r>
              <a:rPr lang="en-US" sz="2000" b="1" dirty="0">
                <a:solidFill>
                  <a:srgbClr val="522D80"/>
                </a:solidFill>
                <a:latin typeface="Arial"/>
                <a:cs typeface="Arial"/>
              </a:rPr>
              <a:t>Compare fairly</a:t>
            </a:r>
            <a:r>
              <a:rPr lang="en-US" sz="2000" dirty="0">
                <a:solidFill>
                  <a:srgbClr val="333333"/>
                </a:solidFill>
                <a:latin typeface="Arial"/>
                <a:cs typeface="Arial"/>
              </a:rPr>
              <a:t> — same forecast dates, targets, horizons, and testing period.</a:t>
            </a:r>
          </a:p>
          <a:p>
            <a:pPr marL="285750" indent="-285750" algn="l">
              <a:lnSpc>
                <a:spcPct val="100000"/>
              </a:lnSpc>
              <a:spcBef>
                <a:spcPts val="0"/>
              </a:spcBef>
              <a:spcAft>
                <a:spcPts val="1200"/>
              </a:spcAft>
              <a:buClr>
                <a:srgbClr val="F56600"/>
              </a:buClr>
              <a:buSzPct val="110000"/>
              <a:buFont typeface="Arial"/>
              <a:buChar char="•"/>
            </a:pPr>
            <a:r>
              <a:rPr lang="en-US" sz="2000" b="1" dirty="0">
                <a:solidFill>
                  <a:srgbClr val="522D80"/>
                </a:solidFill>
                <a:latin typeface="Arial"/>
                <a:cs typeface="Arial"/>
              </a:rPr>
              <a:t>Assess tradeoffs</a:t>
            </a:r>
            <a:r>
              <a:rPr lang="en-US" sz="2000" dirty="0">
                <a:solidFill>
                  <a:srgbClr val="333333"/>
                </a:solidFill>
                <a:latin typeface="Arial"/>
                <a:cs typeface="Arial"/>
              </a:rPr>
              <a:t> — a change may improve MAE but worsen PI coverage or help one horizon while hurting another.</a:t>
            </a:r>
          </a:p>
          <a:p>
            <a:pPr marL="742950" lvl="1" indent="-285750">
              <a:lnSpc>
                <a:spcPct val="100000"/>
              </a:lnSpc>
              <a:spcBef>
                <a:spcPts val="0"/>
              </a:spcBef>
              <a:spcAft>
                <a:spcPts val="1200"/>
              </a:spcAft>
              <a:buClr>
                <a:srgbClr val="F56600"/>
              </a:buClr>
              <a:buSzPct val="110000"/>
              <a:buFont typeface="Arial"/>
              <a:buChar char="•"/>
            </a:pPr>
            <a:r>
              <a:rPr lang="en-US" sz="2000" b="1" dirty="0">
                <a:solidFill>
                  <a:srgbClr val="522D80"/>
                </a:solidFill>
                <a:latin typeface="Arial"/>
                <a:cs typeface="Arial"/>
              </a:rPr>
              <a:t>Example: </a:t>
            </a:r>
            <a:r>
              <a:rPr lang="en-US" sz="2000" dirty="0">
                <a:solidFill>
                  <a:srgbClr val="333333"/>
                </a:solidFill>
                <a:latin typeface="Arial"/>
                <a:cs typeface="Arial"/>
              </a:rPr>
              <a:t>compare ARIMA, ARIMA + wastewater, and XGBoost on the same rolling test period using WIS, MAE, and 95% PI coverage.</a:t>
            </a:r>
          </a:p>
          <a:p>
            <a:pPr marL="285750" indent="-285750" algn="l">
              <a:lnSpc>
                <a:spcPct val="100000"/>
              </a:lnSpc>
              <a:spcBef>
                <a:spcPts val="0"/>
              </a:spcBef>
              <a:spcAft>
                <a:spcPts val="1200"/>
              </a:spcAft>
              <a:buClr>
                <a:srgbClr val="F56600"/>
              </a:buClr>
              <a:buSzPct val="110000"/>
              <a:buFont typeface="Arial"/>
              <a:buChar char="•"/>
            </a:pPr>
            <a:r>
              <a:rPr lang="en-US" sz="2000" b="1" dirty="0">
                <a:solidFill>
                  <a:srgbClr val="522D80"/>
                </a:solidFill>
                <a:latin typeface="Arial"/>
                <a:cs typeface="Arial"/>
              </a:rPr>
              <a:t>Bottom line: </a:t>
            </a:r>
            <a:r>
              <a:rPr lang="en-US" sz="2000" dirty="0">
                <a:solidFill>
                  <a:srgbClr val="333333"/>
                </a:solidFill>
                <a:latin typeface="Arial"/>
                <a:cs typeface="Arial"/>
              </a:rPr>
              <a:t>the best refinement improves forecast reliability across multiple settings under realistic conditions (e.g., multiple training/testing windows across seasons).</a:t>
            </a:r>
          </a:p>
        </p:txBody>
      </p:sp>
    </p:spTree>
    <p:extLst>
      <p:ext uri="{BB962C8B-B14F-4D97-AF65-F5344CB8AC3E}">
        <p14:creationId xmlns:p14="http://schemas.microsoft.com/office/powerpoint/2010/main" val="8664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EF48E-D223-017A-75AD-27FD9B6E4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A6BD08-43E5-194B-9B65-C9626D5D38CB}"/>
              </a:ext>
            </a:extLst>
          </p:cNvPr>
          <p:cNvSpPr>
            <a:spLocks noGrp="1"/>
          </p:cNvSpPr>
          <p:nvPr>
            <p:ph type="title"/>
          </p:nvPr>
        </p:nvSpPr>
        <p:spPr>
          <a:xfrm>
            <a:off x="838200" y="276621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Working Example</a:t>
            </a:r>
            <a:br>
              <a:rPr lang="en-US" b="1" dirty="0">
                <a:solidFill>
                  <a:srgbClr val="7030A0"/>
                </a:solidFill>
                <a:latin typeface="Arial" panose="020B0604020202020204" pitchFamily="34" charset="0"/>
                <a:cs typeface="Arial" panose="020B0604020202020204" pitchFamily="34" charset="0"/>
              </a:rPr>
            </a:br>
            <a:r>
              <a:rPr lang="en-US" b="1" dirty="0">
                <a:solidFill>
                  <a:srgbClr val="7030A0"/>
                </a:solidFill>
                <a:latin typeface="Arial" panose="020B0604020202020204" pitchFamily="34" charset="0"/>
                <a:cs typeface="Arial" panose="020B0604020202020204" pitchFamily="34" charset="0"/>
              </a:rPr>
              <a:t>CDC NHSN Hospital Respiratory Data</a:t>
            </a:r>
          </a:p>
        </p:txBody>
      </p:sp>
    </p:spTree>
    <p:extLst>
      <p:ext uri="{BB962C8B-B14F-4D97-AF65-F5344CB8AC3E}">
        <p14:creationId xmlns:p14="http://schemas.microsoft.com/office/powerpoint/2010/main" val="11755707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254B0-6E44-B655-0ADB-271D98CF1173}"/>
              </a:ext>
            </a:extLst>
          </p:cNvPr>
          <p:cNvSpPr>
            <a:spLocks noGrp="1"/>
          </p:cNvSpPr>
          <p:nvPr>
            <p:ph type="title"/>
          </p:nvPr>
        </p:nvSpPr>
        <p:spPr>
          <a:xfrm>
            <a:off x="838200" y="273685"/>
            <a:ext cx="10515600" cy="814451"/>
          </a:xfrm>
        </p:spPr>
        <p:txBody>
          <a:bodyPr>
            <a:normAutofit/>
          </a:bodyPr>
          <a:lstStyle/>
          <a:p>
            <a:pPr algn="ctr"/>
            <a:r>
              <a:rPr lang="en-US" sz="4270" b="1" dirty="0">
                <a:solidFill>
                  <a:srgbClr val="7030A0"/>
                </a:solidFill>
                <a:latin typeface="Arial" panose="020B0604020202020204" pitchFamily="34" charset="0"/>
                <a:cs typeface="Arial" panose="020B0604020202020204" pitchFamily="34" charset="0"/>
              </a:rPr>
              <a:t>Overview</a:t>
            </a:r>
          </a:p>
        </p:txBody>
      </p:sp>
      <p:sp>
        <p:nvSpPr>
          <p:cNvPr id="3" name="Content Placeholder 2">
            <a:extLst>
              <a:ext uri="{FF2B5EF4-FFF2-40B4-BE49-F238E27FC236}">
                <a16:creationId xmlns:a16="http://schemas.microsoft.com/office/drawing/2014/main" id="{1CE3AE27-4D35-4BC7-FB4A-4DDBD780FE8B}"/>
              </a:ext>
            </a:extLst>
          </p:cNvPr>
          <p:cNvSpPr>
            <a:spLocks noGrp="1"/>
          </p:cNvSpPr>
          <p:nvPr>
            <p:ph idx="1"/>
          </p:nvPr>
        </p:nvSpPr>
        <p:spPr>
          <a:xfrm>
            <a:off x="838200" y="1441577"/>
            <a:ext cx="10515600" cy="4766718"/>
          </a:xfrm>
        </p:spPr>
        <p:txBody>
          <a:bodyPr>
            <a:normAutofit/>
          </a:bodyPr>
          <a:lstStyle/>
          <a:p>
            <a:pPr>
              <a:spcAft>
                <a:spcPts val="1800"/>
              </a:spcAft>
            </a:pPr>
            <a:r>
              <a:rPr lang="en-US" sz="2500" dirty="0">
                <a:latin typeface="Arial" panose="020B0604020202020204" pitchFamily="34" charset="0"/>
                <a:cs typeface="Arial" panose="020B0604020202020204" pitchFamily="34" charset="0"/>
              </a:rPr>
              <a:t>Every week during influenza season, public health and healthcare decision-makers need to anticipate what's coming:</a:t>
            </a:r>
          </a:p>
          <a:p>
            <a:pPr lvl="1">
              <a:spcAft>
                <a:spcPts val="600"/>
              </a:spcAft>
            </a:pPr>
            <a:r>
              <a:rPr lang="en-US" sz="2500" dirty="0">
                <a:latin typeface="Arial" panose="020B0604020202020204" pitchFamily="34" charset="0"/>
                <a:cs typeface="Arial" panose="020B0604020202020204" pitchFamily="34" charset="0"/>
              </a:rPr>
              <a:t>How many people will be hospitalized next week, and in the weeks ahead?</a:t>
            </a:r>
          </a:p>
          <a:p>
            <a:pPr lvl="1">
              <a:spcAft>
                <a:spcPts val="1800"/>
              </a:spcAft>
            </a:pPr>
            <a:r>
              <a:rPr lang="en-US" sz="2500" dirty="0">
                <a:latin typeface="Arial" panose="020B0604020202020204" pitchFamily="34" charset="0"/>
                <a:cs typeface="Arial" panose="020B0604020202020204" pitchFamily="34" charset="0"/>
              </a:rPr>
              <a:t>When will the peak hit and how high will it be?</a:t>
            </a:r>
          </a:p>
          <a:p>
            <a:pPr>
              <a:spcAft>
                <a:spcPts val="1200"/>
              </a:spcAft>
            </a:pPr>
            <a:r>
              <a:rPr lang="en-US" sz="2500" dirty="0">
                <a:latin typeface="Arial" panose="020B0604020202020204" pitchFamily="34" charset="0"/>
                <a:cs typeface="Arial" panose="020B0604020202020204" pitchFamily="34" charset="0"/>
              </a:rPr>
              <a:t>In this working example, you’ll walk through a national-level influenza hospitalization forecasting system using real CDC data to help answer these questions.</a:t>
            </a:r>
          </a:p>
          <a:p>
            <a:pPr lvl="1"/>
            <a:r>
              <a:rPr lang="en-US" sz="2500" dirty="0">
                <a:latin typeface="Arial" panose="020B0604020202020204" pitchFamily="34" charset="0"/>
                <a:cs typeface="Arial" panose="020B0604020202020204" pitchFamily="34" charset="0"/>
              </a:rPr>
              <a:t>The hands-on lab will focus on a </a:t>
            </a:r>
            <a:r>
              <a:rPr lang="en-US" sz="2500" b="1" dirty="0">
                <a:latin typeface="Arial" panose="020B0604020202020204" pitchFamily="34" charset="0"/>
                <a:cs typeface="Arial" panose="020B0604020202020204" pitchFamily="34" charset="0"/>
              </a:rPr>
              <a:t>human-AI</a:t>
            </a:r>
            <a:r>
              <a:rPr lang="en-US" sz="2500" dirty="0">
                <a:latin typeface="Arial" panose="020B0604020202020204" pitchFamily="34" charset="0"/>
                <a:cs typeface="Arial" panose="020B0604020202020204" pitchFamily="34" charset="0"/>
              </a:rPr>
              <a:t> </a:t>
            </a:r>
            <a:r>
              <a:rPr lang="en-US" sz="2500" b="1" dirty="0">
                <a:latin typeface="Arial" panose="020B0604020202020204" pitchFamily="34" charset="0"/>
                <a:cs typeface="Arial" panose="020B0604020202020204" pitchFamily="34" charset="0"/>
              </a:rPr>
              <a:t>teaming approach </a:t>
            </a:r>
            <a:r>
              <a:rPr lang="en-US" sz="2500" dirty="0">
                <a:latin typeface="Arial" panose="020B0604020202020204" pitchFamily="34" charset="0"/>
                <a:cs typeface="Arial" panose="020B0604020202020204" pitchFamily="34" charset="0"/>
              </a:rPr>
              <a:t>to achieve the same (or similar results). </a:t>
            </a:r>
          </a:p>
        </p:txBody>
      </p:sp>
    </p:spTree>
    <p:extLst>
      <p:ext uri="{BB962C8B-B14F-4D97-AF65-F5344CB8AC3E}">
        <p14:creationId xmlns:p14="http://schemas.microsoft.com/office/powerpoint/2010/main" val="2933158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09192"/>
            <a:ext cx="11091672" cy="731520"/>
          </a:xfrm>
          <a:prstGeom prst="rect">
            <a:avLst/>
          </a:prstGeom>
          <a:noFill/>
          <a:ln/>
        </p:spPr>
        <p:txBody>
          <a:bodyPr wrap="square" rtlCol="0" anchor="ctr"/>
          <a:lstStyle/>
          <a:p>
            <a:pPr marL="0" indent="0" algn="ctr">
              <a:buNone/>
            </a:pPr>
            <a:r>
              <a:rPr lang="en-US" sz="4400" b="1" dirty="0">
                <a:solidFill>
                  <a:srgbClr val="7030A0"/>
                </a:solidFill>
                <a:latin typeface="Arial" pitchFamily="34" charset="0"/>
                <a:ea typeface="Arial" pitchFamily="34" charset="-122"/>
                <a:cs typeface="Arial" pitchFamily="34" charset="-120"/>
              </a:rPr>
              <a:t>CDC (NHSN) Hospital Respiratory Data</a:t>
            </a:r>
            <a:endParaRPr lang="en-US" sz="4400" dirty="0"/>
          </a:p>
        </p:txBody>
      </p:sp>
      <p:sp>
        <p:nvSpPr>
          <p:cNvPr id="3" name="Text 1"/>
          <p:cNvSpPr/>
          <p:nvPr/>
        </p:nvSpPr>
        <p:spPr>
          <a:xfrm>
            <a:off x="550164" y="1411604"/>
            <a:ext cx="11091672" cy="411480"/>
          </a:xfrm>
          <a:prstGeom prst="rect">
            <a:avLst/>
          </a:prstGeom>
          <a:noFill/>
          <a:ln/>
        </p:spPr>
        <p:txBody>
          <a:bodyPr wrap="square" rtlCol="0" anchor="ctr"/>
          <a:lstStyle/>
          <a:p>
            <a:pPr marL="0" indent="0" algn="ctr">
              <a:buNone/>
            </a:pPr>
            <a:r>
              <a:rPr lang="en-US" sz="2500" dirty="0">
                <a:solidFill>
                  <a:srgbClr val="595959"/>
                </a:solidFill>
                <a:latin typeface="Arial" pitchFamily="34" charset="0"/>
                <a:ea typeface="Arial" pitchFamily="34" charset="-122"/>
                <a:cs typeface="Arial" pitchFamily="34" charset="-120"/>
              </a:rPr>
              <a:t>The weekly surveillance dataset behind our </a:t>
            </a:r>
            <a:r>
              <a:rPr lang="en-US" sz="2500" dirty="0">
                <a:solidFill>
                  <a:schemeClr val="accent2"/>
                </a:solidFill>
                <a:latin typeface="Arial" pitchFamily="34" charset="0"/>
                <a:ea typeface="Arial" pitchFamily="34" charset="-122"/>
                <a:cs typeface="Arial" pitchFamily="34" charset="-120"/>
              </a:rPr>
              <a:t>national flu forecasting pipeline</a:t>
            </a:r>
            <a:r>
              <a:rPr lang="en-US" sz="2500" dirty="0">
                <a:solidFill>
                  <a:srgbClr val="595959"/>
                </a:solidFill>
                <a:latin typeface="Arial" pitchFamily="34" charset="0"/>
                <a:ea typeface="Arial" pitchFamily="34" charset="-122"/>
                <a:cs typeface="Arial" pitchFamily="34" charset="-120"/>
              </a:rPr>
              <a:t>.</a:t>
            </a:r>
            <a:endParaRPr lang="en-US" sz="2500" dirty="0"/>
          </a:p>
        </p:txBody>
      </p:sp>
      <p:sp>
        <p:nvSpPr>
          <p:cNvPr id="4" name="Text 2"/>
          <p:cNvSpPr/>
          <p:nvPr/>
        </p:nvSpPr>
        <p:spPr>
          <a:xfrm>
            <a:off x="548640" y="2157984"/>
            <a:ext cx="5408676" cy="1769364"/>
          </a:xfrm>
          <a:prstGeom prst="roundRect">
            <a:avLst>
              <a:gd name="adj" fmla="val 5294"/>
            </a:avLst>
          </a:prstGeom>
          <a:solidFill>
            <a:srgbClr val="F2F2F2"/>
          </a:solidFill>
          <a:ln w="12700">
            <a:solidFill>
              <a:srgbClr val="D9D9D9"/>
            </a:solidFill>
          </a:ln>
          <a:effectLst>
            <a:outerShdw blurRad="50800" dist="38100" dir="2700000" algn="tl" rotWithShape="0">
              <a:prstClr val="black">
                <a:alpha val="40000"/>
              </a:prstClr>
            </a:outerShdw>
          </a:effectLst>
        </p:spPr>
        <p:txBody>
          <a:bodyPr wrap="square" lIns="152400" tIns="152400" rIns="152400" bIns="152400" rtlCol="0" anchor="t"/>
          <a:lstStyle/>
          <a:p>
            <a:pPr marL="0" indent="0" algn="l">
              <a:spcAft>
                <a:spcPts val="500"/>
              </a:spcAft>
              <a:buNone/>
            </a:pPr>
            <a:r>
              <a:rPr lang="en-US" b="1" dirty="0">
                <a:solidFill>
                  <a:schemeClr val="accent2"/>
                </a:solidFill>
                <a:latin typeface="Arial" panose="020B0604020202020204" pitchFamily="34" charset="0"/>
                <a:ea typeface="Arial" pitchFamily="34" charset="-122"/>
                <a:cs typeface="Arial" panose="020B0604020202020204" pitchFamily="34" charset="0"/>
              </a:rPr>
              <a:t>What it is</a:t>
            </a:r>
            <a:endParaRPr lang="en-US" dirty="0">
              <a:solidFill>
                <a:schemeClr val="accent2"/>
              </a:solidFill>
              <a:latin typeface="Arial" panose="020B0604020202020204" pitchFamily="34" charset="0"/>
              <a:cs typeface="Arial" panose="020B0604020202020204" pitchFamily="34" charset="0"/>
            </a:endParaRPr>
          </a:p>
          <a:p>
            <a:pPr marL="0" indent="0" algn="l">
              <a:buNone/>
            </a:pPr>
            <a:r>
              <a:rPr lang="en-US" dirty="0">
                <a:solidFill>
                  <a:srgbClr val="404040"/>
                </a:solidFill>
                <a:latin typeface="Arial" panose="020B0604020202020204" pitchFamily="34" charset="0"/>
                <a:ea typeface="Arial" pitchFamily="34" charset="-122"/>
                <a:cs typeface="Arial" panose="020B0604020202020204" pitchFamily="34" charset="0"/>
              </a:rPr>
              <a:t>Weekly hospital respiratory data from CDC’s National Healthcare Safety Network (NHSN), aggregated to the national (USA) and state or territory level, going back to August 2020.</a:t>
            </a:r>
            <a:endParaRPr lang="en-US" dirty="0">
              <a:latin typeface="Arial" panose="020B0604020202020204" pitchFamily="34" charset="0"/>
              <a:cs typeface="Arial" panose="020B0604020202020204" pitchFamily="34" charset="0"/>
            </a:endParaRPr>
          </a:p>
        </p:txBody>
      </p:sp>
      <p:sp>
        <p:nvSpPr>
          <p:cNvPr id="5" name="Text 3"/>
          <p:cNvSpPr/>
          <p:nvPr/>
        </p:nvSpPr>
        <p:spPr>
          <a:xfrm>
            <a:off x="6231636" y="2157984"/>
            <a:ext cx="5408676" cy="1769364"/>
          </a:xfrm>
          <a:prstGeom prst="roundRect">
            <a:avLst>
              <a:gd name="adj" fmla="val 5294"/>
            </a:avLst>
          </a:prstGeom>
          <a:solidFill>
            <a:srgbClr val="F2F2F2"/>
          </a:solidFill>
          <a:ln w="12700">
            <a:solidFill>
              <a:srgbClr val="D9D9D9"/>
            </a:solidFill>
          </a:ln>
          <a:effectLst>
            <a:outerShdw blurRad="50800" dist="38100" dir="2700000" algn="tl" rotWithShape="0">
              <a:prstClr val="black">
                <a:alpha val="40000"/>
              </a:prstClr>
            </a:outerShdw>
          </a:effectLst>
        </p:spPr>
        <p:txBody>
          <a:bodyPr wrap="square" lIns="152400" tIns="152400" rIns="152400" bIns="152400" rtlCol="0" anchor="t"/>
          <a:lstStyle/>
          <a:p>
            <a:pPr marL="0" indent="0" algn="l">
              <a:spcAft>
                <a:spcPts val="500"/>
              </a:spcAft>
              <a:buNone/>
            </a:pPr>
            <a:r>
              <a:rPr lang="en-US" b="1" dirty="0">
                <a:solidFill>
                  <a:schemeClr val="accent2"/>
                </a:solidFill>
                <a:latin typeface="Arial" panose="020B0604020202020204" pitchFamily="34" charset="0"/>
                <a:ea typeface="Arial" pitchFamily="34" charset="-122"/>
                <a:cs typeface="Arial" panose="020B0604020202020204" pitchFamily="34" charset="0"/>
              </a:rPr>
              <a:t>What it captures</a:t>
            </a:r>
            <a:endParaRPr lang="en-US" dirty="0">
              <a:solidFill>
                <a:schemeClr val="accent2"/>
              </a:solidFill>
              <a:latin typeface="Arial" panose="020B0604020202020204" pitchFamily="34" charset="0"/>
              <a:cs typeface="Arial" panose="020B0604020202020204" pitchFamily="34" charset="0"/>
            </a:endParaRPr>
          </a:p>
          <a:p>
            <a:pPr marL="0" indent="0" algn="l">
              <a:buNone/>
            </a:pPr>
            <a:r>
              <a:rPr lang="en-US" dirty="0">
                <a:solidFill>
                  <a:srgbClr val="404040"/>
                </a:solidFill>
                <a:latin typeface="Arial" panose="020B0604020202020204" pitchFamily="34" charset="0"/>
                <a:ea typeface="Arial" pitchFamily="34" charset="-122"/>
                <a:cs typeface="Arial" panose="020B0604020202020204" pitchFamily="34" charset="0"/>
              </a:rPr>
              <a:t>New admissions, hospital occupancy, and bed capacity for the three main respiratory pathogens: COVID-19, </a:t>
            </a:r>
            <a:r>
              <a:rPr lang="en-US" b="1" dirty="0">
                <a:solidFill>
                  <a:srgbClr val="E97132"/>
                </a:solidFill>
                <a:latin typeface="Arial" panose="020B0604020202020204" pitchFamily="34" charset="0"/>
                <a:ea typeface="Arial" pitchFamily="34" charset="-122"/>
                <a:cs typeface="Arial" panose="020B0604020202020204" pitchFamily="34" charset="0"/>
              </a:rPr>
              <a:t>influenza</a:t>
            </a:r>
            <a:r>
              <a:rPr lang="en-US" dirty="0">
                <a:solidFill>
                  <a:srgbClr val="404040"/>
                </a:solidFill>
                <a:latin typeface="Arial" panose="020B0604020202020204" pitchFamily="34" charset="0"/>
                <a:ea typeface="Arial" pitchFamily="34" charset="-122"/>
                <a:cs typeface="Arial" panose="020B0604020202020204" pitchFamily="34" charset="0"/>
              </a:rPr>
              <a:t>, and RSV.</a:t>
            </a:r>
            <a:endParaRPr lang="en-US" dirty="0">
              <a:latin typeface="Arial" panose="020B0604020202020204" pitchFamily="34" charset="0"/>
              <a:cs typeface="Arial" panose="020B0604020202020204" pitchFamily="34" charset="0"/>
            </a:endParaRPr>
          </a:p>
        </p:txBody>
      </p:sp>
      <p:sp>
        <p:nvSpPr>
          <p:cNvPr id="7" name="Text 5"/>
          <p:cNvSpPr/>
          <p:nvPr/>
        </p:nvSpPr>
        <p:spPr>
          <a:xfrm>
            <a:off x="548640" y="4456862"/>
            <a:ext cx="5408676" cy="1769364"/>
          </a:xfrm>
          <a:prstGeom prst="roundRect">
            <a:avLst>
              <a:gd name="adj" fmla="val 5294"/>
            </a:avLst>
          </a:prstGeom>
          <a:solidFill>
            <a:srgbClr val="F2F2F2"/>
          </a:solidFill>
          <a:ln w="12700">
            <a:solidFill>
              <a:srgbClr val="D9D9D9"/>
            </a:solidFill>
          </a:ln>
          <a:effectLst>
            <a:outerShdw blurRad="50800" dist="38100" dir="2700000" algn="tl" rotWithShape="0">
              <a:prstClr val="black">
                <a:alpha val="40000"/>
              </a:prstClr>
            </a:outerShdw>
          </a:effectLst>
        </p:spPr>
        <p:txBody>
          <a:bodyPr wrap="square" lIns="152400" tIns="152400" rIns="152400" bIns="152400" rtlCol="0" anchor="t"/>
          <a:lstStyle/>
          <a:p>
            <a:pPr marL="0" indent="0" algn="l">
              <a:spcAft>
                <a:spcPts val="500"/>
              </a:spcAft>
              <a:buNone/>
            </a:pPr>
            <a:r>
              <a:rPr lang="en-US" b="1" dirty="0">
                <a:solidFill>
                  <a:schemeClr val="accent2"/>
                </a:solidFill>
                <a:latin typeface="Arial" panose="020B0604020202020204" pitchFamily="34" charset="0"/>
                <a:ea typeface="Arial" pitchFamily="34" charset="-122"/>
                <a:cs typeface="Arial" panose="020B0604020202020204" pitchFamily="34" charset="0"/>
              </a:rPr>
              <a:t>Reporting cadence</a:t>
            </a:r>
            <a:endParaRPr lang="en-US" dirty="0">
              <a:solidFill>
                <a:schemeClr val="accent2"/>
              </a:solidFill>
              <a:latin typeface="Arial" panose="020B0604020202020204" pitchFamily="34" charset="0"/>
              <a:cs typeface="Arial" panose="020B0604020202020204" pitchFamily="34" charset="0"/>
            </a:endParaRPr>
          </a:p>
          <a:p>
            <a:pPr marL="0" indent="0" algn="l">
              <a:buNone/>
            </a:pPr>
            <a:r>
              <a:rPr lang="en-US" dirty="0">
                <a:solidFill>
                  <a:srgbClr val="404040"/>
                </a:solidFill>
                <a:latin typeface="Arial" panose="020B0604020202020204" pitchFamily="34" charset="0"/>
                <a:ea typeface="Arial" pitchFamily="34" charset="-122"/>
                <a:cs typeface="Arial" panose="020B0604020202020204" pitchFamily="34" charset="0"/>
              </a:rPr>
              <a:t>Published weekly by MMWR week as a preliminary release that is later finalized, so the most recent weeks can still revise before they settle.</a:t>
            </a:r>
            <a:endParaRPr lang="en-US" dirty="0">
              <a:latin typeface="Arial" panose="020B0604020202020204" pitchFamily="34" charset="0"/>
              <a:cs typeface="Arial" panose="020B0604020202020204" pitchFamily="34" charset="0"/>
            </a:endParaRPr>
          </a:p>
        </p:txBody>
      </p:sp>
      <p:sp>
        <p:nvSpPr>
          <p:cNvPr id="8" name="Text 6"/>
          <p:cNvSpPr/>
          <p:nvPr/>
        </p:nvSpPr>
        <p:spPr>
          <a:xfrm>
            <a:off x="6231636" y="4456861"/>
            <a:ext cx="5408676" cy="1769363"/>
          </a:xfrm>
          <a:prstGeom prst="roundRect">
            <a:avLst>
              <a:gd name="adj" fmla="val 5714"/>
            </a:avLst>
          </a:prstGeom>
          <a:solidFill>
            <a:srgbClr val="F2F2F2"/>
          </a:solidFill>
          <a:ln>
            <a:solidFill>
              <a:schemeClr val="bg1">
                <a:lumMod val="85000"/>
              </a:schemeClr>
            </a:solidFill>
          </a:ln>
          <a:effectLst>
            <a:outerShdw blurRad="50800" dist="38100" dir="2700000" algn="tl" rotWithShape="0">
              <a:prstClr val="black">
                <a:alpha val="40000"/>
              </a:prstClr>
            </a:outerShdw>
          </a:effectLst>
        </p:spPr>
        <p:txBody>
          <a:bodyPr wrap="square" lIns="177800" tIns="177800" rIns="177800" bIns="177800" rtlCol="0" anchor="ctr"/>
          <a:lstStyle/>
          <a:p>
            <a:pPr marL="0" indent="0" algn="l">
              <a:spcAft>
                <a:spcPts val="600"/>
              </a:spcAft>
              <a:buNone/>
            </a:pPr>
            <a:r>
              <a:rPr lang="en-US" b="1" dirty="0">
                <a:solidFill>
                  <a:schemeClr val="accent2"/>
                </a:solidFill>
                <a:latin typeface="Arial" pitchFamily="34" charset="0"/>
                <a:ea typeface="Arial" pitchFamily="34" charset="-122"/>
                <a:cs typeface="Arial" pitchFamily="34" charset="-120"/>
              </a:rPr>
              <a:t>How we use it</a:t>
            </a:r>
          </a:p>
          <a:p>
            <a:pPr marL="0" indent="0" algn="l">
              <a:buNone/>
            </a:pPr>
            <a:r>
              <a:rPr lang="en-US" dirty="0">
                <a:solidFill>
                  <a:srgbClr val="404040"/>
                </a:solidFill>
                <a:latin typeface="Arial" pitchFamily="34" charset="0"/>
                <a:ea typeface="Arial" pitchFamily="34" charset="-122"/>
                <a:cs typeface="Arial" pitchFamily="34" charset="-120"/>
              </a:rPr>
              <a:t>We keep the </a:t>
            </a:r>
            <a:r>
              <a:rPr lang="en-US" b="1" dirty="0">
                <a:solidFill>
                  <a:srgbClr val="E97132"/>
                </a:solidFill>
                <a:latin typeface="Courier New" pitchFamily="34" charset="0"/>
                <a:ea typeface="Courier New" pitchFamily="34" charset="-122"/>
                <a:cs typeface="Courier New" pitchFamily="34" charset="-120"/>
              </a:rPr>
              <a:t>Total Influenza Admissions</a:t>
            </a:r>
            <a:r>
              <a:rPr lang="en-US" dirty="0">
                <a:solidFill>
                  <a:srgbClr val="404040"/>
                </a:solidFill>
                <a:latin typeface="Arial" pitchFamily="34" charset="0"/>
                <a:ea typeface="Arial" pitchFamily="34" charset="-122"/>
                <a:cs typeface="Arial" pitchFamily="34" charset="-120"/>
              </a:rPr>
              <a:t> metric for the </a:t>
            </a:r>
            <a:r>
              <a:rPr lang="en-US" b="1" dirty="0">
                <a:solidFill>
                  <a:srgbClr val="E97132"/>
                </a:solidFill>
                <a:latin typeface="Courier New" pitchFamily="34" charset="0"/>
                <a:ea typeface="Courier New" pitchFamily="34" charset="-122"/>
                <a:cs typeface="Courier New" pitchFamily="34" charset="-120"/>
              </a:rPr>
              <a:t>USA</a:t>
            </a:r>
            <a:r>
              <a:rPr lang="en-US" dirty="0">
                <a:solidFill>
                  <a:srgbClr val="404040"/>
                </a:solidFill>
                <a:latin typeface="Arial" pitchFamily="34" charset="0"/>
                <a:ea typeface="Arial" pitchFamily="34" charset="-122"/>
                <a:cs typeface="Arial" pitchFamily="34" charset="-120"/>
              </a:rPr>
              <a:t> jurisdiction and clean it into a tidy weekly series. That cleaned series is the starting point for the entire forecasting pipeline.</a:t>
            </a:r>
            <a:endParaRPr lang="en-US" dirty="0"/>
          </a:p>
        </p:txBody>
      </p:sp>
      <p:sp>
        <p:nvSpPr>
          <p:cNvPr id="9" name="Text 7"/>
          <p:cNvSpPr/>
          <p:nvPr/>
        </p:nvSpPr>
        <p:spPr>
          <a:xfrm>
            <a:off x="548640" y="6510528"/>
            <a:ext cx="11091672" cy="320040"/>
          </a:xfrm>
          <a:prstGeom prst="rect">
            <a:avLst/>
          </a:prstGeom>
          <a:noFill/>
          <a:ln/>
        </p:spPr>
        <p:txBody>
          <a:bodyPr wrap="square" rtlCol="0" anchor="ctr"/>
          <a:lstStyle/>
          <a:p>
            <a:pPr marL="0" indent="0" algn="ctr">
              <a:buNone/>
            </a:pPr>
            <a:r>
              <a:rPr lang="en-US" sz="1500" dirty="0">
                <a:solidFill>
                  <a:srgbClr val="808080"/>
                </a:solidFill>
                <a:latin typeface="Arial" pitchFamily="34" charset="0"/>
                <a:ea typeface="Arial" pitchFamily="34" charset="-122"/>
                <a:cs typeface="Arial" pitchFamily="34" charset="-120"/>
              </a:rPr>
              <a:t>Source: CDC National Healthcare Safety Network (NHSN)  ·  data.cdc.gov</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65CB73-8553-A1A9-D63D-76628759A1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543" y="589272"/>
            <a:ext cx="11358914" cy="5679457"/>
          </a:xfrm>
          <a:prstGeom prst="rect">
            <a:avLst/>
          </a:prstGeom>
          <a:ln>
            <a:solidFill>
              <a:schemeClr val="bg1">
                <a:lumMod val="85000"/>
              </a:schemeClr>
            </a:solidFill>
          </a:ln>
        </p:spPr>
      </p:pic>
    </p:spTree>
    <p:extLst>
      <p:ext uri="{BB962C8B-B14F-4D97-AF65-F5344CB8AC3E}">
        <p14:creationId xmlns:p14="http://schemas.microsoft.com/office/powerpoint/2010/main" val="19617826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0164" y="137160"/>
            <a:ext cx="11091672" cy="822960"/>
          </a:xfrm>
          <a:prstGeom prst="rect">
            <a:avLst/>
          </a:prstGeom>
          <a:noFill/>
          <a:ln/>
        </p:spPr>
        <p:txBody>
          <a:bodyPr wrap="square" rtlCol="0" anchor="ctr"/>
          <a:lstStyle/>
          <a:p>
            <a:pPr marL="0" indent="0" algn="ctr">
              <a:buNone/>
            </a:pPr>
            <a:r>
              <a:rPr lang="en-US" sz="4400" b="1" dirty="0">
                <a:solidFill>
                  <a:srgbClr val="7030A0"/>
                </a:solidFill>
                <a:latin typeface="Arial" pitchFamily="34" charset="0"/>
                <a:ea typeface="Arial" pitchFamily="34" charset="-122"/>
                <a:cs typeface="Arial" pitchFamily="34" charset="-120"/>
              </a:rPr>
              <a:t>Exploring the Data</a:t>
            </a:r>
            <a:endParaRPr lang="en-US" sz="4400" dirty="0"/>
          </a:p>
        </p:txBody>
      </p:sp>
      <p:sp>
        <p:nvSpPr>
          <p:cNvPr id="3" name="Text 1"/>
          <p:cNvSpPr/>
          <p:nvPr/>
        </p:nvSpPr>
        <p:spPr>
          <a:xfrm>
            <a:off x="655320" y="1243584"/>
            <a:ext cx="10881360" cy="3383280"/>
          </a:xfrm>
          <a:prstGeom prst="rect">
            <a:avLst/>
          </a:prstGeom>
          <a:noFill/>
          <a:ln/>
        </p:spPr>
        <p:txBody>
          <a:bodyPr wrap="square" rtlCol="0" anchor="t"/>
          <a:lstStyle/>
          <a:p>
            <a:pPr marL="342900" indent="-342900" algn="l">
              <a:spcAft>
                <a:spcPts val="1200"/>
              </a:spcAft>
              <a:buSzPct val="100000"/>
              <a:buChar char="•"/>
            </a:pPr>
            <a:r>
              <a:rPr lang="en-US" sz="2500" dirty="0">
                <a:solidFill>
                  <a:srgbClr val="1A1A1A"/>
                </a:solidFill>
                <a:latin typeface="Arial" panose="020B0604020202020204" pitchFamily="34" charset="0"/>
                <a:ea typeface="Arial" pitchFamily="34" charset="-122"/>
                <a:cs typeface="Arial" panose="020B0604020202020204" pitchFamily="34" charset="0"/>
              </a:rPr>
              <a:t>Before fitting a model and forecasting, we take a close look at the data to understand current and past trends, along with key epidemiological features such as peak timing and intensity.</a:t>
            </a:r>
            <a:endParaRPr lang="en-US" sz="2500" dirty="0">
              <a:latin typeface="Arial" panose="020B0604020202020204" pitchFamily="34" charset="0"/>
              <a:cs typeface="Arial" panose="020B0604020202020204" pitchFamily="34" charset="0"/>
            </a:endParaRPr>
          </a:p>
          <a:p>
            <a:pPr marL="342900" indent="-342900" algn="l">
              <a:spcAft>
                <a:spcPts val="800"/>
              </a:spcAft>
              <a:buSzPct val="100000"/>
              <a:buChar char="•"/>
            </a:pPr>
            <a:r>
              <a:rPr lang="en-US" sz="2500" dirty="0">
                <a:solidFill>
                  <a:srgbClr val="1A1A1A"/>
                </a:solidFill>
                <a:latin typeface="Arial" panose="020B0604020202020204" pitchFamily="34" charset="0"/>
                <a:ea typeface="Arial" pitchFamily="34" charset="-122"/>
                <a:cs typeface="Arial" panose="020B0604020202020204" pitchFamily="34" charset="0"/>
              </a:rPr>
              <a:t>We are retrospectively forecasting the </a:t>
            </a:r>
            <a:r>
              <a:rPr lang="en-US" sz="2500" u="sng" dirty="0">
                <a:solidFill>
                  <a:srgbClr val="1A1A1A"/>
                </a:solidFill>
                <a:latin typeface="Arial" panose="020B0604020202020204" pitchFamily="34" charset="0"/>
                <a:ea typeface="Arial" pitchFamily="34" charset="-122"/>
                <a:cs typeface="Arial" panose="020B0604020202020204" pitchFamily="34" charset="0"/>
              </a:rPr>
              <a:t>2025-2026</a:t>
            </a:r>
            <a:r>
              <a:rPr lang="en-US" sz="2500" dirty="0">
                <a:solidFill>
                  <a:srgbClr val="1A1A1A"/>
                </a:solidFill>
                <a:latin typeface="Arial" panose="020B0604020202020204" pitchFamily="34" charset="0"/>
                <a:ea typeface="Arial" pitchFamily="34" charset="-122"/>
                <a:cs typeface="Arial" panose="020B0604020202020204" pitchFamily="34" charset="0"/>
              </a:rPr>
              <a:t> season, which raises a few questions:</a:t>
            </a:r>
            <a:endParaRPr lang="en-US" sz="2500" dirty="0">
              <a:latin typeface="Arial" panose="020B0604020202020204" pitchFamily="34" charset="0"/>
              <a:cs typeface="Arial" panose="020B0604020202020204" pitchFamily="34" charset="0"/>
            </a:endParaRPr>
          </a:p>
          <a:p>
            <a:pPr marL="685800" lvl="1" indent="-342900" algn="l">
              <a:spcAft>
                <a:spcPts val="500"/>
              </a:spcAft>
              <a:buSzPct val="100000"/>
              <a:buChar char="•"/>
            </a:pPr>
            <a:r>
              <a:rPr lang="en-US" sz="2500" dirty="0">
                <a:solidFill>
                  <a:srgbClr val="1A1A1A"/>
                </a:solidFill>
                <a:latin typeface="Arial" panose="020B0604020202020204" pitchFamily="34" charset="0"/>
                <a:ea typeface="Arial" pitchFamily="34" charset="-122"/>
                <a:cs typeface="Arial" panose="020B0604020202020204" pitchFamily="34" charset="0"/>
              </a:rPr>
              <a:t>How do we define a season?</a:t>
            </a:r>
            <a:endParaRPr lang="en-US" sz="2500" dirty="0">
              <a:latin typeface="Arial" panose="020B0604020202020204" pitchFamily="34" charset="0"/>
              <a:cs typeface="Arial" panose="020B0604020202020204" pitchFamily="34" charset="0"/>
            </a:endParaRPr>
          </a:p>
          <a:p>
            <a:pPr marL="685800" lvl="1" indent="-342900" algn="l">
              <a:spcAft>
                <a:spcPts val="500"/>
              </a:spcAft>
              <a:buSzPct val="100000"/>
              <a:buChar char="•"/>
            </a:pPr>
            <a:r>
              <a:rPr lang="en-US" sz="2500" dirty="0">
                <a:solidFill>
                  <a:srgbClr val="1A1A1A"/>
                </a:solidFill>
                <a:latin typeface="Arial" panose="020B0604020202020204" pitchFamily="34" charset="0"/>
                <a:ea typeface="Arial" pitchFamily="34" charset="-122"/>
                <a:cs typeface="Arial" panose="020B0604020202020204" pitchFamily="34" charset="0"/>
              </a:rPr>
              <a:t>How does this season compare to past seasons?</a:t>
            </a:r>
            <a:endParaRPr lang="en-US" sz="2500" dirty="0">
              <a:latin typeface="Arial" panose="020B0604020202020204" pitchFamily="34" charset="0"/>
              <a:cs typeface="Arial" panose="020B0604020202020204" pitchFamily="34" charset="0"/>
            </a:endParaRPr>
          </a:p>
          <a:p>
            <a:pPr marL="685800" lvl="1" indent="-342900" algn="l">
              <a:buSzPct val="100000"/>
              <a:buChar char="•"/>
            </a:pPr>
            <a:r>
              <a:rPr lang="en-US" sz="2500" dirty="0">
                <a:solidFill>
                  <a:srgbClr val="1A1A1A"/>
                </a:solidFill>
                <a:latin typeface="Arial" panose="020B0604020202020204" pitchFamily="34" charset="0"/>
                <a:ea typeface="Arial" pitchFamily="34" charset="-122"/>
                <a:cs typeface="Arial" panose="020B0604020202020204" pitchFamily="34" charset="0"/>
              </a:rPr>
              <a:t>When did key turning points occur (peak timing), and how intense were they (peak intensity)?</a:t>
            </a:r>
            <a:endParaRPr lang="en-US" sz="2500" dirty="0">
              <a:latin typeface="Arial" panose="020B0604020202020204" pitchFamily="34" charset="0"/>
              <a:cs typeface="Arial" panose="020B0604020202020204" pitchFamily="34" charset="0"/>
            </a:endParaRPr>
          </a:p>
        </p:txBody>
      </p:sp>
      <p:sp>
        <p:nvSpPr>
          <p:cNvPr id="4" name="Text 2"/>
          <p:cNvSpPr/>
          <p:nvPr/>
        </p:nvSpPr>
        <p:spPr>
          <a:xfrm>
            <a:off x="655320" y="5385816"/>
            <a:ext cx="10881360" cy="1143000"/>
          </a:xfrm>
          <a:prstGeom prst="roundRect">
            <a:avLst>
              <a:gd name="adj" fmla="val 6957"/>
            </a:avLst>
          </a:prstGeom>
          <a:solidFill>
            <a:srgbClr val="FBE9DD"/>
          </a:solidFill>
          <a:ln w="12700">
            <a:solidFill>
              <a:srgbClr val="F1C9A8"/>
            </a:solidFill>
          </a:ln>
        </p:spPr>
        <p:txBody>
          <a:bodyPr wrap="square" lIns="203200" tIns="203200" rIns="203200" bIns="203200" rtlCol="0" anchor="ctr"/>
          <a:lstStyle/>
          <a:p>
            <a:pPr marL="0" indent="0" algn="ctr">
              <a:buNone/>
            </a:pPr>
            <a:r>
              <a:rPr lang="en-US" sz="2300" b="1" dirty="0">
                <a:solidFill>
                  <a:srgbClr val="E97132"/>
                </a:solidFill>
                <a:latin typeface="Arial" pitchFamily="34" charset="0"/>
                <a:ea typeface="Arial" pitchFamily="34" charset="-122"/>
                <a:cs typeface="Arial" pitchFamily="34" charset="-120"/>
              </a:rPr>
              <a:t>Why this matters:  </a:t>
            </a:r>
            <a:r>
              <a:rPr lang="en-US" sz="2300" dirty="0">
                <a:solidFill>
                  <a:srgbClr val="404040"/>
                </a:solidFill>
                <a:latin typeface="Arial" pitchFamily="34" charset="0"/>
                <a:ea typeface="Arial" pitchFamily="34" charset="-122"/>
                <a:cs typeface="Arial" pitchFamily="34" charset="-120"/>
              </a:rPr>
              <a:t>Exploring the data, through both visuals and summary values, is how we build a full picture of what is going on before we commit to a model.</a:t>
            </a:r>
            <a:endParaRPr lang="en-US" sz="2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8A95E-6FAB-B396-A081-1C3342AAB0AF}"/>
              </a:ext>
            </a:extLst>
          </p:cNvPr>
          <p:cNvSpPr>
            <a:spLocks noGrp="1"/>
          </p:cNvSpPr>
          <p:nvPr>
            <p:ph type="title"/>
          </p:nvPr>
        </p:nvSpPr>
        <p:spPr>
          <a:xfrm>
            <a:off x="838200" y="106997"/>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National Trend, Current Season Highlighted </a:t>
            </a:r>
          </a:p>
        </p:txBody>
      </p:sp>
      <p:pic>
        <p:nvPicPr>
          <p:cNvPr id="4" name="Picture 3">
            <a:extLst>
              <a:ext uri="{FF2B5EF4-FFF2-40B4-BE49-F238E27FC236}">
                <a16:creationId xmlns:a16="http://schemas.microsoft.com/office/drawing/2014/main" id="{520D4521-20C9-4592-2026-E8805C7207A7}"/>
              </a:ext>
            </a:extLst>
          </p:cNvPr>
          <p:cNvPicPr>
            <a:picLocks noChangeAspect="1"/>
          </p:cNvPicPr>
          <p:nvPr/>
        </p:nvPicPr>
        <p:blipFill>
          <a:blip r:embed="rId2"/>
          <a:stretch>
            <a:fillRect/>
          </a:stretch>
        </p:blipFill>
        <p:spPr>
          <a:xfrm>
            <a:off x="914400" y="1569403"/>
            <a:ext cx="10363200" cy="5181600"/>
          </a:xfrm>
          <a:prstGeom prst="rect">
            <a:avLst/>
          </a:prstGeom>
        </p:spPr>
      </p:pic>
      <p:graphicFrame>
        <p:nvGraphicFramePr>
          <p:cNvPr id="6" name="Table 5">
            <a:extLst>
              <a:ext uri="{FF2B5EF4-FFF2-40B4-BE49-F238E27FC236}">
                <a16:creationId xmlns:a16="http://schemas.microsoft.com/office/drawing/2014/main" id="{2C4C721C-C026-3369-FFA3-04A656825E7D}"/>
              </a:ext>
            </a:extLst>
          </p:cNvPr>
          <p:cNvGraphicFramePr>
            <a:graphicFrameLocks noGrp="1"/>
          </p:cNvGraphicFramePr>
          <p:nvPr>
            <p:extLst>
              <p:ext uri="{D42A27DB-BD31-4B8C-83A1-F6EECF244321}">
                <p14:modId xmlns:p14="http://schemas.microsoft.com/office/powerpoint/2010/main" val="1529880226"/>
              </p:ext>
            </p:extLst>
          </p:nvPr>
        </p:nvGraphicFramePr>
        <p:xfrm>
          <a:off x="1959610" y="2238608"/>
          <a:ext cx="3087878" cy="1921595"/>
        </p:xfrm>
        <a:graphic>
          <a:graphicData uri="http://schemas.openxmlformats.org/drawingml/2006/table">
            <a:tbl>
              <a:tblPr firstRow="1" bandRow="1">
                <a:tableStyleId>{5940675A-B579-460E-94D1-54222C63F5DA}</a:tableStyleId>
              </a:tblPr>
              <a:tblGrid>
                <a:gridCol w="1525204">
                  <a:extLst>
                    <a:ext uri="{9D8B030D-6E8A-4147-A177-3AD203B41FA5}">
                      <a16:colId xmlns:a16="http://schemas.microsoft.com/office/drawing/2014/main" val="859925639"/>
                    </a:ext>
                  </a:extLst>
                </a:gridCol>
                <a:gridCol w="1562674">
                  <a:extLst>
                    <a:ext uri="{9D8B030D-6E8A-4147-A177-3AD203B41FA5}">
                      <a16:colId xmlns:a16="http://schemas.microsoft.com/office/drawing/2014/main" val="3386775927"/>
                    </a:ext>
                  </a:extLst>
                </a:gridCol>
              </a:tblGrid>
              <a:tr h="298027">
                <a:tc gridSpan="2">
                  <a:txBody>
                    <a:bodyPr/>
                    <a:lstStyle/>
                    <a:p>
                      <a:pPr algn="ctr"/>
                      <a:r>
                        <a:rPr lang="en-US" sz="1500" b="1" dirty="0">
                          <a:latin typeface="Arial" panose="020B0604020202020204" pitchFamily="34" charset="0"/>
                          <a:cs typeface="Arial" panose="020B0604020202020204" pitchFamily="34" charset="0"/>
                        </a:rPr>
                        <a:t>2025-2026 Statistics</a:t>
                      </a:r>
                    </a:p>
                  </a:txBody>
                  <a:tcPr anchor="ctr">
                    <a:solidFill>
                      <a:schemeClr val="bg1">
                        <a:lumMod val="95000"/>
                      </a:schemeClr>
                    </a:solidFill>
                  </a:tcPr>
                </a:tc>
                <a:tc hMerge="1">
                  <a:txBody>
                    <a:bodyPr/>
                    <a:lstStyle/>
                    <a:p>
                      <a:pPr algn="ctr"/>
                      <a:endParaRPr lang="en-US" sz="2500" b="1" dirty="0">
                        <a:latin typeface="Arial" panose="020B0604020202020204" pitchFamily="34" charset="0"/>
                        <a:cs typeface="Arial" panose="020B0604020202020204" pitchFamily="34" charset="0"/>
                      </a:endParaRPr>
                    </a:p>
                  </a:txBody>
                  <a:tcPr anchor="ctr">
                    <a:solidFill>
                      <a:schemeClr val="bg1">
                        <a:lumMod val="95000"/>
                      </a:schemeClr>
                    </a:solidFill>
                  </a:tcPr>
                </a:tc>
                <a:extLst>
                  <a:ext uri="{0D108BD9-81ED-4DB2-BD59-A6C34878D82A}">
                    <a16:rowId xmlns:a16="http://schemas.microsoft.com/office/drawing/2014/main" val="1702138858"/>
                  </a:ext>
                </a:extLst>
              </a:tr>
              <a:tr h="298027">
                <a:tc>
                  <a:txBody>
                    <a:bodyPr/>
                    <a:lstStyle/>
                    <a:p>
                      <a:pPr algn="ctr"/>
                      <a:r>
                        <a:rPr lang="en-US" sz="1500" dirty="0">
                          <a:latin typeface="Arial" panose="020B0604020202020204" pitchFamily="34" charset="0"/>
                          <a:cs typeface="Arial" panose="020B0604020202020204" pitchFamily="34" charset="0"/>
                        </a:rPr>
                        <a:t>Season Start</a:t>
                      </a:r>
                    </a:p>
                  </a:txBody>
                  <a:tcPr anchor="ctr">
                    <a:solidFill>
                      <a:schemeClr val="bg1"/>
                    </a:solidFill>
                  </a:tcPr>
                </a:tc>
                <a:tc>
                  <a:txBody>
                    <a:bodyPr/>
                    <a:lstStyle/>
                    <a:p>
                      <a:pPr algn="ctr"/>
                      <a:r>
                        <a:rPr lang="en-US" sz="1500" dirty="0">
                          <a:latin typeface="Arial" panose="020B0604020202020204" pitchFamily="34" charset="0"/>
                          <a:cs typeface="Arial" panose="020B0604020202020204" pitchFamily="34" charset="0"/>
                        </a:rPr>
                        <a:t>2025-09-28</a:t>
                      </a:r>
                    </a:p>
                  </a:txBody>
                  <a:tcPr anchor="ctr">
                    <a:solidFill>
                      <a:schemeClr val="bg1"/>
                    </a:solidFill>
                  </a:tcPr>
                </a:tc>
                <a:extLst>
                  <a:ext uri="{0D108BD9-81ED-4DB2-BD59-A6C34878D82A}">
                    <a16:rowId xmlns:a16="http://schemas.microsoft.com/office/drawing/2014/main" val="3791375708"/>
                  </a:ext>
                </a:extLst>
              </a:tr>
              <a:tr h="298027">
                <a:tc>
                  <a:txBody>
                    <a:bodyPr/>
                    <a:lstStyle/>
                    <a:p>
                      <a:pPr algn="ctr"/>
                      <a:r>
                        <a:rPr lang="en-US" sz="1500" dirty="0">
                          <a:latin typeface="Arial" panose="020B0604020202020204" pitchFamily="34" charset="0"/>
                          <a:cs typeface="Arial" panose="020B0604020202020204" pitchFamily="34" charset="0"/>
                        </a:rPr>
                        <a:t>Peak Time </a:t>
                      </a:r>
                    </a:p>
                  </a:txBody>
                  <a:tcPr anchor="ctr">
                    <a:solidFill>
                      <a:schemeClr val="bg1"/>
                    </a:solidFill>
                  </a:tcPr>
                </a:tc>
                <a:tc>
                  <a:txBody>
                    <a:bodyPr/>
                    <a:lstStyle/>
                    <a:p>
                      <a:pPr algn="ctr"/>
                      <a:r>
                        <a:rPr lang="en-US" sz="1500" dirty="0">
                          <a:latin typeface="Arial" panose="020B0604020202020204" pitchFamily="34" charset="0"/>
                          <a:cs typeface="Arial" panose="020B0604020202020204" pitchFamily="34" charset="0"/>
                        </a:rPr>
                        <a:t>2026-01-03</a:t>
                      </a:r>
                    </a:p>
                  </a:txBody>
                  <a:tcPr anchor="ctr">
                    <a:solidFill>
                      <a:schemeClr val="bg1"/>
                    </a:solidFill>
                  </a:tcPr>
                </a:tc>
                <a:extLst>
                  <a:ext uri="{0D108BD9-81ED-4DB2-BD59-A6C34878D82A}">
                    <a16:rowId xmlns:a16="http://schemas.microsoft.com/office/drawing/2014/main" val="1641647255"/>
                  </a:ext>
                </a:extLst>
              </a:tr>
              <a:tr h="298027">
                <a:tc>
                  <a:txBody>
                    <a:bodyPr/>
                    <a:lstStyle/>
                    <a:p>
                      <a:pPr algn="ctr"/>
                      <a:r>
                        <a:rPr lang="en-US" sz="1500" dirty="0">
                          <a:latin typeface="Arial" panose="020B0604020202020204" pitchFamily="34" charset="0"/>
                          <a:cs typeface="Arial" panose="020B0604020202020204" pitchFamily="34" charset="0"/>
                        </a:rPr>
                        <a:t>Peak Intensity</a:t>
                      </a:r>
                    </a:p>
                  </a:txBody>
                  <a:tcPr anchor="ctr">
                    <a:solidFill>
                      <a:schemeClr val="bg1"/>
                    </a:solidFill>
                  </a:tcPr>
                </a:tc>
                <a:tc>
                  <a:txBody>
                    <a:bodyPr/>
                    <a:lstStyle/>
                    <a:p>
                      <a:pPr algn="ctr"/>
                      <a:r>
                        <a:rPr lang="en-US" sz="1500" dirty="0">
                          <a:latin typeface="Arial" panose="020B0604020202020204" pitchFamily="34" charset="0"/>
                          <a:cs typeface="Arial" panose="020B0604020202020204" pitchFamily="34" charset="0"/>
                        </a:rPr>
                        <a:t>42,634</a:t>
                      </a:r>
                    </a:p>
                  </a:txBody>
                  <a:tcPr anchor="ctr">
                    <a:solidFill>
                      <a:schemeClr val="bg1"/>
                    </a:solidFill>
                  </a:tcPr>
                </a:tc>
                <a:extLst>
                  <a:ext uri="{0D108BD9-81ED-4DB2-BD59-A6C34878D82A}">
                    <a16:rowId xmlns:a16="http://schemas.microsoft.com/office/drawing/2014/main" val="513122816"/>
                  </a:ext>
                </a:extLst>
              </a:tr>
              <a:tr h="298027">
                <a:tc>
                  <a:txBody>
                    <a:bodyPr/>
                    <a:lstStyle/>
                    <a:p>
                      <a:pPr algn="ctr"/>
                      <a:r>
                        <a:rPr lang="en-US" sz="1500" dirty="0">
                          <a:latin typeface="Arial" panose="020B0604020202020204" pitchFamily="34" charset="0"/>
                          <a:cs typeface="Arial" panose="020B0604020202020204" pitchFamily="34" charset="0"/>
                        </a:rPr>
                        <a:t>Decline Start</a:t>
                      </a:r>
                    </a:p>
                  </a:txBody>
                  <a:tcPr anchor="ctr">
                    <a:solidFill>
                      <a:schemeClr val="bg1"/>
                    </a:solidFill>
                  </a:tcPr>
                </a:tc>
                <a:tc>
                  <a:txBody>
                    <a:bodyPr/>
                    <a:lstStyle/>
                    <a:p>
                      <a:pPr algn="ctr"/>
                      <a:r>
                        <a:rPr lang="en-US" sz="1500" dirty="0">
                          <a:latin typeface="Arial" panose="020B0604020202020204" pitchFamily="34" charset="0"/>
                          <a:cs typeface="Arial" panose="020B0604020202020204" pitchFamily="34" charset="0"/>
                        </a:rPr>
                        <a:t>2026-01-10 </a:t>
                      </a:r>
                    </a:p>
                  </a:txBody>
                  <a:tcPr anchor="ctr">
                    <a:solidFill>
                      <a:schemeClr val="bg1"/>
                    </a:solidFill>
                  </a:tcPr>
                </a:tc>
                <a:extLst>
                  <a:ext uri="{0D108BD9-81ED-4DB2-BD59-A6C34878D82A}">
                    <a16:rowId xmlns:a16="http://schemas.microsoft.com/office/drawing/2014/main" val="1795037923"/>
                  </a:ext>
                </a:extLst>
              </a:tr>
              <a:tr h="321395">
                <a:tc>
                  <a:txBody>
                    <a:bodyPr/>
                    <a:lstStyle/>
                    <a:p>
                      <a:pPr algn="ctr"/>
                      <a:r>
                        <a:rPr lang="en-US" sz="1500" dirty="0">
                          <a:latin typeface="Arial" panose="020B0604020202020204" pitchFamily="34" charset="0"/>
                          <a:cs typeface="Arial" panose="020B0604020202020204" pitchFamily="34" charset="0"/>
                        </a:rPr>
                        <a:t>Season End</a:t>
                      </a:r>
                    </a:p>
                  </a:txBody>
                  <a:tcPr anchor="ctr">
                    <a:solidFill>
                      <a:schemeClr val="bg1"/>
                    </a:solidFill>
                  </a:tcPr>
                </a:tc>
                <a:tc>
                  <a:txBody>
                    <a:bodyPr/>
                    <a:lstStyle/>
                    <a:p>
                      <a:pPr algn="ctr"/>
                      <a:r>
                        <a:rPr lang="en-US" sz="1500" dirty="0">
                          <a:latin typeface="Arial" panose="020B0604020202020204" pitchFamily="34" charset="0"/>
                          <a:cs typeface="Arial" panose="020B0604020202020204" pitchFamily="34" charset="0"/>
                        </a:rPr>
                        <a:t>2026-05-17</a:t>
                      </a:r>
                    </a:p>
                  </a:txBody>
                  <a:tcPr anchor="ctr">
                    <a:solidFill>
                      <a:schemeClr val="bg1"/>
                    </a:solidFill>
                  </a:tcPr>
                </a:tc>
                <a:extLst>
                  <a:ext uri="{0D108BD9-81ED-4DB2-BD59-A6C34878D82A}">
                    <a16:rowId xmlns:a16="http://schemas.microsoft.com/office/drawing/2014/main" val="755405245"/>
                  </a:ext>
                </a:extLst>
              </a:tr>
            </a:tbl>
          </a:graphicData>
        </a:graphic>
      </p:graphicFrame>
    </p:spTree>
    <p:extLst>
      <p:ext uri="{BB962C8B-B14F-4D97-AF65-F5344CB8AC3E}">
        <p14:creationId xmlns:p14="http://schemas.microsoft.com/office/powerpoint/2010/main" val="6796742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41D88-A453-7A2E-D427-ED9827506A27}"/>
              </a:ext>
            </a:extLst>
          </p:cNvPr>
          <p:cNvSpPr>
            <a:spLocks noGrp="1"/>
          </p:cNvSpPr>
          <p:nvPr>
            <p:ph type="title"/>
          </p:nvPr>
        </p:nvSpPr>
        <p:spPr>
          <a:xfrm>
            <a:off x="838200" y="1988"/>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Current Season vs Past Seasons</a:t>
            </a:r>
          </a:p>
        </p:txBody>
      </p:sp>
      <p:pic>
        <p:nvPicPr>
          <p:cNvPr id="4" name="Picture 3">
            <a:extLst>
              <a:ext uri="{FF2B5EF4-FFF2-40B4-BE49-F238E27FC236}">
                <a16:creationId xmlns:a16="http://schemas.microsoft.com/office/drawing/2014/main" id="{23D07374-307E-3228-0977-A04FF1F7BA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5099" y="1153597"/>
            <a:ext cx="8921802" cy="5353081"/>
          </a:xfrm>
          <a:prstGeom prst="rect">
            <a:avLst/>
          </a:prstGeom>
        </p:spPr>
      </p:pic>
    </p:spTree>
    <p:extLst>
      <p:ext uri="{BB962C8B-B14F-4D97-AF65-F5344CB8AC3E}">
        <p14:creationId xmlns:p14="http://schemas.microsoft.com/office/powerpoint/2010/main" val="209309718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C9D61-A5BF-995B-33ED-A3BB0380734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5D99F41-5E4D-F848-4B5D-5D1535845F49}"/>
              </a:ext>
            </a:extLst>
          </p:cNvPr>
          <p:cNvSpPr/>
          <p:nvPr/>
        </p:nvSpPr>
        <p:spPr>
          <a:xfrm>
            <a:off x="6391173" y="603985"/>
            <a:ext cx="2935705" cy="56500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5E13C1FA-2BC1-AD91-BA33-739149CF3CC8}"/>
              </a:ext>
            </a:extLst>
          </p:cNvPr>
          <p:cNvGraphicFramePr>
            <a:graphicFrameLocks noGrp="1"/>
          </p:cNvGraphicFramePr>
          <p:nvPr>
            <p:extLst>
              <p:ext uri="{D42A27DB-BD31-4B8C-83A1-F6EECF244321}">
                <p14:modId xmlns:p14="http://schemas.microsoft.com/office/powerpoint/2010/main" val="4181209280"/>
              </p:ext>
            </p:extLst>
          </p:nvPr>
        </p:nvGraphicFramePr>
        <p:xfrm>
          <a:off x="812934" y="1589285"/>
          <a:ext cx="10566132" cy="4634641"/>
        </p:xfrm>
        <a:graphic>
          <a:graphicData uri="http://schemas.openxmlformats.org/drawingml/2006/table">
            <a:tbl>
              <a:tblPr firstRow="1" bandRow="1">
                <a:tableStyleId>{5940675A-B579-460E-94D1-54222C63F5DA}</a:tableStyleId>
              </a:tblPr>
              <a:tblGrid>
                <a:gridCol w="3476472">
                  <a:extLst>
                    <a:ext uri="{9D8B030D-6E8A-4147-A177-3AD203B41FA5}">
                      <a16:colId xmlns:a16="http://schemas.microsoft.com/office/drawing/2014/main" val="1434720547"/>
                    </a:ext>
                  </a:extLst>
                </a:gridCol>
                <a:gridCol w="7089660">
                  <a:extLst>
                    <a:ext uri="{9D8B030D-6E8A-4147-A177-3AD203B41FA5}">
                      <a16:colId xmlns:a16="http://schemas.microsoft.com/office/drawing/2014/main" val="3002649944"/>
                    </a:ext>
                  </a:extLst>
                </a:gridCol>
              </a:tblGrid>
              <a:tr h="561943">
                <a:tc>
                  <a:txBody>
                    <a:bodyPr/>
                    <a:lstStyle/>
                    <a:p>
                      <a:pPr algn="ctr"/>
                      <a:r>
                        <a:rPr lang="en-US" sz="2000">
                          <a:latin typeface="Arial" panose="020B0604020202020204" pitchFamily="34" charset="0"/>
                          <a:cs typeface="Arial" panose="020B0604020202020204" pitchFamily="34" charset="0"/>
                        </a:rPr>
                        <a:t>Model</a:t>
                      </a:r>
                    </a:p>
                  </a:txBody>
                  <a:tcPr anchor="ctr">
                    <a:lnL w="12700" cap="flat" cmpd="sng" algn="ctr">
                      <a:solidFill>
                        <a:schemeClr val="bg1">
                          <a:lumMod val="6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ap="flat" cmpd="sng" algn="ctr">
                      <a:noFill/>
                      <a:prstDash val="solid"/>
                      <a:round/>
                      <a:headEnd type="none" w="med" len="med"/>
                      <a:tailEnd type="none" w="med" len="med"/>
                    </a:lnB>
                    <a:solidFill>
                      <a:srgbClr val="F7F0ED"/>
                    </a:solidFill>
                  </a:tcPr>
                </a:tc>
                <a:tc>
                  <a:txBody>
                    <a:bodyPr/>
                    <a:lstStyle/>
                    <a:p>
                      <a:pPr algn="ctr"/>
                      <a:r>
                        <a:rPr lang="en-US" sz="2000" dirty="0">
                          <a:latin typeface="Arial" panose="020B0604020202020204" pitchFamily="34" charset="0"/>
                          <a:cs typeface="Arial" panose="020B0604020202020204" pitchFamily="34" charset="0"/>
                        </a:rPr>
                        <a:t>ARIMA</a:t>
                      </a:r>
                    </a:p>
                  </a:txBody>
                  <a:tcPr anchor="ctr">
                    <a:lnL w="381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38100" cap="flat" cmpd="sng" algn="ctr">
                      <a:noFill/>
                      <a:prstDash val="solid"/>
                      <a:round/>
                      <a:headEnd type="none" w="med" len="med"/>
                      <a:tailEnd type="none" w="med" len="med"/>
                    </a:lnB>
                    <a:solidFill>
                      <a:srgbClr val="F7F0ED"/>
                    </a:solidFill>
                  </a:tcPr>
                </a:tc>
                <a:extLst>
                  <a:ext uri="{0D108BD9-81ED-4DB2-BD59-A6C34878D82A}">
                    <a16:rowId xmlns:a16="http://schemas.microsoft.com/office/drawing/2014/main" val="2476784792"/>
                  </a:ext>
                </a:extLst>
              </a:tr>
              <a:tr h="561943">
                <a:tc>
                  <a:txBody>
                    <a:bodyPr/>
                    <a:lstStyle/>
                    <a:p>
                      <a:pPr algn="ctr"/>
                      <a:r>
                        <a:rPr lang="en-US" sz="2000">
                          <a:latin typeface="Arial" panose="020B0604020202020204" pitchFamily="34" charset="0"/>
                          <a:cs typeface="Arial" panose="020B0604020202020204" pitchFamily="34" charset="0"/>
                        </a:rPr>
                        <a:t>“Current Week”</a:t>
                      </a:r>
                    </a:p>
                  </a:txBody>
                  <a:tcPr anchor="ctr">
                    <a:lnL w="12700" cap="flat" cmpd="sng" algn="ctr">
                      <a:solidFill>
                        <a:schemeClr val="bg1">
                          <a:lumMod val="6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solidFill>
                      <a:schemeClr val="bg1"/>
                    </a:solidFill>
                  </a:tcPr>
                </a:tc>
                <a:tc>
                  <a:txBody>
                    <a:bodyPr/>
                    <a:lstStyle/>
                    <a:p>
                      <a:pPr algn="ctr"/>
                      <a:r>
                        <a:rPr lang="en-US" sz="2000" dirty="0">
                          <a:latin typeface="Arial" panose="020B0604020202020204" pitchFamily="34" charset="0"/>
                          <a:cs typeface="Arial" panose="020B0604020202020204" pitchFamily="34" charset="0"/>
                        </a:rPr>
                        <a:t>Rolling Window (2025-09-27 through 2026-05-16)</a:t>
                      </a:r>
                    </a:p>
                  </a:txBody>
                  <a:tcPr anchor="ctr">
                    <a:lnL w="381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409619232"/>
                  </a:ext>
                </a:extLst>
              </a:tr>
              <a:tr h="561943">
                <a:tc>
                  <a:txBody>
                    <a:bodyPr/>
                    <a:lstStyle/>
                    <a:p>
                      <a:pPr algn="ctr"/>
                      <a:r>
                        <a:rPr lang="en-US" sz="2000">
                          <a:latin typeface="Arial" panose="020B0604020202020204" pitchFamily="34" charset="0"/>
                          <a:cs typeface="Arial" panose="020B0604020202020204" pitchFamily="34" charset="0"/>
                        </a:rPr>
                        <a:t>Target Data</a:t>
                      </a:r>
                    </a:p>
                  </a:txBody>
                  <a:tcPr anchor="ctr">
                    <a:lnL w="12700" cap="flat" cmpd="sng" algn="ctr">
                      <a:solidFill>
                        <a:schemeClr val="bg1">
                          <a:lumMod val="6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rgbClr val="F7F0ED"/>
                    </a:solidFill>
                  </a:tcPr>
                </a:tc>
                <a:tc>
                  <a:txBody>
                    <a:bodyPr/>
                    <a:lstStyle/>
                    <a:p>
                      <a:pPr algn="ctr"/>
                      <a:r>
                        <a:rPr lang="en-US" sz="2000">
                          <a:latin typeface="Arial" panose="020B0604020202020204" pitchFamily="34" charset="0"/>
                          <a:cs typeface="Arial" panose="020B0604020202020204" pitchFamily="34" charset="0"/>
                        </a:rPr>
                        <a:t>CDC NHSN Data</a:t>
                      </a:r>
                    </a:p>
                  </a:txBody>
                  <a:tcPr anchor="ctr">
                    <a:lnL w="381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rgbClr val="F7F0ED"/>
                    </a:solidFill>
                  </a:tcPr>
                </a:tc>
                <a:extLst>
                  <a:ext uri="{0D108BD9-81ED-4DB2-BD59-A6C34878D82A}">
                    <a16:rowId xmlns:a16="http://schemas.microsoft.com/office/drawing/2014/main" val="478015632"/>
                  </a:ext>
                </a:extLst>
              </a:tr>
              <a:tr h="561943">
                <a:tc>
                  <a:txBody>
                    <a:bodyPr/>
                    <a:lstStyle/>
                    <a:p>
                      <a:pPr algn="ctr"/>
                      <a:r>
                        <a:rPr lang="en-US" sz="2000">
                          <a:latin typeface="Arial" panose="020B0604020202020204" pitchFamily="34" charset="0"/>
                          <a:cs typeface="Arial" panose="020B0604020202020204" pitchFamily="34" charset="0"/>
                        </a:rPr>
                        <a:t>Auxiliary Data</a:t>
                      </a:r>
                    </a:p>
                  </a:txBody>
                  <a:tcPr anchor="ctr">
                    <a:lnL w="12700" cap="flat" cmpd="sng" algn="ctr">
                      <a:solidFill>
                        <a:schemeClr val="bg1">
                          <a:lumMod val="6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chemeClr val="bg1"/>
                    </a:solidFill>
                  </a:tcPr>
                </a:tc>
                <a:tc>
                  <a:txBody>
                    <a:bodyPr/>
                    <a:lstStyle/>
                    <a:p>
                      <a:pPr algn="ctr"/>
                      <a:r>
                        <a:rPr lang="en-US" sz="2000">
                          <a:latin typeface="Arial" panose="020B0604020202020204" pitchFamily="34" charset="0"/>
                          <a:cs typeface="Arial" panose="020B0604020202020204" pitchFamily="34" charset="0"/>
                        </a:rPr>
                        <a:t>None</a:t>
                      </a:r>
                    </a:p>
                  </a:txBody>
                  <a:tcPr anchor="ctr">
                    <a:lnL w="381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120553298"/>
                  </a:ext>
                </a:extLst>
              </a:tr>
              <a:tr h="561943">
                <a:tc>
                  <a:txBody>
                    <a:bodyPr/>
                    <a:lstStyle/>
                    <a:p>
                      <a:pPr algn="ctr"/>
                      <a:r>
                        <a:rPr lang="en-US" sz="2000">
                          <a:latin typeface="Arial" panose="020B0604020202020204" pitchFamily="34" charset="0"/>
                          <a:cs typeface="Arial" panose="020B0604020202020204" pitchFamily="34" charset="0"/>
                        </a:rPr>
                        <a:t>Outcome</a:t>
                      </a:r>
                    </a:p>
                  </a:txBody>
                  <a:tcPr anchor="ctr">
                    <a:lnL w="12700" cap="flat" cmpd="sng" algn="ctr">
                      <a:solidFill>
                        <a:schemeClr val="bg1">
                          <a:lumMod val="6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rgbClr val="F7F0ED"/>
                    </a:solidFill>
                  </a:tcPr>
                </a:tc>
                <a:tc>
                  <a:txBody>
                    <a:bodyPr/>
                    <a:lstStyle/>
                    <a:p>
                      <a:pPr algn="ctr"/>
                      <a:r>
                        <a:rPr lang="en-US" sz="2000" dirty="0">
                          <a:latin typeface="Arial" panose="020B0604020202020204" pitchFamily="34" charset="0"/>
                          <a:cs typeface="Arial" panose="020B0604020202020204" pitchFamily="34" charset="0"/>
                        </a:rPr>
                        <a:t>National Weekly Total Flu Admissions</a:t>
                      </a:r>
                    </a:p>
                  </a:txBody>
                  <a:tcPr anchor="ctr">
                    <a:lnL w="381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rgbClr val="F7F0ED"/>
                    </a:solidFill>
                  </a:tcPr>
                </a:tc>
                <a:extLst>
                  <a:ext uri="{0D108BD9-81ED-4DB2-BD59-A6C34878D82A}">
                    <a16:rowId xmlns:a16="http://schemas.microsoft.com/office/drawing/2014/main" val="2338356176"/>
                  </a:ext>
                </a:extLst>
              </a:tr>
              <a:tr h="561943">
                <a:tc>
                  <a:txBody>
                    <a:bodyPr/>
                    <a:lstStyle/>
                    <a:p>
                      <a:pPr algn="ctr"/>
                      <a:r>
                        <a:rPr lang="en-US" sz="2000" dirty="0">
                          <a:latin typeface="Arial" panose="020B0604020202020204" pitchFamily="34" charset="0"/>
                          <a:cs typeface="Arial" panose="020B0604020202020204" pitchFamily="34" charset="0"/>
                        </a:rPr>
                        <a:t>Training Period (Rolling Window)</a:t>
                      </a:r>
                    </a:p>
                  </a:txBody>
                  <a:tcPr anchor="ctr">
                    <a:lnL w="12700" cap="flat" cmpd="sng" algn="ctr">
                      <a:solidFill>
                        <a:schemeClr val="bg1">
                          <a:lumMod val="6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chemeClr val="bg1"/>
                    </a:solidFill>
                  </a:tcPr>
                </a:tc>
                <a:tc>
                  <a:txBody>
                    <a:bodyPr/>
                    <a:lstStyle/>
                    <a:p>
                      <a:pPr algn="ctr"/>
                      <a:r>
                        <a:rPr lang="en-US" sz="2000" dirty="0">
                          <a:latin typeface="Arial" panose="020B0604020202020204" pitchFamily="34" charset="0"/>
                          <a:cs typeface="Arial" panose="020B0604020202020204" pitchFamily="34" charset="0"/>
                        </a:rPr>
                        <a:t>2020-08-08 through 2026-05-16</a:t>
                      </a:r>
                    </a:p>
                  </a:txBody>
                  <a:tcPr anchor="ctr">
                    <a:lnL w="381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91855958"/>
                  </a:ext>
                </a:extLst>
              </a:tr>
              <a:tr h="561943">
                <a:tc>
                  <a:txBody>
                    <a:bodyPr/>
                    <a:lstStyle/>
                    <a:p>
                      <a:pPr algn="ctr"/>
                      <a:r>
                        <a:rPr lang="en-US" sz="2000">
                          <a:latin typeface="Arial" panose="020B0604020202020204" pitchFamily="34" charset="0"/>
                          <a:cs typeface="Arial" panose="020B0604020202020204" pitchFamily="34" charset="0"/>
                        </a:rPr>
                        <a:t>Testing Period</a:t>
                      </a:r>
                    </a:p>
                  </a:txBody>
                  <a:tcPr anchor="ctr">
                    <a:lnL w="12700" cap="flat" cmpd="sng" algn="ctr">
                      <a:solidFill>
                        <a:schemeClr val="bg1">
                          <a:lumMod val="6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rgbClr val="F7F0ED"/>
                    </a:solidFill>
                  </a:tcPr>
                </a:tc>
                <a:tc>
                  <a:txBody>
                    <a:bodyPr/>
                    <a:lstStyle/>
                    <a:p>
                      <a:pPr algn="ctr"/>
                      <a:r>
                        <a:rPr lang="en-US" sz="2000" dirty="0">
                          <a:latin typeface="Arial" panose="020B0604020202020204" pitchFamily="34" charset="0"/>
                          <a:cs typeface="Arial" panose="020B0604020202020204" pitchFamily="34" charset="0"/>
                        </a:rPr>
                        <a:t>2025-10-04 through 2026-06-06</a:t>
                      </a:r>
                    </a:p>
                  </a:txBody>
                  <a:tcPr anchor="ctr">
                    <a:lnL w="381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solidFill>
                      <a:srgbClr val="F7F0ED"/>
                    </a:solidFill>
                  </a:tcPr>
                </a:tc>
                <a:extLst>
                  <a:ext uri="{0D108BD9-81ED-4DB2-BD59-A6C34878D82A}">
                    <a16:rowId xmlns:a16="http://schemas.microsoft.com/office/drawing/2014/main" val="2358991831"/>
                  </a:ext>
                </a:extLst>
              </a:tr>
              <a:tr h="561943">
                <a:tc>
                  <a:txBody>
                    <a:bodyPr/>
                    <a:lstStyle/>
                    <a:p>
                      <a:pPr algn="ctr"/>
                      <a:r>
                        <a:rPr lang="en-US" sz="2000" dirty="0">
                          <a:latin typeface="Arial" panose="020B0604020202020204" pitchFamily="34" charset="0"/>
                          <a:cs typeface="Arial" panose="020B0604020202020204" pitchFamily="34" charset="0"/>
                        </a:rPr>
                        <a:t>Horizons</a:t>
                      </a:r>
                    </a:p>
                  </a:txBody>
                  <a:tcPr anchor="ctr">
                    <a:lnL w="12700" cap="flat" cmpd="sng" algn="ctr">
                      <a:solidFill>
                        <a:schemeClr val="bg1">
                          <a:lumMod val="6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a:r>
                        <a:rPr lang="en-US" sz="2000" dirty="0">
                          <a:latin typeface="Arial" panose="020B0604020202020204" pitchFamily="34" charset="0"/>
                          <a:cs typeface="Arial" panose="020B0604020202020204" pitchFamily="34" charset="0"/>
                        </a:rPr>
                        <a:t>1, 2, &amp; 3 Weeks</a:t>
                      </a:r>
                    </a:p>
                  </a:txBody>
                  <a:tcPr anchor="ctr">
                    <a:lnL w="381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381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66839881"/>
                  </a:ext>
                </a:extLst>
              </a:tr>
            </a:tbl>
          </a:graphicData>
        </a:graphic>
      </p:graphicFrame>
      <p:sp>
        <p:nvSpPr>
          <p:cNvPr id="3" name="Title 2">
            <a:extLst>
              <a:ext uri="{FF2B5EF4-FFF2-40B4-BE49-F238E27FC236}">
                <a16:creationId xmlns:a16="http://schemas.microsoft.com/office/drawing/2014/main" id="{D6A085FA-4060-0D64-450D-EA96F6278FE4}"/>
              </a:ext>
            </a:extLst>
          </p:cNvPr>
          <p:cNvSpPr>
            <a:spLocks noGrp="1"/>
          </p:cNvSpPr>
          <p:nvPr>
            <p:ph type="title"/>
          </p:nvPr>
        </p:nvSpPr>
        <p:spPr>
          <a:xfrm>
            <a:off x="680223" y="94537"/>
            <a:ext cx="10850137" cy="1325563"/>
          </a:xfrm>
        </p:spPr>
        <p:txBody>
          <a:bodyPr>
            <a:normAutofit/>
          </a:bodyPr>
          <a:lstStyle/>
          <a:p>
            <a:pPr algn="ctr"/>
            <a:r>
              <a:rPr lang="en-US" sz="4000" b="1" dirty="0">
                <a:solidFill>
                  <a:srgbClr val="7030A0"/>
                </a:solidFill>
                <a:latin typeface="Arial" panose="020B0604020202020204" pitchFamily="34" charset="0"/>
                <a:cs typeface="Arial" panose="020B0604020202020204" pitchFamily="34" charset="0"/>
              </a:rPr>
              <a:t>First Pass: Model Building and Forecasting</a:t>
            </a:r>
          </a:p>
        </p:txBody>
      </p:sp>
    </p:spTree>
    <p:extLst>
      <p:ext uri="{BB962C8B-B14F-4D97-AF65-F5344CB8AC3E}">
        <p14:creationId xmlns:p14="http://schemas.microsoft.com/office/powerpoint/2010/main" val="32539966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F9BFC4C-3732-B855-57BF-9F1853E6E6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90500"/>
            <a:ext cx="11430000" cy="6477000"/>
          </a:xfrm>
          <a:prstGeom prst="rect">
            <a:avLst/>
          </a:prstGeom>
        </p:spPr>
      </p:pic>
    </p:spTree>
    <p:extLst>
      <p:ext uri="{BB962C8B-B14F-4D97-AF65-F5344CB8AC3E}">
        <p14:creationId xmlns:p14="http://schemas.microsoft.com/office/powerpoint/2010/main" val="10597461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852CD7-2976-1F3F-D89B-89ED542F24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790" y="457194"/>
            <a:ext cx="10058420" cy="5943612"/>
          </a:xfrm>
          <a:prstGeom prst="rect">
            <a:avLst/>
          </a:prstGeom>
        </p:spPr>
      </p:pic>
    </p:spTree>
    <p:extLst>
      <p:ext uri="{BB962C8B-B14F-4D97-AF65-F5344CB8AC3E}">
        <p14:creationId xmlns:p14="http://schemas.microsoft.com/office/powerpoint/2010/main" val="243390906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7DB72-D167-0A45-A6FB-0F07EEBE9998}"/>
              </a:ext>
            </a:extLst>
          </p:cNvPr>
          <p:cNvSpPr>
            <a:spLocks noGrp="1"/>
          </p:cNvSpPr>
          <p:nvPr>
            <p:ph type="title"/>
          </p:nvPr>
        </p:nvSpPr>
        <p:spPr>
          <a:xfrm>
            <a:off x="838200" y="162994"/>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Forecast (Testing Period) Evaluation</a:t>
            </a:r>
          </a:p>
        </p:txBody>
      </p:sp>
      <p:graphicFrame>
        <p:nvGraphicFramePr>
          <p:cNvPr id="4" name="Table 0">
            <a:extLst>
              <a:ext uri="{FF2B5EF4-FFF2-40B4-BE49-F238E27FC236}">
                <a16:creationId xmlns:a16="http://schemas.microsoft.com/office/drawing/2014/main" id="{E2784FC2-B74F-26B2-6D65-4E3A8200CF23}"/>
              </a:ext>
            </a:extLst>
          </p:cNvPr>
          <p:cNvGraphicFramePr>
            <a:graphicFrameLocks noGrp="1"/>
          </p:cNvGraphicFramePr>
          <p:nvPr>
            <p:extLst>
              <p:ext uri="{D42A27DB-BD31-4B8C-83A1-F6EECF244321}">
                <p14:modId xmlns:p14="http://schemas.microsoft.com/office/powerpoint/2010/main" val="1691215444"/>
              </p:ext>
            </p:extLst>
          </p:nvPr>
        </p:nvGraphicFramePr>
        <p:xfrm>
          <a:off x="1048175" y="4500763"/>
          <a:ext cx="9768389" cy="1737360"/>
        </p:xfrm>
        <a:graphic>
          <a:graphicData uri="http://schemas.openxmlformats.org/drawingml/2006/table">
            <a:tbl>
              <a:tblPr/>
              <a:tblGrid>
                <a:gridCol w="1351390">
                  <a:extLst>
                    <a:ext uri="{9D8B030D-6E8A-4147-A177-3AD203B41FA5}">
                      <a16:colId xmlns:a16="http://schemas.microsoft.com/office/drawing/2014/main" val="20000"/>
                    </a:ext>
                  </a:extLst>
                </a:gridCol>
                <a:gridCol w="3213285">
                  <a:extLst>
                    <a:ext uri="{9D8B030D-6E8A-4147-A177-3AD203B41FA5}">
                      <a16:colId xmlns:a16="http://schemas.microsoft.com/office/drawing/2014/main" val="20002"/>
                    </a:ext>
                  </a:extLst>
                </a:gridCol>
                <a:gridCol w="3080404">
                  <a:extLst>
                    <a:ext uri="{9D8B030D-6E8A-4147-A177-3AD203B41FA5}">
                      <a16:colId xmlns:a16="http://schemas.microsoft.com/office/drawing/2014/main" val="20005"/>
                    </a:ext>
                  </a:extLst>
                </a:gridCol>
                <a:gridCol w="2123310">
                  <a:extLst>
                    <a:ext uri="{9D8B030D-6E8A-4147-A177-3AD203B41FA5}">
                      <a16:colId xmlns:a16="http://schemas.microsoft.com/office/drawing/2014/main" val="20008"/>
                    </a:ext>
                  </a:extLst>
                </a:gridCol>
              </a:tblGrid>
              <a:tr h="347472">
                <a:tc>
                  <a:txBody>
                    <a:bodyPr/>
                    <a:lstStyle/>
                    <a:p>
                      <a:pPr algn="ctr"/>
                      <a:r>
                        <a:rPr lang="en-US" sz="1800" b="1" dirty="0">
                          <a:latin typeface="Arial" panose="020B0604020202020204" pitchFamily="34" charset="0"/>
                          <a:cs typeface="Arial" panose="020B0604020202020204" pitchFamily="34" charset="0"/>
                        </a:rPr>
                        <a:t>Horizon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F4F8"/>
                    </a:solidFill>
                  </a:tcPr>
                </a:tc>
                <a:tc>
                  <a:txBody>
                    <a:bodyPr/>
                    <a:lstStyle/>
                    <a:p>
                      <a:pPr algn="ctr"/>
                      <a:r>
                        <a:rPr lang="en-US" sz="1800" b="1" dirty="0">
                          <a:latin typeface="Arial" panose="020B0604020202020204" pitchFamily="34" charset="0"/>
                          <a:cs typeface="Arial" panose="020B0604020202020204" pitchFamily="34" charset="0"/>
                        </a:rPr>
                        <a:t>WIS (Range)</a:t>
                      </a:r>
                      <a:endParaRPr sz="1800" b="1"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F4F8"/>
                    </a:solidFill>
                  </a:tcPr>
                </a:tc>
                <a:tc>
                  <a:txBody>
                    <a:bodyPr/>
                    <a:lstStyle/>
                    <a:p>
                      <a:pPr marL="0" indent="0" algn="ctr">
                        <a:buNone/>
                      </a:pPr>
                      <a:r>
                        <a:rPr lang="en-US" sz="1800" b="1" dirty="0">
                          <a:solidFill>
                            <a:srgbClr val="1A1A1A"/>
                          </a:solidFill>
                          <a:latin typeface="Arial" panose="020B0604020202020204" pitchFamily="34" charset="0"/>
                          <a:ea typeface="Courier New" pitchFamily="34" charset="-122"/>
                          <a:cs typeface="Arial" panose="020B0604020202020204" pitchFamily="34" charset="0"/>
                        </a:rPr>
                        <a:t>MAE (Range)</a:t>
                      </a:r>
                      <a:endParaRPr lang="en-US" sz="1800" b="1"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F4F8"/>
                    </a:solidFill>
                  </a:tcPr>
                </a:tc>
                <a:tc>
                  <a:txBody>
                    <a:bodyPr/>
                    <a:lstStyle/>
                    <a:p>
                      <a:r>
                        <a:rPr lang="en-US" sz="1800" b="1" dirty="0">
                          <a:latin typeface="Arial" panose="020B0604020202020204" pitchFamily="34" charset="0"/>
                          <a:cs typeface="Arial" panose="020B0604020202020204" pitchFamily="34" charset="0"/>
                        </a:rPr>
                        <a:t>95% PI Coverage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F4F8"/>
                    </a:solidFill>
                  </a:tcPr>
                </a:tc>
                <a:extLst>
                  <a:ext uri="{0D108BD9-81ED-4DB2-BD59-A6C34878D82A}">
                    <a16:rowId xmlns:a16="http://schemas.microsoft.com/office/drawing/2014/main" val="10001"/>
                  </a:ext>
                </a:extLst>
              </a:tr>
              <a:tr h="457200">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1</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1529.8 (312.5 – 10129.1)</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1954.2 (16 – 11505)</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0.88</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2</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3493.9 (532.3 – 23364.3)</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4407.7 (34 – 26148)</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0.85</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3</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4862.8 (705.1 – 36917.7)</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6102.2 (99 – 41058)</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800" dirty="0">
                          <a:solidFill>
                            <a:srgbClr val="1A1A1A"/>
                          </a:solidFill>
                          <a:latin typeface="Arial" panose="020B0604020202020204" pitchFamily="34" charset="0"/>
                          <a:ea typeface="Courier New" pitchFamily="34" charset="-122"/>
                          <a:cs typeface="Arial" panose="020B0604020202020204" pitchFamily="34" charset="0"/>
                        </a:rPr>
                        <a:t>0.85</a:t>
                      </a:r>
                      <a:endParaRPr lang="en-US" sz="1800" dirty="0">
                        <a:latin typeface="Arial" panose="020B0604020202020204" pitchFamily="34" charset="0"/>
                        <a:ea typeface="Courier New"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Body Bullets">
            <a:extLst>
              <a:ext uri="{FF2B5EF4-FFF2-40B4-BE49-F238E27FC236}">
                <a16:creationId xmlns:a16="http://schemas.microsoft.com/office/drawing/2014/main" id="{9832255D-3EA6-41F5-A4AE-4462A179ECB9}"/>
              </a:ext>
            </a:extLst>
          </p:cNvPr>
          <p:cNvSpPr txBox="1"/>
          <p:nvPr/>
        </p:nvSpPr>
        <p:spPr>
          <a:xfrm>
            <a:off x="933651" y="1488557"/>
            <a:ext cx="10202778" cy="2739211"/>
          </a:xfrm>
          <a:prstGeom prst="rect">
            <a:avLst/>
          </a:prstGeom>
          <a:noFill/>
        </p:spPr>
        <p:txBody>
          <a:bodyPr vertOverflow="overflow" vert="horz" wrap="square" rtlCol="0" anchor="t">
            <a:spAutoFit/>
          </a:bodyPr>
          <a:lstStyle/>
          <a:p>
            <a:pPr marL="285750" indent="-285750">
              <a:spcAft>
                <a:spcPts val="600"/>
              </a:spcAft>
              <a:buClr>
                <a:schemeClr val="tx1"/>
              </a:buClr>
              <a:buFont typeface="Arial"/>
              <a:buChar char="•"/>
            </a:pPr>
            <a:r>
              <a:rPr lang="en-US" sz="2300" dirty="0">
                <a:solidFill>
                  <a:srgbClr val="333333"/>
                </a:solidFill>
                <a:latin typeface="Arial"/>
                <a:cs typeface="Arial"/>
              </a:rPr>
              <a:t>Evaluation tells us how much we can trust a forecast. By comparing predictions against what actually happened, we can see which models are reliable and where they tend to go wrong.</a:t>
            </a:r>
          </a:p>
          <a:p>
            <a:pPr marL="285750" indent="-285750">
              <a:spcAft>
                <a:spcPts val="600"/>
              </a:spcAft>
              <a:buClr>
                <a:schemeClr val="tx1"/>
              </a:buClr>
              <a:buFont typeface="Arial"/>
              <a:buChar char="•"/>
            </a:pPr>
            <a:r>
              <a:rPr lang="en-US" sz="2300" dirty="0">
                <a:solidFill>
                  <a:srgbClr val="333333"/>
                </a:solidFill>
                <a:latin typeface="Arial"/>
                <a:cs typeface="Arial"/>
              </a:rPr>
              <a:t>The table below shows each metric averaged across all forecast periods (the separate windows of time we made forecasts for), so every number summarizes performance over many forecasts, not just one. </a:t>
            </a:r>
          </a:p>
          <a:p>
            <a:pPr marL="285750" indent="-285750">
              <a:spcAft>
                <a:spcPts val="600"/>
              </a:spcAft>
              <a:buClr>
                <a:schemeClr val="tx1"/>
              </a:buClr>
              <a:buFont typeface="Arial"/>
              <a:buChar char="•"/>
            </a:pPr>
            <a:r>
              <a:rPr lang="en-US" sz="2300" dirty="0">
                <a:solidFill>
                  <a:srgbClr val="333333"/>
                </a:solidFill>
                <a:latin typeface="Arial"/>
                <a:cs typeface="Arial"/>
              </a:rPr>
              <a:t>Testing period range: </a:t>
            </a:r>
            <a:r>
              <a:rPr lang="en-US" sz="2300" dirty="0">
                <a:solidFill>
                  <a:srgbClr val="1A1A1A"/>
                </a:solidFill>
                <a:latin typeface="Arial" pitchFamily="34" charset="0"/>
                <a:ea typeface="Arial" pitchFamily="34" charset="-122"/>
                <a:cs typeface="Arial" pitchFamily="34" charset="-120"/>
              </a:rPr>
              <a:t>2025-10-04  →  2026-06-06</a:t>
            </a:r>
            <a:endParaRPr lang="en-US" sz="2300" dirty="0"/>
          </a:p>
        </p:txBody>
      </p:sp>
    </p:spTree>
    <p:extLst>
      <p:ext uri="{BB962C8B-B14F-4D97-AF65-F5344CB8AC3E}">
        <p14:creationId xmlns:p14="http://schemas.microsoft.com/office/powerpoint/2010/main" val="39656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A74AB5-8E2B-8C0B-D179-65A9C7E0C7E7}"/>
              </a:ext>
            </a:extLst>
          </p:cNvPr>
          <p:cNvPicPr>
            <a:picLocks noChangeAspect="1"/>
          </p:cNvPicPr>
          <p:nvPr/>
        </p:nvPicPr>
        <p:blipFill>
          <a:blip r:embed="rId3"/>
          <a:stretch>
            <a:fillRect/>
          </a:stretch>
        </p:blipFill>
        <p:spPr>
          <a:xfrm>
            <a:off x="1140535" y="881224"/>
            <a:ext cx="9910930" cy="5856459"/>
          </a:xfrm>
          <a:prstGeom prst="rect">
            <a:avLst/>
          </a:prstGeom>
        </p:spPr>
      </p:pic>
      <p:sp>
        <p:nvSpPr>
          <p:cNvPr id="2" name="Title 1">
            <a:extLst>
              <a:ext uri="{FF2B5EF4-FFF2-40B4-BE49-F238E27FC236}">
                <a16:creationId xmlns:a16="http://schemas.microsoft.com/office/drawing/2014/main" id="{E92598E5-74F7-F594-3111-625416529AAB}"/>
              </a:ext>
            </a:extLst>
          </p:cNvPr>
          <p:cNvSpPr>
            <a:spLocks noGrp="1"/>
          </p:cNvSpPr>
          <p:nvPr>
            <p:ph type="title"/>
          </p:nvPr>
        </p:nvSpPr>
        <p:spPr>
          <a:xfrm>
            <a:off x="0" y="-143548"/>
            <a:ext cx="121920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Refinement: Added Indicator </a:t>
            </a:r>
          </a:p>
        </p:txBody>
      </p:sp>
    </p:spTree>
    <p:extLst>
      <p:ext uri="{BB962C8B-B14F-4D97-AF65-F5344CB8AC3E}">
        <p14:creationId xmlns:p14="http://schemas.microsoft.com/office/powerpoint/2010/main" val="240095007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172F5-1EBC-666C-5335-F4FA466DE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A10A7A-77F9-86F0-C67C-A00C44DC0ACB}"/>
              </a:ext>
            </a:extLst>
          </p:cNvPr>
          <p:cNvSpPr>
            <a:spLocks noGrp="1"/>
          </p:cNvSpPr>
          <p:nvPr>
            <p:ph type="title"/>
          </p:nvPr>
        </p:nvSpPr>
        <p:spPr>
          <a:xfrm>
            <a:off x="0" y="-188340"/>
            <a:ext cx="121920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Refinement: Trying </a:t>
            </a:r>
            <a:r>
              <a:rPr lang="en-US" b="1" dirty="0" err="1">
                <a:solidFill>
                  <a:srgbClr val="7030A0"/>
                </a:solidFill>
                <a:latin typeface="Arial" panose="020B0604020202020204" pitchFamily="34" charset="0"/>
                <a:cs typeface="Arial" panose="020B0604020202020204" pitchFamily="34" charset="0"/>
              </a:rPr>
              <a:t>XGBoost</a:t>
            </a:r>
            <a:endParaRPr lang="en-US" b="1" dirty="0">
              <a:solidFill>
                <a:srgbClr val="7030A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38CC9CD-073C-69DB-556E-D270B2E95D6A}"/>
              </a:ext>
            </a:extLst>
          </p:cNvPr>
          <p:cNvPicPr>
            <a:picLocks noChangeAspect="1"/>
          </p:cNvPicPr>
          <p:nvPr/>
        </p:nvPicPr>
        <p:blipFill>
          <a:blip r:embed="rId3"/>
          <a:stretch>
            <a:fillRect/>
          </a:stretch>
        </p:blipFill>
        <p:spPr>
          <a:xfrm>
            <a:off x="1136521" y="840385"/>
            <a:ext cx="9918959" cy="5861203"/>
          </a:xfrm>
          <a:prstGeom prst="rect">
            <a:avLst/>
          </a:prstGeom>
        </p:spPr>
      </p:pic>
    </p:spTree>
    <p:extLst>
      <p:ext uri="{BB962C8B-B14F-4D97-AF65-F5344CB8AC3E}">
        <p14:creationId xmlns:p14="http://schemas.microsoft.com/office/powerpoint/2010/main" val="36609657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1398-217E-5EC5-3395-189D421D565D}"/>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4D2F07C3-F01B-29DA-96DC-5E399FF78184}"/>
              </a:ext>
            </a:extLst>
          </p:cNvPr>
          <p:cNvSpPr>
            <a:spLocks noGrp="1"/>
          </p:cNvSpPr>
          <p:nvPr>
            <p:ph type="title"/>
          </p:nvPr>
        </p:nvSpPr>
        <p:spPr>
          <a:xfrm>
            <a:off x="838200" y="250825"/>
            <a:ext cx="10515600" cy="1325563"/>
          </a:xfrm>
        </p:spPr>
        <p:txBody>
          <a:bodyPr>
            <a:normAutofit/>
          </a:bodyPr>
          <a:lstStyle/>
          <a:p>
            <a:pPr algn="ctr"/>
            <a:r>
              <a:rPr lang="en-US" b="1" dirty="0">
                <a:solidFill>
                  <a:srgbClr val="7030A0"/>
                </a:solidFill>
                <a:latin typeface="Arial" panose="020B0604020202020204" pitchFamily="34" charset="0"/>
                <a:cs typeface="Arial" panose="020B0604020202020204" pitchFamily="34" charset="0"/>
              </a:rPr>
              <a:t>Evaluation Example: 3-week Forecast</a:t>
            </a:r>
          </a:p>
        </p:txBody>
      </p:sp>
      <p:graphicFrame>
        <p:nvGraphicFramePr>
          <p:cNvPr id="14" name="Table">
            <a:extLst>
              <a:ext uri="{FF2B5EF4-FFF2-40B4-BE49-F238E27FC236}">
                <a16:creationId xmlns:a16="http://schemas.microsoft.com/office/drawing/2014/main" id="{7966681D-F39D-578F-4ECF-0FFA1AECC093}"/>
              </a:ext>
            </a:extLst>
          </p:cNvPr>
          <p:cNvGraphicFramePr>
            <a:graphicFrameLocks noGrp="1"/>
          </p:cNvGraphicFramePr>
          <p:nvPr/>
        </p:nvGraphicFramePr>
        <p:xfrm>
          <a:off x="1065276" y="3122321"/>
          <a:ext cx="10058400" cy="2482995"/>
        </p:xfrm>
        <a:graphic>
          <a:graphicData uri="http://schemas.openxmlformats.org/drawingml/2006/table">
            <a:tbl>
              <a:tblPr firstRow="1"/>
              <a:tblGrid>
                <a:gridCol w="1874520">
                  <a:extLst>
                    <a:ext uri="{9D8B030D-6E8A-4147-A177-3AD203B41FA5}">
                      <a16:colId xmlns:a16="http://schemas.microsoft.com/office/drawing/2014/main" val="20000"/>
                    </a:ext>
                  </a:extLst>
                </a:gridCol>
                <a:gridCol w="1608758">
                  <a:extLst>
                    <a:ext uri="{9D8B030D-6E8A-4147-A177-3AD203B41FA5}">
                      <a16:colId xmlns:a16="http://schemas.microsoft.com/office/drawing/2014/main" val="20001"/>
                    </a:ext>
                  </a:extLst>
                </a:gridCol>
                <a:gridCol w="2048842">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502782">
                <a:tc>
                  <a:txBody>
                    <a:bodyPr/>
                    <a:lstStyle/>
                    <a:p>
                      <a:pPr algn="ctr">
                        <a:spcAft>
                          <a:spcPts val="0"/>
                        </a:spcAft>
                        <a:buNone/>
                      </a:pPr>
                      <a:r>
                        <a:rPr lang="en-US" sz="1800" b="1" dirty="0">
                          <a:solidFill>
                            <a:srgbClr val="7030A0"/>
                          </a:solidFill>
                          <a:latin typeface="Arial" pitchFamily="34" charset="0"/>
                          <a:cs typeface="Arial" pitchFamily="34" charset="0"/>
                        </a:rPr>
                        <a:t>Change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Model</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Indicator</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WIS</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MAE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95% PI Coverage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tc>
                  <a:txBody>
                    <a:bodyPr/>
                    <a:lstStyle/>
                    <a:p>
                      <a:pPr algn="ctr">
                        <a:spcAft>
                          <a:spcPts val="0"/>
                        </a:spcAft>
                        <a:buNone/>
                      </a:pPr>
                      <a:r>
                        <a:rPr lang="en-US" sz="1800" b="1" dirty="0">
                          <a:solidFill>
                            <a:srgbClr val="7030A0"/>
                          </a:solidFill>
                          <a:latin typeface="Arial" pitchFamily="34" charset="0"/>
                          <a:cs typeface="Arial" pitchFamily="34" charset="0"/>
                        </a:rPr>
                        <a:t>Keep?</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E8E6F2"/>
                    </a:solidFill>
                  </a:tcPr>
                </a:tc>
                <a:extLst>
                  <a:ext uri="{0D108BD9-81ED-4DB2-BD59-A6C34878D82A}">
                    <a16:rowId xmlns:a16="http://schemas.microsoft.com/office/drawing/2014/main" val="10000"/>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Baseline</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ARIMA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4862.8</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6102.2</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85%</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a:t>
                      </a:r>
                    </a:p>
                  </a:txBody>
                  <a:tcPr marL="54864" marR="54864" marT="32004" marB="32004" anchor="ctr">
                    <a:lnL w="6350" cap="flat">
                      <a:solidFill>
                        <a:srgbClr val="C9C6D6"/>
                      </a:solidFill>
                    </a:lnL>
                    <a:lnR w="6350" cap="flat">
                      <a:solidFill>
                        <a:srgbClr val="C9C6D6"/>
                      </a:solidFill>
                    </a:lnR>
                    <a:lnT w="6350" cap="flat">
                      <a:solidFill>
                        <a:srgbClr val="C9C6D6"/>
                      </a:solidFill>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Leading Indicator</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fontAlgn="b">
                        <a:buNone/>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ARIMA</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chemeClr val="bg2">
                              <a:lumMod val="50000"/>
                            </a:schemeClr>
                          </a:solidFill>
                          <a:effectLst/>
                          <a:latin typeface="Arial" panose="020B0604020202020204" pitchFamily="34" charset="0"/>
                          <a:cs typeface="Arial" panose="020B0604020202020204" pitchFamily="34" charset="0"/>
                        </a:rPr>
                        <a:t>National WVAL</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4271.1</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5407.0</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91%</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a:solidFill>
                        <a:srgbClr val="C9C6D6"/>
                      </a:solidFill>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3449">
                <a:tc>
                  <a:txBody>
                    <a:bodyPr/>
                    <a:lstStyle/>
                    <a:p>
                      <a:pPr algn="ctr">
                        <a:spcAft>
                          <a:spcPts val="0"/>
                        </a:spcAft>
                        <a:buNone/>
                      </a:pPr>
                      <a:r>
                        <a:rPr lang="en-US" sz="1800" dirty="0">
                          <a:solidFill>
                            <a:srgbClr val="000000"/>
                          </a:solidFill>
                          <a:latin typeface="Arial" pitchFamily="34" charset="0"/>
                          <a:cs typeface="Arial" pitchFamily="34" charset="0"/>
                        </a:rPr>
                        <a:t>Model Swap </a:t>
                      </a:r>
                    </a:p>
                  </a:txBody>
                  <a:tcPr marL="54864" marR="54864" marT="32004" marB="32004" anchor="ctr">
                    <a:lnL w="6350" cap="flat">
                      <a:solidFill>
                        <a:srgbClr val="C9C6D6"/>
                      </a:solidFill>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err="1">
                          <a:solidFill>
                            <a:schemeClr val="bg2">
                              <a:lumMod val="50000"/>
                            </a:schemeClr>
                          </a:solidFill>
                          <a:latin typeface="Arial" pitchFamily="34" charset="0"/>
                          <a:cs typeface="Arial" pitchFamily="34" charset="0"/>
                        </a:rPr>
                        <a:t>XGBoost</a:t>
                      </a:r>
                      <a:endParaRPr lang="en-US" sz="1800" dirty="0">
                        <a:solidFill>
                          <a:schemeClr val="bg2">
                            <a:lumMod val="50000"/>
                          </a:schemeClr>
                        </a:solidFill>
                        <a:latin typeface="Arial" pitchFamily="34" charset="0"/>
                        <a:cs typeface="Arial" pitchFamily="34" charset="0"/>
                      </a:endParaRP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b="0" dirty="0">
                          <a:solidFill>
                            <a:schemeClr val="bg2">
                              <a:lumMod val="50000"/>
                            </a:schemeClr>
                          </a:solidFill>
                          <a:latin typeface="Arial" pitchFamily="34" charset="0"/>
                          <a:cs typeface="Arial" pitchFamily="34" charset="0"/>
                        </a:rPr>
                        <a:t>N/A</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2634.8</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4179</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91%</a:t>
                      </a:r>
                    </a:p>
                  </a:txBody>
                  <a:tcPr marL="54864" marR="54864" marT="32004" marB="32004" anchor="ctr">
                    <a:lnL w="6350" cap="flat" cmpd="sng" algn="ctr">
                      <a:solidFill>
                        <a:srgbClr val="C9C6D6"/>
                      </a:solidFill>
                      <a:prstDash val="solid"/>
                      <a:round/>
                      <a:headEnd type="none" w="med" len="med"/>
                      <a:tailEnd type="none" w="med" len="med"/>
                    </a:lnL>
                    <a:lnR w="6350" cap="flat" cmpd="sng" algn="ctr">
                      <a:solidFill>
                        <a:srgbClr val="C9C6D6"/>
                      </a:solidFill>
                      <a:prstDash val="solid"/>
                      <a:round/>
                      <a:headEnd type="none" w="med" len="med"/>
                      <a:tailEnd type="none" w="med" len="med"/>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tc>
                  <a:txBody>
                    <a:bodyPr/>
                    <a:lstStyle/>
                    <a:p>
                      <a:pPr algn="ctr">
                        <a:spcAft>
                          <a:spcPts val="0"/>
                        </a:spcAft>
                        <a:buNone/>
                      </a:pPr>
                      <a:r>
                        <a:rPr lang="en-US" sz="1800" dirty="0">
                          <a:solidFill>
                            <a:schemeClr val="bg2">
                              <a:lumMod val="50000"/>
                            </a:schemeClr>
                          </a:solidFill>
                          <a:latin typeface="Arial" pitchFamily="34" charset="0"/>
                          <a:cs typeface="Arial" pitchFamily="34" charset="0"/>
                        </a:rPr>
                        <a:t>[ Y / N ]</a:t>
                      </a:r>
                    </a:p>
                  </a:txBody>
                  <a:tcPr marL="54864" marR="54864" marT="32004" marB="32004" anchor="ctr">
                    <a:lnL w="6350" cap="flat" cmpd="sng" algn="ctr">
                      <a:solidFill>
                        <a:srgbClr val="C9C6D6"/>
                      </a:solidFill>
                      <a:prstDash val="solid"/>
                      <a:round/>
                      <a:headEnd type="none" w="med" len="med"/>
                      <a:tailEnd type="none" w="med" len="med"/>
                    </a:lnL>
                    <a:lnR w="6350" cap="flat">
                      <a:solidFill>
                        <a:srgbClr val="C9C6D6"/>
                      </a:solidFill>
                    </a:lnR>
                    <a:lnT w="6350" cap="flat" cmpd="sng" algn="ctr">
                      <a:solidFill>
                        <a:srgbClr val="C9C6D6"/>
                      </a:solidFill>
                      <a:prstDash val="solid"/>
                      <a:round/>
                      <a:headEnd type="none" w="med" len="med"/>
                      <a:tailEnd type="none" w="med" len="med"/>
                    </a:lnT>
                    <a:lnB w="6350" cap="flat" cmpd="sng" algn="ctr">
                      <a:solidFill>
                        <a:srgbClr val="C9C6D6"/>
                      </a:solidFill>
                      <a:prstDash val="solid"/>
                      <a:round/>
                      <a:headEnd type="none" w="med" len="med"/>
                      <a:tailEnd type="none" w="med" len="med"/>
                    </a:lnB>
                    <a:solidFill>
                      <a:srgbClr val="FFFFFF"/>
                    </a:solidFill>
                  </a:tcPr>
                </a:tc>
                <a:extLst>
                  <a:ext uri="{0D108BD9-81ED-4DB2-BD59-A6C34878D82A}">
                    <a16:rowId xmlns:a16="http://schemas.microsoft.com/office/drawing/2014/main" val="2969345242"/>
                  </a:ext>
                </a:extLst>
              </a:tr>
            </a:tbl>
          </a:graphicData>
        </a:graphic>
      </p:graphicFrame>
      <p:sp>
        <p:nvSpPr>
          <p:cNvPr id="2" name="TextBox 1">
            <a:extLst>
              <a:ext uri="{FF2B5EF4-FFF2-40B4-BE49-F238E27FC236}">
                <a16:creationId xmlns:a16="http://schemas.microsoft.com/office/drawing/2014/main" id="{72F3AF4F-D7AC-62B9-8F73-9D965127372C}"/>
              </a:ext>
            </a:extLst>
          </p:cNvPr>
          <p:cNvSpPr txBox="1"/>
          <p:nvPr/>
        </p:nvSpPr>
        <p:spPr>
          <a:xfrm>
            <a:off x="1065276" y="1572053"/>
            <a:ext cx="10058400" cy="1107996"/>
          </a:xfrm>
          <a:prstGeom prst="rect">
            <a:avLst/>
          </a:prstGeom>
          <a:noFill/>
        </p:spPr>
        <p:txBody>
          <a:bodyPr wrap="square" rtlCol="0" anchor="ctr" anchorCtr="0">
            <a:spAutoFit/>
          </a:bodyPr>
          <a:lstStyle/>
          <a:p>
            <a:pPr marL="34290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Suppose our interest lies in the 3-week ahead forecasts</a:t>
            </a:r>
          </a:p>
          <a:p>
            <a:pPr marL="34290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We measure each change against the current model using common evaluation metrics, then decide whether to keep it or revert.</a:t>
            </a:r>
          </a:p>
        </p:txBody>
      </p:sp>
      <p:sp>
        <p:nvSpPr>
          <p:cNvPr id="4" name="TextBox 3">
            <a:extLst>
              <a:ext uri="{FF2B5EF4-FFF2-40B4-BE49-F238E27FC236}">
                <a16:creationId xmlns:a16="http://schemas.microsoft.com/office/drawing/2014/main" id="{F6C30F4F-A063-7874-7396-A7D524170D8F}"/>
              </a:ext>
            </a:extLst>
          </p:cNvPr>
          <p:cNvSpPr txBox="1"/>
          <p:nvPr/>
        </p:nvSpPr>
        <p:spPr>
          <a:xfrm>
            <a:off x="1215482" y="6077415"/>
            <a:ext cx="10058399" cy="646331"/>
          </a:xfrm>
          <a:prstGeom prst="rect">
            <a:avLst/>
          </a:prstGeom>
          <a:noFill/>
        </p:spPr>
        <p:txBody>
          <a:bodyPr wrap="square" rtlCol="0">
            <a:spAutoFit/>
          </a:bodyPr>
          <a:lstStyle/>
          <a:p>
            <a:r>
              <a:rPr lang="en-US" dirty="0"/>
              <a:t>These evaluation metrics were averaged across all 3-week forecasts over the testing period. Are these sufficient? Are there other metrics we could have used?</a:t>
            </a:r>
          </a:p>
        </p:txBody>
      </p:sp>
    </p:spTree>
    <p:extLst>
      <p:ext uri="{BB962C8B-B14F-4D97-AF65-F5344CB8AC3E}">
        <p14:creationId xmlns:p14="http://schemas.microsoft.com/office/powerpoint/2010/main" val="172946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PRESGUID" val="e43d132f-8040-4b3e-af8d-685aa9f77b9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C48B6FA-4805-4099-8373-9267B0FAFCD5}">
  <we:reference id="wa200010001" version="1.0.0.1" store="en-US" storeType="OMEX"/>
  <we:alternateReferences>
    <we:reference id="WA200010001" version="1.0.0.1" store="WA200010001" storeType="OMEX"/>
  </we:alternateReferences>
  <we:properties>
    <we:property name="claude.fileId" value="&quot;924de883-cd54-4d79-ba71-af97518d84c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2924</TotalTime>
  <Words>6692</Words>
  <Application>Microsoft Office PowerPoint</Application>
  <PresentationFormat>Widescreen</PresentationFormat>
  <Paragraphs>932</Paragraphs>
  <Slides>97</Slides>
  <Notes>73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97</vt:i4>
      </vt:variant>
    </vt:vector>
  </HeadingPairs>
  <TitlesOfParts>
    <vt:vector size="105" baseType="lpstr">
      <vt:lpstr>Aptos</vt:lpstr>
      <vt:lpstr>Aptos Display</vt:lpstr>
      <vt:lpstr>Arial</vt:lpstr>
      <vt:lpstr>Calibri</vt:lpstr>
      <vt:lpstr>Cambria</vt:lpstr>
      <vt:lpstr>Cambria Math</vt:lpstr>
      <vt:lpstr>Courier New</vt:lpstr>
      <vt:lpstr>Office Theme</vt:lpstr>
      <vt:lpstr>Human–AI Teaming Approach to Infectious Disease Modeling</vt:lpstr>
      <vt:lpstr>Introductions</vt:lpstr>
      <vt:lpstr>Course Outline</vt:lpstr>
      <vt:lpstr>Goals of the Course</vt:lpstr>
      <vt:lpstr>Life Secret: Instructors don’t know everything</vt:lpstr>
      <vt:lpstr>Infectious Disease Forecasting</vt:lpstr>
      <vt:lpstr>Infectious Disease Forecasting: Outline</vt:lpstr>
      <vt:lpstr>Background</vt:lpstr>
      <vt:lpstr>Components of Infectious Disease Models </vt:lpstr>
      <vt:lpstr>Building a Forecast</vt:lpstr>
      <vt:lpstr>PowerPoint Presentation</vt:lpstr>
      <vt:lpstr>PowerPoint Presentation</vt:lpstr>
      <vt:lpstr>PowerPoint Presentation</vt:lpstr>
      <vt:lpstr>PowerPoint Presentation</vt:lpstr>
      <vt:lpstr>PowerPoint Presentation</vt:lpstr>
      <vt:lpstr>PowerPoint Presentation</vt:lpstr>
      <vt:lpstr>Evaluation Example: Error</vt:lpstr>
      <vt:lpstr>PowerPoint Presentation</vt:lpstr>
      <vt:lpstr>Projections Terminology: Horizons </vt:lpstr>
      <vt:lpstr>Projections Terminology </vt:lpstr>
      <vt:lpstr>Projections Terminology </vt:lpstr>
      <vt:lpstr>Infectious Disease Models</vt:lpstr>
      <vt:lpstr>Overview </vt:lpstr>
      <vt:lpstr>Example Model Overview(s)</vt:lpstr>
      <vt:lpstr>AutoRegressive Model</vt:lpstr>
      <vt:lpstr>Integrated Model</vt:lpstr>
      <vt:lpstr>Example: Stationary Time series </vt:lpstr>
      <vt:lpstr>Moving Average Models </vt:lpstr>
      <vt:lpstr>ARIMA Models</vt:lpstr>
      <vt:lpstr>Parameters {p, d, q}</vt:lpstr>
      <vt:lpstr>Hyndman-Khandakar Algorithm</vt:lpstr>
      <vt:lpstr>Example Model Overview(s)</vt:lpstr>
      <vt:lpstr>Generalized Additive Models </vt:lpstr>
      <vt:lpstr>What are splines?</vt:lpstr>
      <vt:lpstr>History of Splines</vt:lpstr>
      <vt:lpstr>PowerPoint Presentation</vt:lpstr>
      <vt:lpstr>PowerPoint Presentation</vt:lpstr>
      <vt:lpstr>Example Model Overview(s)</vt:lpstr>
      <vt:lpstr>XGBoost: Boosting Intuition</vt:lpstr>
      <vt:lpstr>XGBoost for Forecasting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Model Overview(s)</vt:lpstr>
      <vt:lpstr>PowerPoint Presentation</vt:lpstr>
      <vt:lpstr>PowerPoint Presentation</vt:lpstr>
      <vt:lpstr>PowerPoint Presentation</vt:lpstr>
      <vt:lpstr>Strengths, Weaknesses, and When to Use Each Model</vt:lpstr>
      <vt:lpstr>Incorporating Predictors</vt:lpstr>
      <vt:lpstr>ARIMA: Incorporating Predictors</vt:lpstr>
      <vt:lpstr>PowerPoint Presentation</vt:lpstr>
      <vt:lpstr>PowerPoint Presentation</vt:lpstr>
      <vt:lpstr>PowerPoint Presentation</vt:lpstr>
      <vt:lpstr>PowerPoint Presentation</vt:lpstr>
      <vt:lpstr>Mean Absolute Error (MAE)</vt:lpstr>
      <vt:lpstr>PowerPoint Presentation</vt:lpstr>
      <vt:lpstr>95% Prediction Interval (PI) Coverage </vt:lpstr>
      <vt:lpstr>PowerPoint Presentation</vt:lpstr>
      <vt:lpstr>Interval Score (IS)</vt:lpstr>
      <vt:lpstr>Weighted Interval Score (WIS)</vt:lpstr>
      <vt:lpstr>PowerPoint Presentation</vt:lpstr>
      <vt:lpstr>Model Refinement: What Can We Refine?</vt:lpstr>
      <vt:lpstr>Model Refinement: General Strategy</vt:lpstr>
      <vt:lpstr>Working Example CDC NHSN Hospital Respiratory Data</vt:lpstr>
      <vt:lpstr>Overview</vt:lpstr>
      <vt:lpstr>PowerPoint Presentation</vt:lpstr>
      <vt:lpstr>PowerPoint Presentation</vt:lpstr>
      <vt:lpstr>PowerPoint Presentation</vt:lpstr>
      <vt:lpstr>National Trend, Current Season Highlighted </vt:lpstr>
      <vt:lpstr>Current Season vs Past Seasons</vt:lpstr>
      <vt:lpstr>First Pass: Model Building and Forecasting</vt:lpstr>
      <vt:lpstr>PowerPoint Presentation</vt:lpstr>
      <vt:lpstr>PowerPoint Presentation</vt:lpstr>
      <vt:lpstr>Forecast (Testing Period) Evaluation</vt:lpstr>
      <vt:lpstr>Refinement: Added Indicator </vt:lpstr>
      <vt:lpstr>Refinement: Trying XGBoost</vt:lpstr>
      <vt:lpstr>Evaluation Example: 3-week Forecast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54</cp:revision>
  <dcterms:created xsi:type="dcterms:W3CDTF">2025-10-30T12:49:29Z</dcterms:created>
  <dcterms:modified xsi:type="dcterms:W3CDTF">2026-07-22T18:19:47Z</dcterms:modified>
</cp:coreProperties>
</file>