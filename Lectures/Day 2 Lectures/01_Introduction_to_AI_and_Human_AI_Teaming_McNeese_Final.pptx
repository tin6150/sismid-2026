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2"/>
  </p:notesMasterIdLst>
  <p:sldIdLst>
    <p:sldId id="256" r:id="rId2"/>
    <p:sldId id="292" r:id="rId3"/>
    <p:sldId id="257" r:id="rId4"/>
    <p:sldId id="258" r:id="rId5"/>
    <p:sldId id="291" r:id="rId6"/>
    <p:sldId id="259" r:id="rId7"/>
    <p:sldId id="260" r:id="rId8"/>
    <p:sldId id="261" r:id="rId9"/>
    <p:sldId id="262" r:id="rId10"/>
    <p:sldId id="263" r:id="rId11"/>
    <p:sldId id="264" r:id="rId12"/>
    <p:sldId id="265" r:id="rId13"/>
    <p:sldId id="266" r:id="rId14"/>
    <p:sldId id="269" r:id="rId15"/>
    <p:sldId id="290" r:id="rId16"/>
    <p:sldId id="270" r:id="rId17"/>
    <p:sldId id="271" r:id="rId18"/>
    <p:sldId id="272" r:id="rId19"/>
    <p:sldId id="273" r:id="rId20"/>
    <p:sldId id="274" r:id="rId21"/>
    <p:sldId id="275" r:id="rId22"/>
    <p:sldId id="276" r:id="rId23"/>
    <p:sldId id="277" r:id="rId24"/>
    <p:sldId id="278" r:id="rId25"/>
    <p:sldId id="279" r:id="rId26"/>
    <p:sldId id="284" r:id="rId27"/>
    <p:sldId id="286" r:id="rId28"/>
    <p:sldId id="287" r:id="rId29"/>
    <p:sldId id="288" r:id="rId30"/>
    <p:sldId id="289" r:id="rId31"/>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41816" autoAdjust="0"/>
  </p:normalViewPr>
  <p:slideViewPr>
    <p:cSldViewPr snapToGrid="0" snapToObjects="1">
      <p:cViewPr varScale="1">
        <p:scale>
          <a:sx n="32" d="100"/>
          <a:sy n="32" d="100"/>
        </p:scale>
        <p:origin x="261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LANK">
    <p:bg>
      <p:bgPr>
        <a:solidFill>
          <a:srgbClr val="FFFFFF"/>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a:spcBef>
          <a:spcPct val="0"/>
        </a:spcBef>
        <a:buNone/>
        <a:defRPr sz="4400" kern="1200">
          <a:solidFill>
            <a:schemeClr val="tx1"/>
          </a:solidFill>
          <a:latin typeface="+mj-lt"/>
          <a:ea typeface="+mj-lt"/>
          <a:cs typeface="+mj-lt"/>
        </a:defRPr>
      </a:lvl1pPr>
    </p:titleStyle>
    <p:bodyStyle>
      <a:lvl1pPr marL="342900" indent="-342900" algn="l" defTabSz="914400">
        <a:spcBef>
          <a:spcPct val="20000"/>
        </a:spcBef>
        <a:buFont typeface="Arial"/>
        <a:buChar char="•"/>
        <a:defRPr sz="3200" kern="1200">
          <a:solidFill>
            <a:schemeClr val="tx1"/>
          </a:solidFill>
          <a:latin typeface="+mn-lt"/>
          <a:ea typeface="+mn-lt"/>
          <a:cs typeface="+mn-lt"/>
        </a:defRPr>
      </a:lvl1pPr>
      <a:lvl2pPr marL="742950" indent="-285750" algn="l" defTabSz="914400">
        <a:spcBef>
          <a:spcPct val="20000"/>
        </a:spcBef>
        <a:buFont typeface="Arial"/>
        <a:buChar char="–"/>
        <a:defRPr sz="2800" kern="1200">
          <a:solidFill>
            <a:schemeClr val="tx1"/>
          </a:solidFill>
          <a:latin typeface="+mn-lt"/>
          <a:ea typeface="+mn-lt"/>
          <a:cs typeface="+mn-lt"/>
        </a:defRPr>
      </a:lvl2pPr>
      <a:lvl3pPr marL="1143000" indent="-228600" algn="l" defTabSz="914400">
        <a:spcBef>
          <a:spcPct val="20000"/>
        </a:spcBef>
        <a:buFont typeface="Arial"/>
        <a:buChar char="•"/>
        <a:defRPr sz="2400" kern="1200">
          <a:solidFill>
            <a:schemeClr val="tx1"/>
          </a:solidFill>
          <a:latin typeface="+mn-lt"/>
          <a:ea typeface="+mn-lt"/>
          <a:cs typeface="+mn-lt"/>
        </a:defRPr>
      </a:lvl3pPr>
      <a:lvl4pPr marL="1600200" indent="-228600" algn="l" defTabSz="914400">
        <a:spcBef>
          <a:spcPct val="20000"/>
        </a:spcBef>
        <a:buFont typeface="Arial"/>
        <a:buChar char="–"/>
        <a:defRPr sz="2000" kern="1200">
          <a:solidFill>
            <a:schemeClr val="tx1"/>
          </a:solidFill>
          <a:latin typeface="+mn-lt"/>
          <a:ea typeface="+mn-lt"/>
          <a:cs typeface="+mn-lt"/>
        </a:defRPr>
      </a:lvl4pPr>
      <a:lvl5pPr marL="2057400" indent="-228600" algn="l" defTabSz="914400">
        <a:spcBef>
          <a:spcPct val="20000"/>
        </a:spcBef>
        <a:buFont typeface="Arial"/>
        <a:buChar char="»"/>
        <a:defRPr sz="2000" kern="1200">
          <a:solidFill>
            <a:schemeClr val="tx1"/>
          </a:solidFill>
          <a:latin typeface="+mn-lt"/>
          <a:ea typeface="+mn-lt"/>
          <a:cs typeface="+mn-lt"/>
        </a:defRPr>
      </a:lvl5pPr>
      <a:lvl6pPr marL="2514600" indent="-228600" algn="l" defTabSz="914400">
        <a:spcBef>
          <a:spcPct val="20000"/>
        </a:spcBef>
        <a:buFont typeface="Arial"/>
        <a:buChar char="•"/>
        <a:defRPr sz="2000" kern="1200">
          <a:solidFill>
            <a:schemeClr val="tx1"/>
          </a:solidFill>
          <a:latin typeface="+mn-lt"/>
          <a:ea typeface="+mn-lt"/>
          <a:cs typeface="+mn-lt"/>
        </a:defRPr>
      </a:lvl6pPr>
      <a:lvl7pPr marL="2971800" indent="-228600" algn="l" defTabSz="914400">
        <a:spcBef>
          <a:spcPct val="20000"/>
        </a:spcBef>
        <a:buFont typeface="Arial"/>
        <a:buChar char="•"/>
        <a:defRPr sz="2000" kern="1200">
          <a:solidFill>
            <a:schemeClr val="tx1"/>
          </a:solidFill>
          <a:latin typeface="+mn-lt"/>
          <a:ea typeface="+mn-lt"/>
          <a:cs typeface="+mn-lt"/>
        </a:defRPr>
      </a:lvl7pPr>
      <a:lvl8pPr marL="3429000" indent="-228600" algn="l" defTabSz="914400">
        <a:spcBef>
          <a:spcPct val="20000"/>
        </a:spcBef>
        <a:buFont typeface="Arial"/>
        <a:buChar char="•"/>
        <a:defRPr sz="2000" kern="1200">
          <a:solidFill>
            <a:schemeClr val="tx1"/>
          </a:solidFill>
          <a:latin typeface="+mn-lt"/>
          <a:ea typeface="+mn-lt"/>
          <a:cs typeface="+mn-lt"/>
        </a:defRPr>
      </a:lvl8pPr>
      <a:lvl9pPr marL="3886200" indent="-228600" algn="l" defTabSz="914400">
        <a:spcBef>
          <a:spcPct val="20000"/>
        </a:spcBef>
        <a:buFont typeface="Arial"/>
        <a:buChar char="•"/>
        <a:defRPr sz="20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57BD235-4C52-4B84-8FF5-6986DB1F8AF6}"/>
              </a:ext>
            </a:extLst>
          </p:cNvPr>
          <p:cNvSpPr>
            <a:spLocks noGrp="1"/>
          </p:cNvSpPr>
          <p:nvPr/>
        </p:nvSpPr>
        <p:spPr>
          <a:xfrm>
            <a:off x="1864650" y="896452"/>
            <a:ext cx="7899400" cy="1417320"/>
          </a:xfrm>
          <a:prstGeom prst="rect">
            <a:avLst/>
          </a:prstGeom>
          <a:noFill/>
        </p:spPr>
        <p:txBody>
          <a:bodyPr wrap="square" lIns="0" tIns="0" rIns="0" bIns="0" anchor="ctr">
            <a:normAutofit fontScale="86300" lnSpcReduction="20000"/>
          </a:bodyPr>
          <a:lstStyle/>
          <a:p>
            <a:pPr marL="0" indent="0" algn="ctr">
              <a:buNone/>
            </a:pPr>
            <a:r>
              <a:rPr sz="4400" b="1" dirty="0">
                <a:solidFill>
                  <a:srgbClr val="0B1F3A"/>
                </a:solidFill>
                <a:latin typeface="Aptos Display"/>
                <a:ea typeface="Aptos Display"/>
                <a:cs typeface="Aptos Display"/>
              </a:rPr>
              <a:t>Human First:</a:t>
            </a:r>
          </a:p>
          <a:p>
            <a:pPr marL="0" indent="0" algn="ctr">
              <a:buNone/>
            </a:pPr>
            <a:r>
              <a:rPr sz="4400" b="1" dirty="0">
                <a:solidFill>
                  <a:srgbClr val="0B1F3A"/>
                </a:solidFill>
                <a:latin typeface="Aptos Display"/>
                <a:ea typeface="Aptos Display"/>
                <a:cs typeface="Aptos Display"/>
              </a:rPr>
              <a:t>Introduction to AI and Human–AI Teaming</a:t>
            </a:r>
          </a:p>
        </p:txBody>
      </p:sp>
      <p:sp>
        <p:nvSpPr>
          <p:cNvPr id="10" name="Shape 8">
            <a:extLst>
              <a:ext uri="{FF2B5EF4-FFF2-40B4-BE49-F238E27FC236}">
                <a16:creationId xmlns:a16="http://schemas.microsoft.com/office/drawing/2014/main" id="{25966BA0-547E-4976-B6C8-BA3BE337737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11" name="Text 9">
            <a:extLst>
              <a:ext uri="{FF2B5EF4-FFF2-40B4-BE49-F238E27FC236}">
                <a16:creationId xmlns:a16="http://schemas.microsoft.com/office/drawing/2014/main" id="{7B6B9816-9A4A-4F56-B414-4480C5583100}"/>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B7280"/>
                </a:solidFill>
                <a:latin typeface="Aptos"/>
                <a:ea typeface="Aptos"/>
                <a:cs typeface="Aptos"/>
              </a:rPr>
              <a:t>AI + Infectious Disease Forecasting • Nathan J. McNeese</a:t>
            </a:r>
          </a:p>
        </p:txBody>
      </p:sp>
      <p:sp>
        <p:nvSpPr>
          <p:cNvPr id="12" name="Text 10">
            <a:extLst>
              <a:ext uri="{FF2B5EF4-FFF2-40B4-BE49-F238E27FC236}">
                <a16:creationId xmlns:a16="http://schemas.microsoft.com/office/drawing/2014/main" id="{283A47F6-7C23-44F3-BF03-968EEB277BB6}"/>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B7280"/>
                </a:solidFill>
                <a:latin typeface="Aptos"/>
                <a:ea typeface="Aptos"/>
                <a:cs typeface="Aptos"/>
              </a:rPr>
              <a:t>1</a:t>
            </a:r>
          </a:p>
        </p:txBody>
      </p:sp>
      <p:sp>
        <p:nvSpPr>
          <p:cNvPr id="13" name="Subtitle 1">
            <a:extLst>
              <a:ext uri="{FF2B5EF4-FFF2-40B4-BE49-F238E27FC236}">
                <a16:creationId xmlns:a16="http://schemas.microsoft.com/office/drawing/2014/main" id="{082785D0-DAE6-9B83-F1A4-23E3497DC7A3}"/>
              </a:ext>
            </a:extLst>
          </p:cNvPr>
          <p:cNvSpPr>
            <a:spLocks noGrp="1"/>
          </p:cNvSpPr>
          <p:nvPr/>
        </p:nvSpPr>
        <p:spPr>
          <a:xfrm>
            <a:off x="3743450" y="2656000"/>
            <a:ext cx="4332721" cy="531126"/>
          </a:xfrm>
          <a:prstGeom prst="rect">
            <a:avLst/>
          </a:prstGeom>
        </p:spPr>
        <p:txBody>
          <a:bodyPr>
            <a:normAutofit lnSpcReduction="10000"/>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ctr">
              <a:buNone/>
            </a:pPr>
            <a:r>
              <a:rPr sz="3200" b="1"/>
              <a:t>Nathan J. McNeese</a:t>
            </a:r>
          </a:p>
        </p:txBody>
      </p:sp>
      <p:sp>
        <p:nvSpPr>
          <p:cNvPr id="14" name="Text Placeholder 2">
            <a:extLst>
              <a:ext uri="{FF2B5EF4-FFF2-40B4-BE49-F238E27FC236}">
                <a16:creationId xmlns:a16="http://schemas.microsoft.com/office/drawing/2014/main" id="{5B4D80AF-6667-8C60-8CE0-D897929010DC}"/>
              </a:ext>
            </a:extLst>
          </p:cNvPr>
          <p:cNvSpPr>
            <a:spLocks noGrp="1"/>
          </p:cNvSpPr>
          <p:nvPr/>
        </p:nvSpPr>
        <p:spPr>
          <a:xfrm>
            <a:off x="2372360" y="3186524"/>
            <a:ext cx="6883981" cy="1278593"/>
          </a:xfrm>
          <a:prstGeom prst="rect">
            <a:avLst/>
          </a:prstGeom>
          <a:ln>
            <a:noFill/>
          </a:ln>
        </p:spPr>
        <p:txBody>
          <a:bodyPr>
            <a:normAutofit/>
          </a:bodyPr>
          <a:lst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a:pPr marL="0" indent="0" algn="ctr">
              <a:spcBef>
                <a:spcPts val="0"/>
              </a:spcBef>
              <a:buNone/>
            </a:pPr>
            <a:r>
              <a:rPr sz="1600"/>
              <a:t>Associate Vice President for Technology &amp; Innovation</a:t>
            </a:r>
          </a:p>
          <a:p>
            <a:pPr marL="0" indent="0" algn="ctr">
              <a:spcBef>
                <a:spcPts val="0"/>
              </a:spcBef>
              <a:buNone/>
            </a:pPr>
            <a:r>
              <a:rPr sz="1600"/>
              <a:t>McQueen Quattlebaum Endowed Professor</a:t>
            </a:r>
          </a:p>
          <a:p>
            <a:pPr marL="0" indent="0" algn="ctr">
              <a:spcBef>
                <a:spcPts val="0"/>
              </a:spcBef>
              <a:buNone/>
            </a:pPr>
            <a:r>
              <a:rPr sz="1600"/>
              <a:t>Founding Director, Clemson Center for Human-AI Interaction, Collaboration, &amp; Teaming</a:t>
            </a:r>
          </a:p>
          <a:p>
            <a:pPr marL="0" indent="0" algn="ctr">
              <a:spcBef>
                <a:spcPts val="0"/>
              </a:spcBef>
              <a:buNone/>
            </a:pPr>
            <a:r>
              <a:rPr sz="1600"/>
              <a:t>Founding Director, TRACE Research Group</a:t>
            </a:r>
          </a:p>
        </p:txBody>
      </p:sp>
      <p:pic>
        <p:nvPicPr>
          <p:cNvPr id="24" name="Picture 14"/>
          <p:cNvPicPr>
            <a:picLocks noChangeAspect="1"/>
          </p:cNvPicPr>
          <p:nvPr/>
        </p:nvPicPr>
        <p:blipFill>
          <a:blip r:embed="rId3"/>
          <a:stretch>
            <a:fillRect/>
          </a:stretch>
        </p:blipFill>
        <p:spPr>
          <a:xfrm>
            <a:off x="9641740" y="5338977"/>
            <a:ext cx="2214431" cy="830412"/>
          </a:xfrm>
          <a:prstGeom prst="rect">
            <a:avLst/>
          </a:prstGeom>
        </p:spPr>
      </p:pic>
      <p:pic>
        <p:nvPicPr>
          <p:cNvPr id="25" name="Picture 2"/>
          <p:cNvPicPr>
            <a:picLocks noChangeAspect="1"/>
          </p:cNvPicPr>
          <p:nvPr/>
        </p:nvPicPr>
        <p:blipFill>
          <a:blip r:embed="rId4"/>
          <a:srcRect/>
          <a:stretch>
            <a:fillRect/>
          </a:stretch>
        </p:blipFill>
        <p:spPr>
          <a:xfrm>
            <a:off x="146133" y="5011342"/>
            <a:ext cx="1407746" cy="1407746"/>
          </a:xfrm>
          <a:prstGeom prst="rect">
            <a:avLst/>
          </a:prstGeom>
        </p:spPr>
      </p:pic>
      <p:pic>
        <p:nvPicPr>
          <p:cNvPr id="26" name="Graphic 16"/>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00463" y="5149574"/>
            <a:ext cx="2018694" cy="1209218"/>
          </a:xfrm>
          <a:prstGeom prst="rect">
            <a:avLst/>
          </a:prstGeom>
        </p:spPr>
      </p:pic>
    </p:spTree>
    <p:extLst>
      <p:ext uri="{BB962C8B-B14F-4D97-AF65-F5344CB8AC3E}">
        <p14:creationId xmlns:p14="http://schemas.microsoft.com/office/powerpoint/2010/main" val="10664487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FDA491-FBC8-3C63-4730-64460248266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3EDB8D3C-24A8-DE19-C558-C942C277349F}"/>
              </a:ext>
            </a:extLst>
          </p:cNvPr>
          <p:cNvSpPr>
            <a:spLocks noGrp="1"/>
          </p:cNvSpPr>
          <p:nvPr/>
        </p:nvSpPr>
        <p:spPr>
          <a:xfrm>
            <a:off x="1098368" y="2504803"/>
            <a:ext cx="9995263" cy="1566454"/>
          </a:xfrm>
          <a:prstGeom prst="rect">
            <a:avLst/>
          </a:prstGeom>
          <a:noFill/>
        </p:spPr>
        <p:txBody>
          <a:bodyPr wrap="square" lIns="0" tIns="0" rIns="0" bIns="0" anchor="ctr">
            <a:normAutofit fontScale="97500"/>
          </a:bodyPr>
          <a:lstStyle/>
          <a:p>
            <a:pPr marL="0" indent="0" algn="ctr">
              <a:buNone/>
            </a:pPr>
            <a:r>
              <a:rPr lang="en-US" sz="4000" b="1" dirty="0">
                <a:solidFill>
                  <a:srgbClr val="102544"/>
                </a:solidFill>
                <a:latin typeface="Aptos Display"/>
                <a:ea typeface="Aptos Display"/>
                <a:cs typeface="Aptos Display"/>
              </a:rPr>
              <a:t>Why this Approach?</a:t>
            </a:r>
            <a:endParaRPr sz="4000" b="1" dirty="0">
              <a:solidFill>
                <a:srgbClr val="102544"/>
              </a:solidFill>
              <a:latin typeface="Aptos Display"/>
              <a:ea typeface="Aptos Display"/>
              <a:cs typeface="Aptos Display"/>
            </a:endParaRPr>
          </a:p>
        </p:txBody>
      </p:sp>
    </p:spTree>
    <p:extLst>
      <p:ext uri="{BB962C8B-B14F-4D97-AF65-F5344CB8AC3E}">
        <p14:creationId xmlns:p14="http://schemas.microsoft.com/office/powerpoint/2010/main" val="52084787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98C29C-30A9-4DE1-BD65-A0AAC7C1E71C}"/>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1 | WHY THIS MATTERS</a:t>
            </a:r>
          </a:p>
        </p:txBody>
      </p:sp>
      <p:sp>
        <p:nvSpPr>
          <p:cNvPr id="3" name="Text 1">
            <a:extLst>
              <a:ext uri="{FF2B5EF4-FFF2-40B4-BE49-F238E27FC236}">
                <a16:creationId xmlns:a16="http://schemas.microsoft.com/office/drawing/2014/main" id="{CCAE0A4A-5E42-46D1-89E3-20781DD30D3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Forecasting involves more than models</a:t>
            </a:r>
          </a:p>
        </p:txBody>
      </p:sp>
      <p:sp>
        <p:nvSpPr>
          <p:cNvPr id="4" name="Shape 2">
            <a:extLst>
              <a:ext uri="{FF2B5EF4-FFF2-40B4-BE49-F238E27FC236}">
                <a16:creationId xmlns:a16="http://schemas.microsoft.com/office/drawing/2014/main" id="{6C4CE499-DD41-4401-9EB7-F87D6A05681E}"/>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A4EFA3B-DD9D-4496-BF65-C20903362965}"/>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EA039F5-6EDE-4AA5-82AF-7A805947E4E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4D5478E2-296B-4A30-A965-284B0D5C1A2E}"/>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a:t>
            </a:r>
          </a:p>
        </p:txBody>
      </p:sp>
      <p:sp>
        <p:nvSpPr>
          <p:cNvPr id="8" name="Text 6">
            <a:extLst>
              <a:ext uri="{FF2B5EF4-FFF2-40B4-BE49-F238E27FC236}">
                <a16:creationId xmlns:a16="http://schemas.microsoft.com/office/drawing/2014/main" id="{3F7EB291-ADF4-42F0-9E0C-411AD591308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A forecast is not simply a model output. It is the product of a public-health question, surveillance data, software, assumptions, scientific judgment, and an eventual decision.</a:t>
            </a:r>
          </a:p>
        </p:txBody>
      </p:sp>
      <p:sp>
        <p:nvSpPr>
          <p:cNvPr id="9" name="Text 7">
            <a:extLst>
              <a:ext uri="{FF2B5EF4-FFF2-40B4-BE49-F238E27FC236}">
                <a16:creationId xmlns:a16="http://schemas.microsoft.com/office/drawing/2014/main" id="{2BB4975A-C425-4CBA-A566-8D12C9DEF406}"/>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sz="1875" b="1" dirty="0">
                <a:solidFill>
                  <a:srgbClr val="2563EB"/>
                </a:solidFill>
                <a:latin typeface="Aptos Display"/>
                <a:ea typeface="Aptos Display"/>
                <a:cs typeface="Aptos Display"/>
              </a:rPr>
              <a:t>The forecasting system—not the AI alone—is what must perform.</a:t>
            </a:r>
          </a:p>
        </p:txBody>
      </p:sp>
      <p:sp>
        <p:nvSpPr>
          <p:cNvPr id="10" name="Text 8">
            <a:extLst>
              <a:ext uri="{FF2B5EF4-FFF2-40B4-BE49-F238E27FC236}">
                <a16:creationId xmlns:a16="http://schemas.microsoft.com/office/drawing/2014/main" id="{3A20E314-5AF3-4976-B5B5-9D8C5C26000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AI can help clarify the forecasting question and surface missing context.</a:t>
            </a:r>
          </a:p>
          <a:p>
            <a:pPr marL="0" indent="0">
              <a:buNone/>
            </a:pPr>
            <a:r>
              <a:rPr sz="2025">
                <a:solidFill>
                  <a:srgbClr val="4B5563"/>
                </a:solidFill>
                <a:latin typeface="Aptos"/>
                <a:ea typeface="Aptos"/>
                <a:cs typeface="Aptos"/>
              </a:rPr>
              <a:t>• It can audit data and draft reproducible cleaning code.</a:t>
            </a:r>
          </a:p>
          <a:p>
            <a:pPr marL="0" indent="0">
              <a:buNone/>
            </a:pPr>
            <a:r>
              <a:rPr sz="2025">
                <a:solidFill>
                  <a:srgbClr val="4B5563"/>
                </a:solidFill>
                <a:latin typeface="Aptos"/>
                <a:ea typeface="Aptos"/>
                <a:cs typeface="Aptos"/>
              </a:rPr>
              <a:t>• It can help build, compare, and document candidate models.</a:t>
            </a:r>
          </a:p>
          <a:p>
            <a:pPr marL="0" indent="0">
              <a:buNone/>
            </a:pPr>
            <a:r>
              <a:rPr sz="2025">
                <a:solidFill>
                  <a:srgbClr val="4B5563"/>
                </a:solidFill>
                <a:latin typeface="Aptos"/>
                <a:ea typeface="Aptos"/>
                <a:cs typeface="Aptos"/>
              </a:rPr>
              <a:t>• Humans must validate assumptions, intermediate outputs, and uncertainty.</a:t>
            </a:r>
          </a:p>
          <a:p>
            <a:pPr marL="0" indent="0">
              <a:buNone/>
            </a:pPr>
            <a:r>
              <a:rPr sz="2025">
                <a:solidFill>
                  <a:srgbClr val="4B5563"/>
                </a:solidFill>
                <a:latin typeface="Aptos"/>
                <a:ea typeface="Aptos"/>
                <a:cs typeface="Aptos"/>
              </a:rPr>
              <a:t>• The final scientific claim and decision remain human responsibilities.</a:t>
            </a:r>
          </a:p>
        </p:txBody>
      </p:sp>
    </p:spTree>
    <p:extLst>
      <p:ext uri="{BB962C8B-B14F-4D97-AF65-F5344CB8AC3E}">
        <p14:creationId xmlns:p14="http://schemas.microsoft.com/office/powerpoint/2010/main" val="13597349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B7515F0-4349-4433-9FC8-DDE743E1BD01}"/>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1 | WHY THIS MATTERS</a:t>
            </a:r>
          </a:p>
        </p:txBody>
      </p:sp>
      <p:sp>
        <p:nvSpPr>
          <p:cNvPr id="3" name="Text 1">
            <a:extLst>
              <a:ext uri="{FF2B5EF4-FFF2-40B4-BE49-F238E27FC236}">
                <a16:creationId xmlns:a16="http://schemas.microsoft.com/office/drawing/2014/main" id="{83C5DEFB-2E89-404C-9541-7764E90EF347}"/>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Forecasting is a sociotechnical system</a:t>
            </a:r>
          </a:p>
        </p:txBody>
      </p:sp>
      <p:sp>
        <p:nvSpPr>
          <p:cNvPr id="4" name="Shape 2">
            <a:extLst>
              <a:ext uri="{FF2B5EF4-FFF2-40B4-BE49-F238E27FC236}">
                <a16:creationId xmlns:a16="http://schemas.microsoft.com/office/drawing/2014/main" id="{975CE57B-B00C-43DC-B0AA-9A9F122F6130}"/>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8547C4B5-6E25-473B-BE52-AFBF0F834526}"/>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5C4CEC4E-4E55-4FF0-B7C2-055D2BBA1725}"/>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F007149E-570C-478C-93A1-3C1F01AD5245}"/>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3</a:t>
            </a:r>
          </a:p>
        </p:txBody>
      </p:sp>
      <p:sp>
        <p:nvSpPr>
          <p:cNvPr id="8" name="Text 6">
            <a:extLst>
              <a:ext uri="{FF2B5EF4-FFF2-40B4-BE49-F238E27FC236}">
                <a16:creationId xmlns:a16="http://schemas.microsoft.com/office/drawing/2014/main" id="{42D1BF54-9257-48E3-A0AF-E44F756FE454}"/>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A forecast is created inside a larger network of technology, expertise, institutions, and decisions.</a:t>
            </a:r>
          </a:p>
        </p:txBody>
      </p:sp>
      <p:sp>
        <p:nvSpPr>
          <p:cNvPr id="9" name="Text 7">
            <a:extLst>
              <a:ext uri="{FF2B5EF4-FFF2-40B4-BE49-F238E27FC236}">
                <a16:creationId xmlns:a16="http://schemas.microsoft.com/office/drawing/2014/main" id="{BE9AA7BB-4414-4381-A7A5-BEAED59F0E1D}"/>
              </a:ext>
            </a:extLst>
          </p:cNvPr>
          <p:cNvSpPr>
            <a:spLocks noGrp="1"/>
          </p:cNvSpPr>
          <p:nvPr/>
        </p:nvSpPr>
        <p:spPr>
          <a:xfrm>
            <a:off x="960120" y="2194560"/>
            <a:ext cx="2971800" cy="1280160"/>
          </a:xfrm>
          <a:prstGeom prst="roundRect">
            <a:avLst/>
          </a:prstGeom>
          <a:solidFill>
            <a:srgbClr val="F0FDFA"/>
          </a:solidFill>
          <a:ln w="12700">
            <a:solidFill>
              <a:srgbClr val="A7F3D0"/>
            </a:solidFill>
          </a:ln>
        </p:spPr>
        <p:txBody>
          <a:bodyPr wrap="square" lIns="1905" tIns="1905" rIns="1905" bIns="1905" anchor="ctr">
            <a:noAutofit/>
          </a:bodyPr>
          <a:lstStyle/>
          <a:p>
            <a:pPr marL="0" indent="0" algn="ctr">
              <a:buNone/>
            </a:pPr>
            <a:r>
              <a:rPr sz="2025" b="1">
                <a:solidFill>
                  <a:srgbClr val="0B1F3A"/>
                </a:solidFill>
                <a:latin typeface="Aptos"/>
                <a:ea typeface="Aptos"/>
                <a:cs typeface="Aptos"/>
              </a:rPr>
              <a:t>Surveillance</a:t>
            </a:r>
          </a:p>
          <a:p>
            <a:pPr marL="0" indent="0" algn="ctr">
              <a:buNone/>
            </a:pPr>
            <a:r>
              <a:rPr sz="2025" b="1">
                <a:solidFill>
                  <a:srgbClr val="0B1F3A"/>
                </a:solidFill>
                <a:latin typeface="Aptos"/>
                <a:ea typeface="Aptos"/>
                <a:cs typeface="Aptos"/>
              </a:rPr>
              <a:t>data + reporting</a:t>
            </a:r>
          </a:p>
        </p:txBody>
      </p:sp>
      <p:sp>
        <p:nvSpPr>
          <p:cNvPr id="10" name="Text 8">
            <a:extLst>
              <a:ext uri="{FF2B5EF4-FFF2-40B4-BE49-F238E27FC236}">
                <a16:creationId xmlns:a16="http://schemas.microsoft.com/office/drawing/2014/main" id="{20A6AEB7-8844-4E80-9FDD-5157CC0FB2D1}"/>
              </a:ext>
            </a:extLst>
          </p:cNvPr>
          <p:cNvSpPr>
            <a:spLocks noGrp="1"/>
          </p:cNvSpPr>
          <p:nvPr/>
        </p:nvSpPr>
        <p:spPr>
          <a:xfrm>
            <a:off x="4315968" y="2450592"/>
            <a:ext cx="685800" cy="685800"/>
          </a:xfrm>
          <a:prstGeom prst="roundRect">
            <a:avLst/>
          </a:prstGeom>
          <a:solidFill>
            <a:srgbClr val="FFFFFF"/>
          </a:solidFill>
          <a:ln w="12700">
            <a:solidFill>
              <a:srgbClr val="FFFFFF"/>
            </a:solidFill>
          </a:ln>
        </p:spPr>
        <p:txBody>
          <a:bodyPr wrap="square" lIns="1905" tIns="1905" rIns="1905" bIns="1905" anchor="ctr">
            <a:normAutofit/>
          </a:bodyPr>
          <a:lstStyle/>
          <a:p>
            <a:pPr marL="0" indent="0" algn="ctr">
              <a:buNone/>
            </a:pPr>
            <a:r>
              <a:rPr sz="3200" b="1">
                <a:solidFill>
                  <a:srgbClr val="2563EB"/>
                </a:solidFill>
                <a:latin typeface="Aptos"/>
                <a:ea typeface="Aptos"/>
                <a:cs typeface="Aptos"/>
              </a:rPr>
              <a:t>+</a:t>
            </a:r>
          </a:p>
        </p:txBody>
      </p:sp>
      <p:sp>
        <p:nvSpPr>
          <p:cNvPr id="11" name="Text 9">
            <a:extLst>
              <a:ext uri="{FF2B5EF4-FFF2-40B4-BE49-F238E27FC236}">
                <a16:creationId xmlns:a16="http://schemas.microsoft.com/office/drawing/2014/main" id="{87858F24-251A-4DEA-9FE7-A783E60419CE}"/>
              </a:ext>
            </a:extLst>
          </p:cNvPr>
          <p:cNvSpPr>
            <a:spLocks noGrp="1"/>
          </p:cNvSpPr>
          <p:nvPr/>
        </p:nvSpPr>
        <p:spPr>
          <a:xfrm>
            <a:off x="5394960" y="2194560"/>
            <a:ext cx="2971800" cy="1280160"/>
          </a:xfrm>
          <a:prstGeom prst="roundRect">
            <a:avLst/>
          </a:prstGeom>
          <a:solidFill>
            <a:srgbClr val="EFF6FF"/>
          </a:solidFill>
          <a:ln w="12700">
            <a:solidFill>
              <a:srgbClr val="BFDBFE"/>
            </a:solidFill>
          </a:ln>
        </p:spPr>
        <p:txBody>
          <a:bodyPr wrap="square" lIns="1905" tIns="1905" rIns="1905" bIns="1905" anchor="ctr">
            <a:noAutofit/>
          </a:bodyPr>
          <a:lstStyle/>
          <a:p>
            <a:pPr marL="0" indent="0" algn="ctr">
              <a:buNone/>
            </a:pPr>
            <a:r>
              <a:rPr sz="2025" b="1">
                <a:solidFill>
                  <a:srgbClr val="0B1F3A"/>
                </a:solidFill>
                <a:latin typeface="Aptos"/>
                <a:ea typeface="Aptos"/>
                <a:cs typeface="Aptos"/>
              </a:rPr>
              <a:t>Models</a:t>
            </a:r>
          </a:p>
          <a:p>
            <a:pPr marL="0" indent="0" algn="ctr">
              <a:buNone/>
            </a:pPr>
            <a:r>
              <a:rPr sz="2025" b="1">
                <a:solidFill>
                  <a:srgbClr val="0B1F3A"/>
                </a:solidFill>
                <a:latin typeface="Aptos"/>
                <a:ea typeface="Aptos"/>
                <a:cs typeface="Aptos"/>
              </a:rPr>
              <a:t>code + assumptions</a:t>
            </a:r>
          </a:p>
        </p:txBody>
      </p:sp>
      <p:sp>
        <p:nvSpPr>
          <p:cNvPr id="12" name="Text 10">
            <a:extLst>
              <a:ext uri="{FF2B5EF4-FFF2-40B4-BE49-F238E27FC236}">
                <a16:creationId xmlns:a16="http://schemas.microsoft.com/office/drawing/2014/main" id="{033973CC-D04E-422B-941D-7BE6980FDA7B}"/>
              </a:ext>
            </a:extLst>
          </p:cNvPr>
          <p:cNvSpPr>
            <a:spLocks noGrp="1"/>
          </p:cNvSpPr>
          <p:nvPr/>
        </p:nvSpPr>
        <p:spPr>
          <a:xfrm>
            <a:off x="8823960" y="2194560"/>
            <a:ext cx="2514600" cy="1280160"/>
          </a:xfrm>
          <a:prstGeom prst="roundRect">
            <a:avLst/>
          </a:prstGeom>
          <a:solidFill>
            <a:srgbClr val="FFFBEB"/>
          </a:solidFill>
          <a:ln w="12700">
            <a:solidFill>
              <a:srgbClr val="FDE68A"/>
            </a:solidFill>
          </a:ln>
        </p:spPr>
        <p:txBody>
          <a:bodyPr wrap="square" lIns="1905" tIns="1905" rIns="1905" bIns="1905" anchor="ctr">
            <a:noAutofit/>
          </a:bodyPr>
          <a:lstStyle/>
          <a:p>
            <a:pPr marL="0" indent="0" algn="ctr">
              <a:buNone/>
            </a:pPr>
            <a:r>
              <a:rPr sz="2025" b="1">
                <a:solidFill>
                  <a:srgbClr val="0B1F3A"/>
                </a:solidFill>
                <a:latin typeface="Aptos"/>
                <a:ea typeface="Aptos"/>
                <a:cs typeface="Aptos"/>
              </a:rPr>
              <a:t>People</a:t>
            </a:r>
          </a:p>
          <a:p>
            <a:pPr marL="0" indent="0" algn="ctr">
              <a:buNone/>
            </a:pPr>
            <a:r>
              <a:rPr sz="2025" b="1">
                <a:solidFill>
                  <a:srgbClr val="0B1F3A"/>
                </a:solidFill>
                <a:latin typeface="Aptos"/>
                <a:ea typeface="Aptos"/>
                <a:cs typeface="Aptos"/>
              </a:rPr>
              <a:t>policy + decisions</a:t>
            </a:r>
          </a:p>
        </p:txBody>
      </p:sp>
      <p:sp>
        <p:nvSpPr>
          <p:cNvPr id="13" name="Text 11">
            <a:extLst>
              <a:ext uri="{FF2B5EF4-FFF2-40B4-BE49-F238E27FC236}">
                <a16:creationId xmlns:a16="http://schemas.microsoft.com/office/drawing/2014/main" id="{407FAFEB-13A0-4C1F-B41C-ADED7C7CE1CD}"/>
              </a:ext>
            </a:extLst>
          </p:cNvPr>
          <p:cNvSpPr>
            <a:spLocks noGrp="1"/>
          </p:cNvSpPr>
          <p:nvPr/>
        </p:nvSpPr>
        <p:spPr>
          <a:xfrm>
            <a:off x="914400" y="3981450"/>
            <a:ext cx="10287000" cy="1809750"/>
          </a:xfrm>
          <a:prstGeom prst="rect">
            <a:avLst/>
          </a:prstGeom>
          <a:noFill/>
        </p:spPr>
        <p:txBody>
          <a:bodyPr wrap="square" lIns="381" tIns="381" rIns="381" bIns="381" anchor="t">
            <a:noAutofit/>
          </a:bodyPr>
          <a:lstStyle/>
          <a:p>
            <a:pPr marL="0" indent="0">
              <a:buNone/>
            </a:pPr>
            <a:r>
              <a:rPr sz="1875" dirty="0">
                <a:solidFill>
                  <a:srgbClr val="4B5563"/>
                </a:solidFill>
                <a:latin typeface="Aptos"/>
                <a:ea typeface="Aptos"/>
                <a:cs typeface="Aptos"/>
              </a:rPr>
              <a:t>• Reporting systems shape the observed data.</a:t>
            </a:r>
          </a:p>
          <a:p>
            <a:pPr marL="0" indent="0">
              <a:buNone/>
            </a:pPr>
            <a:r>
              <a:rPr sz="1875" dirty="0">
                <a:solidFill>
                  <a:srgbClr val="4B5563"/>
                </a:solidFill>
                <a:latin typeface="Aptos"/>
                <a:ea typeface="Aptos"/>
                <a:cs typeface="Aptos"/>
              </a:rPr>
              <a:t>• Analysts shape the model and interpretation.</a:t>
            </a:r>
          </a:p>
          <a:p>
            <a:pPr marL="0" indent="0">
              <a:buNone/>
            </a:pPr>
            <a:r>
              <a:rPr sz="1875" dirty="0">
                <a:solidFill>
                  <a:srgbClr val="4B5563"/>
                </a:solidFill>
                <a:latin typeface="Aptos"/>
                <a:ea typeface="Aptos"/>
                <a:cs typeface="Aptos"/>
              </a:rPr>
              <a:t>• Decision context determines whether a forecast is useful.</a:t>
            </a:r>
          </a:p>
        </p:txBody>
      </p:sp>
      <p:sp>
        <p:nvSpPr>
          <p:cNvPr id="14" name="Text 7">
            <a:extLst>
              <a:ext uri="{FF2B5EF4-FFF2-40B4-BE49-F238E27FC236}">
                <a16:creationId xmlns:a16="http://schemas.microsoft.com/office/drawing/2014/main" id="{4AC01387-0A12-804C-B60C-D2107EFFFC7E}"/>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lang="en-US" sz="2800" b="1" dirty="0">
                <a:solidFill>
                  <a:srgbClr val="2563EB"/>
                </a:solidFill>
                <a:latin typeface="Aptos Display"/>
                <a:ea typeface="Aptos Display"/>
                <a:cs typeface="Aptos Display"/>
              </a:rPr>
              <a:t>Teaming provides a construct and mechanism to integrate data, models, and human decision-making.</a:t>
            </a:r>
            <a:endParaRPr sz="2800" b="1" dirty="0">
              <a:solidFill>
                <a:srgbClr val="2563EB"/>
              </a:solidFill>
              <a:latin typeface="Aptos Display"/>
              <a:ea typeface="Aptos Display"/>
              <a:cs typeface="Aptos Display"/>
            </a:endParaRPr>
          </a:p>
        </p:txBody>
      </p:sp>
    </p:spTree>
    <p:extLst>
      <p:ext uri="{BB962C8B-B14F-4D97-AF65-F5344CB8AC3E}">
        <p14:creationId xmlns:p14="http://schemas.microsoft.com/office/powerpoint/2010/main" val="14549690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9BE67-20B6-2D65-364A-019A74A4CCD1}"/>
            </a:ext>
          </a:extLst>
        </p:cNvPr>
        <p:cNvGrpSpPr/>
        <p:nvPr/>
      </p:nvGrpSpPr>
      <p:grpSpPr>
        <a:xfrm>
          <a:off x="0" y="0"/>
          <a:ext cx="0" cy="0"/>
          <a:chOff x="0" y="0"/>
          <a:chExt cx="0" cy="0"/>
        </a:xfrm>
      </p:grpSpPr>
      <p:sp>
        <p:nvSpPr>
          <p:cNvPr id="2" name="Text 1">
            <a:extLst>
              <a:ext uri="{FF2B5EF4-FFF2-40B4-BE49-F238E27FC236}">
                <a16:creationId xmlns:a16="http://schemas.microsoft.com/office/drawing/2014/main" id="{77956CD1-B682-A138-A9EA-C3DA4CB4670D}"/>
              </a:ext>
            </a:extLst>
          </p:cNvPr>
          <p:cNvSpPr>
            <a:spLocks noGrp="1"/>
          </p:cNvSpPr>
          <p:nvPr/>
        </p:nvSpPr>
        <p:spPr>
          <a:xfrm>
            <a:off x="1098368" y="2504803"/>
            <a:ext cx="9995263" cy="1566454"/>
          </a:xfrm>
          <a:prstGeom prst="rect">
            <a:avLst/>
          </a:prstGeom>
          <a:noFill/>
        </p:spPr>
        <p:txBody>
          <a:bodyPr wrap="square" lIns="0" tIns="0" rIns="0" bIns="0" anchor="ctr">
            <a:normAutofit fontScale="97500"/>
          </a:bodyPr>
          <a:lstStyle/>
          <a:p>
            <a:pPr marL="0" indent="0" algn="ctr">
              <a:buNone/>
            </a:pPr>
            <a:r>
              <a:rPr lang="en-US" sz="4000" b="1" dirty="0">
                <a:solidFill>
                  <a:srgbClr val="102544"/>
                </a:solidFill>
                <a:latin typeface="Aptos Display"/>
                <a:ea typeface="Aptos Display"/>
                <a:cs typeface="Aptos Display"/>
              </a:rPr>
              <a:t>A Brief Primer on Artificial Intelligence</a:t>
            </a:r>
            <a:endParaRPr sz="4000" b="1" dirty="0">
              <a:solidFill>
                <a:srgbClr val="102544"/>
              </a:solidFill>
              <a:latin typeface="Aptos Display"/>
              <a:ea typeface="Aptos Display"/>
              <a:cs typeface="Aptos Display"/>
            </a:endParaRPr>
          </a:p>
        </p:txBody>
      </p:sp>
    </p:spTree>
    <p:extLst>
      <p:ext uri="{BB962C8B-B14F-4D97-AF65-F5344CB8AC3E}">
        <p14:creationId xmlns:p14="http://schemas.microsoft.com/office/powerpoint/2010/main" val="15343676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98C29C-30A9-4DE1-BD65-A0AAC7C1E71C}"/>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CCAE0A4A-5E42-46D1-89E3-20781DD30D3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AI is a family of capabilities</a:t>
            </a:r>
          </a:p>
        </p:txBody>
      </p:sp>
      <p:sp>
        <p:nvSpPr>
          <p:cNvPr id="4" name="Shape 2">
            <a:extLst>
              <a:ext uri="{FF2B5EF4-FFF2-40B4-BE49-F238E27FC236}">
                <a16:creationId xmlns:a16="http://schemas.microsoft.com/office/drawing/2014/main" id="{6C4CE499-DD41-4401-9EB7-F87D6A05681E}"/>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A4EFA3B-DD9D-4496-BF65-C20903362965}"/>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EA039F5-6EDE-4AA5-82AF-7A805947E4E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4D5478E2-296B-4A30-A965-284B0D5C1A2E}"/>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4</a:t>
            </a:r>
          </a:p>
        </p:txBody>
      </p:sp>
      <p:sp>
        <p:nvSpPr>
          <p:cNvPr id="8" name="Text 6">
            <a:extLst>
              <a:ext uri="{FF2B5EF4-FFF2-40B4-BE49-F238E27FC236}">
                <a16:creationId xmlns:a16="http://schemas.microsoft.com/office/drawing/2014/main" id="{3F7EB291-ADF4-42F0-9E0C-411AD591308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Artificial intelligence refers to computational systems that perform functions associated with intelligent behavior. It is a broad field containing different methods, capabilities, and levels of autonomy—not one technology.</a:t>
            </a:r>
          </a:p>
        </p:txBody>
      </p:sp>
      <p:sp>
        <p:nvSpPr>
          <p:cNvPr id="10" name="Text 8">
            <a:extLst>
              <a:ext uri="{FF2B5EF4-FFF2-40B4-BE49-F238E27FC236}">
                <a16:creationId xmlns:a16="http://schemas.microsoft.com/office/drawing/2014/main" id="{3A20E314-5AF3-4976-B5B5-9D8C5C26000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Classification and prediction: estimate a class, count, or probability.</a:t>
            </a:r>
          </a:p>
          <a:p>
            <a:pPr marL="0" indent="0">
              <a:buNone/>
            </a:pPr>
            <a:r>
              <a:rPr sz="2025">
                <a:solidFill>
                  <a:srgbClr val="4B5563"/>
                </a:solidFill>
                <a:latin typeface="Aptos"/>
                <a:ea typeface="Aptos"/>
                <a:cs typeface="Aptos"/>
              </a:rPr>
              <a:t>• Recommendation and optimization: compare alternatives against a goal.</a:t>
            </a:r>
          </a:p>
          <a:p>
            <a:pPr marL="0" indent="0">
              <a:buNone/>
            </a:pPr>
            <a:r>
              <a:rPr sz="2025">
                <a:solidFill>
                  <a:srgbClr val="4B5563"/>
                </a:solidFill>
                <a:latin typeface="Aptos"/>
                <a:ea typeface="Aptos"/>
                <a:cs typeface="Aptos"/>
              </a:rPr>
              <a:t>• Generation: produce language, code, images, or other content.</a:t>
            </a:r>
          </a:p>
          <a:p>
            <a:pPr marL="0" indent="0">
              <a:buNone/>
            </a:pPr>
            <a:r>
              <a:rPr sz="2025">
                <a:solidFill>
                  <a:srgbClr val="4B5563"/>
                </a:solidFill>
                <a:latin typeface="Aptos"/>
                <a:ea typeface="Aptos"/>
                <a:cs typeface="Aptos"/>
              </a:rPr>
              <a:t>• Planning and action: carry out a bounded sequence of steps using tools.</a:t>
            </a:r>
          </a:p>
        </p:txBody>
      </p:sp>
    </p:spTree>
    <p:extLst>
      <p:ext uri="{BB962C8B-B14F-4D97-AF65-F5344CB8AC3E}">
        <p14:creationId xmlns:p14="http://schemas.microsoft.com/office/powerpoint/2010/main" val="1359734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BB6D56E-EDBA-474E-8E69-F1CD9303B058}"/>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B22BD5D9-C902-4146-A4B1-B222B32DC938}"/>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AI turns inputs into outputs</a:t>
            </a:r>
          </a:p>
        </p:txBody>
      </p:sp>
      <p:sp>
        <p:nvSpPr>
          <p:cNvPr id="4" name="Shape 2">
            <a:extLst>
              <a:ext uri="{FF2B5EF4-FFF2-40B4-BE49-F238E27FC236}">
                <a16:creationId xmlns:a16="http://schemas.microsoft.com/office/drawing/2014/main" id="{3DADE9BF-7F23-4B55-BC05-71326C9F3402}"/>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DB5B67B-B8D4-4D56-993A-7E0C67669D90}"/>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77855731-48B4-496D-AE01-99D91AC02BE7}"/>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BA3DC85F-9A1C-4114-A3D2-32A70F2412F1}"/>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5</a:t>
            </a:r>
          </a:p>
        </p:txBody>
      </p:sp>
      <p:sp>
        <p:nvSpPr>
          <p:cNvPr id="8" name="Text 6">
            <a:extLst>
              <a:ext uri="{FF2B5EF4-FFF2-40B4-BE49-F238E27FC236}">
                <a16:creationId xmlns:a16="http://schemas.microsoft.com/office/drawing/2014/main" id="{0E1F9C31-510B-42BC-9231-6CE25E47B963}"/>
              </a:ext>
            </a:extLst>
          </p:cNvPr>
          <p:cNvSpPr>
            <a:spLocks noGrp="1"/>
          </p:cNvSpPr>
          <p:nvPr/>
        </p:nvSpPr>
        <p:spPr>
          <a:xfrm>
            <a:off x="685800" y="1381125"/>
            <a:ext cx="6191250" cy="1066800"/>
          </a:xfrm>
          <a:prstGeom prst="rect">
            <a:avLst/>
          </a:prstGeom>
          <a:noFill/>
        </p:spPr>
        <p:txBody>
          <a:bodyPr wrap="square" lIns="0" tIns="0" rIns="0" bIns="0" anchor="ctr">
            <a:noAutofit/>
          </a:bodyPr>
          <a:lstStyle/>
          <a:p>
            <a:pPr marL="0" indent="0">
              <a:buNone/>
            </a:pPr>
            <a:r>
              <a:rPr sz="2100" b="1">
                <a:solidFill>
                  <a:srgbClr val="0B1F3A"/>
                </a:solidFill>
                <a:latin typeface="Aptos Display"/>
                <a:ea typeface="Aptos Display"/>
                <a:cs typeface="Aptos Display"/>
              </a:rPr>
              <a:t>Most AI systems transform available information into an output through learned or specified relationships.</a:t>
            </a:r>
          </a:p>
        </p:txBody>
      </p:sp>
      <p:sp>
        <p:nvSpPr>
          <p:cNvPr id="9" name="Text 7">
            <a:extLst>
              <a:ext uri="{FF2B5EF4-FFF2-40B4-BE49-F238E27FC236}">
                <a16:creationId xmlns:a16="http://schemas.microsoft.com/office/drawing/2014/main" id="{D5FE350E-54F7-472F-9674-92072BFE5AF2}"/>
              </a:ext>
            </a:extLst>
          </p:cNvPr>
          <p:cNvSpPr>
            <a:spLocks noGrp="1"/>
          </p:cNvSpPr>
          <p:nvPr/>
        </p:nvSpPr>
        <p:spPr>
          <a:xfrm>
            <a:off x="914400" y="2705100"/>
            <a:ext cx="5438775" cy="2457450"/>
          </a:xfrm>
          <a:prstGeom prst="rect">
            <a:avLst/>
          </a:prstGeom>
          <a:noFill/>
        </p:spPr>
        <p:txBody>
          <a:bodyPr wrap="square" lIns="381" tIns="381" rIns="381" bIns="381" anchor="t">
            <a:noAutofit/>
          </a:bodyPr>
          <a:lstStyle/>
          <a:p>
            <a:pPr marL="0" indent="0">
              <a:buNone/>
            </a:pPr>
            <a:r>
              <a:rPr sz="1950" dirty="0">
                <a:solidFill>
                  <a:srgbClr val="4B5563"/>
                </a:solidFill>
                <a:latin typeface="Aptos"/>
                <a:ea typeface="Aptos"/>
                <a:cs typeface="Aptos"/>
              </a:rPr>
              <a:t>Examples:</a:t>
            </a:r>
          </a:p>
          <a:p>
            <a:r>
              <a:rPr sz="1950" dirty="0">
                <a:solidFill>
                  <a:srgbClr val="4B5563"/>
                </a:solidFill>
                <a:latin typeface="Aptos"/>
                <a:ea typeface="Aptos"/>
                <a:cs typeface="Aptos"/>
              </a:rPr>
              <a:t>•</a:t>
            </a:r>
            <a:r>
              <a:rPr lang="en-US" sz="1950" dirty="0">
                <a:solidFill>
                  <a:srgbClr val="4B5563"/>
                </a:solidFill>
                <a:latin typeface="Aptos"/>
                <a:ea typeface="Aptos"/>
                <a:cs typeface="Aptos"/>
              </a:rPr>
              <a:t> </a:t>
            </a:r>
            <a:r>
              <a:rPr sz="1950" dirty="0">
                <a:solidFill>
                  <a:srgbClr val="4B5563"/>
                </a:solidFill>
                <a:latin typeface="Aptos"/>
                <a:ea typeface="Aptos"/>
                <a:cs typeface="Aptos"/>
              </a:rPr>
              <a:t>Surveillance data → risk estimate</a:t>
            </a:r>
          </a:p>
          <a:p>
            <a:pPr marL="0" indent="0">
              <a:buNone/>
            </a:pPr>
            <a:r>
              <a:rPr sz="1950" dirty="0">
                <a:solidFill>
                  <a:srgbClr val="4B5563"/>
                </a:solidFill>
                <a:latin typeface="Aptos"/>
                <a:ea typeface="Aptos"/>
                <a:cs typeface="Aptos"/>
              </a:rPr>
              <a:t>• Historical counts → forecast</a:t>
            </a:r>
          </a:p>
          <a:p>
            <a:pPr marL="0" indent="0">
              <a:buNone/>
            </a:pPr>
            <a:r>
              <a:rPr sz="1950" dirty="0">
                <a:solidFill>
                  <a:srgbClr val="4B5563"/>
                </a:solidFill>
                <a:latin typeface="Aptos"/>
                <a:ea typeface="Aptos"/>
                <a:cs typeface="Aptos"/>
              </a:rPr>
              <a:t>• Text prompt → generated explanation</a:t>
            </a:r>
          </a:p>
        </p:txBody>
      </p:sp>
      <p:sp>
        <p:nvSpPr>
          <p:cNvPr id="10" name="Text 8">
            <a:extLst>
              <a:ext uri="{FF2B5EF4-FFF2-40B4-BE49-F238E27FC236}">
                <a16:creationId xmlns:a16="http://schemas.microsoft.com/office/drawing/2014/main" id="{8AB4F48D-29A2-471A-A1ED-589A9E93F98F}"/>
              </a:ext>
            </a:extLst>
          </p:cNvPr>
          <p:cNvSpPr>
            <a:spLocks noGrp="1"/>
          </p:cNvSpPr>
          <p:nvPr/>
        </p:nvSpPr>
        <p:spPr>
          <a:xfrm>
            <a:off x="8058150" y="1381125"/>
            <a:ext cx="3810000" cy="400050"/>
          </a:xfrm>
          <a:prstGeom prst="rect">
            <a:avLst/>
          </a:prstGeom>
          <a:noFill/>
        </p:spPr>
        <p:txBody>
          <a:bodyPr wrap="square" lIns="0" tIns="0" rIns="0" bIns="0" anchor="ctr">
            <a:noAutofit/>
          </a:bodyPr>
          <a:lstStyle/>
          <a:p>
            <a:pPr marL="0" indent="0">
              <a:buNone/>
            </a:pPr>
            <a:r>
              <a:rPr sz="1725" b="1">
                <a:solidFill>
                  <a:srgbClr val="2563EB"/>
                </a:solidFill>
                <a:latin typeface="Aptos"/>
                <a:ea typeface="Aptos"/>
                <a:cs typeface="Aptos"/>
              </a:rPr>
              <a:t>A simplified view</a:t>
            </a:r>
          </a:p>
        </p:txBody>
      </p:sp>
      <p:sp>
        <p:nvSpPr>
          <p:cNvPr id="11" name="Shape 9">
            <a:extLst>
              <a:ext uri="{FF2B5EF4-FFF2-40B4-BE49-F238E27FC236}">
                <a16:creationId xmlns:a16="http://schemas.microsoft.com/office/drawing/2014/main" id="{4BCED88D-D470-4AD6-9C17-9F371F08E970}"/>
              </a:ext>
            </a:extLst>
          </p:cNvPr>
          <p:cNvSpPr>
            <a:spLocks noGrp="1"/>
          </p:cNvSpPr>
          <p:nvPr/>
        </p:nvSpPr>
        <p:spPr>
          <a:xfrm>
            <a:off x="9091168" y="2347975"/>
            <a:ext cx="658368" cy="0"/>
          </a:xfrm>
          <a:prstGeom prst="line">
            <a:avLst/>
          </a:prstGeom>
          <a:noFill/>
          <a:ln w="31750">
            <a:solidFill>
              <a:srgbClr val="2563EB"/>
            </a:solidFill>
            <a:prstDash val="solid"/>
            <a:headEnd type="none"/>
            <a:tailEnd type="triangle"/>
          </a:ln>
        </p:spPr>
        <p:txBody>
          <a:bodyPr/>
          <a:lstStyle/>
          <a:p>
            <a:endParaRPr/>
          </a:p>
        </p:txBody>
      </p:sp>
      <p:sp>
        <p:nvSpPr>
          <p:cNvPr id="12" name="Shape 10">
            <a:extLst>
              <a:ext uri="{FF2B5EF4-FFF2-40B4-BE49-F238E27FC236}">
                <a16:creationId xmlns:a16="http://schemas.microsoft.com/office/drawing/2014/main" id="{D722740D-1598-46A1-8567-7179A5230E99}"/>
              </a:ext>
            </a:extLst>
          </p:cNvPr>
          <p:cNvSpPr>
            <a:spLocks noGrp="1"/>
          </p:cNvSpPr>
          <p:nvPr/>
        </p:nvSpPr>
        <p:spPr>
          <a:xfrm>
            <a:off x="9091168" y="3417823"/>
            <a:ext cx="658368" cy="0"/>
          </a:xfrm>
          <a:prstGeom prst="line">
            <a:avLst/>
          </a:prstGeom>
          <a:noFill/>
          <a:ln w="31750">
            <a:solidFill>
              <a:srgbClr val="2563EB"/>
            </a:solidFill>
            <a:prstDash val="solid"/>
            <a:headEnd type="none"/>
            <a:tailEnd type="triangle"/>
          </a:ln>
        </p:spPr>
        <p:txBody>
          <a:bodyPr/>
          <a:lstStyle/>
          <a:p>
            <a:endParaRPr/>
          </a:p>
        </p:txBody>
      </p:sp>
      <p:sp>
        <p:nvSpPr>
          <p:cNvPr id="13" name="Text 11">
            <a:extLst>
              <a:ext uri="{FF2B5EF4-FFF2-40B4-BE49-F238E27FC236}">
                <a16:creationId xmlns:a16="http://schemas.microsoft.com/office/drawing/2014/main" id="{1979D685-071F-4E94-A89F-C1104A010458}"/>
              </a:ext>
            </a:extLst>
          </p:cNvPr>
          <p:cNvSpPr>
            <a:spLocks noGrp="1"/>
          </p:cNvSpPr>
          <p:nvPr/>
        </p:nvSpPr>
        <p:spPr>
          <a:xfrm>
            <a:off x="8204200" y="1863343"/>
            <a:ext cx="2450592" cy="658368"/>
          </a:xfrm>
          <a:prstGeom prst="roundRect">
            <a:avLst/>
          </a:prstGeom>
          <a:solidFill>
            <a:srgbClr val="F0FDFA"/>
          </a:solidFill>
          <a:ln w="12700">
            <a:solidFill>
              <a:srgbClr val="A7F3D0"/>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1</a:t>
            </a:r>
          </a:p>
          <a:p>
            <a:pPr marL="0" indent="0" algn="ctr">
              <a:buNone/>
            </a:pPr>
            <a:r>
              <a:rPr sz="1800" b="1">
                <a:solidFill>
                  <a:srgbClr val="0B1F3A"/>
                </a:solidFill>
                <a:latin typeface="Aptos"/>
                <a:ea typeface="Aptos"/>
                <a:cs typeface="Aptos"/>
              </a:rPr>
              <a:t>Data + context</a:t>
            </a:r>
          </a:p>
        </p:txBody>
      </p:sp>
      <p:sp>
        <p:nvSpPr>
          <p:cNvPr id="14" name="Text 12">
            <a:extLst>
              <a:ext uri="{FF2B5EF4-FFF2-40B4-BE49-F238E27FC236}">
                <a16:creationId xmlns:a16="http://schemas.microsoft.com/office/drawing/2014/main" id="{AA6E1552-B9CC-4A95-A1C9-7E3011395D2C}"/>
              </a:ext>
            </a:extLst>
          </p:cNvPr>
          <p:cNvSpPr>
            <a:spLocks noGrp="1"/>
          </p:cNvSpPr>
          <p:nvPr/>
        </p:nvSpPr>
        <p:spPr>
          <a:xfrm>
            <a:off x="8204200" y="2933191"/>
            <a:ext cx="2450592" cy="845058"/>
          </a:xfrm>
          <a:prstGeom prst="roundRect">
            <a:avLst/>
          </a:prstGeom>
          <a:solidFill>
            <a:srgbClr val="EFF6FF"/>
          </a:solidFill>
          <a:ln w="12700">
            <a:solidFill>
              <a:srgbClr val="BFDBFE"/>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2</a:t>
            </a:r>
          </a:p>
          <a:p>
            <a:pPr marL="0" indent="0" algn="ctr">
              <a:buNone/>
            </a:pPr>
            <a:r>
              <a:rPr sz="1800" b="1">
                <a:solidFill>
                  <a:srgbClr val="0B1F3A"/>
                </a:solidFill>
                <a:latin typeface="Aptos"/>
                <a:ea typeface="Aptos"/>
                <a:cs typeface="Aptos"/>
              </a:rPr>
              <a:t>Computational method</a:t>
            </a:r>
          </a:p>
        </p:txBody>
      </p:sp>
      <p:sp>
        <p:nvSpPr>
          <p:cNvPr id="15" name="Text 13">
            <a:extLst>
              <a:ext uri="{FF2B5EF4-FFF2-40B4-BE49-F238E27FC236}">
                <a16:creationId xmlns:a16="http://schemas.microsoft.com/office/drawing/2014/main" id="{DF871E60-1D7C-45C7-A9D5-436B75448157}"/>
              </a:ext>
            </a:extLst>
          </p:cNvPr>
          <p:cNvSpPr>
            <a:spLocks noGrp="1"/>
          </p:cNvSpPr>
          <p:nvPr/>
        </p:nvSpPr>
        <p:spPr>
          <a:xfrm>
            <a:off x="8204200" y="4003038"/>
            <a:ext cx="2450592" cy="845045"/>
          </a:xfrm>
          <a:prstGeom prst="roundRect">
            <a:avLst/>
          </a:prstGeom>
          <a:solidFill>
            <a:srgbClr val="FFFBEB"/>
          </a:solidFill>
          <a:ln w="12700">
            <a:solidFill>
              <a:srgbClr val="FDE68A"/>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3</a:t>
            </a:r>
          </a:p>
          <a:p>
            <a:pPr marL="0" indent="0" algn="ctr">
              <a:buNone/>
            </a:pPr>
            <a:r>
              <a:rPr sz="1800" b="1">
                <a:solidFill>
                  <a:srgbClr val="0B1F3A"/>
                </a:solidFill>
                <a:latin typeface="Aptos"/>
                <a:ea typeface="Aptos"/>
                <a:cs typeface="Aptos"/>
              </a:rPr>
              <a:t>Prediction or generation</a:t>
            </a:r>
          </a:p>
        </p:txBody>
      </p:sp>
    </p:spTree>
    <p:extLst>
      <p:ext uri="{BB962C8B-B14F-4D97-AF65-F5344CB8AC3E}">
        <p14:creationId xmlns:p14="http://schemas.microsoft.com/office/powerpoint/2010/main" val="2665154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7A2ED31-F451-4653-8D07-EDB633F5378F}"/>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12296247-BDF7-4F69-8786-D80800B7EDEE}"/>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Machine learning and GenAI differ</a:t>
            </a:r>
          </a:p>
        </p:txBody>
      </p:sp>
      <p:sp>
        <p:nvSpPr>
          <p:cNvPr id="4" name="Shape 2">
            <a:extLst>
              <a:ext uri="{FF2B5EF4-FFF2-40B4-BE49-F238E27FC236}">
                <a16:creationId xmlns:a16="http://schemas.microsoft.com/office/drawing/2014/main" id="{86817AED-4697-46B6-8211-0B5A533B7787}"/>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37F412D-C850-42BD-AAF6-AFD56891582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8D17A30-7D13-4222-8A86-C9926A89A5F2}"/>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E1A1C4F2-DD89-418A-A605-CCA92794F72B}"/>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6</a:t>
            </a:r>
          </a:p>
        </p:txBody>
      </p:sp>
      <p:sp>
        <p:nvSpPr>
          <p:cNvPr id="8" name="Text 6">
            <a:extLst>
              <a:ext uri="{FF2B5EF4-FFF2-40B4-BE49-F238E27FC236}">
                <a16:creationId xmlns:a16="http://schemas.microsoft.com/office/drawing/2014/main" id="{F271FA15-8C28-40B1-9CFE-BFC7105A9EE9}"/>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Both use learned patterns, but they support different kinds of work.</a:t>
            </a:r>
          </a:p>
        </p:txBody>
      </p:sp>
      <p:sp>
        <p:nvSpPr>
          <p:cNvPr id="9" name="Text 7">
            <a:extLst>
              <a:ext uri="{FF2B5EF4-FFF2-40B4-BE49-F238E27FC236}">
                <a16:creationId xmlns:a16="http://schemas.microsoft.com/office/drawing/2014/main" id="{5C99973F-8DD0-4EF7-AC17-5B9317E6731E}"/>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Machine learning</a:t>
            </a:r>
          </a:p>
        </p:txBody>
      </p:sp>
      <p:sp>
        <p:nvSpPr>
          <p:cNvPr id="10" name="Text 8">
            <a:extLst>
              <a:ext uri="{FF2B5EF4-FFF2-40B4-BE49-F238E27FC236}">
                <a16:creationId xmlns:a16="http://schemas.microsoft.com/office/drawing/2014/main" id="{725084DF-E77F-4B3B-86B5-E0C6A30FAADE}"/>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Estimates relationships in structured data</a:t>
            </a:r>
          </a:p>
          <a:p>
            <a:pPr marL="0" indent="0">
              <a:buNone/>
            </a:pPr>
            <a:r>
              <a:rPr sz="1950">
                <a:solidFill>
                  <a:srgbClr val="4B5563"/>
                </a:solidFill>
                <a:latin typeface="Aptos"/>
                <a:ea typeface="Aptos"/>
                <a:cs typeface="Aptos"/>
              </a:rPr>
              <a:t>• Classifies or predicts outcomes</a:t>
            </a:r>
          </a:p>
          <a:p>
            <a:pPr marL="0" indent="0">
              <a:buNone/>
            </a:pPr>
            <a:r>
              <a:rPr sz="1950">
                <a:solidFill>
                  <a:srgbClr val="4B5563"/>
                </a:solidFill>
                <a:latin typeface="Aptos"/>
                <a:ea typeface="Aptos"/>
                <a:cs typeface="Aptos"/>
              </a:rPr>
              <a:t>• Often produces a number, class, or probability</a:t>
            </a:r>
          </a:p>
        </p:txBody>
      </p:sp>
      <p:sp>
        <p:nvSpPr>
          <p:cNvPr id="11" name="Shape 9">
            <a:extLst>
              <a:ext uri="{FF2B5EF4-FFF2-40B4-BE49-F238E27FC236}">
                <a16:creationId xmlns:a16="http://schemas.microsoft.com/office/drawing/2014/main" id="{BFA24EB4-9653-4308-80C3-A1F03F3290CD}"/>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C1B9D88A-7A8C-4B1F-9C81-86CE09FB7C08}"/>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Generative AI</a:t>
            </a:r>
          </a:p>
        </p:txBody>
      </p:sp>
      <p:sp>
        <p:nvSpPr>
          <p:cNvPr id="13" name="Text 11">
            <a:extLst>
              <a:ext uri="{FF2B5EF4-FFF2-40B4-BE49-F238E27FC236}">
                <a16:creationId xmlns:a16="http://schemas.microsoft.com/office/drawing/2014/main" id="{6208632F-9F9C-4F78-80D4-B8DAAEB39441}"/>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Produces language, code, images, or other content</a:t>
            </a:r>
          </a:p>
          <a:p>
            <a:pPr marL="0" indent="0">
              <a:buNone/>
            </a:pPr>
            <a:r>
              <a:rPr sz="1950">
                <a:solidFill>
                  <a:srgbClr val="4B5563"/>
                </a:solidFill>
                <a:latin typeface="Aptos"/>
                <a:ea typeface="Aptos"/>
                <a:cs typeface="Aptos"/>
              </a:rPr>
              <a:t>• Generates plausible continuations</a:t>
            </a:r>
          </a:p>
          <a:p>
            <a:pPr marL="0" indent="0">
              <a:buNone/>
            </a:pPr>
            <a:r>
              <a:rPr sz="1950">
                <a:solidFill>
                  <a:srgbClr val="4B5563"/>
                </a:solidFill>
                <a:latin typeface="Aptos"/>
                <a:ea typeface="Aptos"/>
                <a:cs typeface="Aptos"/>
              </a:rPr>
              <a:t>• Often works through natural-language interaction</a:t>
            </a:r>
          </a:p>
        </p:txBody>
      </p:sp>
    </p:spTree>
    <p:extLst>
      <p:ext uri="{BB962C8B-B14F-4D97-AF65-F5344CB8AC3E}">
        <p14:creationId xmlns:p14="http://schemas.microsoft.com/office/powerpoint/2010/main" val="18257846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98C29C-30A9-4DE1-BD65-A0AAC7C1E71C}"/>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CCAE0A4A-5E42-46D1-89E3-20781DD30D3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AI is not human intelligence</a:t>
            </a:r>
          </a:p>
        </p:txBody>
      </p:sp>
      <p:sp>
        <p:nvSpPr>
          <p:cNvPr id="4" name="Shape 2">
            <a:extLst>
              <a:ext uri="{FF2B5EF4-FFF2-40B4-BE49-F238E27FC236}">
                <a16:creationId xmlns:a16="http://schemas.microsoft.com/office/drawing/2014/main" id="{6C4CE499-DD41-4401-9EB7-F87D6A05681E}"/>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A4EFA3B-DD9D-4496-BF65-C20903362965}"/>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EA039F5-6EDE-4AA5-82AF-7A805947E4E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4D5478E2-296B-4A30-A965-284B0D5C1A2E}"/>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7</a:t>
            </a:r>
          </a:p>
        </p:txBody>
      </p:sp>
      <p:sp>
        <p:nvSpPr>
          <p:cNvPr id="8" name="Text 6">
            <a:extLst>
              <a:ext uri="{FF2B5EF4-FFF2-40B4-BE49-F238E27FC236}">
                <a16:creationId xmlns:a16="http://schemas.microsoft.com/office/drawing/2014/main" id="{3F7EB291-ADF4-42F0-9E0C-411AD591308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Sophisticated output can look intentional and informed, but fluent language does not imply human experience, causal understanding, or public-health judgment.</a:t>
            </a:r>
          </a:p>
        </p:txBody>
      </p:sp>
      <p:sp>
        <p:nvSpPr>
          <p:cNvPr id="10" name="Text 8">
            <a:extLst>
              <a:ext uri="{FF2B5EF4-FFF2-40B4-BE49-F238E27FC236}">
                <a16:creationId xmlns:a16="http://schemas.microsoft.com/office/drawing/2014/main" id="{3A20E314-5AF3-4976-B5B5-9D8C5C26000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AI does not automatically understand meaning, mechanism, or causality.</a:t>
            </a:r>
          </a:p>
          <a:p>
            <a:pPr marL="0" indent="0">
              <a:buNone/>
            </a:pPr>
            <a:r>
              <a:rPr sz="2025">
                <a:solidFill>
                  <a:srgbClr val="4B5563"/>
                </a:solidFill>
                <a:latin typeface="Aptos"/>
                <a:ea typeface="Aptos"/>
                <a:cs typeface="Aptos"/>
              </a:rPr>
              <a:t>• It does not experience the consequences of a public-health decision.</a:t>
            </a:r>
          </a:p>
          <a:p>
            <a:pPr marL="0" indent="0">
              <a:buNone/>
            </a:pPr>
            <a:r>
              <a:rPr sz="2025">
                <a:solidFill>
                  <a:srgbClr val="4B5563"/>
                </a:solidFill>
                <a:latin typeface="Aptos"/>
                <a:ea typeface="Aptos"/>
                <a:cs typeface="Aptos"/>
              </a:rPr>
              <a:t>• It can reproduce learned patterns without grounding them in the current setting.</a:t>
            </a:r>
          </a:p>
          <a:p>
            <a:pPr marL="0" indent="0">
              <a:buNone/>
            </a:pPr>
            <a:r>
              <a:rPr sz="2025">
                <a:solidFill>
                  <a:srgbClr val="4B5563"/>
                </a:solidFill>
                <a:latin typeface="Aptos"/>
                <a:ea typeface="Aptos"/>
                <a:cs typeface="Aptos"/>
              </a:rPr>
              <a:t>• It does not assume accountability simply because it produced the output.</a:t>
            </a:r>
          </a:p>
        </p:txBody>
      </p:sp>
    </p:spTree>
    <p:extLst>
      <p:ext uri="{BB962C8B-B14F-4D97-AF65-F5344CB8AC3E}">
        <p14:creationId xmlns:p14="http://schemas.microsoft.com/office/powerpoint/2010/main" val="13597349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B7515F0-4349-4433-9FC8-DDE743E1BD01}"/>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83C5DEFB-2E89-404C-9541-7764E90EF347}"/>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AI has developed in waves</a:t>
            </a:r>
          </a:p>
        </p:txBody>
      </p:sp>
      <p:sp>
        <p:nvSpPr>
          <p:cNvPr id="4" name="Shape 2">
            <a:extLst>
              <a:ext uri="{FF2B5EF4-FFF2-40B4-BE49-F238E27FC236}">
                <a16:creationId xmlns:a16="http://schemas.microsoft.com/office/drawing/2014/main" id="{975CE57B-B00C-43DC-B0AA-9A9F122F6130}"/>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8547C4B5-6E25-473B-BE52-AFBF0F834526}"/>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5C4CEC4E-4E55-4FF0-B7C2-055D2BBA1725}"/>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F007149E-570C-478C-93A1-3C1F01AD5245}"/>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8</a:t>
            </a:r>
          </a:p>
        </p:txBody>
      </p:sp>
      <p:sp>
        <p:nvSpPr>
          <p:cNvPr id="8" name="Text 6">
            <a:extLst>
              <a:ext uri="{FF2B5EF4-FFF2-40B4-BE49-F238E27FC236}">
                <a16:creationId xmlns:a16="http://schemas.microsoft.com/office/drawing/2014/main" id="{42D1BF54-9257-48E3-A0AF-E44F756FE454}"/>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The field repeatedly advances through new representations, data, and computing power.</a:t>
            </a:r>
          </a:p>
        </p:txBody>
      </p:sp>
      <p:sp>
        <p:nvSpPr>
          <p:cNvPr id="9" name="Text 7">
            <a:extLst>
              <a:ext uri="{FF2B5EF4-FFF2-40B4-BE49-F238E27FC236}">
                <a16:creationId xmlns:a16="http://schemas.microsoft.com/office/drawing/2014/main" id="{BE9AA7BB-4414-4381-A7A5-BEAED59F0E1D}"/>
              </a:ext>
            </a:extLst>
          </p:cNvPr>
          <p:cNvSpPr>
            <a:spLocks noGrp="1"/>
          </p:cNvSpPr>
          <p:nvPr/>
        </p:nvSpPr>
        <p:spPr>
          <a:xfrm>
            <a:off x="960120" y="2194560"/>
            <a:ext cx="2971800" cy="1280160"/>
          </a:xfrm>
          <a:prstGeom prst="roundRect">
            <a:avLst/>
          </a:prstGeom>
          <a:solidFill>
            <a:srgbClr val="F0FDFA"/>
          </a:solidFill>
          <a:ln w="12700">
            <a:solidFill>
              <a:srgbClr val="A7F3D0"/>
            </a:solidFill>
          </a:ln>
        </p:spPr>
        <p:txBody>
          <a:bodyPr wrap="square" lIns="1905" tIns="1905" rIns="1905" bIns="1905" anchor="ctr">
            <a:noAutofit/>
          </a:bodyPr>
          <a:lstStyle/>
          <a:p>
            <a:pPr marL="0" indent="0" algn="ctr">
              <a:buNone/>
            </a:pPr>
            <a:r>
              <a:rPr sz="2025" b="1">
                <a:solidFill>
                  <a:srgbClr val="0B1F3A"/>
                </a:solidFill>
                <a:latin typeface="Aptos"/>
                <a:ea typeface="Aptos"/>
                <a:cs typeface="Aptos"/>
              </a:rPr>
              <a:t>1950s–1980s</a:t>
            </a:r>
          </a:p>
          <a:p>
            <a:pPr marL="0" indent="0" algn="ctr">
              <a:buNone/>
            </a:pPr>
            <a:r>
              <a:rPr sz="2025" b="1">
                <a:solidFill>
                  <a:srgbClr val="0B1F3A"/>
                </a:solidFill>
                <a:latin typeface="Aptos"/>
                <a:ea typeface="Aptos"/>
                <a:cs typeface="Aptos"/>
              </a:rPr>
              <a:t>Symbolic AI + expert systems</a:t>
            </a:r>
          </a:p>
        </p:txBody>
      </p:sp>
      <p:sp>
        <p:nvSpPr>
          <p:cNvPr id="11" name="Text 9">
            <a:extLst>
              <a:ext uri="{FF2B5EF4-FFF2-40B4-BE49-F238E27FC236}">
                <a16:creationId xmlns:a16="http://schemas.microsoft.com/office/drawing/2014/main" id="{87858F24-251A-4DEA-9FE7-A783E60419CE}"/>
              </a:ext>
            </a:extLst>
          </p:cNvPr>
          <p:cNvSpPr>
            <a:spLocks noGrp="1"/>
          </p:cNvSpPr>
          <p:nvPr/>
        </p:nvSpPr>
        <p:spPr>
          <a:xfrm>
            <a:off x="4608576" y="2194560"/>
            <a:ext cx="2971800" cy="1280160"/>
          </a:xfrm>
          <a:prstGeom prst="roundRect">
            <a:avLst/>
          </a:prstGeom>
          <a:solidFill>
            <a:srgbClr val="EFF6FF"/>
          </a:solidFill>
          <a:ln w="12700">
            <a:solidFill>
              <a:srgbClr val="BFDBFE"/>
            </a:solidFill>
          </a:ln>
        </p:spPr>
        <p:txBody>
          <a:bodyPr wrap="square" lIns="1905" tIns="1905" rIns="1905" bIns="1905" anchor="ctr">
            <a:noAutofit/>
          </a:bodyPr>
          <a:lstStyle/>
          <a:p>
            <a:pPr marL="0" indent="0" algn="ctr">
              <a:buNone/>
            </a:pPr>
            <a:r>
              <a:rPr sz="2025" b="1">
                <a:solidFill>
                  <a:srgbClr val="0B1F3A"/>
                </a:solidFill>
                <a:latin typeface="Aptos"/>
                <a:ea typeface="Aptos"/>
                <a:cs typeface="Aptos"/>
              </a:rPr>
              <a:t>1990s–2010s</a:t>
            </a:r>
          </a:p>
          <a:p>
            <a:pPr marL="0" indent="0" algn="ctr">
              <a:buNone/>
            </a:pPr>
            <a:r>
              <a:rPr sz="2025" b="1">
                <a:solidFill>
                  <a:srgbClr val="0B1F3A"/>
                </a:solidFill>
                <a:latin typeface="Aptos"/>
                <a:ea typeface="Aptos"/>
                <a:cs typeface="Aptos"/>
              </a:rPr>
              <a:t>Statistical ML + deep learning</a:t>
            </a:r>
          </a:p>
        </p:txBody>
      </p:sp>
      <p:sp>
        <p:nvSpPr>
          <p:cNvPr id="12" name="Text 10">
            <a:extLst>
              <a:ext uri="{FF2B5EF4-FFF2-40B4-BE49-F238E27FC236}">
                <a16:creationId xmlns:a16="http://schemas.microsoft.com/office/drawing/2014/main" id="{033973CC-D04E-422B-941D-7BE6980FDA7B}"/>
              </a:ext>
            </a:extLst>
          </p:cNvPr>
          <p:cNvSpPr>
            <a:spLocks noGrp="1"/>
          </p:cNvSpPr>
          <p:nvPr/>
        </p:nvSpPr>
        <p:spPr>
          <a:xfrm>
            <a:off x="8519160" y="2194560"/>
            <a:ext cx="2514600" cy="1280160"/>
          </a:xfrm>
          <a:prstGeom prst="roundRect">
            <a:avLst/>
          </a:prstGeom>
          <a:solidFill>
            <a:srgbClr val="FFFBEB"/>
          </a:solidFill>
          <a:ln w="12700">
            <a:solidFill>
              <a:srgbClr val="FDE68A"/>
            </a:solidFill>
          </a:ln>
        </p:spPr>
        <p:txBody>
          <a:bodyPr wrap="square" lIns="1905" tIns="1905" rIns="1905" bIns="1905" anchor="ctr">
            <a:noAutofit/>
          </a:bodyPr>
          <a:lstStyle/>
          <a:p>
            <a:pPr marL="0" indent="0" algn="ctr">
              <a:buNone/>
            </a:pPr>
            <a:r>
              <a:rPr sz="2025" b="1" dirty="0">
                <a:solidFill>
                  <a:srgbClr val="0B1F3A"/>
                </a:solidFill>
                <a:latin typeface="Aptos"/>
                <a:ea typeface="Aptos"/>
                <a:cs typeface="Aptos"/>
              </a:rPr>
              <a:t>2020s</a:t>
            </a:r>
          </a:p>
          <a:p>
            <a:pPr marL="0" indent="0" algn="ctr">
              <a:buNone/>
            </a:pPr>
            <a:r>
              <a:rPr sz="2025" b="1" dirty="0">
                <a:solidFill>
                  <a:srgbClr val="0B1F3A"/>
                </a:solidFill>
                <a:latin typeface="Aptos"/>
                <a:ea typeface="Aptos"/>
                <a:cs typeface="Aptos"/>
              </a:rPr>
              <a:t>Foundation models + agents</a:t>
            </a:r>
          </a:p>
        </p:txBody>
      </p:sp>
      <p:sp>
        <p:nvSpPr>
          <p:cNvPr id="13" name="Text 11">
            <a:extLst>
              <a:ext uri="{FF2B5EF4-FFF2-40B4-BE49-F238E27FC236}">
                <a16:creationId xmlns:a16="http://schemas.microsoft.com/office/drawing/2014/main" id="{407FAFEB-13A0-4C1F-B41C-ADED7C7CE1CD}"/>
              </a:ext>
            </a:extLst>
          </p:cNvPr>
          <p:cNvSpPr>
            <a:spLocks noGrp="1"/>
          </p:cNvSpPr>
          <p:nvPr/>
        </p:nvSpPr>
        <p:spPr>
          <a:xfrm>
            <a:off x="914400" y="3981450"/>
            <a:ext cx="10287000" cy="1809750"/>
          </a:xfrm>
          <a:prstGeom prst="rect">
            <a:avLst/>
          </a:prstGeom>
          <a:noFill/>
        </p:spPr>
        <p:txBody>
          <a:bodyPr wrap="square" lIns="381" tIns="381" rIns="381" bIns="381" anchor="t">
            <a:noAutofit/>
          </a:bodyPr>
          <a:lstStyle/>
          <a:p>
            <a:pPr marL="0" indent="0">
              <a:buNone/>
            </a:pPr>
            <a:r>
              <a:rPr sz="1875">
                <a:solidFill>
                  <a:srgbClr val="4B5563"/>
                </a:solidFill>
                <a:latin typeface="Aptos"/>
                <a:ea typeface="Aptos"/>
                <a:cs typeface="Aptos"/>
              </a:rPr>
              <a:t>• Periods of rapid progress have been followed by AI winters.</a:t>
            </a:r>
          </a:p>
          <a:p>
            <a:pPr marL="0" indent="0">
              <a:buNone/>
            </a:pPr>
            <a:r>
              <a:rPr sz="1875">
                <a:solidFill>
                  <a:srgbClr val="4B5563"/>
                </a:solidFill>
                <a:latin typeface="Aptos"/>
                <a:ea typeface="Aptos"/>
                <a:cs typeface="Aptos"/>
              </a:rPr>
              <a:t>• The enduring tension is capability versus expectation.</a:t>
            </a:r>
          </a:p>
        </p:txBody>
      </p:sp>
    </p:spTree>
    <p:extLst>
      <p:ext uri="{BB962C8B-B14F-4D97-AF65-F5344CB8AC3E}">
        <p14:creationId xmlns:p14="http://schemas.microsoft.com/office/powerpoint/2010/main" val="14549690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7A2ED31-F451-4653-8D07-EDB633F5378F}"/>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12296247-BDF7-4F69-8786-D80800B7EDEE}"/>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AI history is also expectation history</a:t>
            </a:r>
          </a:p>
        </p:txBody>
      </p:sp>
      <p:sp>
        <p:nvSpPr>
          <p:cNvPr id="4" name="Shape 2">
            <a:extLst>
              <a:ext uri="{FF2B5EF4-FFF2-40B4-BE49-F238E27FC236}">
                <a16:creationId xmlns:a16="http://schemas.microsoft.com/office/drawing/2014/main" id="{86817AED-4697-46B6-8211-0B5A533B7787}"/>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37F412D-C850-42BD-AAF6-AFD56891582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8D17A30-7D13-4222-8A86-C9926A89A5F2}"/>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E1A1C4F2-DD89-418A-A605-CCA92794F72B}"/>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9</a:t>
            </a:r>
          </a:p>
        </p:txBody>
      </p:sp>
      <p:sp>
        <p:nvSpPr>
          <p:cNvPr id="8" name="Text 6">
            <a:extLst>
              <a:ext uri="{FF2B5EF4-FFF2-40B4-BE49-F238E27FC236}">
                <a16:creationId xmlns:a16="http://schemas.microsoft.com/office/drawing/2014/main" id="{F271FA15-8C28-40B1-9CFE-BFC7105A9EE9}"/>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Every wave produces genuine advances—and claims that exceed the evidence.</a:t>
            </a:r>
          </a:p>
        </p:txBody>
      </p:sp>
      <p:sp>
        <p:nvSpPr>
          <p:cNvPr id="9" name="Text 7">
            <a:extLst>
              <a:ext uri="{FF2B5EF4-FFF2-40B4-BE49-F238E27FC236}">
                <a16:creationId xmlns:a16="http://schemas.microsoft.com/office/drawing/2014/main" id="{5C99973F-8DD0-4EF7-AC17-5B9317E6731E}"/>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What improves</a:t>
            </a:r>
          </a:p>
        </p:txBody>
      </p:sp>
      <p:sp>
        <p:nvSpPr>
          <p:cNvPr id="10" name="Text 8">
            <a:extLst>
              <a:ext uri="{FF2B5EF4-FFF2-40B4-BE49-F238E27FC236}">
                <a16:creationId xmlns:a16="http://schemas.microsoft.com/office/drawing/2014/main" id="{725084DF-E77F-4B3B-86B5-E0C6A30FAADE}"/>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Computational capability</a:t>
            </a:r>
          </a:p>
          <a:p>
            <a:pPr marL="0" indent="0">
              <a:buNone/>
            </a:pPr>
            <a:r>
              <a:rPr sz="1950">
                <a:solidFill>
                  <a:srgbClr val="4B5563"/>
                </a:solidFill>
                <a:latin typeface="Aptos"/>
                <a:ea typeface="Aptos"/>
                <a:cs typeface="Aptos"/>
              </a:rPr>
              <a:t>• Range of tasks</a:t>
            </a:r>
          </a:p>
          <a:p>
            <a:pPr marL="0" indent="0">
              <a:buNone/>
            </a:pPr>
            <a:r>
              <a:rPr sz="1950">
                <a:solidFill>
                  <a:srgbClr val="4B5563"/>
                </a:solidFill>
                <a:latin typeface="Aptos"/>
                <a:ea typeface="Aptos"/>
                <a:cs typeface="Aptos"/>
              </a:rPr>
              <a:t>• Accessibility</a:t>
            </a:r>
          </a:p>
          <a:p>
            <a:pPr marL="0" indent="0">
              <a:buNone/>
            </a:pPr>
            <a:r>
              <a:rPr sz="1950">
                <a:solidFill>
                  <a:srgbClr val="4B5563"/>
                </a:solidFill>
                <a:latin typeface="Aptos"/>
                <a:ea typeface="Aptos"/>
                <a:cs typeface="Aptos"/>
              </a:rPr>
              <a:t>• Speed and scale</a:t>
            </a:r>
          </a:p>
        </p:txBody>
      </p:sp>
      <p:sp>
        <p:nvSpPr>
          <p:cNvPr id="11" name="Shape 9">
            <a:extLst>
              <a:ext uri="{FF2B5EF4-FFF2-40B4-BE49-F238E27FC236}">
                <a16:creationId xmlns:a16="http://schemas.microsoft.com/office/drawing/2014/main" id="{BFA24EB4-9653-4308-80C3-A1F03F3290CD}"/>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C1B9D88A-7A8C-4B1F-9C81-86CE09FB7C08}"/>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What persists</a:t>
            </a:r>
          </a:p>
        </p:txBody>
      </p:sp>
      <p:sp>
        <p:nvSpPr>
          <p:cNvPr id="13" name="Text 11">
            <a:extLst>
              <a:ext uri="{FF2B5EF4-FFF2-40B4-BE49-F238E27FC236}">
                <a16:creationId xmlns:a16="http://schemas.microsoft.com/office/drawing/2014/main" id="{6208632F-9F9C-4F78-80D4-B8DAAEB39441}"/>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Boundary failures</a:t>
            </a:r>
          </a:p>
          <a:p>
            <a:pPr marL="0" indent="0">
              <a:buNone/>
            </a:pPr>
            <a:r>
              <a:rPr sz="1950">
                <a:solidFill>
                  <a:srgbClr val="4B5563"/>
                </a:solidFill>
                <a:latin typeface="Aptos"/>
                <a:ea typeface="Aptos"/>
                <a:cs typeface="Aptos"/>
              </a:rPr>
              <a:t>• Context sensitivity</a:t>
            </a:r>
          </a:p>
          <a:p>
            <a:pPr marL="0" indent="0">
              <a:buNone/>
            </a:pPr>
            <a:r>
              <a:rPr sz="1950">
                <a:solidFill>
                  <a:srgbClr val="4B5563"/>
                </a:solidFill>
                <a:latin typeface="Aptos"/>
                <a:ea typeface="Aptos"/>
                <a:cs typeface="Aptos"/>
              </a:rPr>
              <a:t>• Human overexpectation</a:t>
            </a:r>
          </a:p>
          <a:p>
            <a:pPr marL="0" indent="0">
              <a:buNone/>
            </a:pPr>
            <a:r>
              <a:rPr sz="1950">
                <a:solidFill>
                  <a:srgbClr val="4B5563"/>
                </a:solidFill>
                <a:latin typeface="Aptos"/>
                <a:ea typeface="Aptos"/>
                <a:cs typeface="Aptos"/>
              </a:rPr>
              <a:t>• Need for verification</a:t>
            </a:r>
          </a:p>
        </p:txBody>
      </p:sp>
    </p:spTree>
    <p:extLst>
      <p:ext uri="{BB962C8B-B14F-4D97-AF65-F5344CB8AC3E}">
        <p14:creationId xmlns:p14="http://schemas.microsoft.com/office/powerpoint/2010/main" val="1825784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98C29C-30A9-4DE1-BD65-A0AAC7C1E71C}"/>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CCAE0A4A-5E42-46D1-89E3-20781DD30D3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Several forces converged</a:t>
            </a:r>
          </a:p>
        </p:txBody>
      </p:sp>
      <p:sp>
        <p:nvSpPr>
          <p:cNvPr id="4" name="Shape 2">
            <a:extLst>
              <a:ext uri="{FF2B5EF4-FFF2-40B4-BE49-F238E27FC236}">
                <a16:creationId xmlns:a16="http://schemas.microsoft.com/office/drawing/2014/main" id="{6C4CE499-DD41-4401-9EB7-F87D6A05681E}"/>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A4EFA3B-DD9D-4496-BF65-C20903362965}"/>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EA039F5-6EDE-4AA5-82AF-7A805947E4E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4D5478E2-296B-4A30-A965-284B0D5C1A2E}"/>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10</a:t>
            </a:r>
          </a:p>
        </p:txBody>
      </p:sp>
      <p:sp>
        <p:nvSpPr>
          <p:cNvPr id="8" name="Text 6">
            <a:extLst>
              <a:ext uri="{FF2B5EF4-FFF2-40B4-BE49-F238E27FC236}">
                <a16:creationId xmlns:a16="http://schemas.microsoft.com/office/drawing/2014/main" id="{3F7EB291-ADF4-42F0-9E0C-411AD591308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The current expansion of AI did not come from one breakthrough. Several technical and social forces converged to make advanced capabilities powerful, reusable, and easy to access.</a:t>
            </a:r>
          </a:p>
        </p:txBody>
      </p:sp>
      <p:sp>
        <p:nvSpPr>
          <p:cNvPr id="10" name="Text 8">
            <a:extLst>
              <a:ext uri="{FF2B5EF4-FFF2-40B4-BE49-F238E27FC236}">
                <a16:creationId xmlns:a16="http://schemas.microsoft.com/office/drawing/2014/main" id="{3A20E314-5AF3-4976-B5B5-9D8C5C26000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Large-scale digital data supported broader pattern learning.</a:t>
            </a:r>
          </a:p>
          <a:p>
            <a:pPr marL="0" indent="0">
              <a:buNone/>
            </a:pPr>
            <a:r>
              <a:rPr sz="2025">
                <a:solidFill>
                  <a:srgbClr val="4B5563"/>
                </a:solidFill>
                <a:latin typeface="Aptos"/>
                <a:ea typeface="Aptos"/>
                <a:cs typeface="Aptos"/>
              </a:rPr>
              <a:t>• Greater computing capacity made larger models feasible.</a:t>
            </a:r>
          </a:p>
          <a:p>
            <a:pPr marL="0" indent="0">
              <a:buNone/>
            </a:pPr>
            <a:r>
              <a:rPr sz="2025">
                <a:solidFill>
                  <a:srgbClr val="4B5563"/>
                </a:solidFill>
                <a:latin typeface="Aptos"/>
                <a:ea typeface="Aptos"/>
                <a:cs typeface="Aptos"/>
              </a:rPr>
              <a:t>• Improved architectures expanded the range of learnable relationships.</a:t>
            </a:r>
          </a:p>
          <a:p>
            <a:pPr marL="0" indent="0">
              <a:buNone/>
            </a:pPr>
            <a:r>
              <a:rPr sz="2025">
                <a:solidFill>
                  <a:srgbClr val="4B5563"/>
                </a:solidFill>
                <a:latin typeface="Aptos"/>
                <a:ea typeface="Aptos"/>
                <a:cs typeface="Aptos"/>
              </a:rPr>
              <a:t>• Foundation models could be reused across many tasks.</a:t>
            </a:r>
          </a:p>
          <a:p>
            <a:pPr marL="0" indent="0">
              <a:buNone/>
            </a:pPr>
            <a:r>
              <a:rPr sz="2025">
                <a:solidFill>
                  <a:srgbClr val="4B5563"/>
                </a:solidFill>
                <a:latin typeface="Aptos"/>
                <a:ea typeface="Aptos"/>
                <a:cs typeface="Aptos"/>
              </a:rPr>
              <a:t>• Natural-language interfaces placed those capabilities in everyday workflows.</a:t>
            </a:r>
          </a:p>
        </p:txBody>
      </p:sp>
    </p:spTree>
    <p:extLst>
      <p:ext uri="{BB962C8B-B14F-4D97-AF65-F5344CB8AC3E}">
        <p14:creationId xmlns:p14="http://schemas.microsoft.com/office/powerpoint/2010/main" val="13597349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397181-6944-45B5-84D0-34287A15CF50}"/>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3E68617D-057F-44A0-B9BD-5A915B7BF67E}"/>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AI is not one tool</a:t>
            </a:r>
          </a:p>
        </p:txBody>
      </p:sp>
      <p:sp>
        <p:nvSpPr>
          <p:cNvPr id="4" name="Shape 2">
            <a:extLst>
              <a:ext uri="{FF2B5EF4-FFF2-40B4-BE49-F238E27FC236}">
                <a16:creationId xmlns:a16="http://schemas.microsoft.com/office/drawing/2014/main" id="{F6575964-BC70-4770-960A-2ACF36678F7D}"/>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40FF7AFE-5F1E-4847-A1C5-ABBDA1E1BDA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6BA8CBC3-E598-4E0E-A465-7A45B7A43EA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8D4CBBBA-9D7C-4BEB-9452-CF924A757181}"/>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11</a:t>
            </a:r>
          </a:p>
        </p:txBody>
      </p:sp>
      <p:sp>
        <p:nvSpPr>
          <p:cNvPr id="8" name="Text 6">
            <a:extLst>
              <a:ext uri="{FF2B5EF4-FFF2-40B4-BE49-F238E27FC236}">
                <a16:creationId xmlns:a16="http://schemas.microsoft.com/office/drawing/2014/main" id="{17495DB9-60D4-4016-89C4-E49B74068E3D}"/>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Different tasks call for different capabilities and different levels of oversight.</a:t>
            </a:r>
          </a:p>
        </p:txBody>
      </p:sp>
      <p:sp>
        <p:nvSpPr>
          <p:cNvPr id="9" name="Text 7">
            <a:extLst>
              <a:ext uri="{FF2B5EF4-FFF2-40B4-BE49-F238E27FC236}">
                <a16:creationId xmlns:a16="http://schemas.microsoft.com/office/drawing/2014/main" id="{4CEAEB7C-D725-43AF-A016-6453B4A0E6A4}"/>
              </a:ext>
            </a:extLst>
          </p:cNvPr>
          <p:cNvSpPr>
            <a:spLocks noGrp="1"/>
          </p:cNvSpPr>
          <p:nvPr/>
        </p:nvSpPr>
        <p:spPr>
          <a:xfrm>
            <a:off x="914400" y="2148840"/>
            <a:ext cx="2971800" cy="502920"/>
          </a:xfrm>
          <a:prstGeom prst="roundRect">
            <a:avLst/>
          </a:prstGeom>
          <a:solidFill>
            <a:srgbClr val="0B1F3A"/>
          </a:solidFill>
          <a:ln w="12700">
            <a:solidFill>
              <a:srgbClr val="0B1F3A"/>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Predictive</a:t>
            </a:r>
          </a:p>
        </p:txBody>
      </p:sp>
      <p:sp>
        <p:nvSpPr>
          <p:cNvPr id="10" name="Text 8">
            <a:extLst>
              <a:ext uri="{FF2B5EF4-FFF2-40B4-BE49-F238E27FC236}">
                <a16:creationId xmlns:a16="http://schemas.microsoft.com/office/drawing/2014/main" id="{AEFAD1E2-5EC5-41E3-89F4-046E0647A512}"/>
              </a:ext>
            </a:extLst>
          </p:cNvPr>
          <p:cNvSpPr>
            <a:spLocks noGrp="1"/>
          </p:cNvSpPr>
          <p:nvPr/>
        </p:nvSpPr>
        <p:spPr>
          <a:xfrm>
            <a:off x="96012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Estimate future disease outcomes</a:t>
            </a:r>
          </a:p>
          <a:p>
            <a:pPr marL="0" indent="0">
              <a:buNone/>
            </a:pPr>
            <a:r>
              <a:rPr sz="1800">
                <a:solidFill>
                  <a:srgbClr val="4B5563"/>
                </a:solidFill>
                <a:latin typeface="Aptos"/>
                <a:ea typeface="Aptos"/>
                <a:cs typeface="Aptos"/>
              </a:rPr>
              <a:t>• Produce probabilities or counts</a:t>
            </a:r>
          </a:p>
          <a:p>
            <a:pPr marL="0" indent="0">
              <a:buNone/>
            </a:pPr>
            <a:r>
              <a:rPr sz="1800">
                <a:solidFill>
                  <a:srgbClr val="4B5563"/>
                </a:solidFill>
                <a:latin typeface="Aptos"/>
                <a:ea typeface="Aptos"/>
                <a:cs typeface="Aptos"/>
              </a:rPr>
              <a:t>• Evaluate with held-out data</a:t>
            </a:r>
          </a:p>
        </p:txBody>
      </p:sp>
      <p:sp>
        <p:nvSpPr>
          <p:cNvPr id="11" name="Text 9">
            <a:extLst>
              <a:ext uri="{FF2B5EF4-FFF2-40B4-BE49-F238E27FC236}">
                <a16:creationId xmlns:a16="http://schemas.microsoft.com/office/drawing/2014/main" id="{7A7C2611-BB0C-4B91-BDFD-45067204D082}"/>
              </a:ext>
            </a:extLst>
          </p:cNvPr>
          <p:cNvSpPr>
            <a:spLocks noGrp="1"/>
          </p:cNvSpPr>
          <p:nvPr/>
        </p:nvSpPr>
        <p:spPr>
          <a:xfrm>
            <a:off x="4617720" y="2148840"/>
            <a:ext cx="2971800" cy="502920"/>
          </a:xfrm>
          <a:prstGeom prst="roundRect">
            <a:avLst/>
          </a:prstGeom>
          <a:solidFill>
            <a:srgbClr val="2563EB"/>
          </a:solidFill>
          <a:ln w="12700">
            <a:solidFill>
              <a:srgbClr val="2563EB"/>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Generative</a:t>
            </a:r>
          </a:p>
        </p:txBody>
      </p:sp>
      <p:sp>
        <p:nvSpPr>
          <p:cNvPr id="12" name="Text 10">
            <a:extLst>
              <a:ext uri="{FF2B5EF4-FFF2-40B4-BE49-F238E27FC236}">
                <a16:creationId xmlns:a16="http://schemas.microsoft.com/office/drawing/2014/main" id="{864BEEA7-12B9-48C6-ACF0-CFAF16554C43}"/>
              </a:ext>
            </a:extLst>
          </p:cNvPr>
          <p:cNvSpPr>
            <a:spLocks noGrp="1"/>
          </p:cNvSpPr>
          <p:nvPr/>
        </p:nvSpPr>
        <p:spPr>
          <a:xfrm>
            <a:off x="466344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Explain and critique</a:t>
            </a:r>
          </a:p>
          <a:p>
            <a:pPr marL="0" indent="0">
              <a:buNone/>
            </a:pPr>
            <a:r>
              <a:rPr sz="1800">
                <a:solidFill>
                  <a:srgbClr val="4B5563"/>
                </a:solidFill>
                <a:latin typeface="Aptos"/>
                <a:ea typeface="Aptos"/>
                <a:cs typeface="Aptos"/>
              </a:rPr>
              <a:t>• Draft code or documentation</a:t>
            </a:r>
          </a:p>
          <a:p>
            <a:pPr marL="0" indent="0">
              <a:buNone/>
            </a:pPr>
            <a:r>
              <a:rPr sz="1800">
                <a:solidFill>
                  <a:srgbClr val="4B5563"/>
                </a:solidFill>
                <a:latin typeface="Aptos"/>
                <a:ea typeface="Aptos"/>
                <a:cs typeface="Aptos"/>
              </a:rPr>
              <a:t>• Explore alternatives</a:t>
            </a:r>
          </a:p>
        </p:txBody>
      </p:sp>
      <p:sp>
        <p:nvSpPr>
          <p:cNvPr id="13" name="Text 11">
            <a:extLst>
              <a:ext uri="{FF2B5EF4-FFF2-40B4-BE49-F238E27FC236}">
                <a16:creationId xmlns:a16="http://schemas.microsoft.com/office/drawing/2014/main" id="{4AA0B1F9-9B92-48B2-9B16-0497D634DDE3}"/>
              </a:ext>
            </a:extLst>
          </p:cNvPr>
          <p:cNvSpPr>
            <a:spLocks noGrp="1"/>
          </p:cNvSpPr>
          <p:nvPr/>
        </p:nvSpPr>
        <p:spPr>
          <a:xfrm>
            <a:off x="8321040" y="2148840"/>
            <a:ext cx="2971800" cy="502920"/>
          </a:xfrm>
          <a:prstGeom prst="roundRect">
            <a:avLst/>
          </a:prstGeom>
          <a:solidFill>
            <a:srgbClr val="0F766E"/>
          </a:solidFill>
          <a:ln w="12700">
            <a:solidFill>
              <a:srgbClr val="0F766E"/>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Agentic</a:t>
            </a:r>
          </a:p>
        </p:txBody>
      </p:sp>
      <p:sp>
        <p:nvSpPr>
          <p:cNvPr id="14" name="Text 12">
            <a:extLst>
              <a:ext uri="{FF2B5EF4-FFF2-40B4-BE49-F238E27FC236}">
                <a16:creationId xmlns:a16="http://schemas.microsoft.com/office/drawing/2014/main" id="{2E1BDFF2-D518-4612-B2F2-03D6CDD19ACD}"/>
              </a:ext>
            </a:extLst>
          </p:cNvPr>
          <p:cNvSpPr>
            <a:spLocks noGrp="1"/>
          </p:cNvSpPr>
          <p:nvPr/>
        </p:nvSpPr>
        <p:spPr>
          <a:xfrm>
            <a:off x="836676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Work across files</a:t>
            </a:r>
          </a:p>
          <a:p>
            <a:pPr marL="0" indent="0">
              <a:buNone/>
            </a:pPr>
            <a:r>
              <a:rPr sz="1800">
                <a:solidFill>
                  <a:srgbClr val="4B5563"/>
                </a:solidFill>
                <a:latin typeface="Aptos"/>
                <a:ea typeface="Aptos"/>
                <a:cs typeface="Aptos"/>
              </a:rPr>
              <a:t>• Run tools and tests</a:t>
            </a:r>
          </a:p>
          <a:p>
            <a:pPr marL="0" indent="0">
              <a:buNone/>
            </a:pPr>
            <a:r>
              <a:rPr sz="1800">
                <a:solidFill>
                  <a:srgbClr val="4B5563"/>
                </a:solidFill>
                <a:latin typeface="Aptos"/>
                <a:ea typeface="Aptos"/>
                <a:cs typeface="Aptos"/>
              </a:rPr>
              <a:t>• Requires stronger boundaries</a:t>
            </a:r>
          </a:p>
        </p:txBody>
      </p:sp>
    </p:spTree>
    <p:extLst>
      <p:ext uri="{BB962C8B-B14F-4D97-AF65-F5344CB8AC3E}">
        <p14:creationId xmlns:p14="http://schemas.microsoft.com/office/powerpoint/2010/main" val="531570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98C29C-30A9-4DE1-BD65-A0AAC7C1E71C}"/>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2 | WHAT AI IS</a:t>
            </a:r>
          </a:p>
        </p:txBody>
      </p:sp>
      <p:sp>
        <p:nvSpPr>
          <p:cNvPr id="3" name="Text 1">
            <a:extLst>
              <a:ext uri="{FF2B5EF4-FFF2-40B4-BE49-F238E27FC236}">
                <a16:creationId xmlns:a16="http://schemas.microsoft.com/office/drawing/2014/main" id="{CCAE0A4A-5E42-46D1-89E3-20781DD30D3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AI can miss the mark confidently</a:t>
            </a:r>
          </a:p>
        </p:txBody>
      </p:sp>
      <p:sp>
        <p:nvSpPr>
          <p:cNvPr id="4" name="Shape 2">
            <a:extLst>
              <a:ext uri="{FF2B5EF4-FFF2-40B4-BE49-F238E27FC236}">
                <a16:creationId xmlns:a16="http://schemas.microsoft.com/office/drawing/2014/main" id="{6C4CE499-DD41-4401-9EB7-F87D6A05681E}"/>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A4EFA3B-DD9D-4496-BF65-C20903362965}"/>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EA039F5-6EDE-4AA5-82AF-7A805947E4E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8" name="Text 6">
            <a:extLst>
              <a:ext uri="{FF2B5EF4-FFF2-40B4-BE49-F238E27FC236}">
                <a16:creationId xmlns:a16="http://schemas.microsoft.com/office/drawing/2014/main" id="{3F7EB291-ADF4-42F0-9E0C-411AD591308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AI can produce a polished, complete-looking answer before the underlying analysis is valid. Confidence and fluency make these failures easy to miss during fast analytical work.</a:t>
            </a:r>
          </a:p>
        </p:txBody>
      </p:sp>
      <p:sp>
        <p:nvSpPr>
          <p:cNvPr id="9" name="Text 7">
            <a:extLst>
              <a:ext uri="{FF2B5EF4-FFF2-40B4-BE49-F238E27FC236}">
                <a16:creationId xmlns:a16="http://schemas.microsoft.com/office/drawing/2014/main" id="{2BB4975A-C425-4CBA-A566-8D12C9DEF406}"/>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Display"/>
                <a:ea typeface="Aptos Display"/>
                <a:cs typeface="Aptos Display"/>
              </a:rPr>
              <a:t>Fluency is a presentation property—not evidence of correctness.</a:t>
            </a:r>
          </a:p>
        </p:txBody>
      </p:sp>
      <p:sp>
        <p:nvSpPr>
          <p:cNvPr id="10" name="Text 8">
            <a:extLst>
              <a:ext uri="{FF2B5EF4-FFF2-40B4-BE49-F238E27FC236}">
                <a16:creationId xmlns:a16="http://schemas.microsoft.com/office/drawing/2014/main" id="{3A20E314-5AF3-4976-B5B5-9D8C5C26000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Invented facts, citations, variables, or data sources.</a:t>
            </a:r>
          </a:p>
          <a:p>
            <a:pPr marL="0" indent="0">
              <a:buNone/>
            </a:pPr>
            <a:r>
              <a:rPr sz="2025">
                <a:solidFill>
                  <a:srgbClr val="4B5563"/>
                </a:solidFill>
                <a:latin typeface="Aptos"/>
                <a:ea typeface="Aptos"/>
                <a:cs typeface="Aptos"/>
              </a:rPr>
              <a:t>• Incorrect code that still runs and produces plausible output.</a:t>
            </a:r>
          </a:p>
          <a:p>
            <a:pPr marL="0" indent="0">
              <a:buNone/>
            </a:pPr>
            <a:r>
              <a:rPr sz="2025">
                <a:solidFill>
                  <a:srgbClr val="4B5563"/>
                </a:solidFill>
                <a:latin typeface="Aptos"/>
                <a:ea typeface="Aptos"/>
                <a:cs typeface="Aptos"/>
              </a:rPr>
              <a:t>• Data leakage or inappropriate train–test separation.</a:t>
            </a:r>
          </a:p>
          <a:p>
            <a:pPr marL="0" indent="0">
              <a:buNone/>
            </a:pPr>
            <a:r>
              <a:rPr sz="2025">
                <a:solidFill>
                  <a:srgbClr val="4B5563"/>
                </a:solidFill>
                <a:latin typeface="Aptos"/>
                <a:ea typeface="Aptos"/>
                <a:cs typeface="Aptos"/>
              </a:rPr>
              <a:t>• Unsupported causal interpretations of observational patterns.</a:t>
            </a:r>
          </a:p>
          <a:p>
            <a:pPr marL="0" indent="0">
              <a:buNone/>
            </a:pPr>
            <a:r>
              <a:rPr sz="2025">
                <a:solidFill>
                  <a:srgbClr val="4B5563"/>
                </a:solidFill>
                <a:latin typeface="Aptos"/>
                <a:ea typeface="Aptos"/>
                <a:cs typeface="Aptos"/>
              </a:rPr>
              <a:t>• Excessive certainty and weak communication of uncertainty.</a:t>
            </a:r>
          </a:p>
        </p:txBody>
      </p:sp>
    </p:spTree>
    <p:extLst>
      <p:ext uri="{BB962C8B-B14F-4D97-AF65-F5344CB8AC3E}">
        <p14:creationId xmlns:p14="http://schemas.microsoft.com/office/powerpoint/2010/main" val="13597349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1">
            <a:extLst>
              <a:ext uri="{FF2B5EF4-FFF2-40B4-BE49-F238E27FC236}">
                <a16:creationId xmlns:a16="http://schemas.microsoft.com/office/drawing/2014/main" id="{866F1FE7-C4F5-FE61-80E3-AD3591906414}"/>
              </a:ext>
            </a:extLst>
          </p:cNvPr>
          <p:cNvSpPr>
            <a:spLocks noGrp="1"/>
          </p:cNvSpPr>
          <p:nvPr/>
        </p:nvSpPr>
        <p:spPr>
          <a:xfrm>
            <a:off x="1098368" y="2504803"/>
            <a:ext cx="9995263" cy="1566454"/>
          </a:xfrm>
          <a:prstGeom prst="rect">
            <a:avLst/>
          </a:prstGeom>
          <a:noFill/>
        </p:spPr>
        <p:txBody>
          <a:bodyPr wrap="square" lIns="0" tIns="0" rIns="0" bIns="0" anchor="ctr">
            <a:normAutofit fontScale="97500"/>
          </a:bodyPr>
          <a:lstStyle/>
          <a:p>
            <a:pPr marL="0" indent="0" algn="ctr">
              <a:buNone/>
            </a:pPr>
            <a:r>
              <a:rPr lang="en-US" sz="4000" b="1" dirty="0">
                <a:solidFill>
                  <a:srgbClr val="102544"/>
                </a:solidFill>
                <a:latin typeface="Aptos Display"/>
                <a:ea typeface="Aptos Display"/>
                <a:cs typeface="Aptos Display"/>
              </a:rPr>
              <a:t>Human-AI Teaming</a:t>
            </a:r>
            <a:endParaRPr sz="4000" b="1" dirty="0">
              <a:solidFill>
                <a:srgbClr val="102544"/>
              </a:solidFill>
              <a:latin typeface="Aptos Display"/>
              <a:ea typeface="Aptos Display"/>
              <a:cs typeface="Aptos Display"/>
            </a:endParaRPr>
          </a:p>
        </p:txBody>
      </p:sp>
    </p:spTree>
    <p:extLst>
      <p:ext uri="{BB962C8B-B14F-4D97-AF65-F5344CB8AC3E}">
        <p14:creationId xmlns:p14="http://schemas.microsoft.com/office/powerpoint/2010/main" val="316834188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397181-6944-45B5-84D0-34287A15CF50}"/>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3 | WHAT TEAMING IS</a:t>
            </a:r>
          </a:p>
        </p:txBody>
      </p:sp>
      <p:sp>
        <p:nvSpPr>
          <p:cNvPr id="3" name="Text 1">
            <a:extLst>
              <a:ext uri="{FF2B5EF4-FFF2-40B4-BE49-F238E27FC236}">
                <a16:creationId xmlns:a16="http://schemas.microsoft.com/office/drawing/2014/main" id="{3E68617D-057F-44A0-B9BD-5A915B7BF67E}"/>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dirty="0">
                <a:solidFill>
                  <a:srgbClr val="102544"/>
                </a:solidFill>
                <a:latin typeface="Aptos Display"/>
                <a:ea typeface="Aptos Display"/>
                <a:cs typeface="Aptos Display"/>
              </a:rPr>
              <a:t>Not every AI use is teaming</a:t>
            </a:r>
          </a:p>
        </p:txBody>
      </p:sp>
      <p:sp>
        <p:nvSpPr>
          <p:cNvPr id="4" name="Shape 2">
            <a:extLst>
              <a:ext uri="{FF2B5EF4-FFF2-40B4-BE49-F238E27FC236}">
                <a16:creationId xmlns:a16="http://schemas.microsoft.com/office/drawing/2014/main" id="{F6575964-BC70-4770-960A-2ACF36678F7D}"/>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40FF7AFE-5F1E-4847-A1C5-ABBDA1E1BDA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6BA8CBC3-E598-4E0E-A465-7A45B7A43EA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8D4CBBBA-9D7C-4BEB-9452-CF924A757181}"/>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15</a:t>
            </a:r>
          </a:p>
        </p:txBody>
      </p:sp>
      <p:sp>
        <p:nvSpPr>
          <p:cNvPr id="8" name="Text 6">
            <a:extLst>
              <a:ext uri="{FF2B5EF4-FFF2-40B4-BE49-F238E27FC236}">
                <a16:creationId xmlns:a16="http://schemas.microsoft.com/office/drawing/2014/main" id="{17495DB9-60D4-4016-89C4-E49B74068E3D}"/>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Human–AI relationships differ in agency, interdependence, and coordination.</a:t>
            </a:r>
          </a:p>
        </p:txBody>
      </p:sp>
      <p:sp>
        <p:nvSpPr>
          <p:cNvPr id="9" name="Text 7">
            <a:extLst>
              <a:ext uri="{FF2B5EF4-FFF2-40B4-BE49-F238E27FC236}">
                <a16:creationId xmlns:a16="http://schemas.microsoft.com/office/drawing/2014/main" id="{4CEAEB7C-D725-43AF-A016-6453B4A0E6A4}"/>
              </a:ext>
            </a:extLst>
          </p:cNvPr>
          <p:cNvSpPr>
            <a:spLocks noGrp="1"/>
          </p:cNvSpPr>
          <p:nvPr/>
        </p:nvSpPr>
        <p:spPr>
          <a:xfrm>
            <a:off x="914400" y="2148840"/>
            <a:ext cx="2971800" cy="502920"/>
          </a:xfrm>
          <a:prstGeom prst="roundRect">
            <a:avLst/>
          </a:prstGeom>
          <a:solidFill>
            <a:srgbClr val="0B1F3A"/>
          </a:solidFill>
          <a:ln w="12700">
            <a:solidFill>
              <a:srgbClr val="0B1F3A"/>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Tool</a:t>
            </a:r>
          </a:p>
        </p:txBody>
      </p:sp>
      <p:sp>
        <p:nvSpPr>
          <p:cNvPr id="10" name="Text 8">
            <a:extLst>
              <a:ext uri="{FF2B5EF4-FFF2-40B4-BE49-F238E27FC236}">
                <a16:creationId xmlns:a16="http://schemas.microsoft.com/office/drawing/2014/main" id="{AEFAD1E2-5EC5-41E3-89F4-046E0647A512}"/>
              </a:ext>
            </a:extLst>
          </p:cNvPr>
          <p:cNvSpPr>
            <a:spLocks noGrp="1"/>
          </p:cNvSpPr>
          <p:nvPr/>
        </p:nvSpPr>
        <p:spPr>
          <a:xfrm>
            <a:off x="96012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Executes a defined operation</a:t>
            </a:r>
          </a:p>
          <a:p>
            <a:pPr marL="0" indent="0">
              <a:buNone/>
            </a:pPr>
            <a:r>
              <a:rPr sz="1800">
                <a:solidFill>
                  <a:srgbClr val="4B5563"/>
                </a:solidFill>
                <a:latin typeface="Aptos"/>
                <a:ea typeface="Aptos"/>
                <a:cs typeface="Aptos"/>
              </a:rPr>
              <a:t>• Limited initiative</a:t>
            </a:r>
          </a:p>
          <a:p>
            <a:pPr marL="0" indent="0">
              <a:buNone/>
            </a:pPr>
            <a:r>
              <a:rPr sz="1800">
                <a:solidFill>
                  <a:srgbClr val="4B5563"/>
                </a:solidFill>
                <a:latin typeface="Aptos"/>
                <a:ea typeface="Aptos"/>
                <a:cs typeface="Aptos"/>
              </a:rPr>
              <a:t>• Human directs the function</a:t>
            </a:r>
          </a:p>
        </p:txBody>
      </p:sp>
      <p:sp>
        <p:nvSpPr>
          <p:cNvPr id="11" name="Text 9">
            <a:extLst>
              <a:ext uri="{FF2B5EF4-FFF2-40B4-BE49-F238E27FC236}">
                <a16:creationId xmlns:a16="http://schemas.microsoft.com/office/drawing/2014/main" id="{7A7C2611-BB0C-4B91-BDFD-45067204D082}"/>
              </a:ext>
            </a:extLst>
          </p:cNvPr>
          <p:cNvSpPr>
            <a:spLocks noGrp="1"/>
          </p:cNvSpPr>
          <p:nvPr/>
        </p:nvSpPr>
        <p:spPr>
          <a:xfrm>
            <a:off x="4617720" y="2148840"/>
            <a:ext cx="2971800" cy="502920"/>
          </a:xfrm>
          <a:prstGeom prst="roundRect">
            <a:avLst/>
          </a:prstGeom>
          <a:solidFill>
            <a:srgbClr val="2563EB"/>
          </a:solidFill>
          <a:ln w="12700">
            <a:solidFill>
              <a:srgbClr val="2563EB"/>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Assistant / collaborator</a:t>
            </a:r>
          </a:p>
        </p:txBody>
      </p:sp>
      <p:sp>
        <p:nvSpPr>
          <p:cNvPr id="12" name="Text 10">
            <a:extLst>
              <a:ext uri="{FF2B5EF4-FFF2-40B4-BE49-F238E27FC236}">
                <a16:creationId xmlns:a16="http://schemas.microsoft.com/office/drawing/2014/main" id="{864BEEA7-12B9-48C6-ACF0-CFAF16554C43}"/>
              </a:ext>
            </a:extLst>
          </p:cNvPr>
          <p:cNvSpPr>
            <a:spLocks noGrp="1"/>
          </p:cNvSpPr>
          <p:nvPr/>
        </p:nvSpPr>
        <p:spPr>
          <a:xfrm>
            <a:off x="466344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Responds and iterates</a:t>
            </a:r>
          </a:p>
          <a:p>
            <a:pPr marL="0" indent="0">
              <a:buNone/>
            </a:pPr>
            <a:r>
              <a:rPr sz="1800">
                <a:solidFill>
                  <a:srgbClr val="4B5563"/>
                </a:solidFill>
                <a:latin typeface="Aptos"/>
                <a:ea typeface="Aptos"/>
                <a:cs typeface="Aptos"/>
              </a:rPr>
              <a:t>• Supports a shared product</a:t>
            </a:r>
          </a:p>
          <a:p>
            <a:pPr marL="0" indent="0">
              <a:buNone/>
            </a:pPr>
            <a:r>
              <a:rPr sz="1800">
                <a:solidFill>
                  <a:srgbClr val="4B5563"/>
                </a:solidFill>
                <a:latin typeface="Aptos"/>
                <a:ea typeface="Aptos"/>
                <a:cs typeface="Aptos"/>
              </a:rPr>
              <a:t>• Moderate coordination</a:t>
            </a:r>
          </a:p>
        </p:txBody>
      </p:sp>
      <p:sp>
        <p:nvSpPr>
          <p:cNvPr id="13" name="Text 11">
            <a:extLst>
              <a:ext uri="{FF2B5EF4-FFF2-40B4-BE49-F238E27FC236}">
                <a16:creationId xmlns:a16="http://schemas.microsoft.com/office/drawing/2014/main" id="{4AA0B1F9-9B92-48B2-9B16-0497D634DDE3}"/>
              </a:ext>
            </a:extLst>
          </p:cNvPr>
          <p:cNvSpPr>
            <a:spLocks noGrp="1"/>
          </p:cNvSpPr>
          <p:nvPr/>
        </p:nvSpPr>
        <p:spPr>
          <a:xfrm>
            <a:off x="8321040" y="2148840"/>
            <a:ext cx="2971800" cy="502920"/>
          </a:xfrm>
          <a:prstGeom prst="roundRect">
            <a:avLst/>
          </a:prstGeom>
          <a:solidFill>
            <a:srgbClr val="0F766E"/>
          </a:solidFill>
          <a:ln w="12700">
            <a:solidFill>
              <a:srgbClr val="0F766E"/>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Teammate</a:t>
            </a:r>
          </a:p>
        </p:txBody>
      </p:sp>
      <p:sp>
        <p:nvSpPr>
          <p:cNvPr id="14" name="Text 12">
            <a:extLst>
              <a:ext uri="{FF2B5EF4-FFF2-40B4-BE49-F238E27FC236}">
                <a16:creationId xmlns:a16="http://schemas.microsoft.com/office/drawing/2014/main" id="{2E1BDFF2-D518-4612-B2F2-03D6CDD19ACD}"/>
              </a:ext>
            </a:extLst>
          </p:cNvPr>
          <p:cNvSpPr>
            <a:spLocks noGrp="1"/>
          </p:cNvSpPr>
          <p:nvPr/>
        </p:nvSpPr>
        <p:spPr>
          <a:xfrm>
            <a:off x="836676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Distinct role</a:t>
            </a:r>
          </a:p>
          <a:p>
            <a:pPr marL="0" indent="0">
              <a:buNone/>
            </a:pPr>
            <a:r>
              <a:rPr sz="1800">
                <a:solidFill>
                  <a:srgbClr val="4B5563"/>
                </a:solidFill>
                <a:latin typeface="Aptos"/>
                <a:ea typeface="Aptos"/>
                <a:cs typeface="Aptos"/>
              </a:rPr>
              <a:t>• Some agency</a:t>
            </a:r>
          </a:p>
          <a:p>
            <a:pPr marL="0" indent="0">
              <a:buNone/>
            </a:pPr>
            <a:r>
              <a:rPr sz="1800">
                <a:solidFill>
                  <a:srgbClr val="4B5563"/>
                </a:solidFill>
                <a:latin typeface="Aptos"/>
                <a:ea typeface="Aptos"/>
                <a:cs typeface="Aptos"/>
              </a:rPr>
              <a:t>• Interdependent contribution</a:t>
            </a:r>
          </a:p>
        </p:txBody>
      </p:sp>
    </p:spTree>
    <p:extLst>
      <p:ext uri="{BB962C8B-B14F-4D97-AF65-F5344CB8AC3E}">
        <p14:creationId xmlns:p14="http://schemas.microsoft.com/office/powerpoint/2010/main" val="53157014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98C29C-30A9-4DE1-BD65-A0AAC7C1E71C}"/>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3 | WHAT TEAMING IS</a:t>
            </a:r>
          </a:p>
        </p:txBody>
      </p:sp>
      <p:sp>
        <p:nvSpPr>
          <p:cNvPr id="3" name="Text 1">
            <a:extLst>
              <a:ext uri="{FF2B5EF4-FFF2-40B4-BE49-F238E27FC236}">
                <a16:creationId xmlns:a16="http://schemas.microsoft.com/office/drawing/2014/main" id="{CCAE0A4A-5E42-46D1-89E3-20781DD30D3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Human–AI teaming has boundaries</a:t>
            </a:r>
          </a:p>
        </p:txBody>
      </p:sp>
      <p:sp>
        <p:nvSpPr>
          <p:cNvPr id="4" name="Shape 2">
            <a:extLst>
              <a:ext uri="{FF2B5EF4-FFF2-40B4-BE49-F238E27FC236}">
                <a16:creationId xmlns:a16="http://schemas.microsoft.com/office/drawing/2014/main" id="{6C4CE499-DD41-4401-9EB7-F87D6A05681E}"/>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A4EFA3B-DD9D-4496-BF65-C20903362965}"/>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EA039F5-6EDE-4AA5-82AF-7A805947E4E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4D5478E2-296B-4A30-A965-284B0D5C1A2E}"/>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16</a:t>
            </a:r>
          </a:p>
        </p:txBody>
      </p:sp>
      <p:sp>
        <p:nvSpPr>
          <p:cNvPr id="8" name="Text 6">
            <a:extLst>
              <a:ext uri="{FF2B5EF4-FFF2-40B4-BE49-F238E27FC236}">
                <a16:creationId xmlns:a16="http://schemas.microsoft.com/office/drawing/2014/main" id="{3F7EB291-ADF4-42F0-9E0C-411AD591308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A human–AI team contains humans and autonomous agents working interdependently toward a shared objective. The relationship is defined by observable work—not by conversational language or a product label.</a:t>
            </a:r>
          </a:p>
        </p:txBody>
      </p:sp>
      <p:sp>
        <p:nvSpPr>
          <p:cNvPr id="9" name="Text 7">
            <a:extLst>
              <a:ext uri="{FF2B5EF4-FFF2-40B4-BE49-F238E27FC236}">
                <a16:creationId xmlns:a16="http://schemas.microsoft.com/office/drawing/2014/main" id="{2BB4975A-C425-4CBA-A566-8D12C9DEF406}"/>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Display"/>
                <a:ea typeface="Aptos Display"/>
                <a:cs typeface="Aptos Display"/>
              </a:rPr>
              <a:t>Shared goal + distinct roles + agency + interdependence distinguish teaming from basic automation.</a:t>
            </a:r>
          </a:p>
        </p:txBody>
      </p:sp>
      <p:sp>
        <p:nvSpPr>
          <p:cNvPr id="10" name="Text 8">
            <a:extLst>
              <a:ext uri="{FF2B5EF4-FFF2-40B4-BE49-F238E27FC236}">
                <a16:creationId xmlns:a16="http://schemas.microsoft.com/office/drawing/2014/main" id="{3A20E314-5AF3-4976-B5B5-9D8C5C26000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1875">
                <a:solidFill>
                  <a:srgbClr val="4B5563"/>
                </a:solidFill>
                <a:latin typeface="Aptos"/>
                <a:ea typeface="Aptos"/>
                <a:cs typeface="Aptos"/>
              </a:rPr>
              <a:t>• One or more humans and at least one AI agent.</a:t>
            </a:r>
          </a:p>
          <a:p>
            <a:pPr marL="0" indent="0">
              <a:buNone/>
            </a:pPr>
            <a:r>
              <a:rPr sz="1875">
                <a:solidFill>
                  <a:srgbClr val="4B5563"/>
                </a:solidFill>
                <a:latin typeface="Aptos"/>
                <a:ea typeface="Aptos"/>
                <a:cs typeface="Aptos"/>
              </a:rPr>
              <a:t>• A shared goal that organizes collective activity.</a:t>
            </a:r>
          </a:p>
          <a:p>
            <a:pPr marL="0" indent="0">
              <a:buNone/>
            </a:pPr>
            <a:r>
              <a:rPr sz="1875">
                <a:solidFill>
                  <a:srgbClr val="4B5563"/>
                </a:solidFill>
                <a:latin typeface="Aptos"/>
                <a:ea typeface="Aptos"/>
                <a:cs typeface="Aptos"/>
              </a:rPr>
              <a:t>• Distinct roles and unique contributions.</a:t>
            </a:r>
          </a:p>
          <a:p>
            <a:pPr marL="0" indent="0">
              <a:buNone/>
            </a:pPr>
            <a:r>
              <a:rPr sz="1875">
                <a:solidFill>
                  <a:srgbClr val="4B5563"/>
                </a:solidFill>
                <a:latin typeface="Aptos"/>
                <a:ea typeface="Aptos"/>
                <a:cs typeface="Aptos"/>
              </a:rPr>
              <a:t>• Interdependence in activity, information, or outcomes.</a:t>
            </a:r>
          </a:p>
          <a:p>
            <a:pPr marL="0" indent="0">
              <a:buNone/>
            </a:pPr>
            <a:r>
              <a:rPr sz="1875">
                <a:solidFill>
                  <a:srgbClr val="4B5563"/>
                </a:solidFill>
                <a:latin typeface="Aptos"/>
                <a:ea typeface="Aptos"/>
                <a:cs typeface="Aptos"/>
              </a:rPr>
              <a:t>• Performance evaluated at the team level.</a:t>
            </a:r>
          </a:p>
          <a:p>
            <a:pPr marL="0" indent="0">
              <a:buNone/>
            </a:pPr>
            <a:endParaRPr sz="1875">
              <a:solidFill>
                <a:srgbClr val="4B5563"/>
              </a:solidFill>
              <a:latin typeface="Aptos"/>
              <a:ea typeface="Aptos"/>
              <a:cs typeface="Aptos"/>
            </a:endParaRPr>
          </a:p>
          <a:p>
            <a:pPr marL="0" indent="0">
              <a:buNone/>
            </a:pPr>
            <a:r>
              <a:rPr sz="1875">
                <a:solidFill>
                  <a:srgbClr val="4B5563"/>
                </a:solidFill>
                <a:latin typeface="Aptos"/>
                <a:ea typeface="Aptos"/>
                <a:cs typeface="Aptos"/>
              </a:rPr>
              <a:t>O’Neill, McNeese, Barron, &amp; Schelble (2022)</a:t>
            </a:r>
          </a:p>
        </p:txBody>
      </p:sp>
    </p:spTree>
    <p:extLst>
      <p:ext uri="{BB962C8B-B14F-4D97-AF65-F5344CB8AC3E}">
        <p14:creationId xmlns:p14="http://schemas.microsoft.com/office/powerpoint/2010/main" val="1359734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BB6D56E-EDBA-474E-8E69-F1CD9303B058}"/>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3 | WHAT TEAMING IS</a:t>
            </a:r>
          </a:p>
        </p:txBody>
      </p:sp>
      <p:sp>
        <p:nvSpPr>
          <p:cNvPr id="3" name="Text 1">
            <a:extLst>
              <a:ext uri="{FF2B5EF4-FFF2-40B4-BE49-F238E27FC236}">
                <a16:creationId xmlns:a16="http://schemas.microsoft.com/office/drawing/2014/main" id="{B22BD5D9-C902-4146-A4B1-B222B32DC938}"/>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Is this actually a team?</a:t>
            </a:r>
          </a:p>
        </p:txBody>
      </p:sp>
      <p:sp>
        <p:nvSpPr>
          <p:cNvPr id="4" name="Shape 2">
            <a:extLst>
              <a:ext uri="{FF2B5EF4-FFF2-40B4-BE49-F238E27FC236}">
                <a16:creationId xmlns:a16="http://schemas.microsoft.com/office/drawing/2014/main" id="{3DADE9BF-7F23-4B55-BC05-71326C9F3402}"/>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DB5B67B-B8D4-4D56-993A-7E0C67669D90}"/>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77855731-48B4-496D-AE01-99D91AC02BE7}"/>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BA3DC85F-9A1C-4114-A3D2-32A70F2412F1}"/>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17</a:t>
            </a:r>
          </a:p>
        </p:txBody>
      </p:sp>
      <p:sp>
        <p:nvSpPr>
          <p:cNvPr id="8" name="Text 6">
            <a:extLst>
              <a:ext uri="{FF2B5EF4-FFF2-40B4-BE49-F238E27FC236}">
                <a16:creationId xmlns:a16="http://schemas.microsoft.com/office/drawing/2014/main" id="{0E1F9C31-510B-42BC-9231-6CE25E47B963}"/>
              </a:ext>
            </a:extLst>
          </p:cNvPr>
          <p:cNvSpPr>
            <a:spLocks noGrp="1"/>
          </p:cNvSpPr>
          <p:nvPr/>
        </p:nvSpPr>
        <p:spPr>
          <a:xfrm>
            <a:off x="685800" y="1381125"/>
            <a:ext cx="6191250" cy="1066800"/>
          </a:xfrm>
          <a:prstGeom prst="rect">
            <a:avLst/>
          </a:prstGeom>
          <a:noFill/>
        </p:spPr>
        <p:txBody>
          <a:bodyPr wrap="square" lIns="0" tIns="0" rIns="0" bIns="0" anchor="ctr">
            <a:noAutofit/>
          </a:bodyPr>
          <a:lstStyle/>
          <a:p>
            <a:pPr marL="0" indent="0">
              <a:buNone/>
            </a:pPr>
            <a:r>
              <a:rPr sz="2100" b="1">
                <a:solidFill>
                  <a:srgbClr val="0B1F3A"/>
                </a:solidFill>
                <a:latin typeface="Aptos Display"/>
                <a:ea typeface="Aptos Display"/>
                <a:cs typeface="Aptos Display"/>
              </a:rPr>
              <a:t>Use observable properties rather than metaphors or marketing language.</a:t>
            </a:r>
          </a:p>
        </p:txBody>
      </p:sp>
      <p:sp>
        <p:nvSpPr>
          <p:cNvPr id="9" name="Text 7">
            <a:extLst>
              <a:ext uri="{FF2B5EF4-FFF2-40B4-BE49-F238E27FC236}">
                <a16:creationId xmlns:a16="http://schemas.microsoft.com/office/drawing/2014/main" id="{D5FE350E-54F7-472F-9674-92072BFE5AF2}"/>
              </a:ext>
            </a:extLst>
          </p:cNvPr>
          <p:cNvSpPr>
            <a:spLocks noGrp="1"/>
          </p:cNvSpPr>
          <p:nvPr/>
        </p:nvSpPr>
        <p:spPr>
          <a:xfrm>
            <a:off x="914400" y="2705100"/>
            <a:ext cx="5438775" cy="2457450"/>
          </a:xfrm>
          <a:prstGeom prst="rect">
            <a:avLst/>
          </a:prstGeom>
          <a:noFill/>
        </p:spPr>
        <p:txBody>
          <a:bodyPr wrap="square" lIns="381" tIns="381" rIns="381" bIns="381" anchor="t">
            <a:noAutofit/>
          </a:bodyPr>
          <a:lstStyle/>
          <a:p>
            <a:pPr marL="0" indent="0">
              <a:buNone/>
            </a:pPr>
            <a:r>
              <a:rPr sz="1950" dirty="0">
                <a:solidFill>
                  <a:srgbClr val="4B5563"/>
                </a:solidFill>
                <a:latin typeface="Aptos"/>
                <a:ea typeface="Aptos"/>
                <a:cs typeface="Aptos"/>
              </a:rPr>
              <a:t>Ask whether the AI:</a:t>
            </a:r>
          </a:p>
          <a:p>
            <a:r>
              <a:rPr sz="1950" dirty="0">
                <a:solidFill>
                  <a:srgbClr val="4B5563"/>
                </a:solidFill>
                <a:latin typeface="Aptos"/>
                <a:ea typeface="Aptos"/>
                <a:cs typeface="Aptos"/>
              </a:rPr>
              <a:t>• Contributes something unique</a:t>
            </a:r>
          </a:p>
          <a:p>
            <a:pPr marL="0" indent="0">
              <a:buNone/>
            </a:pPr>
            <a:r>
              <a:rPr sz="1950" dirty="0">
                <a:solidFill>
                  <a:srgbClr val="4B5563"/>
                </a:solidFill>
                <a:latin typeface="Aptos"/>
                <a:ea typeface="Aptos"/>
                <a:cs typeface="Aptos"/>
              </a:rPr>
              <a:t>• Has decision latitude</a:t>
            </a:r>
          </a:p>
          <a:p>
            <a:pPr marL="0" indent="0">
              <a:buNone/>
            </a:pPr>
            <a:r>
              <a:rPr sz="1950" dirty="0">
                <a:solidFill>
                  <a:srgbClr val="4B5563"/>
                </a:solidFill>
                <a:latin typeface="Aptos"/>
                <a:ea typeface="Aptos"/>
                <a:cs typeface="Aptos"/>
              </a:rPr>
              <a:t>• Changes what the human does</a:t>
            </a:r>
          </a:p>
        </p:txBody>
      </p:sp>
      <p:sp>
        <p:nvSpPr>
          <p:cNvPr id="10" name="Text 8">
            <a:extLst>
              <a:ext uri="{FF2B5EF4-FFF2-40B4-BE49-F238E27FC236}">
                <a16:creationId xmlns:a16="http://schemas.microsoft.com/office/drawing/2014/main" id="{8AB4F48D-29A2-471A-A1ED-589A9E93F98F}"/>
              </a:ext>
            </a:extLst>
          </p:cNvPr>
          <p:cNvSpPr>
            <a:spLocks noGrp="1"/>
          </p:cNvSpPr>
          <p:nvPr/>
        </p:nvSpPr>
        <p:spPr>
          <a:xfrm>
            <a:off x="8058150" y="1381125"/>
            <a:ext cx="3810000" cy="400050"/>
          </a:xfrm>
          <a:prstGeom prst="rect">
            <a:avLst/>
          </a:prstGeom>
          <a:noFill/>
        </p:spPr>
        <p:txBody>
          <a:bodyPr wrap="square" lIns="0" tIns="0" rIns="0" bIns="0" anchor="ctr">
            <a:noAutofit/>
          </a:bodyPr>
          <a:lstStyle/>
          <a:p>
            <a:pPr marL="0" indent="0">
              <a:buNone/>
            </a:pPr>
            <a:r>
              <a:rPr sz="1725" b="1">
                <a:solidFill>
                  <a:srgbClr val="2563EB"/>
                </a:solidFill>
                <a:latin typeface="Aptos"/>
                <a:ea typeface="Aptos"/>
                <a:cs typeface="Aptos"/>
              </a:rPr>
              <a:t>Three essential tests</a:t>
            </a:r>
          </a:p>
        </p:txBody>
      </p:sp>
      <p:sp>
        <p:nvSpPr>
          <p:cNvPr id="11" name="Shape 9">
            <a:extLst>
              <a:ext uri="{FF2B5EF4-FFF2-40B4-BE49-F238E27FC236}">
                <a16:creationId xmlns:a16="http://schemas.microsoft.com/office/drawing/2014/main" id="{4BCED88D-D470-4AD6-9C17-9F371F08E970}"/>
              </a:ext>
            </a:extLst>
          </p:cNvPr>
          <p:cNvSpPr>
            <a:spLocks noGrp="1"/>
          </p:cNvSpPr>
          <p:nvPr/>
        </p:nvSpPr>
        <p:spPr>
          <a:xfrm>
            <a:off x="9091168" y="2347975"/>
            <a:ext cx="658368" cy="0"/>
          </a:xfrm>
          <a:prstGeom prst="line">
            <a:avLst/>
          </a:prstGeom>
          <a:noFill/>
          <a:ln w="31750">
            <a:solidFill>
              <a:srgbClr val="2563EB"/>
            </a:solidFill>
            <a:prstDash val="solid"/>
            <a:headEnd type="none"/>
            <a:tailEnd type="triangle"/>
          </a:ln>
        </p:spPr>
        <p:txBody>
          <a:bodyPr/>
          <a:lstStyle/>
          <a:p>
            <a:endParaRPr/>
          </a:p>
        </p:txBody>
      </p:sp>
      <p:sp>
        <p:nvSpPr>
          <p:cNvPr id="12" name="Shape 10">
            <a:extLst>
              <a:ext uri="{FF2B5EF4-FFF2-40B4-BE49-F238E27FC236}">
                <a16:creationId xmlns:a16="http://schemas.microsoft.com/office/drawing/2014/main" id="{D722740D-1598-46A1-8567-7179A5230E99}"/>
              </a:ext>
            </a:extLst>
          </p:cNvPr>
          <p:cNvSpPr>
            <a:spLocks noGrp="1"/>
          </p:cNvSpPr>
          <p:nvPr/>
        </p:nvSpPr>
        <p:spPr>
          <a:xfrm>
            <a:off x="9091168" y="3417823"/>
            <a:ext cx="658368" cy="0"/>
          </a:xfrm>
          <a:prstGeom prst="line">
            <a:avLst/>
          </a:prstGeom>
          <a:noFill/>
          <a:ln w="31750">
            <a:solidFill>
              <a:srgbClr val="2563EB"/>
            </a:solidFill>
            <a:prstDash val="solid"/>
            <a:headEnd type="none"/>
            <a:tailEnd type="triangle"/>
          </a:ln>
        </p:spPr>
        <p:txBody>
          <a:bodyPr/>
          <a:lstStyle/>
          <a:p>
            <a:endParaRPr/>
          </a:p>
        </p:txBody>
      </p:sp>
      <p:sp>
        <p:nvSpPr>
          <p:cNvPr id="13" name="Text 11">
            <a:extLst>
              <a:ext uri="{FF2B5EF4-FFF2-40B4-BE49-F238E27FC236}">
                <a16:creationId xmlns:a16="http://schemas.microsoft.com/office/drawing/2014/main" id="{1979D685-071F-4E94-A89F-C1104A010458}"/>
              </a:ext>
            </a:extLst>
          </p:cNvPr>
          <p:cNvSpPr>
            <a:spLocks noGrp="1"/>
          </p:cNvSpPr>
          <p:nvPr/>
        </p:nvSpPr>
        <p:spPr>
          <a:xfrm>
            <a:off x="8204200" y="1863343"/>
            <a:ext cx="2450592" cy="658368"/>
          </a:xfrm>
          <a:prstGeom prst="roundRect">
            <a:avLst/>
          </a:prstGeom>
          <a:solidFill>
            <a:srgbClr val="F0FDFA"/>
          </a:solidFill>
          <a:ln w="12700">
            <a:solidFill>
              <a:srgbClr val="A7F3D0"/>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1</a:t>
            </a:r>
          </a:p>
          <a:p>
            <a:pPr marL="0" indent="0" algn="ctr">
              <a:buNone/>
            </a:pPr>
            <a:r>
              <a:rPr sz="1800" b="1">
                <a:solidFill>
                  <a:srgbClr val="0B1F3A"/>
                </a:solidFill>
                <a:latin typeface="Aptos"/>
                <a:ea typeface="Aptos"/>
                <a:cs typeface="Aptos"/>
              </a:rPr>
              <a:t>Shared goal</a:t>
            </a:r>
          </a:p>
        </p:txBody>
      </p:sp>
      <p:sp>
        <p:nvSpPr>
          <p:cNvPr id="14" name="Text 12">
            <a:extLst>
              <a:ext uri="{FF2B5EF4-FFF2-40B4-BE49-F238E27FC236}">
                <a16:creationId xmlns:a16="http://schemas.microsoft.com/office/drawing/2014/main" id="{AA6E1552-B9CC-4A95-A1C9-7E3011395D2C}"/>
              </a:ext>
            </a:extLst>
          </p:cNvPr>
          <p:cNvSpPr>
            <a:spLocks noGrp="1"/>
          </p:cNvSpPr>
          <p:nvPr/>
        </p:nvSpPr>
        <p:spPr>
          <a:xfrm>
            <a:off x="8204200" y="2933191"/>
            <a:ext cx="2450592" cy="658368"/>
          </a:xfrm>
          <a:prstGeom prst="roundRect">
            <a:avLst/>
          </a:prstGeom>
          <a:solidFill>
            <a:srgbClr val="EFF6FF"/>
          </a:solidFill>
          <a:ln w="12700">
            <a:solidFill>
              <a:srgbClr val="BFDBFE"/>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2</a:t>
            </a:r>
          </a:p>
          <a:p>
            <a:pPr marL="0" indent="0" algn="ctr">
              <a:buNone/>
            </a:pPr>
            <a:r>
              <a:rPr sz="1800" b="1">
                <a:solidFill>
                  <a:srgbClr val="0B1F3A"/>
                </a:solidFill>
                <a:latin typeface="Aptos"/>
                <a:ea typeface="Aptos"/>
                <a:cs typeface="Aptos"/>
              </a:rPr>
              <a:t>Distinct roles</a:t>
            </a:r>
          </a:p>
        </p:txBody>
      </p:sp>
      <p:sp>
        <p:nvSpPr>
          <p:cNvPr id="15" name="Text 13">
            <a:extLst>
              <a:ext uri="{FF2B5EF4-FFF2-40B4-BE49-F238E27FC236}">
                <a16:creationId xmlns:a16="http://schemas.microsoft.com/office/drawing/2014/main" id="{DF871E60-1D7C-45C7-A9D5-436B75448157}"/>
              </a:ext>
            </a:extLst>
          </p:cNvPr>
          <p:cNvSpPr>
            <a:spLocks noGrp="1"/>
          </p:cNvSpPr>
          <p:nvPr/>
        </p:nvSpPr>
        <p:spPr>
          <a:xfrm>
            <a:off x="8204200" y="4003039"/>
            <a:ext cx="2450592" cy="658368"/>
          </a:xfrm>
          <a:prstGeom prst="roundRect">
            <a:avLst/>
          </a:prstGeom>
          <a:solidFill>
            <a:srgbClr val="FFFBEB"/>
          </a:solidFill>
          <a:ln w="12700">
            <a:solidFill>
              <a:srgbClr val="FDE68A"/>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3</a:t>
            </a:r>
          </a:p>
          <a:p>
            <a:pPr marL="0" indent="0" algn="ctr">
              <a:buNone/>
            </a:pPr>
            <a:r>
              <a:rPr sz="1800" b="1">
                <a:solidFill>
                  <a:srgbClr val="0B1F3A"/>
                </a:solidFill>
                <a:latin typeface="Aptos"/>
                <a:ea typeface="Aptos"/>
                <a:cs typeface="Aptos"/>
              </a:rPr>
              <a:t>Interdependent work</a:t>
            </a:r>
          </a:p>
        </p:txBody>
      </p:sp>
    </p:spTree>
    <p:extLst>
      <p:ext uri="{BB962C8B-B14F-4D97-AF65-F5344CB8AC3E}">
        <p14:creationId xmlns:p14="http://schemas.microsoft.com/office/powerpoint/2010/main" val="26651540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3B9D201-E699-4653-AAE7-39868B72182E}"/>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3 | WHAT TEAMING IS</a:t>
            </a:r>
          </a:p>
        </p:txBody>
      </p:sp>
      <p:sp>
        <p:nvSpPr>
          <p:cNvPr id="3" name="Text 1">
            <a:extLst>
              <a:ext uri="{FF2B5EF4-FFF2-40B4-BE49-F238E27FC236}">
                <a16:creationId xmlns:a16="http://schemas.microsoft.com/office/drawing/2014/main" id="{CB08C6B5-5F68-4077-8941-157D40C4F557}"/>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The team is the unit of analysis</a:t>
            </a:r>
          </a:p>
        </p:txBody>
      </p:sp>
      <p:sp>
        <p:nvSpPr>
          <p:cNvPr id="4" name="Shape 2">
            <a:extLst>
              <a:ext uri="{FF2B5EF4-FFF2-40B4-BE49-F238E27FC236}">
                <a16:creationId xmlns:a16="http://schemas.microsoft.com/office/drawing/2014/main" id="{6ADCCE58-2F05-445D-AE94-C5AD05D7EC7C}"/>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BECDDF1A-B370-4AA2-89CF-0A01E7A94A01}"/>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88DF45F0-A129-4FCD-BF7C-1D53F4D93CF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58B7528C-2095-407E-A028-70283040BB64}"/>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18</a:t>
            </a:r>
          </a:p>
        </p:txBody>
      </p:sp>
      <p:sp>
        <p:nvSpPr>
          <p:cNvPr id="8" name="Text 6">
            <a:extLst>
              <a:ext uri="{FF2B5EF4-FFF2-40B4-BE49-F238E27FC236}">
                <a16:creationId xmlns:a16="http://schemas.microsoft.com/office/drawing/2014/main" id="{4FEC009B-02A4-495C-9BA1-2F9B03F770A8}"/>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AI performance tells us what a system can do in isolation. Human–AI teaming research asks whether the combined system coordinates effectively, maintains human understanding, and improves the work.</a:t>
            </a:r>
          </a:p>
        </p:txBody>
      </p:sp>
      <p:sp>
        <p:nvSpPr>
          <p:cNvPr id="9" name="Text 7">
            <a:extLst>
              <a:ext uri="{FF2B5EF4-FFF2-40B4-BE49-F238E27FC236}">
                <a16:creationId xmlns:a16="http://schemas.microsoft.com/office/drawing/2014/main" id="{846D36AF-C44A-423B-A90B-85D1B714471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Roles determine who contributes, checks, and remains accountable.</a:t>
            </a:r>
          </a:p>
          <a:p>
            <a:pPr marL="0" indent="0">
              <a:buNone/>
            </a:pPr>
            <a:r>
              <a:rPr sz="2025">
                <a:solidFill>
                  <a:srgbClr val="4B5563"/>
                </a:solidFill>
                <a:latin typeface="Aptos"/>
                <a:ea typeface="Aptos"/>
                <a:cs typeface="Aptos"/>
              </a:rPr>
              <a:t>• Communication determines whether the right information arrives at the right time.</a:t>
            </a:r>
          </a:p>
          <a:p>
            <a:pPr marL="0" indent="0">
              <a:buNone/>
            </a:pPr>
            <a:r>
              <a:rPr sz="2025">
                <a:solidFill>
                  <a:srgbClr val="4B5563"/>
                </a:solidFill>
                <a:latin typeface="Aptos"/>
                <a:ea typeface="Aptos"/>
                <a:cs typeface="Aptos"/>
              </a:rPr>
              <a:t>• Trust determines when people rely, verify, or intervene.</a:t>
            </a:r>
          </a:p>
          <a:p>
            <a:pPr marL="0" indent="0">
              <a:buNone/>
            </a:pPr>
            <a:r>
              <a:rPr sz="2025">
                <a:solidFill>
                  <a:srgbClr val="4B5563"/>
                </a:solidFill>
                <a:latin typeface="Aptos"/>
                <a:ea typeface="Aptos"/>
                <a:cs typeface="Aptos"/>
              </a:rPr>
              <a:t>• Training changes expectations and coordination behavior.</a:t>
            </a:r>
          </a:p>
          <a:p>
            <a:pPr marL="0" indent="0">
              <a:buNone/>
            </a:pPr>
            <a:r>
              <a:rPr sz="2025">
                <a:solidFill>
                  <a:srgbClr val="4B5563"/>
                </a:solidFill>
                <a:latin typeface="Aptos"/>
                <a:ea typeface="Aptos"/>
                <a:cs typeface="Aptos"/>
              </a:rPr>
              <a:t>• Context determines whether any of those processes are effective.</a:t>
            </a:r>
          </a:p>
        </p:txBody>
      </p:sp>
    </p:spTree>
    <p:extLst>
      <p:ext uri="{BB962C8B-B14F-4D97-AF65-F5344CB8AC3E}">
        <p14:creationId xmlns:p14="http://schemas.microsoft.com/office/powerpoint/2010/main" val="13166064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6B7515F0-4349-4433-9FC8-DDE743E1BD01}"/>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3 | WHAT TEAMING IS</a:t>
            </a:r>
          </a:p>
        </p:txBody>
      </p:sp>
      <p:sp>
        <p:nvSpPr>
          <p:cNvPr id="3" name="Text 1">
            <a:extLst>
              <a:ext uri="{FF2B5EF4-FFF2-40B4-BE49-F238E27FC236}">
                <a16:creationId xmlns:a16="http://schemas.microsoft.com/office/drawing/2014/main" id="{83C5DEFB-2E89-404C-9541-7764E90EF347}"/>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Human–AI teaming is a cumulative science</a:t>
            </a:r>
          </a:p>
        </p:txBody>
      </p:sp>
      <p:sp>
        <p:nvSpPr>
          <p:cNvPr id="4" name="Shape 2">
            <a:extLst>
              <a:ext uri="{FF2B5EF4-FFF2-40B4-BE49-F238E27FC236}">
                <a16:creationId xmlns:a16="http://schemas.microsoft.com/office/drawing/2014/main" id="{975CE57B-B00C-43DC-B0AA-9A9F122F6130}"/>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8547C4B5-6E25-473B-BE52-AFBF0F834526}"/>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5C4CEC4E-4E55-4FF0-B7C2-055D2BBA1725}"/>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F007149E-570C-478C-93A1-3C1F01AD5245}"/>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19</a:t>
            </a:r>
          </a:p>
        </p:txBody>
      </p:sp>
      <p:sp>
        <p:nvSpPr>
          <p:cNvPr id="8" name="Text 6">
            <a:extLst>
              <a:ext uri="{FF2B5EF4-FFF2-40B4-BE49-F238E27FC236}">
                <a16:creationId xmlns:a16="http://schemas.microsoft.com/office/drawing/2014/main" id="{42D1BF54-9257-48E3-A0AF-E44F756FE454}"/>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lang="en-US" sz="2025" b="1" dirty="0">
                <a:solidFill>
                  <a:srgbClr val="0B1F3A"/>
                </a:solidFill>
                <a:latin typeface="Aptos Display"/>
                <a:ea typeface="Aptos Display"/>
                <a:cs typeface="Aptos Display"/>
              </a:rPr>
              <a:t>Moves </a:t>
            </a:r>
            <a:r>
              <a:rPr sz="2025" b="1" dirty="0">
                <a:solidFill>
                  <a:srgbClr val="0B1F3A"/>
                </a:solidFill>
                <a:latin typeface="Aptos Display"/>
                <a:ea typeface="Aptos Display"/>
                <a:cs typeface="Aptos Display"/>
              </a:rPr>
              <a:t>from foundational teamwork science to the design of AI teammates.</a:t>
            </a:r>
          </a:p>
        </p:txBody>
      </p:sp>
      <p:sp>
        <p:nvSpPr>
          <p:cNvPr id="9" name="Text 7">
            <a:extLst>
              <a:ext uri="{FF2B5EF4-FFF2-40B4-BE49-F238E27FC236}">
                <a16:creationId xmlns:a16="http://schemas.microsoft.com/office/drawing/2014/main" id="{BE9AA7BB-4414-4381-A7A5-BEAED59F0E1D}"/>
              </a:ext>
            </a:extLst>
          </p:cNvPr>
          <p:cNvSpPr>
            <a:spLocks noGrp="1"/>
          </p:cNvSpPr>
          <p:nvPr/>
        </p:nvSpPr>
        <p:spPr>
          <a:xfrm>
            <a:off x="960120" y="2194560"/>
            <a:ext cx="2971800" cy="1280160"/>
          </a:xfrm>
          <a:prstGeom prst="roundRect">
            <a:avLst/>
          </a:prstGeom>
          <a:solidFill>
            <a:srgbClr val="F0FDFA"/>
          </a:solidFill>
          <a:ln w="12700">
            <a:solidFill>
              <a:srgbClr val="A7F3D0"/>
            </a:solidFill>
          </a:ln>
        </p:spPr>
        <p:txBody>
          <a:bodyPr wrap="square" lIns="1905" tIns="1905" rIns="1905" bIns="1905" anchor="ctr">
            <a:noAutofit/>
          </a:bodyPr>
          <a:lstStyle/>
          <a:p>
            <a:pPr marL="0" indent="0" algn="ctr">
              <a:buNone/>
            </a:pPr>
            <a:r>
              <a:rPr lang="en-US" sz="2025" b="1" dirty="0">
                <a:solidFill>
                  <a:srgbClr val="0B1F3A"/>
                </a:solidFill>
                <a:latin typeface="Aptos"/>
                <a:ea typeface="Aptos"/>
                <a:cs typeface="Aptos"/>
              </a:rPr>
              <a:t>Human t</a:t>
            </a:r>
            <a:r>
              <a:rPr sz="2025" b="1" dirty="0">
                <a:solidFill>
                  <a:srgbClr val="0B1F3A"/>
                </a:solidFill>
                <a:latin typeface="Aptos"/>
                <a:ea typeface="Aptos"/>
                <a:cs typeface="Aptos"/>
              </a:rPr>
              <a:t>eam </a:t>
            </a:r>
            <a:r>
              <a:rPr lang="en-US" sz="2025" b="1" dirty="0">
                <a:solidFill>
                  <a:srgbClr val="0B1F3A"/>
                </a:solidFill>
                <a:latin typeface="Aptos"/>
                <a:ea typeface="Aptos"/>
                <a:cs typeface="Aptos"/>
              </a:rPr>
              <a:t>behaviors </a:t>
            </a:r>
          </a:p>
          <a:p>
            <a:pPr marL="0" indent="0" algn="ctr">
              <a:buNone/>
            </a:pPr>
            <a:r>
              <a:rPr lang="en-US" sz="2025" b="1" dirty="0">
                <a:solidFill>
                  <a:srgbClr val="0B1F3A"/>
                </a:solidFill>
                <a:latin typeface="Aptos"/>
                <a:ea typeface="Aptos"/>
                <a:cs typeface="Aptos"/>
              </a:rPr>
              <a:t>(Psychology, Cognitive Science, Sociology)</a:t>
            </a:r>
            <a:endParaRPr sz="2025" b="1" dirty="0">
              <a:solidFill>
                <a:srgbClr val="0B1F3A"/>
              </a:solidFill>
              <a:latin typeface="Aptos"/>
              <a:ea typeface="Aptos"/>
              <a:cs typeface="Aptos"/>
            </a:endParaRPr>
          </a:p>
        </p:txBody>
      </p:sp>
      <p:sp>
        <p:nvSpPr>
          <p:cNvPr id="10" name="Text 8">
            <a:extLst>
              <a:ext uri="{FF2B5EF4-FFF2-40B4-BE49-F238E27FC236}">
                <a16:creationId xmlns:a16="http://schemas.microsoft.com/office/drawing/2014/main" id="{20A6AEB7-8844-4E80-9FDD-5157CC0FB2D1}"/>
              </a:ext>
            </a:extLst>
          </p:cNvPr>
          <p:cNvSpPr>
            <a:spLocks noGrp="1"/>
          </p:cNvSpPr>
          <p:nvPr/>
        </p:nvSpPr>
        <p:spPr>
          <a:xfrm>
            <a:off x="4315968" y="2450592"/>
            <a:ext cx="685800" cy="685800"/>
          </a:xfrm>
          <a:prstGeom prst="roundRect">
            <a:avLst/>
          </a:prstGeom>
          <a:solidFill>
            <a:srgbClr val="FFFFFF"/>
          </a:solidFill>
          <a:ln w="12700">
            <a:solidFill>
              <a:srgbClr val="FFFFFF"/>
            </a:solidFill>
          </a:ln>
        </p:spPr>
        <p:txBody>
          <a:bodyPr wrap="square" lIns="1905" tIns="1905" rIns="1905" bIns="1905" anchor="ctr">
            <a:normAutofit/>
          </a:bodyPr>
          <a:lstStyle/>
          <a:p>
            <a:pPr marL="0" indent="0" algn="ctr">
              <a:buNone/>
            </a:pPr>
            <a:r>
              <a:rPr sz="3200" b="1">
                <a:solidFill>
                  <a:srgbClr val="2563EB"/>
                </a:solidFill>
                <a:latin typeface="Aptos"/>
                <a:ea typeface="Aptos"/>
                <a:cs typeface="Aptos"/>
              </a:rPr>
              <a:t>+</a:t>
            </a:r>
          </a:p>
        </p:txBody>
      </p:sp>
      <p:sp>
        <p:nvSpPr>
          <p:cNvPr id="11" name="Text 9">
            <a:extLst>
              <a:ext uri="{FF2B5EF4-FFF2-40B4-BE49-F238E27FC236}">
                <a16:creationId xmlns:a16="http://schemas.microsoft.com/office/drawing/2014/main" id="{87858F24-251A-4DEA-9FE7-A783E60419CE}"/>
              </a:ext>
            </a:extLst>
          </p:cNvPr>
          <p:cNvSpPr>
            <a:spLocks noGrp="1"/>
          </p:cNvSpPr>
          <p:nvPr/>
        </p:nvSpPr>
        <p:spPr>
          <a:xfrm>
            <a:off x="5394960" y="2194560"/>
            <a:ext cx="2971800" cy="1280160"/>
          </a:xfrm>
          <a:prstGeom prst="roundRect">
            <a:avLst/>
          </a:prstGeom>
          <a:solidFill>
            <a:srgbClr val="EFF6FF"/>
          </a:solidFill>
          <a:ln w="12700">
            <a:solidFill>
              <a:srgbClr val="BFDBFE"/>
            </a:solidFill>
          </a:ln>
        </p:spPr>
        <p:txBody>
          <a:bodyPr wrap="square" lIns="1905" tIns="1905" rIns="1905" bIns="1905" anchor="ctr">
            <a:noAutofit/>
          </a:bodyPr>
          <a:lstStyle/>
          <a:p>
            <a:pPr marL="0" indent="0" algn="ctr">
              <a:buNone/>
            </a:pPr>
            <a:r>
              <a:rPr lang="en-US" b="1" dirty="0">
                <a:solidFill>
                  <a:srgbClr val="0B1F3A"/>
                </a:solidFill>
                <a:latin typeface="Aptos"/>
                <a:ea typeface="Aptos"/>
                <a:cs typeface="Aptos"/>
              </a:rPr>
              <a:t>AI</a:t>
            </a:r>
            <a:r>
              <a:rPr b="1" dirty="0">
                <a:solidFill>
                  <a:srgbClr val="0B1F3A"/>
                </a:solidFill>
                <a:latin typeface="Aptos"/>
                <a:ea typeface="Aptos"/>
                <a:cs typeface="Aptos"/>
              </a:rPr>
              <a:t> teammates</a:t>
            </a:r>
          </a:p>
          <a:p>
            <a:pPr marL="0" indent="0" algn="ctr">
              <a:buNone/>
            </a:pPr>
            <a:r>
              <a:rPr b="1" dirty="0">
                <a:solidFill>
                  <a:srgbClr val="0B1F3A"/>
                </a:solidFill>
                <a:latin typeface="Aptos"/>
                <a:ea typeface="Aptos"/>
                <a:cs typeface="Aptos"/>
              </a:rPr>
              <a:t>+ </a:t>
            </a:r>
            <a:r>
              <a:rPr lang="en-US" b="1" dirty="0">
                <a:solidFill>
                  <a:srgbClr val="0B1F3A"/>
                </a:solidFill>
                <a:latin typeface="Aptos"/>
                <a:ea typeface="Aptos"/>
                <a:cs typeface="Aptos"/>
              </a:rPr>
              <a:t>new teaming behaviors (Computer and Information Science)</a:t>
            </a:r>
            <a:endParaRPr b="1" dirty="0">
              <a:solidFill>
                <a:srgbClr val="0B1F3A"/>
              </a:solidFill>
              <a:latin typeface="Aptos"/>
              <a:ea typeface="Aptos"/>
              <a:cs typeface="Aptos"/>
            </a:endParaRPr>
          </a:p>
        </p:txBody>
      </p:sp>
      <p:sp>
        <p:nvSpPr>
          <p:cNvPr id="12" name="Text 10">
            <a:extLst>
              <a:ext uri="{FF2B5EF4-FFF2-40B4-BE49-F238E27FC236}">
                <a16:creationId xmlns:a16="http://schemas.microsoft.com/office/drawing/2014/main" id="{033973CC-D04E-422B-941D-7BE6980FDA7B}"/>
              </a:ext>
            </a:extLst>
          </p:cNvPr>
          <p:cNvSpPr>
            <a:spLocks noGrp="1"/>
          </p:cNvSpPr>
          <p:nvPr/>
        </p:nvSpPr>
        <p:spPr>
          <a:xfrm>
            <a:off x="8823960" y="2194560"/>
            <a:ext cx="2514600" cy="1280160"/>
          </a:xfrm>
          <a:prstGeom prst="roundRect">
            <a:avLst/>
          </a:prstGeom>
          <a:solidFill>
            <a:srgbClr val="FFFBEB"/>
          </a:solidFill>
          <a:ln w="12700">
            <a:solidFill>
              <a:srgbClr val="FDE68A"/>
            </a:solidFill>
          </a:ln>
        </p:spPr>
        <p:txBody>
          <a:bodyPr wrap="square" lIns="1905" tIns="1905" rIns="1905" bIns="1905" anchor="ctr">
            <a:noAutofit/>
          </a:bodyPr>
          <a:lstStyle/>
          <a:p>
            <a:pPr marL="0" indent="0" algn="ctr">
              <a:buNone/>
            </a:pPr>
            <a:r>
              <a:rPr sz="2025" b="1">
                <a:solidFill>
                  <a:srgbClr val="0B1F3A"/>
                </a:solidFill>
                <a:latin typeface="Aptos"/>
                <a:ea typeface="Aptos"/>
                <a:cs typeface="Aptos"/>
              </a:rPr>
              <a:t>Trust • ethics</a:t>
            </a:r>
          </a:p>
          <a:p>
            <a:pPr marL="0" indent="0" algn="ctr">
              <a:buNone/>
            </a:pPr>
            <a:r>
              <a:rPr sz="2025" b="1">
                <a:solidFill>
                  <a:srgbClr val="0B1F3A"/>
                </a:solidFill>
                <a:latin typeface="Aptos"/>
                <a:ea typeface="Aptos"/>
                <a:cs typeface="Aptos"/>
              </a:rPr>
              <a:t>communication • training</a:t>
            </a:r>
          </a:p>
        </p:txBody>
      </p:sp>
      <p:sp>
        <p:nvSpPr>
          <p:cNvPr id="13" name="Text 11">
            <a:extLst>
              <a:ext uri="{FF2B5EF4-FFF2-40B4-BE49-F238E27FC236}">
                <a16:creationId xmlns:a16="http://schemas.microsoft.com/office/drawing/2014/main" id="{407FAFEB-13A0-4C1F-B41C-ADED7C7CE1CD}"/>
              </a:ext>
            </a:extLst>
          </p:cNvPr>
          <p:cNvSpPr>
            <a:spLocks noGrp="1"/>
          </p:cNvSpPr>
          <p:nvPr/>
        </p:nvSpPr>
        <p:spPr>
          <a:xfrm>
            <a:off x="914400" y="3981450"/>
            <a:ext cx="10287000" cy="1809750"/>
          </a:xfrm>
          <a:prstGeom prst="rect">
            <a:avLst/>
          </a:prstGeom>
          <a:noFill/>
        </p:spPr>
        <p:txBody>
          <a:bodyPr wrap="square" lIns="381" tIns="381" rIns="381" bIns="381" anchor="t">
            <a:noAutofit/>
          </a:bodyPr>
          <a:lstStyle/>
          <a:p>
            <a:pPr marL="342900" indent="-342900">
              <a:buFont typeface="Arial" panose="020B0604020202020204" pitchFamily="34" charset="0"/>
              <a:buChar char="•"/>
            </a:pPr>
            <a:r>
              <a:rPr lang="en-US" sz="1875" dirty="0">
                <a:solidFill>
                  <a:srgbClr val="4B5563"/>
                </a:solidFill>
                <a:latin typeface="Aptos"/>
                <a:ea typeface="Aptos"/>
                <a:cs typeface="Aptos"/>
              </a:rPr>
              <a:t>Computational buildout of AI teammates or models oriented for collaboration</a:t>
            </a:r>
          </a:p>
          <a:p>
            <a:pPr marL="342900" indent="-342900">
              <a:buFont typeface="Arial" panose="020B0604020202020204" pitchFamily="34" charset="0"/>
              <a:buChar char="•"/>
            </a:pPr>
            <a:r>
              <a:rPr sz="1875" dirty="0">
                <a:solidFill>
                  <a:srgbClr val="4B5563"/>
                </a:solidFill>
                <a:latin typeface="Aptos"/>
                <a:ea typeface="Aptos"/>
                <a:cs typeface="Aptos"/>
              </a:rPr>
              <a:t>Controlled experiments and simulations</a:t>
            </a:r>
          </a:p>
          <a:p>
            <a:pPr marL="342900" indent="-342900">
              <a:buFont typeface="Arial" panose="020B0604020202020204" pitchFamily="34" charset="0"/>
              <a:buChar char="•"/>
            </a:pPr>
            <a:r>
              <a:rPr sz="1875" dirty="0">
                <a:solidFill>
                  <a:srgbClr val="4B5563"/>
                </a:solidFill>
                <a:latin typeface="Aptos"/>
                <a:ea typeface="Aptos"/>
                <a:cs typeface="Aptos"/>
              </a:rPr>
              <a:t>Contextual inquiry and participatory design</a:t>
            </a:r>
          </a:p>
          <a:p>
            <a:pPr marL="342900" indent="-342900">
              <a:buFont typeface="Arial" panose="020B0604020202020204" pitchFamily="34" charset="0"/>
              <a:buChar char="•"/>
            </a:pPr>
            <a:r>
              <a:rPr sz="1875" dirty="0">
                <a:solidFill>
                  <a:srgbClr val="4B5563"/>
                </a:solidFill>
                <a:latin typeface="Aptos"/>
                <a:ea typeface="Aptos"/>
                <a:cs typeface="Aptos"/>
              </a:rPr>
              <a:t>Healthcare, emergency response, aviation, defense, education, and collaborative work</a:t>
            </a:r>
          </a:p>
        </p:txBody>
      </p:sp>
    </p:spTree>
    <p:extLst>
      <p:ext uri="{BB962C8B-B14F-4D97-AF65-F5344CB8AC3E}">
        <p14:creationId xmlns:p14="http://schemas.microsoft.com/office/powerpoint/2010/main" val="14549690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7A2ED31-F451-4653-8D07-EDB633F5378F}"/>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WHAT GOOD TEAMING REQUIRES</a:t>
            </a:r>
          </a:p>
        </p:txBody>
      </p:sp>
      <p:sp>
        <p:nvSpPr>
          <p:cNvPr id="3" name="Text 1">
            <a:extLst>
              <a:ext uri="{FF2B5EF4-FFF2-40B4-BE49-F238E27FC236}">
                <a16:creationId xmlns:a16="http://schemas.microsoft.com/office/drawing/2014/main" id="{12296247-BDF7-4F69-8786-D80800B7EDEE}"/>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Teams perform two kinds of work</a:t>
            </a:r>
          </a:p>
        </p:txBody>
      </p:sp>
      <p:sp>
        <p:nvSpPr>
          <p:cNvPr id="4" name="Shape 2">
            <a:extLst>
              <a:ext uri="{FF2B5EF4-FFF2-40B4-BE49-F238E27FC236}">
                <a16:creationId xmlns:a16="http://schemas.microsoft.com/office/drawing/2014/main" id="{86817AED-4697-46B6-8211-0B5A533B7787}"/>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37F412D-C850-42BD-AAF6-AFD56891582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8D17A30-7D13-4222-8A86-C9926A89A5F2}"/>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E1A1C4F2-DD89-418A-A605-CCA92794F72B}"/>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20</a:t>
            </a:r>
          </a:p>
        </p:txBody>
      </p:sp>
      <p:sp>
        <p:nvSpPr>
          <p:cNvPr id="8" name="Text 6">
            <a:extLst>
              <a:ext uri="{FF2B5EF4-FFF2-40B4-BE49-F238E27FC236}">
                <a16:creationId xmlns:a16="http://schemas.microsoft.com/office/drawing/2014/main" id="{F271FA15-8C28-40B1-9CFE-BFC7105A9EE9}"/>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An AI can be technically capable at taskwork while being poor at teamwork.</a:t>
            </a:r>
          </a:p>
        </p:txBody>
      </p:sp>
      <p:sp>
        <p:nvSpPr>
          <p:cNvPr id="9" name="Text 7">
            <a:extLst>
              <a:ext uri="{FF2B5EF4-FFF2-40B4-BE49-F238E27FC236}">
                <a16:creationId xmlns:a16="http://schemas.microsoft.com/office/drawing/2014/main" id="{5C99973F-8DD0-4EF7-AC17-5B9317E6731E}"/>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Taskwork</a:t>
            </a:r>
          </a:p>
        </p:txBody>
      </p:sp>
      <p:sp>
        <p:nvSpPr>
          <p:cNvPr id="10" name="Text 8">
            <a:extLst>
              <a:ext uri="{FF2B5EF4-FFF2-40B4-BE49-F238E27FC236}">
                <a16:creationId xmlns:a16="http://schemas.microsoft.com/office/drawing/2014/main" id="{725084DF-E77F-4B3B-86B5-E0C6A30FAADE}"/>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Clean data</a:t>
            </a:r>
          </a:p>
          <a:p>
            <a:pPr marL="0" indent="0">
              <a:buNone/>
            </a:pPr>
            <a:r>
              <a:rPr sz="1950">
                <a:solidFill>
                  <a:srgbClr val="4B5563"/>
                </a:solidFill>
                <a:latin typeface="Aptos"/>
                <a:ea typeface="Aptos"/>
                <a:cs typeface="Aptos"/>
              </a:rPr>
              <a:t>• Write code</a:t>
            </a:r>
          </a:p>
          <a:p>
            <a:pPr marL="0" indent="0">
              <a:buNone/>
            </a:pPr>
            <a:r>
              <a:rPr sz="1950">
                <a:solidFill>
                  <a:srgbClr val="4B5563"/>
                </a:solidFill>
                <a:latin typeface="Aptos"/>
                <a:ea typeface="Aptos"/>
                <a:cs typeface="Aptos"/>
              </a:rPr>
              <a:t>• Fit models</a:t>
            </a:r>
          </a:p>
          <a:p>
            <a:pPr marL="0" indent="0">
              <a:buNone/>
            </a:pPr>
            <a:r>
              <a:rPr sz="1950">
                <a:solidFill>
                  <a:srgbClr val="4B5563"/>
                </a:solidFill>
                <a:latin typeface="Aptos"/>
                <a:ea typeface="Aptos"/>
                <a:cs typeface="Aptos"/>
              </a:rPr>
              <a:t>• Calculate metrics</a:t>
            </a:r>
          </a:p>
          <a:p>
            <a:pPr marL="0" indent="0">
              <a:buNone/>
            </a:pPr>
            <a:r>
              <a:rPr sz="1950">
                <a:solidFill>
                  <a:srgbClr val="4B5563"/>
                </a:solidFill>
                <a:latin typeface="Aptos"/>
                <a:ea typeface="Aptos"/>
                <a:cs typeface="Aptos"/>
              </a:rPr>
              <a:t>• Produce forecasts</a:t>
            </a:r>
          </a:p>
        </p:txBody>
      </p:sp>
      <p:sp>
        <p:nvSpPr>
          <p:cNvPr id="11" name="Shape 9">
            <a:extLst>
              <a:ext uri="{FF2B5EF4-FFF2-40B4-BE49-F238E27FC236}">
                <a16:creationId xmlns:a16="http://schemas.microsoft.com/office/drawing/2014/main" id="{BFA24EB4-9653-4308-80C3-A1F03F3290CD}"/>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C1B9D88A-7A8C-4B1F-9C81-86CE09FB7C08}"/>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Teamwork</a:t>
            </a:r>
          </a:p>
        </p:txBody>
      </p:sp>
      <p:sp>
        <p:nvSpPr>
          <p:cNvPr id="13" name="Text 11">
            <a:extLst>
              <a:ext uri="{FF2B5EF4-FFF2-40B4-BE49-F238E27FC236}">
                <a16:creationId xmlns:a16="http://schemas.microsoft.com/office/drawing/2014/main" id="{6208632F-9F9C-4F78-80D4-B8DAAEB39441}"/>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Share information</a:t>
            </a:r>
          </a:p>
          <a:p>
            <a:pPr marL="0" indent="0">
              <a:buNone/>
            </a:pPr>
            <a:r>
              <a:rPr sz="1950">
                <a:solidFill>
                  <a:srgbClr val="4B5563"/>
                </a:solidFill>
                <a:latin typeface="Aptos"/>
                <a:ea typeface="Aptos"/>
                <a:cs typeface="Aptos"/>
              </a:rPr>
              <a:t>• Coordinate roles</a:t>
            </a:r>
          </a:p>
          <a:p>
            <a:pPr marL="0" indent="0">
              <a:buNone/>
            </a:pPr>
            <a:r>
              <a:rPr sz="1950">
                <a:solidFill>
                  <a:srgbClr val="4B5563"/>
                </a:solidFill>
                <a:latin typeface="Aptos"/>
                <a:ea typeface="Aptos"/>
                <a:cs typeface="Aptos"/>
              </a:rPr>
              <a:t>• Monitor progress</a:t>
            </a:r>
          </a:p>
          <a:p>
            <a:pPr marL="0" indent="0">
              <a:buNone/>
            </a:pPr>
            <a:r>
              <a:rPr sz="1950">
                <a:solidFill>
                  <a:srgbClr val="4B5563"/>
                </a:solidFill>
                <a:latin typeface="Aptos"/>
                <a:ea typeface="Aptos"/>
                <a:cs typeface="Aptos"/>
              </a:rPr>
              <a:t>• Anticipate needs</a:t>
            </a:r>
          </a:p>
          <a:p>
            <a:pPr marL="0" indent="0">
              <a:buNone/>
            </a:pPr>
            <a:r>
              <a:rPr sz="1950">
                <a:solidFill>
                  <a:srgbClr val="4B5563"/>
                </a:solidFill>
                <a:latin typeface="Aptos"/>
                <a:ea typeface="Aptos"/>
                <a:cs typeface="Aptos"/>
              </a:rPr>
              <a:t>• Recover from errors</a:t>
            </a:r>
          </a:p>
        </p:txBody>
      </p:sp>
    </p:spTree>
    <p:extLst>
      <p:ext uri="{BB962C8B-B14F-4D97-AF65-F5344CB8AC3E}">
        <p14:creationId xmlns:p14="http://schemas.microsoft.com/office/powerpoint/2010/main" val="182578468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98C29C-30A9-4DE1-BD65-A0AAC7C1E71C}"/>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WHAT GOOD TEAMING REQUIRES</a:t>
            </a:r>
          </a:p>
        </p:txBody>
      </p:sp>
      <p:sp>
        <p:nvSpPr>
          <p:cNvPr id="3" name="Text 1">
            <a:extLst>
              <a:ext uri="{FF2B5EF4-FFF2-40B4-BE49-F238E27FC236}">
                <a16:creationId xmlns:a16="http://schemas.microsoft.com/office/drawing/2014/main" id="{CCAE0A4A-5E42-46D1-89E3-20781DD30D3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Coordination depends on shared knowledge</a:t>
            </a:r>
          </a:p>
        </p:txBody>
      </p:sp>
      <p:sp>
        <p:nvSpPr>
          <p:cNvPr id="4" name="Shape 2">
            <a:extLst>
              <a:ext uri="{FF2B5EF4-FFF2-40B4-BE49-F238E27FC236}">
                <a16:creationId xmlns:a16="http://schemas.microsoft.com/office/drawing/2014/main" id="{6C4CE499-DD41-4401-9EB7-F87D6A05681E}"/>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A4EFA3B-DD9D-4496-BF65-C20903362965}"/>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EA039F5-6EDE-4AA5-82AF-7A805947E4E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4D5478E2-296B-4A30-A965-284B0D5C1A2E}"/>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21</a:t>
            </a:r>
          </a:p>
        </p:txBody>
      </p:sp>
      <p:sp>
        <p:nvSpPr>
          <p:cNvPr id="8" name="Text 6">
            <a:extLst>
              <a:ext uri="{FF2B5EF4-FFF2-40B4-BE49-F238E27FC236}">
                <a16:creationId xmlns:a16="http://schemas.microsoft.com/office/drawing/2014/main" id="{3F7EB291-ADF4-42F0-9E0C-411AD591308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Team cognition is the knowledge that enables members to understand the task, anticipate one another, coordinate roles, and recognize when the current plan needs to change.</a:t>
            </a:r>
          </a:p>
        </p:txBody>
      </p:sp>
      <p:sp>
        <p:nvSpPr>
          <p:cNvPr id="10" name="Text 8">
            <a:extLst>
              <a:ext uri="{FF2B5EF4-FFF2-40B4-BE49-F238E27FC236}">
                <a16:creationId xmlns:a16="http://schemas.microsoft.com/office/drawing/2014/main" id="{3A20E314-5AF3-4976-B5B5-9D8C5C26000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Goal: What decision will this forecast support?</a:t>
            </a:r>
          </a:p>
          <a:p>
            <a:pPr marL="0" indent="0">
              <a:buNone/>
            </a:pPr>
            <a:r>
              <a:rPr sz="2025">
                <a:solidFill>
                  <a:srgbClr val="4B5563"/>
                </a:solidFill>
                <a:latin typeface="Aptos"/>
                <a:ea typeface="Aptos"/>
                <a:cs typeface="Aptos"/>
              </a:rPr>
              <a:t>• Task: What target, horizon, data, and model are in scope?</a:t>
            </a:r>
          </a:p>
          <a:p>
            <a:pPr marL="0" indent="0">
              <a:buNone/>
            </a:pPr>
            <a:r>
              <a:rPr sz="2025">
                <a:solidFill>
                  <a:srgbClr val="4B5563"/>
                </a:solidFill>
                <a:latin typeface="Aptos"/>
                <a:ea typeface="Aptos"/>
                <a:cs typeface="Aptos"/>
              </a:rPr>
              <a:t>• Roles: What will the human do, and what may the AI do?</a:t>
            </a:r>
          </a:p>
          <a:p>
            <a:pPr marL="0" indent="0">
              <a:buNone/>
            </a:pPr>
            <a:r>
              <a:rPr sz="2025">
                <a:solidFill>
                  <a:srgbClr val="4B5563"/>
                </a:solidFill>
                <a:latin typeface="Aptos"/>
                <a:ea typeface="Aptos"/>
                <a:cs typeface="Aptos"/>
              </a:rPr>
              <a:t>• Sequence: What happens next, and what evidence is required?</a:t>
            </a:r>
          </a:p>
          <a:p>
            <a:pPr marL="0" indent="0">
              <a:buNone/>
            </a:pPr>
            <a:r>
              <a:rPr sz="2025">
                <a:solidFill>
                  <a:srgbClr val="4B5563"/>
                </a:solidFill>
                <a:latin typeface="Aptos"/>
                <a:ea typeface="Aptos"/>
                <a:cs typeface="Aptos"/>
              </a:rPr>
              <a:t>• Intervention: When should the human stop, correct, or redirect the AI?</a:t>
            </a:r>
          </a:p>
        </p:txBody>
      </p:sp>
    </p:spTree>
    <p:extLst>
      <p:ext uri="{BB962C8B-B14F-4D97-AF65-F5344CB8AC3E}">
        <p14:creationId xmlns:p14="http://schemas.microsoft.com/office/powerpoint/2010/main" val="13597349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3B9D201-E699-4653-AAE7-39868B72182E}"/>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WHAT GOOD TEAMING REQUIRES</a:t>
            </a:r>
          </a:p>
        </p:txBody>
      </p:sp>
      <p:sp>
        <p:nvSpPr>
          <p:cNvPr id="3" name="Text 1">
            <a:extLst>
              <a:ext uri="{FF2B5EF4-FFF2-40B4-BE49-F238E27FC236}">
                <a16:creationId xmlns:a16="http://schemas.microsoft.com/office/drawing/2014/main" id="{CB08C6B5-5F68-4077-8941-157D40C4F557}"/>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Context must be made explicit</a:t>
            </a:r>
          </a:p>
        </p:txBody>
      </p:sp>
      <p:sp>
        <p:nvSpPr>
          <p:cNvPr id="4" name="Shape 2">
            <a:extLst>
              <a:ext uri="{FF2B5EF4-FFF2-40B4-BE49-F238E27FC236}">
                <a16:creationId xmlns:a16="http://schemas.microsoft.com/office/drawing/2014/main" id="{6ADCCE58-2F05-445D-AE94-C5AD05D7EC7C}"/>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BECDDF1A-B370-4AA2-89CF-0A01E7A94A01}"/>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88DF45F0-A129-4FCD-BF7C-1D53F4D93CF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58B7528C-2095-407E-A028-70283040BB64}"/>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22</a:t>
            </a:r>
          </a:p>
        </p:txBody>
      </p:sp>
      <p:sp>
        <p:nvSpPr>
          <p:cNvPr id="8" name="Text 6">
            <a:extLst>
              <a:ext uri="{FF2B5EF4-FFF2-40B4-BE49-F238E27FC236}">
                <a16:creationId xmlns:a16="http://schemas.microsoft.com/office/drawing/2014/main" id="{4FEC009B-02A4-495C-9BA1-2F9B03F770A8}"/>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Human teammates rely on experience, conventions, and implicit cues. AI systems may not possess that context unless we deliberately represent it in prompts, files, examples, and project documentation.</a:t>
            </a:r>
          </a:p>
        </p:txBody>
      </p:sp>
      <p:sp>
        <p:nvSpPr>
          <p:cNvPr id="9" name="Text 7">
            <a:extLst>
              <a:ext uri="{FF2B5EF4-FFF2-40B4-BE49-F238E27FC236}">
                <a16:creationId xmlns:a16="http://schemas.microsoft.com/office/drawing/2014/main" id="{846D36AF-C44A-423B-A90B-85D1B714471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Define variables, units, and missing-value conventions.</a:t>
            </a:r>
          </a:p>
          <a:p>
            <a:pPr marL="0" indent="0">
              <a:buNone/>
            </a:pPr>
            <a:r>
              <a:rPr sz="2025">
                <a:solidFill>
                  <a:srgbClr val="4B5563"/>
                </a:solidFill>
                <a:latin typeface="Aptos"/>
                <a:ea typeface="Aptos"/>
                <a:cs typeface="Aptos"/>
              </a:rPr>
              <a:t>• Document reporting delays, revisions, and known anomalies.</a:t>
            </a:r>
          </a:p>
          <a:p>
            <a:pPr marL="0" indent="0">
              <a:buNone/>
            </a:pPr>
            <a:r>
              <a:rPr sz="2025">
                <a:solidFill>
                  <a:srgbClr val="4B5563"/>
                </a:solidFill>
                <a:latin typeface="Aptos"/>
                <a:ea typeface="Aptos"/>
                <a:cs typeface="Aptos"/>
              </a:rPr>
              <a:t>• State analytical constraints and quality criteria.</a:t>
            </a:r>
          </a:p>
          <a:p>
            <a:pPr marL="0" indent="0">
              <a:buNone/>
            </a:pPr>
            <a:r>
              <a:rPr sz="2025">
                <a:solidFill>
                  <a:srgbClr val="4B5563"/>
                </a:solidFill>
                <a:latin typeface="Aptos"/>
                <a:ea typeface="Aptos"/>
                <a:cs typeface="Aptos"/>
              </a:rPr>
              <a:t>• Preserve decisions in prompts, code comments, and project files.</a:t>
            </a:r>
          </a:p>
          <a:p>
            <a:pPr marL="0" indent="0">
              <a:buNone/>
            </a:pPr>
            <a:r>
              <a:rPr sz="2025">
                <a:solidFill>
                  <a:srgbClr val="4B5563"/>
                </a:solidFill>
                <a:latin typeface="Aptos"/>
                <a:ea typeface="Aptos"/>
                <a:cs typeface="Aptos"/>
              </a:rPr>
              <a:t>• Update the shared context whenever the task or assumption changes.</a:t>
            </a:r>
          </a:p>
        </p:txBody>
      </p:sp>
    </p:spTree>
    <p:extLst>
      <p:ext uri="{BB962C8B-B14F-4D97-AF65-F5344CB8AC3E}">
        <p14:creationId xmlns:p14="http://schemas.microsoft.com/office/powerpoint/2010/main" val="131660646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C998C29C-30A9-4DE1-BD65-A0AAC7C1E71C}"/>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WHAT GOOD TEAMING REQUIRES</a:t>
            </a:r>
          </a:p>
        </p:txBody>
      </p:sp>
      <p:sp>
        <p:nvSpPr>
          <p:cNvPr id="3" name="Text 1">
            <a:extLst>
              <a:ext uri="{FF2B5EF4-FFF2-40B4-BE49-F238E27FC236}">
                <a16:creationId xmlns:a16="http://schemas.microsoft.com/office/drawing/2014/main" id="{CCAE0A4A-5E42-46D1-89E3-20781DD30D34}"/>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HAT research evaluates more than accuracy</a:t>
            </a:r>
          </a:p>
        </p:txBody>
      </p:sp>
      <p:sp>
        <p:nvSpPr>
          <p:cNvPr id="4" name="Shape 2">
            <a:extLst>
              <a:ext uri="{FF2B5EF4-FFF2-40B4-BE49-F238E27FC236}">
                <a16:creationId xmlns:a16="http://schemas.microsoft.com/office/drawing/2014/main" id="{6C4CE499-DD41-4401-9EB7-F87D6A05681E}"/>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A4EFA3B-DD9D-4496-BF65-C20903362965}"/>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EA039F5-6EDE-4AA5-82AF-7A805947E4E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4D5478E2-296B-4A30-A965-284B0D5C1A2E}"/>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23</a:t>
            </a:r>
          </a:p>
        </p:txBody>
      </p:sp>
      <p:sp>
        <p:nvSpPr>
          <p:cNvPr id="8" name="Text 6">
            <a:extLst>
              <a:ext uri="{FF2B5EF4-FFF2-40B4-BE49-F238E27FC236}">
                <a16:creationId xmlns:a16="http://schemas.microsoft.com/office/drawing/2014/main" id="{3F7EB291-ADF4-42F0-9E0C-411AD5913086}"/>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A major review identified 76 empirical studies that met explicit human–AI teaming criteria. The unit of evaluation was the combined team—not only the algorithm.</a:t>
            </a:r>
          </a:p>
        </p:txBody>
      </p:sp>
      <p:sp>
        <p:nvSpPr>
          <p:cNvPr id="9" name="Text 7">
            <a:extLst>
              <a:ext uri="{FF2B5EF4-FFF2-40B4-BE49-F238E27FC236}">
                <a16:creationId xmlns:a16="http://schemas.microsoft.com/office/drawing/2014/main" id="{2BB4975A-C425-4CBA-A566-8D12C9DEF406}"/>
              </a:ext>
            </a:extLst>
          </p:cNvPr>
          <p:cNvSpPr>
            <a:spLocks noGrp="1"/>
          </p:cNvSpPr>
          <p:nvPr/>
        </p:nvSpPr>
        <p:spPr>
          <a:xfrm>
            <a:off x="1000125" y="542925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Display"/>
                <a:ea typeface="Aptos Display"/>
                <a:cs typeface="Aptos Display"/>
              </a:rPr>
              <a:t>The science asks whether the team works—not only whether the algorithm works.</a:t>
            </a:r>
          </a:p>
        </p:txBody>
      </p:sp>
      <p:sp>
        <p:nvSpPr>
          <p:cNvPr id="10" name="Text 8">
            <a:extLst>
              <a:ext uri="{FF2B5EF4-FFF2-40B4-BE49-F238E27FC236}">
                <a16:creationId xmlns:a16="http://schemas.microsoft.com/office/drawing/2014/main" id="{3A20E314-5AF3-4976-B5B5-9D8C5C26000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1875">
                <a:solidFill>
                  <a:srgbClr val="4B5563"/>
                </a:solidFill>
                <a:latin typeface="Aptos"/>
                <a:ea typeface="Aptos"/>
                <a:cs typeface="Aptos"/>
              </a:rPr>
              <a:t>• Team and individual performance.</a:t>
            </a:r>
          </a:p>
          <a:p>
            <a:pPr marL="0" indent="0">
              <a:buNone/>
            </a:pPr>
            <a:r>
              <a:rPr sz="1875">
                <a:solidFill>
                  <a:srgbClr val="4B5563"/>
                </a:solidFill>
                <a:latin typeface="Aptos"/>
                <a:ea typeface="Aptos"/>
                <a:cs typeface="Aptos"/>
              </a:rPr>
              <a:t>• Workload and situation awareness.</a:t>
            </a:r>
          </a:p>
          <a:p>
            <a:pPr marL="0" indent="0">
              <a:buNone/>
            </a:pPr>
            <a:r>
              <a:rPr sz="1875">
                <a:solidFill>
                  <a:srgbClr val="4B5563"/>
                </a:solidFill>
                <a:latin typeface="Aptos"/>
                <a:ea typeface="Aptos"/>
                <a:cs typeface="Aptos"/>
              </a:rPr>
              <a:t>• Trust, reliance, and human perceptions.</a:t>
            </a:r>
          </a:p>
          <a:p>
            <a:pPr marL="0" indent="0">
              <a:buNone/>
            </a:pPr>
            <a:r>
              <a:rPr sz="1875">
                <a:solidFill>
                  <a:srgbClr val="4B5563"/>
                </a:solidFill>
                <a:latin typeface="Aptos"/>
                <a:ea typeface="Aptos"/>
                <a:cs typeface="Aptos"/>
              </a:rPr>
              <a:t>• Coordination and communication quality.</a:t>
            </a:r>
          </a:p>
          <a:p>
            <a:pPr marL="0" indent="0">
              <a:buNone/>
            </a:pPr>
            <a:r>
              <a:rPr sz="1875">
                <a:solidFill>
                  <a:srgbClr val="4B5563"/>
                </a:solidFill>
                <a:latin typeface="Aptos"/>
                <a:ea typeface="Aptos"/>
                <a:cs typeface="Aptos"/>
              </a:rPr>
              <a:t>• Shared mental models and team cognition.</a:t>
            </a:r>
          </a:p>
          <a:p>
            <a:pPr marL="0" indent="0">
              <a:buNone/>
            </a:pPr>
            <a:r>
              <a:rPr sz="1875">
                <a:solidFill>
                  <a:srgbClr val="4B5563"/>
                </a:solidFill>
                <a:latin typeface="Aptos"/>
                <a:ea typeface="Aptos"/>
                <a:cs typeface="Aptos"/>
              </a:rPr>
              <a:t>• Adaptation, error recovery, and training effects.</a:t>
            </a:r>
          </a:p>
          <a:p>
            <a:pPr marL="0" indent="0">
              <a:buNone/>
            </a:pPr>
            <a:endParaRPr sz="1875">
              <a:solidFill>
                <a:srgbClr val="4B5563"/>
              </a:solidFill>
              <a:latin typeface="Aptos"/>
              <a:ea typeface="Aptos"/>
              <a:cs typeface="Aptos"/>
            </a:endParaRPr>
          </a:p>
          <a:p>
            <a:pPr marL="0" indent="0">
              <a:buNone/>
            </a:pPr>
            <a:r>
              <a:rPr sz="1875">
                <a:solidFill>
                  <a:srgbClr val="4B5563"/>
                </a:solidFill>
                <a:latin typeface="Aptos"/>
                <a:ea typeface="Aptos"/>
                <a:cs typeface="Aptos"/>
              </a:rPr>
              <a:t>O’Neill et al. (2022)</a:t>
            </a:r>
          </a:p>
        </p:txBody>
      </p:sp>
    </p:spTree>
    <p:extLst>
      <p:ext uri="{BB962C8B-B14F-4D97-AF65-F5344CB8AC3E}">
        <p14:creationId xmlns:p14="http://schemas.microsoft.com/office/powerpoint/2010/main" val="135973493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7A2ED31-F451-4653-8D07-EDB633F5378F}"/>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WHAT GOOD TEAMING REQUIRES</a:t>
            </a:r>
          </a:p>
        </p:txBody>
      </p:sp>
      <p:sp>
        <p:nvSpPr>
          <p:cNvPr id="3" name="Text 1">
            <a:extLst>
              <a:ext uri="{FF2B5EF4-FFF2-40B4-BE49-F238E27FC236}">
                <a16:creationId xmlns:a16="http://schemas.microsoft.com/office/drawing/2014/main" id="{12296247-BDF7-4F69-8786-D80800B7EDEE}"/>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HATs are not automatically better</a:t>
            </a:r>
          </a:p>
        </p:txBody>
      </p:sp>
      <p:sp>
        <p:nvSpPr>
          <p:cNvPr id="4" name="Shape 2">
            <a:extLst>
              <a:ext uri="{FF2B5EF4-FFF2-40B4-BE49-F238E27FC236}">
                <a16:creationId xmlns:a16="http://schemas.microsoft.com/office/drawing/2014/main" id="{86817AED-4697-46B6-8211-0B5A533B7787}"/>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37F412D-C850-42BD-AAF6-AFD56891582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8D17A30-7D13-4222-8A86-C9926A89A5F2}"/>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E1A1C4F2-DD89-418A-A605-CCA92794F72B}"/>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24</a:t>
            </a:r>
          </a:p>
        </p:txBody>
      </p:sp>
      <p:sp>
        <p:nvSpPr>
          <p:cNvPr id="8" name="Text 6">
            <a:extLst>
              <a:ext uri="{FF2B5EF4-FFF2-40B4-BE49-F238E27FC236}">
                <a16:creationId xmlns:a16="http://schemas.microsoft.com/office/drawing/2014/main" id="{F271FA15-8C28-40B1-9CFE-BFC7105A9EE9}"/>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dirty="0">
                <a:solidFill>
                  <a:srgbClr val="0B1F3A"/>
                </a:solidFill>
                <a:latin typeface="Aptos Display"/>
                <a:ea typeface="Aptos Display"/>
                <a:cs typeface="Aptos Display"/>
              </a:rPr>
              <a:t>Early HATs often underperformed human-only teams because agents were built for tasks rather than teamwork.</a:t>
            </a:r>
            <a:endParaRPr lang="en-US" sz="2025" b="1" dirty="0">
              <a:solidFill>
                <a:srgbClr val="0B1F3A"/>
              </a:solidFill>
              <a:latin typeface="Aptos Display"/>
              <a:ea typeface="Aptos Display"/>
              <a:cs typeface="Aptos Display"/>
            </a:endParaRPr>
          </a:p>
          <a:p>
            <a:pPr marL="0" indent="0">
              <a:buNone/>
            </a:pPr>
            <a:endParaRPr sz="2025" b="1" dirty="0">
              <a:solidFill>
                <a:srgbClr val="0B1F3A"/>
              </a:solidFill>
              <a:latin typeface="Aptos Display"/>
              <a:ea typeface="Aptos Display"/>
              <a:cs typeface="Aptos Display"/>
            </a:endParaRPr>
          </a:p>
        </p:txBody>
      </p:sp>
      <p:sp>
        <p:nvSpPr>
          <p:cNvPr id="9" name="Text 7">
            <a:extLst>
              <a:ext uri="{FF2B5EF4-FFF2-40B4-BE49-F238E27FC236}">
                <a16:creationId xmlns:a16="http://schemas.microsoft.com/office/drawing/2014/main" id="{5C99973F-8DD0-4EF7-AC17-5B9317E6731E}"/>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Where HATs struggle</a:t>
            </a:r>
          </a:p>
        </p:txBody>
      </p:sp>
      <p:sp>
        <p:nvSpPr>
          <p:cNvPr id="10" name="Text 8">
            <a:extLst>
              <a:ext uri="{FF2B5EF4-FFF2-40B4-BE49-F238E27FC236}">
                <a16:creationId xmlns:a16="http://schemas.microsoft.com/office/drawing/2014/main" id="{725084DF-E77F-4B3B-86B5-E0C6A30FAADE}"/>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Weak anticipation</a:t>
            </a:r>
          </a:p>
          <a:p>
            <a:pPr marL="0" indent="0">
              <a:buNone/>
            </a:pPr>
            <a:r>
              <a:rPr sz="1950">
                <a:solidFill>
                  <a:srgbClr val="4B5563"/>
                </a:solidFill>
                <a:latin typeface="Aptos"/>
                <a:ea typeface="Aptos"/>
                <a:cs typeface="Aptos"/>
              </a:rPr>
              <a:t>• Reactive behavior</a:t>
            </a:r>
          </a:p>
          <a:p>
            <a:pPr marL="0" indent="0">
              <a:buNone/>
            </a:pPr>
            <a:r>
              <a:rPr sz="1950">
                <a:solidFill>
                  <a:srgbClr val="4B5563"/>
                </a:solidFill>
                <a:latin typeface="Aptos"/>
                <a:ea typeface="Aptos"/>
                <a:cs typeface="Aptos"/>
              </a:rPr>
              <a:t>• Poor role fit</a:t>
            </a:r>
          </a:p>
          <a:p>
            <a:pPr marL="0" indent="0">
              <a:buNone/>
            </a:pPr>
            <a:r>
              <a:rPr sz="1950">
                <a:solidFill>
                  <a:srgbClr val="4B5563"/>
                </a:solidFill>
                <a:latin typeface="Aptos"/>
                <a:ea typeface="Aptos"/>
                <a:cs typeface="Aptos"/>
              </a:rPr>
              <a:t>• Limited communication</a:t>
            </a:r>
          </a:p>
        </p:txBody>
      </p:sp>
      <p:sp>
        <p:nvSpPr>
          <p:cNvPr id="11" name="Shape 9">
            <a:extLst>
              <a:ext uri="{FF2B5EF4-FFF2-40B4-BE49-F238E27FC236}">
                <a16:creationId xmlns:a16="http://schemas.microsoft.com/office/drawing/2014/main" id="{BFA24EB4-9653-4308-80C3-A1F03F3290CD}"/>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C1B9D88A-7A8C-4B1F-9C81-86CE09FB7C08}"/>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What determines results</a:t>
            </a:r>
          </a:p>
        </p:txBody>
      </p:sp>
      <p:sp>
        <p:nvSpPr>
          <p:cNvPr id="13" name="Text 11">
            <a:extLst>
              <a:ext uri="{FF2B5EF4-FFF2-40B4-BE49-F238E27FC236}">
                <a16:creationId xmlns:a16="http://schemas.microsoft.com/office/drawing/2014/main" id="{6208632F-9F9C-4F78-80D4-B8DAAEB39441}"/>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Task complexity</a:t>
            </a:r>
          </a:p>
          <a:p>
            <a:pPr marL="0" indent="0">
              <a:buNone/>
            </a:pPr>
            <a:r>
              <a:rPr sz="1950">
                <a:solidFill>
                  <a:srgbClr val="4B5563"/>
                </a:solidFill>
                <a:latin typeface="Aptos"/>
                <a:ea typeface="Aptos"/>
                <a:cs typeface="Aptos"/>
              </a:rPr>
              <a:t>• Agent reliability</a:t>
            </a:r>
          </a:p>
          <a:p>
            <a:pPr marL="0" indent="0">
              <a:buNone/>
            </a:pPr>
            <a:r>
              <a:rPr sz="1950">
                <a:solidFill>
                  <a:srgbClr val="4B5563"/>
                </a:solidFill>
                <a:latin typeface="Aptos"/>
                <a:ea typeface="Aptos"/>
                <a:cs typeface="Aptos"/>
              </a:rPr>
              <a:t>• Team composition</a:t>
            </a:r>
          </a:p>
          <a:p>
            <a:pPr marL="0" indent="0">
              <a:buNone/>
            </a:pPr>
            <a:r>
              <a:rPr sz="1950">
                <a:solidFill>
                  <a:srgbClr val="4B5563"/>
                </a:solidFill>
                <a:latin typeface="Aptos"/>
                <a:ea typeface="Aptos"/>
                <a:cs typeface="Aptos"/>
              </a:rPr>
              <a:t>• Training and design</a:t>
            </a:r>
          </a:p>
        </p:txBody>
      </p:sp>
    </p:spTree>
    <p:extLst>
      <p:ext uri="{BB962C8B-B14F-4D97-AF65-F5344CB8AC3E}">
        <p14:creationId xmlns:p14="http://schemas.microsoft.com/office/powerpoint/2010/main" val="18257846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7A2ED31-F451-4653-8D07-EDB633F5378F}"/>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WHAT GOOD TEAMING REQUIRES</a:t>
            </a:r>
          </a:p>
        </p:txBody>
      </p:sp>
      <p:sp>
        <p:nvSpPr>
          <p:cNvPr id="3" name="Text 1">
            <a:extLst>
              <a:ext uri="{FF2B5EF4-FFF2-40B4-BE49-F238E27FC236}">
                <a16:creationId xmlns:a16="http://schemas.microsoft.com/office/drawing/2014/main" id="{12296247-BDF7-4F69-8786-D80800B7EDEE}"/>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Trust should track evidence</a:t>
            </a:r>
          </a:p>
        </p:txBody>
      </p:sp>
      <p:sp>
        <p:nvSpPr>
          <p:cNvPr id="4" name="Shape 2">
            <a:extLst>
              <a:ext uri="{FF2B5EF4-FFF2-40B4-BE49-F238E27FC236}">
                <a16:creationId xmlns:a16="http://schemas.microsoft.com/office/drawing/2014/main" id="{86817AED-4697-46B6-8211-0B5A533B7787}"/>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37F412D-C850-42BD-AAF6-AFD56891582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48D17A30-7D13-4222-8A86-C9926A89A5F2}"/>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E1A1C4F2-DD89-418A-A605-CCA92794F72B}"/>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29</a:t>
            </a:r>
          </a:p>
        </p:txBody>
      </p:sp>
      <p:sp>
        <p:nvSpPr>
          <p:cNvPr id="8" name="Text 6">
            <a:extLst>
              <a:ext uri="{FF2B5EF4-FFF2-40B4-BE49-F238E27FC236}">
                <a16:creationId xmlns:a16="http://schemas.microsoft.com/office/drawing/2014/main" id="{F271FA15-8C28-40B1-9CFE-BFC7105A9EE9}"/>
              </a:ext>
            </a:extLst>
          </p:cNvPr>
          <p:cNvSpPr>
            <a:spLocks noGrp="1"/>
          </p:cNvSpPr>
          <p:nvPr/>
        </p:nvSpPr>
        <p:spPr>
          <a:xfrm>
            <a:off x="685800" y="1381125"/>
            <a:ext cx="10572750" cy="7810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The goal is calibrated reliance—not maximum trust.</a:t>
            </a:r>
          </a:p>
        </p:txBody>
      </p:sp>
      <p:sp>
        <p:nvSpPr>
          <p:cNvPr id="9" name="Text 7">
            <a:extLst>
              <a:ext uri="{FF2B5EF4-FFF2-40B4-BE49-F238E27FC236}">
                <a16:creationId xmlns:a16="http://schemas.microsoft.com/office/drawing/2014/main" id="{5C99973F-8DD0-4EF7-AC17-5B9317E6731E}"/>
              </a:ext>
            </a:extLst>
          </p:cNvPr>
          <p:cNvSpPr>
            <a:spLocks noGrp="1"/>
          </p:cNvSpPr>
          <p:nvPr/>
        </p:nvSpPr>
        <p:spPr>
          <a:xfrm>
            <a:off x="868680" y="2121408"/>
            <a:ext cx="4480560" cy="320040"/>
          </a:xfrm>
          <a:prstGeom prst="rect">
            <a:avLst/>
          </a:prstGeom>
          <a:noFill/>
        </p:spPr>
        <p:txBody>
          <a:bodyPr wrap="square" lIns="0" tIns="0" rIns="0" bIns="0" anchor="ctr">
            <a:noAutofit/>
          </a:bodyPr>
          <a:lstStyle/>
          <a:p>
            <a:pPr marL="0" indent="0">
              <a:buNone/>
            </a:pPr>
            <a:r>
              <a:rPr sz="1875" b="1">
                <a:solidFill>
                  <a:srgbClr val="0F766E"/>
                </a:solidFill>
                <a:latin typeface="Aptos Display"/>
                <a:ea typeface="Aptos Display"/>
                <a:cs typeface="Aptos Display"/>
              </a:rPr>
              <a:t>Overtrust</a:t>
            </a:r>
          </a:p>
        </p:txBody>
      </p:sp>
      <p:sp>
        <p:nvSpPr>
          <p:cNvPr id="10" name="Text 8">
            <a:extLst>
              <a:ext uri="{FF2B5EF4-FFF2-40B4-BE49-F238E27FC236}">
                <a16:creationId xmlns:a16="http://schemas.microsoft.com/office/drawing/2014/main" id="{725084DF-E77F-4B3B-86B5-E0C6A30FAADE}"/>
              </a:ext>
            </a:extLst>
          </p:cNvPr>
          <p:cNvSpPr>
            <a:spLocks noGrp="1"/>
          </p:cNvSpPr>
          <p:nvPr/>
        </p:nvSpPr>
        <p:spPr>
          <a:xfrm>
            <a:off x="9144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Accept code without running it</a:t>
            </a:r>
          </a:p>
          <a:p>
            <a:pPr marL="0" indent="0">
              <a:buNone/>
            </a:pPr>
            <a:r>
              <a:rPr sz="1950">
                <a:solidFill>
                  <a:srgbClr val="4B5563"/>
                </a:solidFill>
                <a:latin typeface="Aptos"/>
                <a:ea typeface="Aptos"/>
                <a:cs typeface="Aptos"/>
              </a:rPr>
              <a:t>• Ignore contradictory evidence</a:t>
            </a:r>
          </a:p>
          <a:p>
            <a:pPr marL="0" indent="0">
              <a:buNone/>
            </a:pPr>
            <a:r>
              <a:rPr sz="1950">
                <a:solidFill>
                  <a:srgbClr val="4B5563"/>
                </a:solidFill>
                <a:latin typeface="Aptos"/>
                <a:ea typeface="Aptos"/>
                <a:cs typeface="Aptos"/>
              </a:rPr>
              <a:t>• Confuse confidence with correctness</a:t>
            </a:r>
          </a:p>
        </p:txBody>
      </p:sp>
      <p:sp>
        <p:nvSpPr>
          <p:cNvPr id="11" name="Shape 9">
            <a:extLst>
              <a:ext uri="{FF2B5EF4-FFF2-40B4-BE49-F238E27FC236}">
                <a16:creationId xmlns:a16="http://schemas.microsoft.com/office/drawing/2014/main" id="{BFA24EB4-9653-4308-80C3-A1F03F3290CD}"/>
              </a:ext>
            </a:extLst>
          </p:cNvPr>
          <p:cNvSpPr>
            <a:spLocks noGrp="1"/>
          </p:cNvSpPr>
          <p:nvPr/>
        </p:nvSpPr>
        <p:spPr>
          <a:xfrm>
            <a:off x="5989320" y="2103120"/>
            <a:ext cx="0" cy="2697480"/>
          </a:xfrm>
          <a:prstGeom prst="line">
            <a:avLst/>
          </a:prstGeom>
          <a:noFill/>
          <a:ln w="19050">
            <a:solidFill>
              <a:srgbClr val="E5E7EB"/>
            </a:solidFill>
            <a:prstDash val="solid"/>
          </a:ln>
        </p:spPr>
        <p:txBody>
          <a:bodyPr/>
          <a:lstStyle/>
          <a:p>
            <a:endParaRPr/>
          </a:p>
        </p:txBody>
      </p:sp>
      <p:sp>
        <p:nvSpPr>
          <p:cNvPr id="12" name="Text 10">
            <a:extLst>
              <a:ext uri="{FF2B5EF4-FFF2-40B4-BE49-F238E27FC236}">
                <a16:creationId xmlns:a16="http://schemas.microsoft.com/office/drawing/2014/main" id="{C1B9D88A-7A8C-4B1F-9C81-86CE09FB7C08}"/>
              </a:ext>
            </a:extLst>
          </p:cNvPr>
          <p:cNvSpPr>
            <a:spLocks noGrp="1"/>
          </p:cNvSpPr>
          <p:nvPr/>
        </p:nvSpPr>
        <p:spPr>
          <a:xfrm>
            <a:off x="6629400" y="2121408"/>
            <a:ext cx="4480560" cy="320040"/>
          </a:xfrm>
          <a:prstGeom prst="rect">
            <a:avLst/>
          </a:prstGeom>
          <a:noFill/>
        </p:spPr>
        <p:txBody>
          <a:bodyPr wrap="square" lIns="0" tIns="0" rIns="0" bIns="0" anchor="ctr">
            <a:noAutofit/>
          </a:bodyPr>
          <a:lstStyle/>
          <a:p>
            <a:pPr marL="0" indent="0">
              <a:buNone/>
            </a:pPr>
            <a:r>
              <a:rPr sz="1875" b="1">
                <a:solidFill>
                  <a:srgbClr val="D97706"/>
                </a:solidFill>
                <a:latin typeface="Aptos Display"/>
                <a:ea typeface="Aptos Display"/>
                <a:cs typeface="Aptos Display"/>
              </a:rPr>
              <a:t>Undertrust</a:t>
            </a:r>
          </a:p>
        </p:txBody>
      </p:sp>
      <p:sp>
        <p:nvSpPr>
          <p:cNvPr id="13" name="Text 11">
            <a:extLst>
              <a:ext uri="{FF2B5EF4-FFF2-40B4-BE49-F238E27FC236}">
                <a16:creationId xmlns:a16="http://schemas.microsoft.com/office/drawing/2014/main" id="{6208632F-9F9C-4F78-80D4-B8DAAEB39441}"/>
              </a:ext>
            </a:extLst>
          </p:cNvPr>
          <p:cNvSpPr>
            <a:spLocks noGrp="1"/>
          </p:cNvSpPr>
          <p:nvPr/>
        </p:nvSpPr>
        <p:spPr>
          <a:xfrm>
            <a:off x="6667500" y="2571750"/>
            <a:ext cx="4524375" cy="2628900"/>
          </a:xfrm>
          <a:prstGeom prst="rect">
            <a:avLst/>
          </a:prstGeom>
          <a:noFill/>
        </p:spPr>
        <p:txBody>
          <a:bodyPr wrap="square" lIns="381" tIns="381" rIns="381" bIns="381" anchor="t">
            <a:noAutofit/>
          </a:bodyPr>
          <a:lstStyle/>
          <a:p>
            <a:pPr marL="0" indent="0">
              <a:buNone/>
            </a:pPr>
            <a:r>
              <a:rPr sz="1950">
                <a:solidFill>
                  <a:srgbClr val="4B5563"/>
                </a:solidFill>
                <a:latin typeface="Aptos"/>
                <a:ea typeface="Aptos"/>
                <a:cs typeface="Aptos"/>
              </a:rPr>
              <a:t>• Reject useful assistance</a:t>
            </a:r>
          </a:p>
          <a:p>
            <a:pPr marL="0" indent="0">
              <a:buNone/>
            </a:pPr>
            <a:r>
              <a:rPr sz="1950">
                <a:solidFill>
                  <a:srgbClr val="4B5563"/>
                </a:solidFill>
                <a:latin typeface="Aptos"/>
                <a:ea typeface="Aptos"/>
                <a:cs typeface="Aptos"/>
              </a:rPr>
              <a:t>• Repeat all work manually</a:t>
            </a:r>
          </a:p>
          <a:p>
            <a:pPr marL="0" indent="0">
              <a:buNone/>
            </a:pPr>
            <a:r>
              <a:rPr sz="1950">
                <a:solidFill>
                  <a:srgbClr val="4B5563"/>
                </a:solidFill>
                <a:latin typeface="Aptos"/>
                <a:ea typeface="Aptos"/>
                <a:cs typeface="Aptos"/>
              </a:rPr>
              <a:t>• Miss valid AI capabilities</a:t>
            </a:r>
          </a:p>
        </p:txBody>
      </p:sp>
      <p:sp>
        <p:nvSpPr>
          <p:cNvPr id="14" name="Text 12">
            <a:extLst>
              <a:ext uri="{FF2B5EF4-FFF2-40B4-BE49-F238E27FC236}">
                <a16:creationId xmlns:a16="http://schemas.microsoft.com/office/drawing/2014/main" id="{708131F1-1A0A-4487-B9AA-2061978850F9}"/>
              </a:ext>
            </a:extLst>
          </p:cNvPr>
          <p:cNvSpPr>
            <a:spLocks noGrp="1"/>
          </p:cNvSpPr>
          <p:nvPr/>
        </p:nvSpPr>
        <p:spPr>
          <a:xfrm>
            <a:off x="1000125" y="5410200"/>
            <a:ext cx="10191750" cy="552450"/>
          </a:xfrm>
          <a:prstGeom prst="rect">
            <a:avLst/>
          </a:prstGeom>
          <a:noFill/>
        </p:spPr>
        <p:txBody>
          <a:bodyPr wrap="square" lIns="0" tIns="0" rIns="0" bIns="0" anchor="ctr">
            <a:noAutofit/>
          </a:bodyPr>
          <a:lstStyle/>
          <a:p>
            <a:pPr marL="0" indent="0" algn="ctr">
              <a:buNone/>
            </a:pPr>
            <a:r>
              <a:rPr sz="1875" b="1">
                <a:solidFill>
                  <a:srgbClr val="2563EB"/>
                </a:solidFill>
                <a:latin typeface="Aptos"/>
                <a:ea typeface="Aptos"/>
                <a:cs typeface="Aptos"/>
              </a:rPr>
              <a:t>Reliance should change with task, evidence, and demonstrated capability.</a:t>
            </a:r>
          </a:p>
        </p:txBody>
      </p:sp>
    </p:spTree>
    <p:extLst>
      <p:ext uri="{BB962C8B-B14F-4D97-AF65-F5344CB8AC3E}">
        <p14:creationId xmlns:p14="http://schemas.microsoft.com/office/powerpoint/2010/main" val="18257846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93B9D201-E699-4653-AAE7-39868B72182E}"/>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4 | WHAT GOOD TEAMING REQUIRES</a:t>
            </a:r>
          </a:p>
        </p:txBody>
      </p:sp>
      <p:sp>
        <p:nvSpPr>
          <p:cNvPr id="3" name="Text 1">
            <a:extLst>
              <a:ext uri="{FF2B5EF4-FFF2-40B4-BE49-F238E27FC236}">
                <a16:creationId xmlns:a16="http://schemas.microsoft.com/office/drawing/2014/main" id="{CB08C6B5-5F68-4077-8941-157D40C4F557}"/>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Do not build an ideal human substitute</a:t>
            </a:r>
          </a:p>
        </p:txBody>
      </p:sp>
      <p:sp>
        <p:nvSpPr>
          <p:cNvPr id="4" name="Shape 2">
            <a:extLst>
              <a:ext uri="{FF2B5EF4-FFF2-40B4-BE49-F238E27FC236}">
                <a16:creationId xmlns:a16="http://schemas.microsoft.com/office/drawing/2014/main" id="{6ADCCE58-2F05-445D-AE94-C5AD05D7EC7C}"/>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BECDDF1A-B370-4AA2-89CF-0A01E7A94A01}"/>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88DF45F0-A129-4FCD-BF7C-1D53F4D93CF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58B7528C-2095-407E-A028-70283040BB64}"/>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31</a:t>
            </a:r>
          </a:p>
        </p:txBody>
      </p:sp>
      <p:sp>
        <p:nvSpPr>
          <p:cNvPr id="8" name="Text 6">
            <a:extLst>
              <a:ext uri="{FF2B5EF4-FFF2-40B4-BE49-F238E27FC236}">
                <a16:creationId xmlns:a16="http://schemas.microsoft.com/office/drawing/2014/main" id="{4FEC009B-02A4-495C-9BA1-2F9B03F770A8}"/>
              </a:ext>
            </a:extLst>
          </p:cNvPr>
          <p:cNvSpPr>
            <a:spLocks noGrp="1"/>
          </p:cNvSpPr>
          <p:nvPr/>
        </p:nvSpPr>
        <p:spPr>
          <a:xfrm>
            <a:off x="685800" y="1381125"/>
            <a:ext cx="10572750" cy="1104900"/>
          </a:xfrm>
          <a:prstGeom prst="rect">
            <a:avLst/>
          </a:prstGeom>
          <a:noFill/>
        </p:spPr>
        <p:txBody>
          <a:bodyPr wrap="square" lIns="0" tIns="0" rIns="0" bIns="0" anchor="ctr">
            <a:noAutofit/>
          </a:bodyPr>
          <a:lstStyle/>
          <a:p>
            <a:pPr marL="0" indent="0">
              <a:buNone/>
            </a:pPr>
            <a:r>
              <a:rPr sz="2175" b="1">
                <a:solidFill>
                  <a:srgbClr val="0B1F3A"/>
                </a:solidFill>
                <a:latin typeface="Aptos Display"/>
                <a:ea typeface="Aptos Display"/>
                <a:cs typeface="Aptos Display"/>
              </a:rPr>
              <a:t>People often expect an AI teammate to combine perfect machine performance with the flexibility, empathy, and contextual understanding of an ideal human teammate. That expectation is neither realistic nor useful for design.</a:t>
            </a:r>
          </a:p>
        </p:txBody>
      </p:sp>
      <p:sp>
        <p:nvSpPr>
          <p:cNvPr id="9" name="Text 7">
            <a:extLst>
              <a:ext uri="{FF2B5EF4-FFF2-40B4-BE49-F238E27FC236}">
                <a16:creationId xmlns:a16="http://schemas.microsoft.com/office/drawing/2014/main" id="{846D36AF-C44A-423B-A90B-85D1B714471E}"/>
              </a:ext>
            </a:extLst>
          </p:cNvPr>
          <p:cNvSpPr>
            <a:spLocks noGrp="1"/>
          </p:cNvSpPr>
          <p:nvPr/>
        </p:nvSpPr>
        <p:spPr>
          <a:xfrm>
            <a:off x="914400" y="2714625"/>
            <a:ext cx="10287000" cy="2457450"/>
          </a:xfrm>
          <a:prstGeom prst="rect">
            <a:avLst/>
          </a:prstGeom>
          <a:noFill/>
        </p:spPr>
        <p:txBody>
          <a:bodyPr wrap="square" lIns="381" tIns="381" rIns="381" bIns="381" anchor="t">
            <a:noAutofit/>
          </a:bodyPr>
          <a:lstStyle/>
          <a:p>
            <a:pPr marL="0" indent="0">
              <a:buNone/>
            </a:pPr>
            <a:r>
              <a:rPr sz="2025">
                <a:solidFill>
                  <a:srgbClr val="4B5563"/>
                </a:solidFill>
                <a:latin typeface="Aptos"/>
                <a:ea typeface="Aptos"/>
                <a:cs typeface="Aptos"/>
              </a:rPr>
              <a:t>• Design AI teammates around distinct, demonstrated capabilities.</a:t>
            </a:r>
          </a:p>
          <a:p>
            <a:pPr marL="0" indent="0">
              <a:buNone/>
            </a:pPr>
            <a:r>
              <a:rPr sz="2025">
                <a:solidFill>
                  <a:srgbClr val="4B5563"/>
                </a:solidFill>
                <a:latin typeface="Aptos"/>
                <a:ea typeface="Aptos"/>
                <a:cs typeface="Aptos"/>
              </a:rPr>
              <a:t>• Use human teamwork science as a foundation—not a complete blueprint.</a:t>
            </a:r>
          </a:p>
          <a:p>
            <a:pPr marL="0" indent="0">
              <a:buNone/>
            </a:pPr>
            <a:r>
              <a:rPr sz="2025">
                <a:solidFill>
                  <a:srgbClr val="4B5563"/>
                </a:solidFill>
                <a:latin typeface="Aptos"/>
                <a:ea typeface="Aptos"/>
                <a:cs typeface="Aptos"/>
              </a:rPr>
              <a:t>• Make consequential differences visible so people can coordinate around them.</a:t>
            </a:r>
          </a:p>
        </p:txBody>
      </p:sp>
    </p:spTree>
    <p:extLst>
      <p:ext uri="{BB962C8B-B14F-4D97-AF65-F5344CB8AC3E}">
        <p14:creationId xmlns:p14="http://schemas.microsoft.com/office/powerpoint/2010/main" val="13166064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1A397181-6944-45B5-84D0-34287A15CF50}"/>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TEAMING IN FORECASTING</a:t>
            </a:r>
          </a:p>
        </p:txBody>
      </p:sp>
      <p:sp>
        <p:nvSpPr>
          <p:cNvPr id="3" name="Text 1">
            <a:extLst>
              <a:ext uri="{FF2B5EF4-FFF2-40B4-BE49-F238E27FC236}">
                <a16:creationId xmlns:a16="http://schemas.microsoft.com/office/drawing/2014/main" id="{3E68617D-057F-44A0-B9BD-5A915B7BF67E}"/>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A forecasting team divides responsibility</a:t>
            </a:r>
          </a:p>
        </p:txBody>
      </p:sp>
      <p:sp>
        <p:nvSpPr>
          <p:cNvPr id="4" name="Shape 2">
            <a:extLst>
              <a:ext uri="{FF2B5EF4-FFF2-40B4-BE49-F238E27FC236}">
                <a16:creationId xmlns:a16="http://schemas.microsoft.com/office/drawing/2014/main" id="{F6575964-BC70-4770-960A-2ACF36678F7D}"/>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40FF7AFE-5F1E-4847-A1C5-ABBDA1E1BDA9}"/>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6BA8CBC3-E598-4E0E-A465-7A45B7A43EA4}"/>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8D4CBBBA-9D7C-4BEB-9452-CF924A757181}"/>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32</a:t>
            </a:r>
          </a:p>
        </p:txBody>
      </p:sp>
      <p:sp>
        <p:nvSpPr>
          <p:cNvPr id="8" name="Text 6">
            <a:extLst>
              <a:ext uri="{FF2B5EF4-FFF2-40B4-BE49-F238E27FC236}">
                <a16:creationId xmlns:a16="http://schemas.microsoft.com/office/drawing/2014/main" id="{17495DB9-60D4-4016-89C4-E49B74068E3D}"/>
              </a:ext>
            </a:extLst>
          </p:cNvPr>
          <p:cNvSpPr>
            <a:spLocks noGrp="1"/>
          </p:cNvSpPr>
          <p:nvPr/>
        </p:nvSpPr>
        <p:spPr>
          <a:xfrm>
            <a:off x="685800" y="1381125"/>
            <a:ext cx="10572750" cy="742950"/>
          </a:xfrm>
          <a:prstGeom prst="rect">
            <a:avLst/>
          </a:prstGeom>
          <a:noFill/>
        </p:spPr>
        <p:txBody>
          <a:bodyPr wrap="square" lIns="0" tIns="0" rIns="0" bIns="0" anchor="ctr">
            <a:noAutofit/>
          </a:bodyPr>
          <a:lstStyle/>
          <a:p>
            <a:pPr marL="0" indent="0">
              <a:buNone/>
            </a:pPr>
            <a:r>
              <a:rPr sz="2025" b="1">
                <a:solidFill>
                  <a:srgbClr val="0B1F3A"/>
                </a:solidFill>
                <a:latin typeface="Aptos Display"/>
                <a:ea typeface="Aptos Display"/>
                <a:cs typeface="Aptos Display"/>
              </a:rPr>
              <a:t>Responsibility shifts across the pipeline; it is not divided equally.</a:t>
            </a:r>
          </a:p>
        </p:txBody>
      </p:sp>
      <p:sp>
        <p:nvSpPr>
          <p:cNvPr id="9" name="Text 7">
            <a:extLst>
              <a:ext uri="{FF2B5EF4-FFF2-40B4-BE49-F238E27FC236}">
                <a16:creationId xmlns:a16="http://schemas.microsoft.com/office/drawing/2014/main" id="{4CEAEB7C-D725-43AF-A016-6453B4A0E6A4}"/>
              </a:ext>
            </a:extLst>
          </p:cNvPr>
          <p:cNvSpPr>
            <a:spLocks noGrp="1"/>
          </p:cNvSpPr>
          <p:nvPr/>
        </p:nvSpPr>
        <p:spPr>
          <a:xfrm>
            <a:off x="914400" y="2148840"/>
            <a:ext cx="2971800" cy="502920"/>
          </a:xfrm>
          <a:prstGeom prst="roundRect">
            <a:avLst/>
          </a:prstGeom>
          <a:solidFill>
            <a:srgbClr val="0B1F3A"/>
          </a:solidFill>
          <a:ln w="12700">
            <a:solidFill>
              <a:srgbClr val="0B1F3A"/>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Human leads</a:t>
            </a:r>
          </a:p>
        </p:txBody>
      </p:sp>
      <p:sp>
        <p:nvSpPr>
          <p:cNvPr id="10" name="Text 8">
            <a:extLst>
              <a:ext uri="{FF2B5EF4-FFF2-40B4-BE49-F238E27FC236}">
                <a16:creationId xmlns:a16="http://schemas.microsoft.com/office/drawing/2014/main" id="{AEFAD1E2-5EC5-41E3-89F4-046E0647A512}"/>
              </a:ext>
            </a:extLst>
          </p:cNvPr>
          <p:cNvSpPr>
            <a:spLocks noGrp="1"/>
          </p:cNvSpPr>
          <p:nvPr/>
        </p:nvSpPr>
        <p:spPr>
          <a:xfrm>
            <a:off x="96012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Scientific question</a:t>
            </a:r>
          </a:p>
          <a:p>
            <a:pPr marL="0" indent="0">
              <a:buNone/>
            </a:pPr>
            <a:r>
              <a:rPr sz="1800">
                <a:solidFill>
                  <a:srgbClr val="4B5563"/>
                </a:solidFill>
                <a:latin typeface="Aptos"/>
                <a:ea typeface="Aptos"/>
                <a:cs typeface="Aptos"/>
              </a:rPr>
              <a:t>• Epidemiological context</a:t>
            </a:r>
          </a:p>
          <a:p>
            <a:pPr marL="0" indent="0">
              <a:buNone/>
            </a:pPr>
            <a:r>
              <a:rPr sz="1800">
                <a:solidFill>
                  <a:srgbClr val="4B5563"/>
                </a:solidFill>
                <a:latin typeface="Aptos"/>
                <a:ea typeface="Aptos"/>
                <a:cs typeface="Aptos"/>
              </a:rPr>
              <a:t>• Standards and final claims</a:t>
            </a:r>
          </a:p>
        </p:txBody>
      </p:sp>
      <p:sp>
        <p:nvSpPr>
          <p:cNvPr id="11" name="Text 9">
            <a:extLst>
              <a:ext uri="{FF2B5EF4-FFF2-40B4-BE49-F238E27FC236}">
                <a16:creationId xmlns:a16="http://schemas.microsoft.com/office/drawing/2014/main" id="{7A7C2611-BB0C-4B91-BDFD-45067204D082}"/>
              </a:ext>
            </a:extLst>
          </p:cNvPr>
          <p:cNvSpPr>
            <a:spLocks noGrp="1"/>
          </p:cNvSpPr>
          <p:nvPr/>
        </p:nvSpPr>
        <p:spPr>
          <a:xfrm>
            <a:off x="4617720" y="2148840"/>
            <a:ext cx="2971800" cy="502920"/>
          </a:xfrm>
          <a:prstGeom prst="roundRect">
            <a:avLst/>
          </a:prstGeom>
          <a:solidFill>
            <a:srgbClr val="2563EB"/>
          </a:solidFill>
          <a:ln w="12700">
            <a:solidFill>
              <a:srgbClr val="2563EB"/>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AI supports</a:t>
            </a:r>
          </a:p>
        </p:txBody>
      </p:sp>
      <p:sp>
        <p:nvSpPr>
          <p:cNvPr id="12" name="Text 10">
            <a:extLst>
              <a:ext uri="{FF2B5EF4-FFF2-40B4-BE49-F238E27FC236}">
                <a16:creationId xmlns:a16="http://schemas.microsoft.com/office/drawing/2014/main" id="{864BEEA7-12B9-48C6-ACF0-CFAF16554C43}"/>
              </a:ext>
            </a:extLst>
          </p:cNvPr>
          <p:cNvSpPr>
            <a:spLocks noGrp="1"/>
          </p:cNvSpPr>
          <p:nvPr/>
        </p:nvSpPr>
        <p:spPr>
          <a:xfrm>
            <a:off x="466344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Audits and code drafts</a:t>
            </a:r>
          </a:p>
          <a:p>
            <a:pPr marL="0" indent="0">
              <a:buNone/>
            </a:pPr>
            <a:r>
              <a:rPr sz="1800">
                <a:solidFill>
                  <a:srgbClr val="4B5563"/>
                </a:solidFill>
                <a:latin typeface="Aptos"/>
                <a:ea typeface="Aptos"/>
                <a:cs typeface="Aptos"/>
              </a:rPr>
              <a:t>• Pattern exploration</a:t>
            </a:r>
          </a:p>
          <a:p>
            <a:pPr marL="0" indent="0">
              <a:buNone/>
            </a:pPr>
            <a:r>
              <a:rPr sz="1800">
                <a:solidFill>
                  <a:srgbClr val="4B5563"/>
                </a:solidFill>
                <a:latin typeface="Aptos"/>
                <a:ea typeface="Aptos"/>
                <a:cs typeface="Aptos"/>
              </a:rPr>
              <a:t>• Diagnostics and documentation</a:t>
            </a:r>
          </a:p>
        </p:txBody>
      </p:sp>
      <p:sp>
        <p:nvSpPr>
          <p:cNvPr id="13" name="Text 11">
            <a:extLst>
              <a:ext uri="{FF2B5EF4-FFF2-40B4-BE49-F238E27FC236}">
                <a16:creationId xmlns:a16="http://schemas.microsoft.com/office/drawing/2014/main" id="{4AA0B1F9-9B92-48B2-9B16-0497D634DDE3}"/>
              </a:ext>
            </a:extLst>
          </p:cNvPr>
          <p:cNvSpPr>
            <a:spLocks noGrp="1"/>
          </p:cNvSpPr>
          <p:nvPr/>
        </p:nvSpPr>
        <p:spPr>
          <a:xfrm>
            <a:off x="8321040" y="2148840"/>
            <a:ext cx="2971800" cy="502920"/>
          </a:xfrm>
          <a:prstGeom prst="roundRect">
            <a:avLst/>
          </a:prstGeom>
          <a:solidFill>
            <a:srgbClr val="0F766E"/>
          </a:solidFill>
          <a:ln w="12700">
            <a:solidFill>
              <a:srgbClr val="0F766E"/>
            </a:solidFill>
          </a:ln>
        </p:spPr>
        <p:txBody>
          <a:bodyPr wrap="square" lIns="1905" tIns="1905" rIns="1905" bIns="1905" anchor="ctr">
            <a:noAutofit/>
          </a:bodyPr>
          <a:lstStyle/>
          <a:p>
            <a:pPr marL="0" indent="0" algn="ctr">
              <a:buNone/>
            </a:pPr>
            <a:r>
              <a:rPr sz="1875" b="1">
                <a:solidFill>
                  <a:srgbClr val="FFFFFF"/>
                </a:solidFill>
                <a:latin typeface="Aptos"/>
                <a:ea typeface="Aptos"/>
                <a:cs typeface="Aptos"/>
              </a:rPr>
              <a:t>Together check</a:t>
            </a:r>
          </a:p>
        </p:txBody>
      </p:sp>
      <p:sp>
        <p:nvSpPr>
          <p:cNvPr id="14" name="Text 12">
            <a:extLst>
              <a:ext uri="{FF2B5EF4-FFF2-40B4-BE49-F238E27FC236}">
                <a16:creationId xmlns:a16="http://schemas.microsoft.com/office/drawing/2014/main" id="{2E1BDFF2-D518-4612-B2F2-03D6CDD19ACD}"/>
              </a:ext>
            </a:extLst>
          </p:cNvPr>
          <p:cNvSpPr>
            <a:spLocks noGrp="1"/>
          </p:cNvSpPr>
          <p:nvPr/>
        </p:nvSpPr>
        <p:spPr>
          <a:xfrm>
            <a:off x="8366760" y="2880360"/>
            <a:ext cx="2880360" cy="1645920"/>
          </a:xfrm>
          <a:prstGeom prst="rect">
            <a:avLst/>
          </a:prstGeom>
          <a:noFill/>
        </p:spPr>
        <p:txBody>
          <a:bodyPr wrap="square" lIns="381" tIns="381" rIns="381" bIns="381" anchor="t">
            <a:noAutofit/>
          </a:bodyPr>
          <a:lstStyle/>
          <a:p>
            <a:pPr marL="0" indent="0">
              <a:buNone/>
            </a:pPr>
            <a:r>
              <a:rPr sz="1800">
                <a:solidFill>
                  <a:srgbClr val="4B5563"/>
                </a:solidFill>
                <a:latin typeface="Aptos"/>
                <a:ea typeface="Aptos"/>
                <a:cs typeface="Aptos"/>
              </a:rPr>
              <a:t>• Assumptions</a:t>
            </a:r>
          </a:p>
          <a:p>
            <a:pPr marL="0" indent="0">
              <a:buNone/>
            </a:pPr>
            <a:r>
              <a:rPr sz="1800">
                <a:solidFill>
                  <a:srgbClr val="4B5563"/>
                </a:solidFill>
                <a:latin typeface="Aptos"/>
                <a:ea typeface="Aptos"/>
                <a:cs typeface="Aptos"/>
              </a:rPr>
              <a:t>• Intermediate outputs</a:t>
            </a:r>
          </a:p>
          <a:p>
            <a:pPr marL="0" indent="0">
              <a:buNone/>
            </a:pPr>
            <a:r>
              <a:rPr sz="1800">
                <a:solidFill>
                  <a:srgbClr val="4B5563"/>
                </a:solidFill>
                <a:latin typeface="Aptos"/>
                <a:ea typeface="Aptos"/>
                <a:cs typeface="Aptos"/>
              </a:rPr>
              <a:t>• Evidence for refinement</a:t>
            </a:r>
          </a:p>
        </p:txBody>
      </p:sp>
    </p:spTree>
    <p:extLst>
      <p:ext uri="{BB962C8B-B14F-4D97-AF65-F5344CB8AC3E}">
        <p14:creationId xmlns:p14="http://schemas.microsoft.com/office/powerpoint/2010/main" val="53157014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0BB6D56E-EDBA-474E-8E69-F1CD9303B058}"/>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5 | TEAMING IN FORECASTING</a:t>
            </a:r>
          </a:p>
        </p:txBody>
      </p:sp>
      <p:sp>
        <p:nvSpPr>
          <p:cNvPr id="3" name="Text 1">
            <a:extLst>
              <a:ext uri="{FF2B5EF4-FFF2-40B4-BE49-F238E27FC236}">
                <a16:creationId xmlns:a16="http://schemas.microsoft.com/office/drawing/2014/main" id="{B22BD5D9-C902-4146-A4B1-B222B32DC938}"/>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Teaming happens through handoffs</a:t>
            </a:r>
          </a:p>
        </p:txBody>
      </p:sp>
      <p:sp>
        <p:nvSpPr>
          <p:cNvPr id="4" name="Shape 2">
            <a:extLst>
              <a:ext uri="{FF2B5EF4-FFF2-40B4-BE49-F238E27FC236}">
                <a16:creationId xmlns:a16="http://schemas.microsoft.com/office/drawing/2014/main" id="{3DADE9BF-7F23-4B55-BC05-71326C9F3402}"/>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FDB5B67B-B8D4-4D56-993A-7E0C67669D90}"/>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77855731-48B4-496D-AE01-99D91AC02BE7}"/>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BA3DC85F-9A1C-4114-A3D2-32A70F2412F1}"/>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33</a:t>
            </a:r>
          </a:p>
        </p:txBody>
      </p:sp>
      <p:sp>
        <p:nvSpPr>
          <p:cNvPr id="8" name="Text 6">
            <a:extLst>
              <a:ext uri="{FF2B5EF4-FFF2-40B4-BE49-F238E27FC236}">
                <a16:creationId xmlns:a16="http://schemas.microsoft.com/office/drawing/2014/main" id="{0E1F9C31-510B-42BC-9231-6CE25E47B963}"/>
              </a:ext>
            </a:extLst>
          </p:cNvPr>
          <p:cNvSpPr>
            <a:spLocks noGrp="1"/>
          </p:cNvSpPr>
          <p:nvPr/>
        </p:nvSpPr>
        <p:spPr>
          <a:xfrm>
            <a:off x="685800" y="1381125"/>
            <a:ext cx="6191250" cy="1066800"/>
          </a:xfrm>
          <a:prstGeom prst="rect">
            <a:avLst/>
          </a:prstGeom>
          <a:noFill/>
        </p:spPr>
        <p:txBody>
          <a:bodyPr wrap="square" lIns="0" tIns="0" rIns="0" bIns="0" anchor="ctr">
            <a:noAutofit/>
          </a:bodyPr>
          <a:lstStyle/>
          <a:p>
            <a:pPr marL="0" indent="0">
              <a:buNone/>
            </a:pPr>
            <a:r>
              <a:rPr sz="2100" b="1">
                <a:solidFill>
                  <a:srgbClr val="0B1F3A"/>
                </a:solidFill>
                <a:latin typeface="Aptos Display"/>
                <a:ea typeface="Aptos Display"/>
                <a:cs typeface="Aptos Display"/>
              </a:rPr>
              <a:t>A practical HAT is an evidence-based sequence of action, inspection, and adjustment.</a:t>
            </a:r>
          </a:p>
        </p:txBody>
      </p:sp>
      <p:sp>
        <p:nvSpPr>
          <p:cNvPr id="9" name="Text 7">
            <a:extLst>
              <a:ext uri="{FF2B5EF4-FFF2-40B4-BE49-F238E27FC236}">
                <a16:creationId xmlns:a16="http://schemas.microsoft.com/office/drawing/2014/main" id="{D5FE350E-54F7-472F-9674-92072BFE5AF2}"/>
              </a:ext>
            </a:extLst>
          </p:cNvPr>
          <p:cNvSpPr>
            <a:spLocks noGrp="1"/>
          </p:cNvSpPr>
          <p:nvPr/>
        </p:nvSpPr>
        <p:spPr>
          <a:xfrm>
            <a:off x="914400" y="2705100"/>
            <a:ext cx="5438775" cy="2457450"/>
          </a:xfrm>
          <a:prstGeom prst="rect">
            <a:avLst/>
          </a:prstGeom>
          <a:noFill/>
        </p:spPr>
        <p:txBody>
          <a:bodyPr wrap="square" lIns="381" tIns="381" rIns="381" bIns="381" anchor="t">
            <a:noAutofit/>
          </a:bodyPr>
          <a:lstStyle/>
          <a:p>
            <a:pPr marL="0" indent="0">
              <a:buNone/>
            </a:pPr>
            <a:r>
              <a:rPr sz="1950" dirty="0">
                <a:solidFill>
                  <a:srgbClr val="4B5563"/>
                </a:solidFill>
                <a:latin typeface="Aptos"/>
                <a:ea typeface="Aptos"/>
                <a:cs typeface="Aptos"/>
              </a:rPr>
              <a:t>Example:</a:t>
            </a:r>
          </a:p>
          <a:p>
            <a:r>
              <a:rPr sz="1950" dirty="0">
                <a:solidFill>
                  <a:srgbClr val="4B5563"/>
                </a:solidFill>
                <a:latin typeface="Aptos"/>
                <a:ea typeface="Aptos"/>
                <a:cs typeface="Aptos"/>
              </a:rPr>
              <a:t>• Human defines 1–4 week target</a:t>
            </a:r>
          </a:p>
          <a:p>
            <a:pPr marL="0" indent="0">
              <a:buNone/>
            </a:pPr>
            <a:r>
              <a:rPr sz="1950" dirty="0">
                <a:solidFill>
                  <a:srgbClr val="4B5563"/>
                </a:solidFill>
                <a:latin typeface="Aptos"/>
                <a:ea typeface="Aptos"/>
                <a:cs typeface="Aptos"/>
              </a:rPr>
              <a:t>• AI flags duplicate records</a:t>
            </a:r>
          </a:p>
          <a:p>
            <a:pPr marL="0" indent="0">
              <a:buNone/>
            </a:pPr>
            <a:r>
              <a:rPr sz="1950" dirty="0">
                <a:solidFill>
                  <a:srgbClr val="4B5563"/>
                </a:solidFill>
                <a:latin typeface="Aptos"/>
                <a:ea typeface="Aptos"/>
                <a:cs typeface="Aptos"/>
              </a:rPr>
              <a:t>• Human resolves reporting rule</a:t>
            </a:r>
          </a:p>
          <a:p>
            <a:pPr marL="0" indent="0">
              <a:buNone/>
            </a:pPr>
            <a:r>
              <a:rPr sz="1950" dirty="0">
                <a:solidFill>
                  <a:srgbClr val="4B5563"/>
                </a:solidFill>
                <a:latin typeface="Aptos"/>
                <a:ea typeface="Aptos"/>
                <a:cs typeface="Aptos"/>
              </a:rPr>
              <a:t>• AI implements a bounded change</a:t>
            </a:r>
          </a:p>
        </p:txBody>
      </p:sp>
      <p:sp>
        <p:nvSpPr>
          <p:cNvPr id="10" name="Text 8">
            <a:extLst>
              <a:ext uri="{FF2B5EF4-FFF2-40B4-BE49-F238E27FC236}">
                <a16:creationId xmlns:a16="http://schemas.microsoft.com/office/drawing/2014/main" id="{8AB4F48D-29A2-471A-A1ED-589A9E93F98F}"/>
              </a:ext>
            </a:extLst>
          </p:cNvPr>
          <p:cNvSpPr>
            <a:spLocks noGrp="1"/>
          </p:cNvSpPr>
          <p:nvPr/>
        </p:nvSpPr>
        <p:spPr>
          <a:xfrm>
            <a:off x="8058150" y="1381125"/>
            <a:ext cx="3810000" cy="400050"/>
          </a:xfrm>
          <a:prstGeom prst="rect">
            <a:avLst/>
          </a:prstGeom>
          <a:noFill/>
        </p:spPr>
        <p:txBody>
          <a:bodyPr wrap="square" lIns="0" tIns="0" rIns="0" bIns="0" anchor="ctr">
            <a:noAutofit/>
          </a:bodyPr>
          <a:lstStyle/>
          <a:p>
            <a:pPr marL="0" indent="0">
              <a:buNone/>
            </a:pPr>
            <a:r>
              <a:rPr sz="1725" b="1">
                <a:solidFill>
                  <a:srgbClr val="2563EB"/>
                </a:solidFill>
                <a:latin typeface="Aptos"/>
                <a:ea typeface="Aptos"/>
                <a:cs typeface="Aptos"/>
              </a:rPr>
              <a:t>One interaction cycle</a:t>
            </a:r>
          </a:p>
        </p:txBody>
      </p:sp>
      <p:sp>
        <p:nvSpPr>
          <p:cNvPr id="11" name="Shape 9">
            <a:extLst>
              <a:ext uri="{FF2B5EF4-FFF2-40B4-BE49-F238E27FC236}">
                <a16:creationId xmlns:a16="http://schemas.microsoft.com/office/drawing/2014/main" id="{4BCED88D-D470-4AD6-9C17-9F371F08E970}"/>
              </a:ext>
            </a:extLst>
          </p:cNvPr>
          <p:cNvSpPr>
            <a:spLocks noGrp="1"/>
          </p:cNvSpPr>
          <p:nvPr/>
        </p:nvSpPr>
        <p:spPr>
          <a:xfrm>
            <a:off x="9091168" y="2347975"/>
            <a:ext cx="658368" cy="0"/>
          </a:xfrm>
          <a:prstGeom prst="line">
            <a:avLst/>
          </a:prstGeom>
          <a:noFill/>
          <a:ln w="31750">
            <a:solidFill>
              <a:srgbClr val="2563EB"/>
            </a:solidFill>
            <a:prstDash val="solid"/>
            <a:headEnd type="none"/>
            <a:tailEnd type="triangle"/>
          </a:ln>
        </p:spPr>
        <p:txBody>
          <a:bodyPr/>
          <a:lstStyle/>
          <a:p>
            <a:endParaRPr/>
          </a:p>
        </p:txBody>
      </p:sp>
      <p:sp>
        <p:nvSpPr>
          <p:cNvPr id="12" name="Shape 10">
            <a:extLst>
              <a:ext uri="{FF2B5EF4-FFF2-40B4-BE49-F238E27FC236}">
                <a16:creationId xmlns:a16="http://schemas.microsoft.com/office/drawing/2014/main" id="{D722740D-1598-46A1-8567-7179A5230E99}"/>
              </a:ext>
            </a:extLst>
          </p:cNvPr>
          <p:cNvSpPr>
            <a:spLocks noGrp="1"/>
          </p:cNvSpPr>
          <p:nvPr/>
        </p:nvSpPr>
        <p:spPr>
          <a:xfrm>
            <a:off x="9091168" y="3417823"/>
            <a:ext cx="658368" cy="0"/>
          </a:xfrm>
          <a:prstGeom prst="line">
            <a:avLst/>
          </a:prstGeom>
          <a:noFill/>
          <a:ln w="31750">
            <a:solidFill>
              <a:srgbClr val="2563EB"/>
            </a:solidFill>
            <a:prstDash val="solid"/>
            <a:headEnd type="none"/>
            <a:tailEnd type="triangle"/>
          </a:ln>
        </p:spPr>
        <p:txBody>
          <a:bodyPr/>
          <a:lstStyle/>
          <a:p>
            <a:endParaRPr/>
          </a:p>
        </p:txBody>
      </p:sp>
      <p:sp>
        <p:nvSpPr>
          <p:cNvPr id="13" name="Text 11">
            <a:extLst>
              <a:ext uri="{FF2B5EF4-FFF2-40B4-BE49-F238E27FC236}">
                <a16:creationId xmlns:a16="http://schemas.microsoft.com/office/drawing/2014/main" id="{1979D685-071F-4E94-A89F-C1104A010458}"/>
              </a:ext>
            </a:extLst>
          </p:cNvPr>
          <p:cNvSpPr>
            <a:spLocks noGrp="1"/>
          </p:cNvSpPr>
          <p:nvPr/>
        </p:nvSpPr>
        <p:spPr>
          <a:xfrm>
            <a:off x="8204200" y="1863343"/>
            <a:ext cx="2450592" cy="658368"/>
          </a:xfrm>
          <a:prstGeom prst="roundRect">
            <a:avLst/>
          </a:prstGeom>
          <a:solidFill>
            <a:srgbClr val="F0FDFA"/>
          </a:solidFill>
          <a:ln w="12700">
            <a:solidFill>
              <a:srgbClr val="A7F3D0"/>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1</a:t>
            </a:r>
          </a:p>
          <a:p>
            <a:pPr marL="0" indent="0" algn="ctr">
              <a:buNone/>
            </a:pPr>
            <a:r>
              <a:rPr sz="1800" b="1">
                <a:solidFill>
                  <a:srgbClr val="0B1F3A"/>
                </a:solidFill>
                <a:latin typeface="Aptos"/>
                <a:ea typeface="Aptos"/>
                <a:cs typeface="Aptos"/>
              </a:rPr>
              <a:t>Frame + clarify</a:t>
            </a:r>
          </a:p>
        </p:txBody>
      </p:sp>
      <p:sp>
        <p:nvSpPr>
          <p:cNvPr id="14" name="Text 12">
            <a:extLst>
              <a:ext uri="{FF2B5EF4-FFF2-40B4-BE49-F238E27FC236}">
                <a16:creationId xmlns:a16="http://schemas.microsoft.com/office/drawing/2014/main" id="{AA6E1552-B9CC-4A95-A1C9-7E3011395D2C}"/>
              </a:ext>
            </a:extLst>
          </p:cNvPr>
          <p:cNvSpPr>
            <a:spLocks noGrp="1"/>
          </p:cNvSpPr>
          <p:nvPr/>
        </p:nvSpPr>
        <p:spPr>
          <a:xfrm>
            <a:off x="8204200" y="2933191"/>
            <a:ext cx="2450592" cy="658368"/>
          </a:xfrm>
          <a:prstGeom prst="roundRect">
            <a:avLst/>
          </a:prstGeom>
          <a:solidFill>
            <a:srgbClr val="EFF6FF"/>
          </a:solidFill>
          <a:ln w="12700">
            <a:solidFill>
              <a:srgbClr val="BFDBFE"/>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2</a:t>
            </a:r>
          </a:p>
          <a:p>
            <a:pPr marL="0" indent="0" algn="ctr">
              <a:buNone/>
            </a:pPr>
            <a:r>
              <a:rPr sz="1800" b="1">
                <a:solidFill>
                  <a:srgbClr val="0B1F3A"/>
                </a:solidFill>
                <a:latin typeface="Aptos"/>
                <a:ea typeface="Aptos"/>
                <a:cs typeface="Aptos"/>
              </a:rPr>
              <a:t>Implement + run</a:t>
            </a:r>
          </a:p>
        </p:txBody>
      </p:sp>
      <p:sp>
        <p:nvSpPr>
          <p:cNvPr id="15" name="Text 13">
            <a:extLst>
              <a:ext uri="{FF2B5EF4-FFF2-40B4-BE49-F238E27FC236}">
                <a16:creationId xmlns:a16="http://schemas.microsoft.com/office/drawing/2014/main" id="{DF871E60-1D7C-45C7-A9D5-436B75448157}"/>
              </a:ext>
            </a:extLst>
          </p:cNvPr>
          <p:cNvSpPr>
            <a:spLocks noGrp="1"/>
          </p:cNvSpPr>
          <p:nvPr/>
        </p:nvSpPr>
        <p:spPr>
          <a:xfrm>
            <a:off x="8204200" y="4003039"/>
            <a:ext cx="2450592" cy="658368"/>
          </a:xfrm>
          <a:prstGeom prst="roundRect">
            <a:avLst/>
          </a:prstGeom>
          <a:solidFill>
            <a:srgbClr val="FFFBEB"/>
          </a:solidFill>
          <a:ln w="12700">
            <a:solidFill>
              <a:srgbClr val="FDE68A"/>
            </a:solidFill>
          </a:ln>
        </p:spPr>
        <p:txBody>
          <a:bodyPr wrap="square" lIns="1905" tIns="1905" rIns="1905" bIns="1905" anchor="ctr">
            <a:noAutofit/>
          </a:bodyPr>
          <a:lstStyle/>
          <a:p>
            <a:pPr marL="0" indent="0" algn="ctr">
              <a:buNone/>
            </a:pPr>
            <a:r>
              <a:rPr sz="1800" b="1">
                <a:solidFill>
                  <a:srgbClr val="0B1F3A"/>
                </a:solidFill>
                <a:latin typeface="Aptos"/>
                <a:ea typeface="Aptos"/>
                <a:cs typeface="Aptos"/>
              </a:rPr>
              <a:t>3</a:t>
            </a:r>
          </a:p>
          <a:p>
            <a:pPr marL="0" indent="0" algn="ctr">
              <a:buNone/>
            </a:pPr>
            <a:r>
              <a:rPr sz="1800" b="1">
                <a:solidFill>
                  <a:srgbClr val="0B1F3A"/>
                </a:solidFill>
                <a:latin typeface="Aptos"/>
                <a:ea typeface="Aptos"/>
                <a:cs typeface="Aptos"/>
              </a:rPr>
              <a:t>Inspect + revise</a:t>
            </a:r>
          </a:p>
        </p:txBody>
      </p:sp>
      <p:sp>
        <p:nvSpPr>
          <p:cNvPr id="17" name="Text 7">
            <a:extLst>
              <a:ext uri="{FF2B5EF4-FFF2-40B4-BE49-F238E27FC236}">
                <a16:creationId xmlns:a16="http://schemas.microsoft.com/office/drawing/2014/main" id="{33ABACB5-BAC7-5F35-A64F-93502C0DF481}"/>
              </a:ext>
            </a:extLst>
          </p:cNvPr>
          <p:cNvSpPr>
            <a:spLocks noGrp="1"/>
          </p:cNvSpPr>
          <p:nvPr/>
        </p:nvSpPr>
        <p:spPr>
          <a:xfrm>
            <a:off x="1000125" y="5429250"/>
            <a:ext cx="10191750" cy="571500"/>
          </a:xfrm>
          <a:prstGeom prst="rect">
            <a:avLst/>
          </a:prstGeom>
          <a:noFill/>
        </p:spPr>
        <p:txBody>
          <a:bodyPr wrap="square" lIns="0" tIns="0" rIns="0" bIns="0" anchor="ctr">
            <a:noAutofit/>
          </a:bodyPr>
          <a:lstStyle/>
          <a:p>
            <a:pPr marL="0" indent="0" algn="ctr">
              <a:buNone/>
            </a:pPr>
            <a:r>
              <a:rPr sz="1875" b="1">
                <a:solidFill>
                  <a:srgbClr val="2563EB"/>
                </a:solidFill>
                <a:latin typeface="Aptos Display"/>
                <a:ea typeface="Aptos Display"/>
                <a:cs typeface="Aptos Display"/>
              </a:rPr>
              <a:t>Shared goal + distinct roles + monitoring + adjustment = teaming in practice.</a:t>
            </a:r>
          </a:p>
        </p:txBody>
      </p:sp>
    </p:spTree>
    <p:extLst>
      <p:ext uri="{BB962C8B-B14F-4D97-AF65-F5344CB8AC3E}">
        <p14:creationId xmlns:p14="http://schemas.microsoft.com/office/powerpoint/2010/main" val="2665154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DBA1E5F8-E516-4AF1-9E50-7E634F97D4CA}"/>
              </a:ext>
            </a:extLst>
          </p:cNvPr>
          <p:cNvSpPr>
            <a:spLocks noGrp="1"/>
          </p:cNvSpPr>
          <p:nvPr/>
        </p:nvSpPr>
        <p:spPr>
          <a:xfrm>
            <a:off x="658368" y="365760"/>
            <a:ext cx="4206240" cy="201168"/>
          </a:xfrm>
          <a:prstGeom prst="rect">
            <a:avLst/>
          </a:prstGeom>
          <a:noFill/>
        </p:spPr>
        <p:txBody>
          <a:bodyPr wrap="square" lIns="0" tIns="0" rIns="0" bIns="0" anchor="ctr">
            <a:normAutofit/>
          </a:bodyPr>
          <a:lstStyle/>
          <a:p>
            <a:pPr marL="0" indent="0">
              <a:buNone/>
            </a:pPr>
            <a:r>
              <a:rPr sz="1050" b="1">
                <a:solidFill>
                  <a:srgbClr val="2468E8"/>
                </a:solidFill>
                <a:latin typeface="Aptos"/>
                <a:ea typeface="Aptos"/>
                <a:cs typeface="Aptos"/>
              </a:rPr>
              <a:t>TAKEAWAY</a:t>
            </a:r>
          </a:p>
        </p:txBody>
      </p:sp>
      <p:sp>
        <p:nvSpPr>
          <p:cNvPr id="3" name="Text 1">
            <a:extLst>
              <a:ext uri="{FF2B5EF4-FFF2-40B4-BE49-F238E27FC236}">
                <a16:creationId xmlns:a16="http://schemas.microsoft.com/office/drawing/2014/main" id="{58CBADEC-2ABE-4496-A607-94E7D65C5658}"/>
              </a:ext>
            </a:extLst>
          </p:cNvPr>
          <p:cNvSpPr>
            <a:spLocks noGrp="1"/>
          </p:cNvSpPr>
          <p:nvPr/>
        </p:nvSpPr>
        <p:spPr>
          <a:xfrm>
            <a:off x="640080" y="621792"/>
            <a:ext cx="9601200" cy="411480"/>
          </a:xfrm>
          <a:prstGeom prst="rect">
            <a:avLst/>
          </a:prstGeom>
          <a:noFill/>
        </p:spPr>
        <p:txBody>
          <a:bodyPr wrap="square" lIns="0" tIns="0" rIns="0" bIns="0" anchor="ctr">
            <a:normAutofit fontScale="97500" lnSpcReduction="10000"/>
          </a:bodyPr>
          <a:lstStyle/>
          <a:p>
            <a:pPr marL="0" indent="0">
              <a:buNone/>
            </a:pPr>
            <a:r>
              <a:rPr sz="3000" b="1">
                <a:solidFill>
                  <a:srgbClr val="102544"/>
                </a:solidFill>
                <a:latin typeface="Aptos Display"/>
                <a:ea typeface="Aptos Display"/>
                <a:cs typeface="Aptos Display"/>
              </a:rPr>
              <a:t>Human judgment organizes the system</a:t>
            </a:r>
          </a:p>
        </p:txBody>
      </p:sp>
      <p:sp>
        <p:nvSpPr>
          <p:cNvPr id="4" name="Shape 2">
            <a:extLst>
              <a:ext uri="{FF2B5EF4-FFF2-40B4-BE49-F238E27FC236}">
                <a16:creationId xmlns:a16="http://schemas.microsoft.com/office/drawing/2014/main" id="{9653C028-05B9-4F18-8199-EEBD33C02CF1}"/>
              </a:ext>
            </a:extLst>
          </p:cNvPr>
          <p:cNvSpPr>
            <a:spLocks noGrp="1"/>
          </p:cNvSpPr>
          <p:nvPr/>
        </p:nvSpPr>
        <p:spPr>
          <a:xfrm>
            <a:off x="640080" y="1143000"/>
            <a:ext cx="10908792" cy="0"/>
          </a:xfrm>
          <a:prstGeom prst="line">
            <a:avLst/>
          </a:prstGeom>
          <a:noFill/>
          <a:ln w="12700">
            <a:solidFill>
              <a:srgbClr val="E5E7EB"/>
            </a:solidFill>
            <a:prstDash val="solid"/>
          </a:ln>
        </p:spPr>
        <p:txBody>
          <a:bodyPr/>
          <a:lstStyle/>
          <a:p>
            <a:endParaRPr/>
          </a:p>
        </p:txBody>
      </p:sp>
      <p:sp>
        <p:nvSpPr>
          <p:cNvPr id="5" name="Shape 3">
            <a:extLst>
              <a:ext uri="{FF2B5EF4-FFF2-40B4-BE49-F238E27FC236}">
                <a16:creationId xmlns:a16="http://schemas.microsoft.com/office/drawing/2014/main" id="{867CF068-5F17-46AB-BD06-4389EB6167C2}"/>
              </a:ext>
            </a:extLst>
          </p:cNvPr>
          <p:cNvSpPr>
            <a:spLocks noGrp="1"/>
          </p:cNvSpPr>
          <p:nvPr/>
        </p:nvSpPr>
        <p:spPr>
          <a:xfrm>
            <a:off x="640080" y="6419088"/>
            <a:ext cx="10908792" cy="0"/>
          </a:xfrm>
          <a:prstGeom prst="line">
            <a:avLst/>
          </a:prstGeom>
          <a:noFill/>
          <a:ln w="12700">
            <a:solidFill>
              <a:srgbClr val="E5E7EB"/>
            </a:solidFill>
            <a:prstDash val="solid"/>
          </a:ln>
        </p:spPr>
        <p:txBody>
          <a:bodyPr/>
          <a:lstStyle/>
          <a:p>
            <a:endParaRPr/>
          </a:p>
        </p:txBody>
      </p:sp>
      <p:sp>
        <p:nvSpPr>
          <p:cNvPr id="6" name="Text 4">
            <a:extLst>
              <a:ext uri="{FF2B5EF4-FFF2-40B4-BE49-F238E27FC236}">
                <a16:creationId xmlns:a16="http://schemas.microsoft.com/office/drawing/2014/main" id="{25422B2F-6DE8-42E3-89FA-173A8255C3D9}"/>
              </a:ext>
            </a:extLst>
          </p:cNvPr>
          <p:cNvSpPr>
            <a:spLocks noGrp="1"/>
          </p:cNvSpPr>
          <p:nvPr/>
        </p:nvSpPr>
        <p:spPr>
          <a:xfrm>
            <a:off x="640080" y="6519672"/>
            <a:ext cx="4023360" cy="182880"/>
          </a:xfrm>
          <a:prstGeom prst="rect">
            <a:avLst/>
          </a:prstGeom>
          <a:noFill/>
        </p:spPr>
        <p:txBody>
          <a:bodyPr wrap="square" lIns="0" tIns="0" rIns="0" bIns="0" anchor="ctr">
            <a:normAutofit/>
          </a:bodyPr>
          <a:lstStyle/>
          <a:p>
            <a:pPr marL="0" indent="0">
              <a:buNone/>
            </a:pPr>
            <a:r>
              <a:rPr sz="950">
                <a:solidFill>
                  <a:srgbClr val="667386"/>
                </a:solidFill>
                <a:latin typeface="Aptos"/>
                <a:ea typeface="Aptos"/>
                <a:cs typeface="Aptos"/>
              </a:rPr>
              <a:t>AI + Infectious Disease Forecasting • Nathan J. McNeese</a:t>
            </a:r>
          </a:p>
        </p:txBody>
      </p:sp>
      <p:sp>
        <p:nvSpPr>
          <p:cNvPr id="7" name="Text 5">
            <a:extLst>
              <a:ext uri="{FF2B5EF4-FFF2-40B4-BE49-F238E27FC236}">
                <a16:creationId xmlns:a16="http://schemas.microsoft.com/office/drawing/2014/main" id="{5488B3B8-EC13-4615-8FAB-1CAAC226FE64}"/>
              </a:ext>
            </a:extLst>
          </p:cNvPr>
          <p:cNvSpPr>
            <a:spLocks noGrp="1"/>
          </p:cNvSpPr>
          <p:nvPr/>
        </p:nvSpPr>
        <p:spPr>
          <a:xfrm>
            <a:off x="11155680" y="6519672"/>
            <a:ext cx="411480" cy="182880"/>
          </a:xfrm>
          <a:prstGeom prst="rect">
            <a:avLst/>
          </a:prstGeom>
          <a:noFill/>
        </p:spPr>
        <p:txBody>
          <a:bodyPr wrap="square" lIns="0" tIns="0" rIns="0" bIns="0" anchor="ctr">
            <a:normAutofit/>
          </a:bodyPr>
          <a:lstStyle/>
          <a:p>
            <a:pPr marL="0" indent="0" algn="r">
              <a:buNone/>
            </a:pPr>
            <a:r>
              <a:rPr sz="950">
                <a:solidFill>
                  <a:srgbClr val="667386"/>
                </a:solidFill>
                <a:latin typeface="Aptos"/>
                <a:ea typeface="Aptos"/>
                <a:cs typeface="Aptos"/>
              </a:rPr>
              <a:t>34</a:t>
            </a:r>
          </a:p>
        </p:txBody>
      </p:sp>
      <p:sp>
        <p:nvSpPr>
          <p:cNvPr id="8" name="Text 6">
            <a:extLst>
              <a:ext uri="{FF2B5EF4-FFF2-40B4-BE49-F238E27FC236}">
                <a16:creationId xmlns:a16="http://schemas.microsoft.com/office/drawing/2014/main" id="{4823F21C-F755-4562-9AEB-DC495D2556EB}"/>
              </a:ext>
            </a:extLst>
          </p:cNvPr>
          <p:cNvSpPr>
            <a:spLocks noGrp="1"/>
          </p:cNvSpPr>
          <p:nvPr/>
        </p:nvSpPr>
        <p:spPr>
          <a:xfrm>
            <a:off x="752475" y="1381125"/>
            <a:ext cx="10287000" cy="857250"/>
          </a:xfrm>
          <a:prstGeom prst="rect">
            <a:avLst/>
          </a:prstGeom>
          <a:noFill/>
        </p:spPr>
        <p:txBody>
          <a:bodyPr wrap="square" lIns="0" tIns="0" rIns="0" bIns="0" anchor="ctr">
            <a:noAutofit/>
          </a:bodyPr>
          <a:lstStyle/>
          <a:p>
            <a:pPr marL="0" indent="0" algn="ctr">
              <a:buNone/>
            </a:pPr>
            <a:r>
              <a:rPr sz="2175" b="1">
                <a:solidFill>
                  <a:srgbClr val="0B1F3A"/>
                </a:solidFill>
                <a:latin typeface="Aptos Display"/>
                <a:ea typeface="Aptos Display"/>
                <a:cs typeface="Aptos Display"/>
              </a:rPr>
              <a:t>AI capability becomes valuable when humans frame, coordinate, evaluate, and remain accountable.</a:t>
            </a:r>
          </a:p>
        </p:txBody>
      </p:sp>
      <p:sp>
        <p:nvSpPr>
          <p:cNvPr id="9" name="Shape 7">
            <a:extLst>
              <a:ext uri="{FF2B5EF4-FFF2-40B4-BE49-F238E27FC236}">
                <a16:creationId xmlns:a16="http://schemas.microsoft.com/office/drawing/2014/main" id="{59B2FEA6-4A7C-4933-B561-56F8416047D9}"/>
              </a:ext>
            </a:extLst>
          </p:cNvPr>
          <p:cNvSpPr>
            <a:spLocks noGrp="1"/>
          </p:cNvSpPr>
          <p:nvPr/>
        </p:nvSpPr>
        <p:spPr>
          <a:xfrm>
            <a:off x="2852928" y="3054096"/>
            <a:ext cx="713232" cy="0"/>
          </a:xfrm>
          <a:prstGeom prst="line">
            <a:avLst/>
          </a:prstGeom>
          <a:noFill/>
          <a:ln w="31750">
            <a:solidFill>
              <a:srgbClr val="2563EB"/>
            </a:solidFill>
            <a:prstDash val="solid"/>
            <a:headEnd type="none"/>
            <a:tailEnd type="triangle"/>
          </a:ln>
        </p:spPr>
        <p:txBody>
          <a:bodyPr/>
          <a:lstStyle/>
          <a:p>
            <a:endParaRPr/>
          </a:p>
        </p:txBody>
      </p:sp>
      <p:sp>
        <p:nvSpPr>
          <p:cNvPr id="10" name="Shape 8">
            <a:extLst>
              <a:ext uri="{FF2B5EF4-FFF2-40B4-BE49-F238E27FC236}">
                <a16:creationId xmlns:a16="http://schemas.microsoft.com/office/drawing/2014/main" id="{B1FDAAB8-D1AF-4E50-9FF2-0F10A085ECD5}"/>
              </a:ext>
            </a:extLst>
          </p:cNvPr>
          <p:cNvSpPr>
            <a:spLocks noGrp="1"/>
          </p:cNvSpPr>
          <p:nvPr/>
        </p:nvSpPr>
        <p:spPr>
          <a:xfrm>
            <a:off x="5074920" y="3054096"/>
            <a:ext cx="713232" cy="0"/>
          </a:xfrm>
          <a:prstGeom prst="line">
            <a:avLst/>
          </a:prstGeom>
          <a:noFill/>
          <a:ln w="31750">
            <a:solidFill>
              <a:srgbClr val="2563EB"/>
            </a:solidFill>
            <a:prstDash val="solid"/>
            <a:headEnd type="none"/>
            <a:tailEnd type="triangle"/>
          </a:ln>
        </p:spPr>
        <p:txBody>
          <a:bodyPr/>
          <a:lstStyle/>
          <a:p>
            <a:endParaRPr/>
          </a:p>
        </p:txBody>
      </p:sp>
      <p:sp>
        <p:nvSpPr>
          <p:cNvPr id="11" name="Shape 9">
            <a:extLst>
              <a:ext uri="{FF2B5EF4-FFF2-40B4-BE49-F238E27FC236}">
                <a16:creationId xmlns:a16="http://schemas.microsoft.com/office/drawing/2014/main" id="{C4C73A31-9E48-4DC6-BA5A-A5BC70B24456}"/>
              </a:ext>
            </a:extLst>
          </p:cNvPr>
          <p:cNvSpPr>
            <a:spLocks noGrp="1"/>
          </p:cNvSpPr>
          <p:nvPr/>
        </p:nvSpPr>
        <p:spPr>
          <a:xfrm>
            <a:off x="7296912" y="3054096"/>
            <a:ext cx="713232" cy="0"/>
          </a:xfrm>
          <a:prstGeom prst="line">
            <a:avLst/>
          </a:prstGeom>
          <a:noFill/>
          <a:ln w="31750">
            <a:solidFill>
              <a:srgbClr val="2563EB"/>
            </a:solidFill>
            <a:prstDash val="solid"/>
            <a:headEnd type="none"/>
            <a:tailEnd type="triangle"/>
          </a:ln>
        </p:spPr>
        <p:txBody>
          <a:bodyPr/>
          <a:lstStyle/>
          <a:p>
            <a:endParaRPr/>
          </a:p>
        </p:txBody>
      </p:sp>
      <p:sp>
        <p:nvSpPr>
          <p:cNvPr id="12" name="Text 10">
            <a:extLst>
              <a:ext uri="{FF2B5EF4-FFF2-40B4-BE49-F238E27FC236}">
                <a16:creationId xmlns:a16="http://schemas.microsoft.com/office/drawing/2014/main" id="{468BF5D0-6E32-4E72-8CFC-6B5243FE2507}"/>
              </a:ext>
            </a:extLst>
          </p:cNvPr>
          <p:cNvSpPr>
            <a:spLocks noGrp="1"/>
          </p:cNvSpPr>
          <p:nvPr/>
        </p:nvSpPr>
        <p:spPr>
          <a:xfrm>
            <a:off x="1143000" y="2587752"/>
            <a:ext cx="1600200" cy="914400"/>
          </a:xfrm>
          <a:prstGeom prst="roundRect">
            <a:avLst/>
          </a:prstGeom>
          <a:solidFill>
            <a:srgbClr val="0B1F3A"/>
          </a:solidFill>
          <a:ln w="12700">
            <a:solidFill>
              <a:srgbClr val="0B1F3A"/>
            </a:solidFill>
          </a:ln>
        </p:spPr>
        <p:txBody>
          <a:bodyPr wrap="square" lIns="1905" tIns="1905" rIns="1905" bIns="1905" anchor="ctr">
            <a:normAutofit/>
          </a:bodyPr>
          <a:lstStyle/>
          <a:p>
            <a:pPr marL="0" indent="0" algn="ctr">
              <a:buNone/>
            </a:pPr>
            <a:r>
              <a:rPr sz="2600" b="1">
                <a:solidFill>
                  <a:srgbClr val="FFFFFF"/>
                </a:solidFill>
                <a:latin typeface="Aptos"/>
                <a:ea typeface="Aptos"/>
                <a:cs typeface="Aptos"/>
              </a:rPr>
              <a:t>Think</a:t>
            </a:r>
          </a:p>
        </p:txBody>
      </p:sp>
      <p:sp>
        <p:nvSpPr>
          <p:cNvPr id="13" name="Text 11">
            <a:extLst>
              <a:ext uri="{FF2B5EF4-FFF2-40B4-BE49-F238E27FC236}">
                <a16:creationId xmlns:a16="http://schemas.microsoft.com/office/drawing/2014/main" id="{FA246A4C-AC9D-4CDA-A269-6FF764FFDF5A}"/>
              </a:ext>
            </a:extLst>
          </p:cNvPr>
          <p:cNvSpPr>
            <a:spLocks noGrp="1"/>
          </p:cNvSpPr>
          <p:nvPr/>
        </p:nvSpPr>
        <p:spPr>
          <a:xfrm>
            <a:off x="3611880" y="2587752"/>
            <a:ext cx="1600200" cy="914400"/>
          </a:xfrm>
          <a:prstGeom prst="roundRect">
            <a:avLst/>
          </a:prstGeom>
          <a:solidFill>
            <a:srgbClr val="2563EB"/>
          </a:solidFill>
          <a:ln w="12700">
            <a:solidFill>
              <a:srgbClr val="2563EB"/>
            </a:solidFill>
          </a:ln>
        </p:spPr>
        <p:txBody>
          <a:bodyPr wrap="square" lIns="1905" tIns="1905" rIns="1905" bIns="1905" anchor="ctr">
            <a:normAutofit/>
          </a:bodyPr>
          <a:lstStyle/>
          <a:p>
            <a:pPr marL="0" indent="0" algn="ctr">
              <a:buNone/>
            </a:pPr>
            <a:r>
              <a:rPr sz="2600" b="1">
                <a:solidFill>
                  <a:srgbClr val="FFFFFF"/>
                </a:solidFill>
                <a:latin typeface="Aptos"/>
                <a:ea typeface="Aptos"/>
                <a:cs typeface="Aptos"/>
              </a:rPr>
              <a:t>Ask</a:t>
            </a:r>
          </a:p>
        </p:txBody>
      </p:sp>
      <p:sp>
        <p:nvSpPr>
          <p:cNvPr id="14" name="Text 12">
            <a:extLst>
              <a:ext uri="{FF2B5EF4-FFF2-40B4-BE49-F238E27FC236}">
                <a16:creationId xmlns:a16="http://schemas.microsoft.com/office/drawing/2014/main" id="{B64A92F8-EC35-485A-AB07-4221AAD777BA}"/>
              </a:ext>
            </a:extLst>
          </p:cNvPr>
          <p:cNvSpPr>
            <a:spLocks noGrp="1"/>
          </p:cNvSpPr>
          <p:nvPr/>
        </p:nvSpPr>
        <p:spPr>
          <a:xfrm>
            <a:off x="6080760" y="2587752"/>
            <a:ext cx="1600200" cy="914400"/>
          </a:xfrm>
          <a:prstGeom prst="roundRect">
            <a:avLst/>
          </a:prstGeom>
          <a:solidFill>
            <a:srgbClr val="D97706"/>
          </a:solidFill>
          <a:ln w="12700">
            <a:solidFill>
              <a:srgbClr val="D97706"/>
            </a:solidFill>
          </a:ln>
        </p:spPr>
        <p:txBody>
          <a:bodyPr wrap="square" lIns="1905" tIns="1905" rIns="1905" bIns="1905" anchor="ctr">
            <a:normAutofit/>
          </a:bodyPr>
          <a:lstStyle/>
          <a:p>
            <a:pPr marL="0" indent="0" algn="ctr">
              <a:buNone/>
            </a:pPr>
            <a:r>
              <a:rPr sz="2600" b="1">
                <a:solidFill>
                  <a:srgbClr val="FFFFFF"/>
                </a:solidFill>
                <a:latin typeface="Aptos"/>
                <a:ea typeface="Aptos"/>
                <a:cs typeface="Aptos"/>
              </a:rPr>
              <a:t>Check</a:t>
            </a:r>
          </a:p>
        </p:txBody>
      </p:sp>
      <p:sp>
        <p:nvSpPr>
          <p:cNvPr id="15" name="Text 13">
            <a:extLst>
              <a:ext uri="{FF2B5EF4-FFF2-40B4-BE49-F238E27FC236}">
                <a16:creationId xmlns:a16="http://schemas.microsoft.com/office/drawing/2014/main" id="{7A3BDD43-E951-4CA0-A785-EF97FE7D665C}"/>
              </a:ext>
            </a:extLst>
          </p:cNvPr>
          <p:cNvSpPr>
            <a:spLocks noGrp="1"/>
          </p:cNvSpPr>
          <p:nvPr/>
        </p:nvSpPr>
        <p:spPr>
          <a:xfrm>
            <a:off x="8549640" y="2587752"/>
            <a:ext cx="1600200" cy="914400"/>
          </a:xfrm>
          <a:prstGeom prst="roundRect">
            <a:avLst/>
          </a:prstGeom>
          <a:solidFill>
            <a:srgbClr val="0F766E"/>
          </a:solidFill>
          <a:ln w="12700">
            <a:solidFill>
              <a:srgbClr val="0F766E"/>
            </a:solidFill>
          </a:ln>
        </p:spPr>
        <p:txBody>
          <a:bodyPr wrap="square" lIns="1905" tIns="1905" rIns="1905" bIns="1905" anchor="ctr">
            <a:normAutofit/>
          </a:bodyPr>
          <a:lstStyle/>
          <a:p>
            <a:pPr marL="0" indent="0" algn="ctr">
              <a:buNone/>
            </a:pPr>
            <a:r>
              <a:rPr sz="2600" b="1">
                <a:solidFill>
                  <a:srgbClr val="FFFFFF"/>
                </a:solidFill>
                <a:latin typeface="Aptos"/>
                <a:ea typeface="Aptos"/>
                <a:cs typeface="Aptos"/>
              </a:rPr>
              <a:t>Decide</a:t>
            </a:r>
          </a:p>
        </p:txBody>
      </p:sp>
      <p:sp>
        <p:nvSpPr>
          <p:cNvPr id="16" name="Text 14">
            <a:extLst>
              <a:ext uri="{FF2B5EF4-FFF2-40B4-BE49-F238E27FC236}">
                <a16:creationId xmlns:a16="http://schemas.microsoft.com/office/drawing/2014/main" id="{CD5DE07F-E422-4F64-878E-EBC81158B019}"/>
              </a:ext>
            </a:extLst>
          </p:cNvPr>
          <p:cNvSpPr>
            <a:spLocks noGrp="1"/>
          </p:cNvSpPr>
          <p:nvPr/>
        </p:nvSpPr>
        <p:spPr>
          <a:xfrm>
            <a:off x="1114425" y="3810000"/>
            <a:ext cx="9925050" cy="876300"/>
          </a:xfrm>
          <a:prstGeom prst="rect">
            <a:avLst/>
          </a:prstGeom>
          <a:noFill/>
        </p:spPr>
        <p:txBody>
          <a:bodyPr wrap="square" lIns="0" tIns="0" rIns="0" bIns="0" anchor="ctr">
            <a:noAutofit/>
          </a:bodyPr>
          <a:lstStyle/>
          <a:p>
            <a:pPr marL="0" indent="0" algn="ctr">
              <a:buNone/>
            </a:pPr>
            <a:r>
              <a:rPr sz="2100" b="1">
                <a:solidFill>
                  <a:srgbClr val="2563EB"/>
                </a:solidFill>
                <a:latin typeface="Aptos Display"/>
                <a:ea typeface="Aptos Display"/>
                <a:cs typeface="Aptos Display"/>
              </a:rPr>
              <a:t>Human judgment + AI capability + disciplined evaluation = better forecasting</a:t>
            </a:r>
          </a:p>
        </p:txBody>
      </p:sp>
    </p:spTree>
    <p:extLst>
      <p:ext uri="{BB962C8B-B14F-4D97-AF65-F5344CB8AC3E}">
        <p14:creationId xmlns:p14="http://schemas.microsoft.com/office/powerpoint/2010/main" val="45527757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TotalTime>
  <Words>2422</Words>
  <Application>Microsoft Office PowerPoint</Application>
  <DocSecurity>0</DocSecurity>
  <PresentationFormat>Widescreen</PresentationFormat>
  <Paragraphs>356</Paragraphs>
  <Slides>30</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30</vt:i4>
      </vt:variant>
    </vt:vector>
  </HeadingPairs>
  <TitlesOfParts>
    <vt:vector size="34" baseType="lpstr">
      <vt:lpstr>Aptos</vt:lpstr>
      <vt:lpstr>Aptos Display</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Amanda Marie Bleichrodt</cp:lastModifiedBy>
  <cp:revision>2</cp:revision>
  <dcterms:created xsi:type="dcterms:W3CDTF">2026-07-20T16:55:45Z</dcterms:created>
  <dcterms:modified xsi:type="dcterms:W3CDTF">2026-07-22T18:26:53Z</dcterms:modified>
</cp:coreProperties>
</file>