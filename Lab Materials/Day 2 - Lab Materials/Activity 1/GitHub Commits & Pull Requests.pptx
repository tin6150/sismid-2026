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405" r:id="rId2"/>
    <p:sldId id="528" r:id="rId3"/>
    <p:sldId id="425" r:id="rId4"/>
    <p:sldId id="426" r:id="rId5"/>
    <p:sldId id="529" r:id="rId6"/>
    <p:sldId id="530" r:id="rId7"/>
    <p:sldId id="460" r:id="rId8"/>
    <p:sldId id="462" r:id="rId9"/>
    <p:sldId id="483" r:id="rId10"/>
    <p:sldId id="482" r:id="rId11"/>
    <p:sldId id="484" r:id="rId12"/>
    <p:sldId id="463" r:id="rId13"/>
    <p:sldId id="485" r:id="rId14"/>
    <p:sldId id="486" r:id="rId15"/>
    <p:sldId id="498" r:id="rId16"/>
    <p:sldId id="488" r:id="rId17"/>
    <p:sldId id="469" r:id="rId18"/>
    <p:sldId id="470" r:id="rId19"/>
    <p:sldId id="493" r:id="rId20"/>
    <p:sldId id="489" r:id="rId21"/>
    <p:sldId id="517" r:id="rId22"/>
    <p:sldId id="520" r:id="rId23"/>
    <p:sldId id="514" r:id="rId24"/>
    <p:sldId id="521" r:id="rId25"/>
    <p:sldId id="515" r:id="rId26"/>
    <p:sldId id="524" r:id="rId27"/>
    <p:sldId id="499" r:id="rId28"/>
    <p:sldId id="481" r:id="rId29"/>
    <p:sldId id="526" r:id="rId30"/>
    <p:sldId id="527" r:id="rId31"/>
    <p:sldId id="53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98E25B-25ED-4569-8080-26AC3B23D45A}" v="1" dt="2026-07-21T20:02:49.4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915" autoAdjust="0"/>
  </p:normalViewPr>
  <p:slideViewPr>
    <p:cSldViewPr snapToGrid="0">
      <p:cViewPr varScale="1">
        <p:scale>
          <a:sx n="78" d="100"/>
          <a:sy n="78" d="100"/>
        </p:scale>
        <p:origin x="878" y="67"/>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modSld">
      <pc:chgData name="ambleic@clemson.edu" userId="43615028507_tp_box_2" providerId="OAuth2" clId="{5F4B9ABB-DEB5-4DC3-A8F9-1752A2D02C85}" dt="2026-07-21T20:02:49.457" v="27"/>
      <pc:docMkLst>
        <pc:docMk/>
      </pc:docMkLst>
      <pc:sldChg chg="modSp">
        <pc:chgData name="ambleic@clemson.edu" userId="43615028507_tp_box_2" providerId="OAuth2" clId="{5F4B9ABB-DEB5-4DC3-A8F9-1752A2D02C85}" dt="2026-07-21T20:02:49.457" v="27"/>
        <pc:sldMkLst>
          <pc:docMk/>
          <pc:sldMk cId="3886218017" sldId="426"/>
        </pc:sldMkLst>
        <pc:spChg chg="mod">
          <ac:chgData name="ambleic@clemson.edu" userId="43615028507_tp_box_2" providerId="OAuth2" clId="{5F4B9ABB-DEB5-4DC3-A8F9-1752A2D02C85}" dt="2026-07-21T20:02:49.457" v="27"/>
          <ac:spMkLst>
            <pc:docMk/>
            <pc:sldMk cId="3886218017" sldId="426"/>
            <ac:spMk id="27" creationId="{1B0207FA-97BD-2917-EBDF-A708BDBBCF75}"/>
          </ac:spMkLst>
        </pc:spChg>
      </pc:sldChg>
      <pc:sldChg chg="modNotesTx">
        <pc:chgData name="ambleic@clemson.edu" userId="43615028507_tp_box_2" providerId="OAuth2" clId="{5F4B9ABB-DEB5-4DC3-A8F9-1752A2D02C85}" dt="2026-07-20T02:21:32.696" v="0" actId="20577"/>
        <pc:sldMkLst>
          <pc:docMk/>
          <pc:sldMk cId="291838264" sldId="460"/>
        </pc:sldMkLst>
      </pc:sldChg>
      <pc:sldChg chg="modNotesTx">
        <pc:chgData name="ambleic@clemson.edu" userId="43615028507_tp_box_2" providerId="OAuth2" clId="{5F4B9ABB-DEB5-4DC3-A8F9-1752A2D02C85}" dt="2026-07-20T02:21:47.403" v="1" actId="20577"/>
        <pc:sldMkLst>
          <pc:docMk/>
          <pc:sldMk cId="630074039" sldId="515"/>
        </pc:sldMkLst>
      </pc:sldChg>
      <pc:sldChg chg="addSp modSp mod modAnim">
        <pc:chgData name="ambleic@clemson.edu" userId="43615028507_tp_box_2" providerId="OAuth2" clId="{5F4B9ABB-DEB5-4DC3-A8F9-1752A2D02C85}" dt="2026-07-20T02:24:05.878" v="26"/>
        <pc:sldMkLst>
          <pc:docMk/>
          <pc:sldMk cId="2402661529" sldId="526"/>
        </pc:sldMkLst>
        <pc:spChg chg="add mod">
          <ac:chgData name="ambleic@clemson.edu" userId="43615028507_tp_box_2" providerId="OAuth2" clId="{5F4B9ABB-DEB5-4DC3-A8F9-1752A2D02C85}" dt="2026-07-20T02:23:29.057" v="17" actId="14100"/>
          <ac:spMkLst>
            <pc:docMk/>
            <pc:sldMk cId="2402661529" sldId="526"/>
            <ac:spMk id="2" creationId="{E194CB74-31F6-159B-FFA5-C09B00B35B62}"/>
          </ac:spMkLst>
        </pc:spChg>
        <pc:spChg chg="add mod">
          <ac:chgData name="ambleic@clemson.edu" userId="43615028507_tp_box_2" providerId="OAuth2" clId="{5F4B9ABB-DEB5-4DC3-A8F9-1752A2D02C85}" dt="2026-07-20T02:23:50.939" v="22" actId="1582"/>
          <ac:spMkLst>
            <pc:docMk/>
            <pc:sldMk cId="2402661529" sldId="526"/>
            <ac:spMk id="8" creationId="{87BA3460-E56B-E0E8-5DC5-37126AD53395}"/>
          </ac:spMkLst>
        </pc:spChg>
        <pc:cxnChg chg="add mod">
          <ac:chgData name="ambleic@clemson.edu" userId="43615028507_tp_box_2" providerId="OAuth2" clId="{5F4B9ABB-DEB5-4DC3-A8F9-1752A2D02C85}" dt="2026-07-20T02:23:29.057" v="17" actId="14100"/>
          <ac:cxnSpMkLst>
            <pc:docMk/>
            <pc:sldMk cId="2402661529" sldId="526"/>
            <ac:cxnSpMk id="6" creationId="{7229F4BF-A95A-6D63-FEB9-0F1E44C25CF0}"/>
          </ac:cxnSpMkLst>
        </pc:cxnChg>
        <pc:cxnChg chg="add mod">
          <ac:chgData name="ambleic@clemson.edu" userId="43615028507_tp_box_2" providerId="OAuth2" clId="{5F4B9ABB-DEB5-4DC3-A8F9-1752A2D02C85}" dt="2026-07-20T02:24:01.266" v="25" actId="1582"/>
          <ac:cxnSpMkLst>
            <pc:docMk/>
            <pc:sldMk cId="2402661529" sldId="526"/>
            <ac:cxnSpMk id="10" creationId="{D27FCE49-80C3-813D-F651-B62BF840C57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6B4A52-D009-4DAD-97A1-E9E8A9C07555}"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A9720-1ABF-4EB7-B860-3C212697A98A}" type="slidenum">
              <a:rPr lang="en-US" smtClean="0"/>
              <a:t>‹#›</a:t>
            </a:fld>
            <a:endParaRPr lang="en-US"/>
          </a:p>
        </p:txBody>
      </p:sp>
    </p:spTree>
    <p:extLst>
      <p:ext uri="{BB962C8B-B14F-4D97-AF65-F5344CB8AC3E}">
        <p14:creationId xmlns:p14="http://schemas.microsoft.com/office/powerpoint/2010/main" val="1766588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7A9720-1ABF-4EB7-B860-3C212697A98A}" type="slidenum">
              <a:rPr lang="en-US" smtClean="0"/>
              <a:t>1</a:t>
            </a:fld>
            <a:endParaRPr lang="en-US"/>
          </a:p>
        </p:txBody>
      </p:sp>
    </p:spTree>
    <p:extLst>
      <p:ext uri="{BB962C8B-B14F-4D97-AF65-F5344CB8AC3E}">
        <p14:creationId xmlns:p14="http://schemas.microsoft.com/office/powerpoint/2010/main" val="188305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7</a:t>
            </a:fld>
            <a:endParaRPr lang="en-US"/>
          </a:p>
        </p:txBody>
      </p:sp>
    </p:spTree>
    <p:extLst>
      <p:ext uri="{BB962C8B-B14F-4D97-AF65-F5344CB8AC3E}">
        <p14:creationId xmlns:p14="http://schemas.microsoft.com/office/powerpoint/2010/main" val="666800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C45A4A-0340-4030-8DF6-B0876EC10DF5}" type="slidenum">
              <a:rPr lang="en-US" smtClean="0"/>
              <a:t>11</a:t>
            </a:fld>
            <a:endParaRPr lang="en-US"/>
          </a:p>
        </p:txBody>
      </p:sp>
    </p:spTree>
    <p:extLst>
      <p:ext uri="{BB962C8B-B14F-4D97-AF65-F5344CB8AC3E}">
        <p14:creationId xmlns:p14="http://schemas.microsoft.com/office/powerpoint/2010/main" val="3675515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7A9720-1ABF-4EB7-B860-3C212697A98A}" type="slidenum">
              <a:rPr lang="en-US" smtClean="0"/>
              <a:t>13</a:t>
            </a:fld>
            <a:endParaRPr lang="en-US"/>
          </a:p>
        </p:txBody>
      </p:sp>
    </p:spTree>
    <p:extLst>
      <p:ext uri="{BB962C8B-B14F-4D97-AF65-F5344CB8AC3E}">
        <p14:creationId xmlns:p14="http://schemas.microsoft.com/office/powerpoint/2010/main" val="3925803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C45A4A-0340-4030-8DF6-B0876EC10DF5}" type="slidenum">
              <a:rPr lang="en-US" smtClean="0"/>
              <a:t>19</a:t>
            </a:fld>
            <a:endParaRPr lang="en-US"/>
          </a:p>
        </p:txBody>
      </p:sp>
    </p:spTree>
    <p:extLst>
      <p:ext uri="{BB962C8B-B14F-4D97-AF65-F5344CB8AC3E}">
        <p14:creationId xmlns:p14="http://schemas.microsoft.com/office/powerpoint/2010/main" val="3621932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806F-32B9-7FC7-8298-DD1A1D362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F7933-1C32-F5F0-4968-D4433D236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CD9F78-96F2-079F-E9AF-9B6ACA5B1C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96DD3F-C5A8-797C-44A5-3A5B8E4891A2}"/>
              </a:ext>
            </a:extLst>
          </p:cNvPr>
          <p:cNvSpPr>
            <a:spLocks noGrp="1"/>
          </p:cNvSpPr>
          <p:nvPr>
            <p:ph type="sldNum" sz="quarter" idx="5"/>
          </p:nvPr>
        </p:nvSpPr>
        <p:spPr/>
        <p:txBody>
          <a:bodyPr/>
          <a:lstStyle/>
          <a:p>
            <a:fld id="{EFC45A4A-0340-4030-8DF6-B0876EC10DF5}" type="slidenum">
              <a:rPr lang="en-US" smtClean="0"/>
              <a:t>25</a:t>
            </a:fld>
            <a:endParaRPr lang="en-US"/>
          </a:p>
        </p:txBody>
      </p:sp>
    </p:spTree>
    <p:extLst>
      <p:ext uri="{BB962C8B-B14F-4D97-AF65-F5344CB8AC3E}">
        <p14:creationId xmlns:p14="http://schemas.microsoft.com/office/powerpoint/2010/main" val="1849713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CCC0-D1DC-0049-3171-ED644B92C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1CF844-FB31-C0AE-A00C-230DAA05D6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FF653E-5BE5-96BD-C6B2-4A2319C94C17}"/>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5" name="Footer Placeholder 4">
            <a:extLst>
              <a:ext uri="{FF2B5EF4-FFF2-40B4-BE49-F238E27FC236}">
                <a16:creationId xmlns:a16="http://schemas.microsoft.com/office/drawing/2014/main" id="{1F488B2C-0F12-955B-6EE9-096BBDAC7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3DA28C-C062-09E3-9CC2-A02C1ED00E4C}"/>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4119232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755A-334E-EC0C-55F7-A37BB5EE3B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6E7A8D-CBAF-1B76-B1F2-F4025DAD7D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AE3BC6-399C-A348-3493-7FD89646EAB1}"/>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5" name="Footer Placeholder 4">
            <a:extLst>
              <a:ext uri="{FF2B5EF4-FFF2-40B4-BE49-F238E27FC236}">
                <a16:creationId xmlns:a16="http://schemas.microsoft.com/office/drawing/2014/main" id="{C99138B2-CA5F-D2E0-E5D3-730922E8C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C17E2-B05D-978A-A100-7AD4D4616C69}"/>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408011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03D27-78A9-B07E-85E4-E0491C1710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CC767A-5BC7-359D-CF7C-62EFDF56E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F8A0B8-0A02-873F-2A59-0104CBBAF557}"/>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5" name="Footer Placeholder 4">
            <a:extLst>
              <a:ext uri="{FF2B5EF4-FFF2-40B4-BE49-F238E27FC236}">
                <a16:creationId xmlns:a16="http://schemas.microsoft.com/office/drawing/2014/main" id="{FB9761F2-61BC-D9A2-A7EB-B9A0AA8FF9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A9DE2-1079-9D0F-CA6D-B4E970EB11F0}"/>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761389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E709-4C5F-39F2-E01F-D56EA2E9E1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825737-1757-1198-1FAF-1A70D28B7F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D18A81-37FD-6D13-5BF5-B6F5429A83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C40F1C-612D-1EDE-A83A-8D3D4820FF5F}"/>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6" name="Footer Placeholder 5">
            <a:extLst>
              <a:ext uri="{FF2B5EF4-FFF2-40B4-BE49-F238E27FC236}">
                <a16:creationId xmlns:a16="http://schemas.microsoft.com/office/drawing/2014/main" id="{73C72805-D6B8-68A7-4714-BBC872984F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F080E5-8659-9D07-BC12-0A7B8170F38F}"/>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651811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21F7-DF3C-74E3-2897-3CCA35D81C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169153-4EB1-B537-5227-504EB20E3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39D33D-7158-9160-4B00-11CED78015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7127AC-95C9-011A-49CA-8316F3D329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CE1210-60C5-2184-046A-1145D0BA60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242B1F-EE27-E93C-16B1-26CFE4B78681}"/>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8" name="Footer Placeholder 7">
            <a:extLst>
              <a:ext uri="{FF2B5EF4-FFF2-40B4-BE49-F238E27FC236}">
                <a16:creationId xmlns:a16="http://schemas.microsoft.com/office/drawing/2014/main" id="{B5F8C892-7B56-2CD5-8580-C95A11D75E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0CF62A-CFDC-2277-2517-4C48599D2031}"/>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81228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B83E-D321-27D2-E0E7-DF9DF80214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560ABA-FA7C-2148-E77E-24C93B56809E}"/>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4" name="Footer Placeholder 3">
            <a:extLst>
              <a:ext uri="{FF2B5EF4-FFF2-40B4-BE49-F238E27FC236}">
                <a16:creationId xmlns:a16="http://schemas.microsoft.com/office/drawing/2014/main" id="{6904AD4B-F724-B78E-E81D-D099BBA970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1BF66B-AB19-ABDF-E4DA-03987F8C345B}"/>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5089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F4BB4-9DC0-93B8-E91C-965A0B135E86}"/>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3" name="Footer Placeholder 2">
            <a:extLst>
              <a:ext uri="{FF2B5EF4-FFF2-40B4-BE49-F238E27FC236}">
                <a16:creationId xmlns:a16="http://schemas.microsoft.com/office/drawing/2014/main" id="{EBF695CB-90BE-1D6B-6702-CDA7D989F0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77B7C2-09A8-0152-662D-42A3F2BE72E3}"/>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121115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6695-9EC8-93B4-1613-E507947B65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1EE019-F400-025E-9198-493113358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4A6BB7-1E45-A6D0-3479-939CA2E7A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A4582E-FFF0-4BBD-9D27-EB8537D3D171}"/>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6" name="Footer Placeholder 5">
            <a:extLst>
              <a:ext uri="{FF2B5EF4-FFF2-40B4-BE49-F238E27FC236}">
                <a16:creationId xmlns:a16="http://schemas.microsoft.com/office/drawing/2014/main" id="{BEF9AFD8-62E5-2E6B-86A9-E0A471087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53F255-0C74-FD47-EF6D-BBF0FC3770E2}"/>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147145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2DBE-4C4F-63AE-437A-24F23B6B0C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C2A4A-C87A-53DA-86F8-C9B6D4B44C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C2D007-F73C-F202-61C8-AED5D2F36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54DFB5-1AC9-E18D-7508-AB6FCC70E008}"/>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6" name="Footer Placeholder 5">
            <a:extLst>
              <a:ext uri="{FF2B5EF4-FFF2-40B4-BE49-F238E27FC236}">
                <a16:creationId xmlns:a16="http://schemas.microsoft.com/office/drawing/2014/main" id="{98527F30-DDC9-98BE-E7DE-BE678F92EE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B3996-7049-2B9C-2D9E-395D72062A60}"/>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229859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9D5E-9891-1626-153E-0D5241885E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4568D7-02B4-BB74-B7A5-E2DD112442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AD402D-DA03-C75D-1985-8F1B853C7A72}"/>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5" name="Footer Placeholder 4">
            <a:extLst>
              <a:ext uri="{FF2B5EF4-FFF2-40B4-BE49-F238E27FC236}">
                <a16:creationId xmlns:a16="http://schemas.microsoft.com/office/drawing/2014/main" id="{6A93D180-25DB-02AB-8EF5-88BE4374D5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B3902F-E247-37B0-6531-82158E45CD42}"/>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23414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539064-E86F-2662-5D74-98D0302C2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12A47-C537-FE8F-2F8C-F6EFB14087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B2A4AB-5264-CFCB-B983-5E542965F1CF}"/>
              </a:ext>
            </a:extLst>
          </p:cNvPr>
          <p:cNvSpPr>
            <a:spLocks noGrp="1"/>
          </p:cNvSpPr>
          <p:nvPr>
            <p:ph type="dt" sz="half" idx="10"/>
          </p:nvPr>
        </p:nvSpPr>
        <p:spPr/>
        <p:txBody>
          <a:bodyPr/>
          <a:lstStyle/>
          <a:p>
            <a:fld id="{0149C927-FC8C-4E5E-ADC9-E8BAD3639D69}" type="datetimeFigureOut">
              <a:rPr lang="en-US" smtClean="0"/>
              <a:t>7/21/2026</a:t>
            </a:fld>
            <a:endParaRPr lang="en-US"/>
          </a:p>
        </p:txBody>
      </p:sp>
      <p:sp>
        <p:nvSpPr>
          <p:cNvPr id="5" name="Footer Placeholder 4">
            <a:extLst>
              <a:ext uri="{FF2B5EF4-FFF2-40B4-BE49-F238E27FC236}">
                <a16:creationId xmlns:a16="http://schemas.microsoft.com/office/drawing/2014/main" id="{E92E77F7-B36B-3CF7-BFAA-B5F9E63B1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0C304-1703-6675-129B-DD28A3660237}"/>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767611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22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3AA6A7-848C-B12B-DB21-9BA0266DB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574E3F-DC21-9EA1-E405-2E571A45DD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3A990-691E-8386-BCB2-E01753D8EA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49C927-FC8C-4E5E-ADC9-E8BAD3639D69}" type="datetimeFigureOut">
              <a:rPr lang="en-US" smtClean="0"/>
              <a:t>7/21/2026</a:t>
            </a:fld>
            <a:endParaRPr lang="en-US"/>
          </a:p>
        </p:txBody>
      </p:sp>
      <p:sp>
        <p:nvSpPr>
          <p:cNvPr id="5" name="Footer Placeholder 4">
            <a:extLst>
              <a:ext uri="{FF2B5EF4-FFF2-40B4-BE49-F238E27FC236}">
                <a16:creationId xmlns:a16="http://schemas.microsoft.com/office/drawing/2014/main" id="{341A3C0B-17AE-81A5-3AD6-99CED382F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25FE41-6BF4-DD2D-E6DF-EAD8A3465A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84AF1D-30C5-4150-B436-9B02F65CEBFC}" type="slidenum">
              <a:rPr lang="en-US" smtClean="0"/>
              <a:t>‹#›</a:t>
            </a:fld>
            <a:endParaRPr lang="en-US"/>
          </a:p>
        </p:txBody>
      </p:sp>
    </p:spTree>
    <p:extLst>
      <p:ext uri="{BB962C8B-B14F-4D97-AF65-F5344CB8AC3E}">
        <p14:creationId xmlns:p14="http://schemas.microsoft.com/office/powerpoint/2010/main" val="4267385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GitHub Commits &amp; Pull Requests </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5353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3630253601"/>
              </p:ext>
            </p:extLst>
          </p:nvPr>
        </p:nvGraphicFramePr>
        <p:xfrm>
          <a:off x="833120" y="1198656"/>
          <a:ext cx="10525760" cy="524588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69999">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10000"/>
                  </a:ext>
                </a:extLst>
              </a:tr>
              <a:tr h="560000">
                <a:tc>
                  <a:txBody>
                    <a:bodyPr/>
                    <a:lstStyle/>
                    <a:p>
                      <a:r>
                        <a:rPr lang="en-US" sz="25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5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560000">
                <a:tc>
                  <a:txBody>
                    <a:bodyPr/>
                    <a:lstStyle/>
                    <a:p>
                      <a:r>
                        <a:rPr lang="en-US" sz="2500" dirty="0">
                          <a:latin typeface="Arial" panose="020B0604020202020204" pitchFamily="34" charset="0"/>
                          <a:cs typeface="Arial" panose="020B0604020202020204" pitchFamily="34" charset="0"/>
                        </a:rPr>
                        <a:t>2. Lab Timeline</a:t>
                      </a:r>
                    </a:p>
                  </a:txBody>
                  <a:tcPr anchor="ctr"/>
                </a:tc>
                <a:tc>
                  <a:txBody>
                    <a:bodyPr/>
                    <a:lstStyle/>
                    <a:p>
                      <a:pPr algn="ctr"/>
                      <a:r>
                        <a:rPr lang="en-US" sz="25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560000">
                <a:tc>
                  <a:txBody>
                    <a:bodyPr/>
                    <a:lstStyle/>
                    <a:p>
                      <a:r>
                        <a:rPr lang="en-US" sz="2500" dirty="0">
                          <a:latin typeface="Arial" panose="020B0604020202020204" pitchFamily="34" charset="0"/>
                          <a:cs typeface="Arial" panose="020B0604020202020204" pitchFamily="34" charset="0"/>
                        </a:rPr>
                        <a:t>3. Task Overviews</a:t>
                      </a:r>
                    </a:p>
                  </a:txBody>
                  <a:tcPr anchor="ctr"/>
                </a:tc>
                <a:tc>
                  <a:txBody>
                    <a:bodyPr/>
                    <a:lstStyle/>
                    <a:p>
                      <a:pPr algn="ctr"/>
                      <a:r>
                        <a:rPr lang="en-US" sz="25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560000">
                <a:tc>
                  <a:txBody>
                    <a:bodyPr/>
                    <a:lstStyle/>
                    <a:p>
                      <a:r>
                        <a:rPr lang="en-US" sz="2500" dirty="0">
                          <a:latin typeface="Arial" panose="020B0604020202020204" pitchFamily="34" charset="0"/>
                          <a:cs typeface="Arial" panose="020B0604020202020204" pitchFamily="34" charset="0"/>
                        </a:rPr>
                        <a:t>4. Goal Output</a:t>
                      </a:r>
                    </a:p>
                  </a:txBody>
                  <a:tcPr anchor="ctr"/>
                </a:tc>
                <a:tc>
                  <a:txBody>
                    <a:bodyPr/>
                    <a:lstStyle/>
                    <a:p>
                      <a:pPr algn="ctr"/>
                      <a:r>
                        <a:rPr lang="en-US" sz="25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560000">
                <a:tc>
                  <a:txBody>
                    <a:bodyPr/>
                    <a:lstStyle/>
                    <a:p>
                      <a:r>
                        <a:rPr lang="en-US" sz="2500" dirty="0">
                          <a:latin typeface="Arial" panose="020B0604020202020204" pitchFamily="34" charset="0"/>
                          <a:cs typeface="Arial" panose="020B0604020202020204" pitchFamily="34" charset="0"/>
                        </a:rPr>
                        <a:t>5. Task 1: GitHub Commits</a:t>
                      </a:r>
                    </a:p>
                  </a:txBody>
                  <a:tcPr anchor="ctr"/>
                </a:tc>
                <a:tc>
                  <a:txBody>
                    <a:bodyPr/>
                    <a:lstStyle/>
                    <a:p>
                      <a:pPr algn="ctr"/>
                      <a:r>
                        <a:rPr lang="en-US" sz="2500" dirty="0">
                          <a:latin typeface="Arial" panose="020B0604020202020204" pitchFamily="34" charset="0"/>
                          <a:cs typeface="Arial" panose="020B0604020202020204" pitchFamily="34" charset="0"/>
                        </a:rPr>
                        <a:t>7–24</a:t>
                      </a:r>
                    </a:p>
                  </a:txBody>
                  <a:tcPr anchor="ctr"/>
                </a:tc>
                <a:extLst>
                  <a:ext uri="{0D108BD9-81ED-4DB2-BD59-A6C34878D82A}">
                    <a16:rowId xmlns:a16="http://schemas.microsoft.com/office/drawing/2014/main" val="10005"/>
                  </a:ext>
                </a:extLst>
              </a:tr>
              <a:tr h="560000">
                <a:tc>
                  <a:txBody>
                    <a:bodyPr/>
                    <a:lstStyle/>
                    <a:p>
                      <a:pPr marL="342900" indent="0"/>
                      <a:r>
                        <a:rPr lang="en-US" sz="2500" dirty="0">
                          <a:latin typeface="Arial" panose="020B0604020202020204" pitchFamily="34" charset="0"/>
                          <a:cs typeface="Arial" panose="020B0604020202020204" pitchFamily="34" charset="0"/>
                        </a:rPr>
                        <a:t>Commit via VS Code</a:t>
                      </a:r>
                    </a:p>
                  </a:txBody>
                  <a:tcPr anchor="ctr"/>
                </a:tc>
                <a:tc>
                  <a:txBody>
                    <a:bodyPr/>
                    <a:lstStyle/>
                    <a:p>
                      <a:pPr algn="ctr"/>
                      <a:r>
                        <a:rPr lang="en-US" sz="2500" dirty="0">
                          <a:latin typeface="Arial" panose="020B0604020202020204" pitchFamily="34" charset="0"/>
                          <a:cs typeface="Arial" panose="020B0604020202020204" pitchFamily="34" charset="0"/>
                        </a:rPr>
                        <a:t>9–15</a:t>
                      </a:r>
                    </a:p>
                  </a:txBody>
                  <a:tcPr anchor="ctr"/>
                </a:tc>
                <a:extLst>
                  <a:ext uri="{0D108BD9-81ED-4DB2-BD59-A6C34878D82A}">
                    <a16:rowId xmlns:a16="http://schemas.microsoft.com/office/drawing/2014/main" val="10006"/>
                  </a:ext>
                </a:extLst>
              </a:tr>
              <a:tr h="560000">
                <a:tc>
                  <a:txBody>
                    <a:bodyPr/>
                    <a:lstStyle/>
                    <a:p>
                      <a:pPr marL="342900" indent="0"/>
                      <a:r>
                        <a:rPr lang="en-US" sz="2500" dirty="0">
                          <a:latin typeface="Arial" panose="020B0604020202020204" pitchFamily="34" charset="0"/>
                          <a:cs typeface="Arial" panose="020B0604020202020204" pitchFamily="34" charset="0"/>
                        </a:rPr>
                        <a:t>Commit via GitHub</a:t>
                      </a:r>
                    </a:p>
                  </a:txBody>
                  <a:tcPr anchor="ctr"/>
                </a:tc>
                <a:tc>
                  <a:txBody>
                    <a:bodyPr/>
                    <a:lstStyle/>
                    <a:p>
                      <a:pPr algn="ctr"/>
                      <a:r>
                        <a:rPr lang="en-US" sz="2500" dirty="0">
                          <a:latin typeface="Arial" panose="020B0604020202020204" pitchFamily="34" charset="0"/>
                          <a:cs typeface="Arial" panose="020B0604020202020204" pitchFamily="34" charset="0"/>
                        </a:rPr>
                        <a:t>16–24</a:t>
                      </a:r>
                    </a:p>
                  </a:txBody>
                  <a:tcPr anchor="ctr"/>
                </a:tc>
                <a:extLst>
                  <a:ext uri="{0D108BD9-81ED-4DB2-BD59-A6C34878D82A}">
                    <a16:rowId xmlns:a16="http://schemas.microsoft.com/office/drawing/2014/main" val="10007"/>
                  </a:ext>
                </a:extLst>
              </a:tr>
              <a:tr h="560000">
                <a:tc>
                  <a:txBody>
                    <a:bodyPr/>
                    <a:lstStyle/>
                    <a:p>
                      <a:r>
                        <a:rPr lang="en-US" sz="2500" dirty="0">
                          <a:latin typeface="Arial" panose="020B0604020202020204" pitchFamily="34" charset="0"/>
                          <a:cs typeface="Arial" panose="020B0604020202020204" pitchFamily="34" charset="0"/>
                        </a:rPr>
                        <a:t>6. Task 2: Submitting a Pull Request</a:t>
                      </a:r>
                    </a:p>
                  </a:txBody>
                  <a:tcPr anchor="ctr"/>
                </a:tc>
                <a:tc>
                  <a:txBody>
                    <a:bodyPr/>
                    <a:lstStyle/>
                    <a:p>
                      <a:pPr algn="ctr"/>
                      <a:r>
                        <a:rPr lang="en-US" sz="2500" dirty="0">
                          <a:latin typeface="Arial" panose="020B0604020202020204" pitchFamily="34" charset="0"/>
                          <a:cs typeface="Arial" panose="020B0604020202020204" pitchFamily="34" charset="0"/>
                        </a:rPr>
                        <a:t>25–30</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15267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flipH="1">
            <a:off x="3668508" y="1594411"/>
            <a:ext cx="3830" cy="396189"/>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3046526" y="1225655"/>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Refinement</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271582710"/>
              </p:ext>
            </p:extLst>
          </p:nvPr>
        </p:nvGraphicFramePr>
        <p:xfrm>
          <a:off x="472440" y="1405572"/>
          <a:ext cx="11247121" cy="4626718"/>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422715">
                <a:tc>
                  <a:txBody>
                    <a:bodyPr/>
                    <a:lstStyle/>
                    <a:p>
                      <a:pPr algn="ctr"/>
                      <a:r>
                        <a:rPr lang="en-US" sz="22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2099999">
                <a:tc>
                  <a:txBody>
                    <a:bodyPr/>
                    <a:lstStyle/>
                    <a:p>
                      <a:pPr algn="ctr"/>
                      <a:r>
                        <a:rPr lang="en-US" sz="2200" b="1" dirty="0">
                          <a:solidFill>
                            <a:schemeClr val="accent2"/>
                          </a:solidFill>
                          <a:latin typeface="Arial" panose="020B0604020202020204" pitchFamily="34" charset="0"/>
                          <a:cs typeface="Arial" panose="020B0604020202020204" pitchFamily="34" charset="0"/>
                        </a:rPr>
                        <a:t>Task 1: </a:t>
                      </a:r>
                      <a:r>
                        <a:rPr lang="en-US" sz="2200" dirty="0">
                          <a:latin typeface="Arial" panose="020B0604020202020204" pitchFamily="34" charset="0"/>
                          <a:cs typeface="Arial" panose="020B0604020202020204" pitchFamily="34" charset="0"/>
                        </a:rPr>
                        <a:t>GitHub Commits</a:t>
                      </a:r>
                    </a:p>
                  </a:txBody>
                  <a:tcPr anchor="ctr"/>
                </a:tc>
                <a:tc>
                  <a:txBody>
                    <a:bodyPr/>
                    <a:lstStyle/>
                    <a:p>
                      <a:pPr algn="l"/>
                      <a:r>
                        <a:rPr lang="en-US" sz="2200" dirty="0">
                          <a:latin typeface="Arial" panose="020B0604020202020204" pitchFamily="34" charset="0"/>
                          <a:cs typeface="Arial" panose="020B0604020202020204" pitchFamily="34" charset="0"/>
                        </a:rPr>
                        <a:t>Upload your output files to your GitHub fork. We cover two ways to do this: through </a:t>
                      </a:r>
                      <a:r>
                        <a:rPr lang="en-US" sz="2200" i="1" dirty="0">
                          <a:latin typeface="Arial" panose="020B0604020202020204" pitchFamily="34" charset="0"/>
                          <a:cs typeface="Arial" panose="020B0604020202020204" pitchFamily="34" charset="0"/>
                        </a:rPr>
                        <a:t>VS Code</a:t>
                      </a:r>
                      <a:r>
                        <a:rPr lang="en-US" sz="2200" dirty="0">
                          <a:latin typeface="Arial" panose="020B0604020202020204" pitchFamily="34" charset="0"/>
                          <a:cs typeface="Arial" panose="020B0604020202020204" pitchFamily="34" charset="0"/>
                        </a:rPr>
                        <a:t> and through the </a:t>
                      </a:r>
                      <a:r>
                        <a:rPr lang="en-US" sz="2200" i="1" dirty="0">
                          <a:latin typeface="Arial" panose="020B0604020202020204" pitchFamily="34" charset="0"/>
                          <a:cs typeface="Arial" panose="020B0604020202020204" pitchFamily="34" charset="0"/>
                        </a:rPr>
                        <a:t>GitHub web portal</a:t>
                      </a:r>
                      <a:r>
                        <a:rPr lang="en-US" sz="2200" dirty="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10001"/>
                  </a:ext>
                </a:extLst>
              </a:tr>
              <a:tr h="2099999">
                <a:tc>
                  <a:txBody>
                    <a:bodyPr/>
                    <a:lstStyle/>
                    <a:p>
                      <a:pPr algn="ctr"/>
                      <a:r>
                        <a:rPr lang="en-US" sz="2200" b="1" dirty="0">
                          <a:solidFill>
                            <a:schemeClr val="accent2"/>
                          </a:solidFill>
                          <a:latin typeface="Arial" panose="020B0604020202020204" pitchFamily="34" charset="0"/>
                          <a:cs typeface="Arial" panose="020B0604020202020204" pitchFamily="34" charset="0"/>
                        </a:rPr>
                        <a:t>Task 2: </a:t>
                      </a:r>
                      <a:r>
                        <a:rPr lang="en-US" sz="2200" dirty="0">
                          <a:latin typeface="Arial" panose="020B0604020202020204" pitchFamily="34" charset="0"/>
                          <a:cs typeface="Arial" panose="020B0604020202020204" pitchFamily="34" charset="0"/>
                        </a:rPr>
                        <a:t>Submit a pull request</a:t>
                      </a:r>
                    </a:p>
                  </a:txBody>
                  <a:tcPr anchor="ctr"/>
                </a:tc>
                <a:tc>
                  <a:txBody>
                    <a:bodyPr/>
                    <a:lstStyle/>
                    <a:p>
                      <a:pPr algn="l"/>
                      <a:r>
                        <a:rPr lang="en-US" sz="2200" dirty="0">
                          <a:latin typeface="Arial" panose="020B0604020202020204" pitchFamily="34" charset="0"/>
                          <a:cs typeface="Arial" panose="020B0604020202020204" pitchFamily="34" charset="0"/>
                        </a:rPr>
                        <a:t>Open a </a:t>
                      </a:r>
                      <a:r>
                        <a:rPr lang="en-US" sz="2200" i="1" dirty="0">
                          <a:latin typeface="Arial" panose="020B0604020202020204" pitchFamily="34" charset="0"/>
                          <a:cs typeface="Arial" panose="020B0604020202020204" pitchFamily="34" charset="0"/>
                        </a:rPr>
                        <a:t>pull request</a:t>
                      </a:r>
                      <a:r>
                        <a:rPr lang="en-US" sz="2200" dirty="0">
                          <a:latin typeface="Arial" panose="020B0604020202020204" pitchFamily="34" charset="0"/>
                          <a:cs typeface="Arial" panose="020B0604020202020204" pitchFamily="34" charset="0"/>
                        </a:rPr>
                        <a:t> to merge the changes from your fork into the main class repository.</a:t>
                      </a:r>
                    </a:p>
                  </a:txBody>
                  <a:tcPr anchor="ct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218818"/>
            <a:ext cx="1009031" cy="1009031"/>
          </a:xfrm>
          <a:prstGeom prst="rect">
            <a:avLst/>
          </a:prstGeom>
        </p:spPr>
      </p:pic>
    </p:spTree>
    <p:extLst>
      <p:ext uri="{BB962C8B-B14F-4D97-AF65-F5344CB8AC3E}">
        <p14:creationId xmlns:p14="http://schemas.microsoft.com/office/powerpoint/2010/main" val="401271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29385"/>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After completing this activity, you should have an </a:t>
            </a:r>
            <a:r>
              <a:rPr lang="en-US" sz="2500" b="1" dirty="0">
                <a:solidFill>
                  <a:schemeClr val="accent2"/>
                </a:solidFill>
                <a:latin typeface="Arial" panose="020B0604020202020204" pitchFamily="34" charset="0"/>
                <a:cs typeface="Arial" panose="020B0604020202020204" pitchFamily="34" charset="0"/>
              </a:rPr>
              <a:t>updated GitHub fork</a:t>
            </a:r>
            <a:r>
              <a:rPr lang="en-US" sz="2500" dirty="0">
                <a:latin typeface="Arial" panose="020B0604020202020204" pitchFamily="34" charset="0"/>
                <a:cs typeface="Arial" panose="020B0604020202020204" pitchFamily="34" charset="0"/>
              </a:rPr>
              <a:t> with your results committed, and a </a:t>
            </a:r>
            <a:r>
              <a:rPr lang="en-US" sz="2500" b="1" dirty="0">
                <a:solidFill>
                  <a:schemeClr val="accent2"/>
                </a:solidFill>
                <a:latin typeface="Arial" panose="020B0604020202020204" pitchFamily="34" charset="0"/>
                <a:cs typeface="Arial" panose="020B0604020202020204" pitchFamily="34" charset="0"/>
              </a:rPr>
              <a:t>pull request</a:t>
            </a:r>
            <a:r>
              <a:rPr lang="en-US" sz="2500" dirty="0">
                <a:latin typeface="Arial" panose="020B0604020202020204" pitchFamily="34" charset="0"/>
                <a:cs typeface="Arial" panose="020B0604020202020204" pitchFamily="34" charset="0"/>
              </a:rPr>
              <a:t> that merges those changes into the main class repository.</a:t>
            </a:r>
          </a:p>
        </p:txBody>
      </p:sp>
      <p:graphicFrame>
        <p:nvGraphicFramePr>
          <p:cNvPr id="7" name="Table 6"/>
          <p:cNvGraphicFramePr>
            <a:graphicFrameLocks noGrp="1"/>
          </p:cNvGraphicFramePr>
          <p:nvPr>
            <p:extLst>
              <p:ext uri="{D42A27DB-BD31-4B8C-83A1-F6EECF244321}">
                <p14:modId xmlns:p14="http://schemas.microsoft.com/office/powerpoint/2010/main" val="2061847678"/>
              </p:ext>
            </p:extLst>
          </p:nvPr>
        </p:nvGraphicFramePr>
        <p:xfrm>
          <a:off x="838200" y="3261895"/>
          <a:ext cx="10642600" cy="206672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00000">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Updated GitHub fork</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Your output files committed and uploaded to your GitHub fork.</a:t>
                      </a:r>
                    </a:p>
                  </a:txBody>
                  <a:tcPr anchor="ctr">
                    <a:solidFill>
                      <a:schemeClr val="bg1"/>
                    </a:solidFill>
                  </a:tcPr>
                </a:tc>
                <a:extLst>
                  <a:ext uri="{0D108BD9-81ED-4DB2-BD59-A6C34878D82A}">
                    <a16:rowId xmlns:a16="http://schemas.microsoft.com/office/drawing/2014/main" val="10001"/>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Pull request</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 request to merge the changes in your fork into the main class repository.</a:t>
                      </a:r>
                    </a:p>
                  </a:txBody>
                  <a:tcPr anchor="ctr">
                    <a:solidFill>
                      <a:schemeClr val="bg1"/>
                    </a:solidFill>
                  </a:tcP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08045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E21CD-34EF-EDD4-4D64-947C2C81B6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543F2E-9B4F-CCC3-C687-2FD45CD8FF8E}"/>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cs typeface="Arial" panose="020B0604020202020204" pitchFamily="34" charset="0"/>
              </a:rPr>
              <a:t>Task 1: GitHub Commits (Uploading Results)</a:t>
            </a:r>
            <a:endParaRPr lang="en-US" sz="4267"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325A5D58-5033-B7A2-0F6C-AB3AAE2452F2}"/>
              </a:ext>
            </a:extLst>
          </p:cNvPr>
          <p:cNvPicPr>
            <a:picLocks noChangeAspect="1"/>
          </p:cNvPicPr>
          <p:nvPr/>
        </p:nvPicPr>
        <p:blipFill>
          <a:blip r:embed="rId3"/>
          <a:stretch>
            <a:fillRect/>
          </a:stretch>
        </p:blipFill>
        <p:spPr>
          <a:xfrm>
            <a:off x="123825" y="96036"/>
            <a:ext cx="1360667" cy="1360667"/>
          </a:xfrm>
          <a:prstGeom prst="rect">
            <a:avLst/>
          </a:prstGeom>
        </p:spPr>
      </p:pic>
    </p:spTree>
    <p:extLst>
      <p:ext uri="{BB962C8B-B14F-4D97-AF65-F5344CB8AC3E}">
        <p14:creationId xmlns:p14="http://schemas.microsoft.com/office/powerpoint/2010/main" val="29183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ED5ABC4-4421-12B3-3905-32083D99C2B8}"/>
              </a:ext>
            </a:extLst>
          </p:cNvPr>
          <p:cNvPicPr>
            <a:picLocks noChangeAspect="1"/>
          </p:cNvPicPr>
          <p:nvPr/>
        </p:nvPicPr>
        <p:blipFill>
          <a:blip r:embed="rId2"/>
          <a:stretch>
            <a:fillRect/>
          </a:stretch>
        </p:blipFill>
        <p:spPr>
          <a:xfrm>
            <a:off x="208461" y="262799"/>
            <a:ext cx="11775079" cy="6332403"/>
          </a:xfrm>
          <a:prstGeom prst="rect">
            <a:avLst/>
          </a:prstGeom>
        </p:spPr>
      </p:pic>
      <p:sp>
        <p:nvSpPr>
          <p:cNvPr id="6" name="TextBox 5">
            <a:extLst>
              <a:ext uri="{FF2B5EF4-FFF2-40B4-BE49-F238E27FC236}">
                <a16:creationId xmlns:a16="http://schemas.microsoft.com/office/drawing/2014/main" id="{0981C317-8632-2A52-68E2-7DBF5C8EA8A6}"/>
              </a:ext>
            </a:extLst>
          </p:cNvPr>
          <p:cNvSpPr txBox="1"/>
          <p:nvPr/>
        </p:nvSpPr>
        <p:spPr>
          <a:xfrm>
            <a:off x="6582959" y="1706959"/>
            <a:ext cx="3755922" cy="2308324"/>
          </a:xfrm>
          <a:prstGeom prst="rect">
            <a:avLst/>
          </a:prstGeom>
          <a:solidFill>
            <a:schemeClr val="bg1"/>
          </a:solidFill>
          <a:ln w="57150">
            <a:solidFill>
              <a:schemeClr val="tx1"/>
            </a:solidFill>
          </a:ln>
        </p:spPr>
        <p:txBody>
          <a:bodyPr wrap="square" rtlCol="0">
            <a:spAutoFit/>
          </a:bodyPr>
          <a:lstStyle/>
          <a:p>
            <a:pPr algn="ctr"/>
            <a:r>
              <a:rPr lang="en-US">
                <a:cs typeface="Courier New" panose="02070309020205020404" pitchFamily="49" charset="0"/>
              </a:rPr>
              <a:t>After completing Activity 1, you should now see an output folder, along with various figures and data files. We are going to walk through how to “push” or upload them to the course GitHub repository and your copy (fork). We will cover </a:t>
            </a:r>
            <a:r>
              <a:rPr lang="en-US" u="sng">
                <a:cs typeface="Courier New" panose="02070309020205020404" pitchFamily="49" charset="0"/>
              </a:rPr>
              <a:t>two</a:t>
            </a:r>
            <a:r>
              <a:rPr lang="en-US">
                <a:cs typeface="Courier New" panose="02070309020205020404" pitchFamily="49" charset="0"/>
              </a:rPr>
              <a:t> ways of pushing to GitHub.</a:t>
            </a:r>
          </a:p>
        </p:txBody>
      </p:sp>
      <p:sp>
        <p:nvSpPr>
          <p:cNvPr id="7" name="Rectangle 6">
            <a:extLst>
              <a:ext uri="{FF2B5EF4-FFF2-40B4-BE49-F238E27FC236}">
                <a16:creationId xmlns:a16="http://schemas.microsoft.com/office/drawing/2014/main" id="{1A0903B5-C4E1-EA56-C2EB-E9B245855539}"/>
              </a:ext>
            </a:extLst>
          </p:cNvPr>
          <p:cNvSpPr/>
          <p:nvPr/>
        </p:nvSpPr>
        <p:spPr>
          <a:xfrm>
            <a:off x="594359" y="1609344"/>
            <a:ext cx="1600201" cy="57607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2EF88032-6903-86C9-AB0A-C0715074DA9F}"/>
              </a:ext>
            </a:extLst>
          </p:cNvPr>
          <p:cNvCxnSpPr>
            <a:cxnSpLocks/>
            <a:stCxn id="6" idx="1"/>
            <a:endCxn id="7" idx="3"/>
          </p:cNvCxnSpPr>
          <p:nvPr/>
        </p:nvCxnSpPr>
        <p:spPr>
          <a:xfrm flipH="1" flipV="1">
            <a:off x="2194560" y="1897380"/>
            <a:ext cx="4388399" cy="96374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796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16B08F7-203D-FF69-487A-1159BE1A5C01}"/>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chemeClr val="accent2"/>
                </a:solidFill>
                <a:latin typeface="Arial" panose="020B0604020202020204" pitchFamily="34" charset="0"/>
                <a:cs typeface="Arial" panose="020B0604020202020204" pitchFamily="34" charset="0"/>
              </a:rPr>
              <a:t>Commit via VS Code</a:t>
            </a:r>
            <a:endParaRPr lang="en-US" sz="4400"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0157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573B-8E61-CA4F-2BCE-92C225DE816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854B4C7-D296-1BAB-D78C-8DF35F0E0D20}"/>
              </a:ext>
            </a:extLst>
          </p:cNvPr>
          <p:cNvPicPr>
            <a:picLocks noChangeAspect="1"/>
          </p:cNvPicPr>
          <p:nvPr/>
        </p:nvPicPr>
        <p:blipFill>
          <a:blip r:embed="rId2"/>
          <a:stretch>
            <a:fillRect/>
          </a:stretch>
        </p:blipFill>
        <p:spPr>
          <a:xfrm>
            <a:off x="208461" y="262799"/>
            <a:ext cx="11775079" cy="6332403"/>
          </a:xfrm>
          <a:prstGeom prst="rect">
            <a:avLst/>
          </a:prstGeom>
        </p:spPr>
      </p:pic>
      <p:sp>
        <p:nvSpPr>
          <p:cNvPr id="6" name="TextBox 5">
            <a:extLst>
              <a:ext uri="{FF2B5EF4-FFF2-40B4-BE49-F238E27FC236}">
                <a16:creationId xmlns:a16="http://schemas.microsoft.com/office/drawing/2014/main" id="{C074C81A-5387-8D86-658E-402F3EEC4B8E}"/>
              </a:ext>
            </a:extLst>
          </p:cNvPr>
          <p:cNvSpPr txBox="1"/>
          <p:nvPr/>
        </p:nvSpPr>
        <p:spPr>
          <a:xfrm>
            <a:off x="4218039" y="1589728"/>
            <a:ext cx="3755922" cy="3416320"/>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Open </a:t>
            </a:r>
            <a:r>
              <a:rPr lang="en-US" b="1" i="1" dirty="0">
                <a:cs typeface="Courier New" panose="02070309020205020404" pitchFamily="49" charset="0"/>
              </a:rPr>
              <a:t>Source Control</a:t>
            </a:r>
          </a:p>
          <a:p>
            <a:pPr algn="ctr"/>
            <a:endParaRPr lang="en-US" i="1" dirty="0">
              <a:cs typeface="Courier New" panose="02070309020205020404" pitchFamily="49" charset="0"/>
            </a:endParaRPr>
          </a:p>
          <a:p>
            <a:pPr algn="ctr"/>
            <a:r>
              <a:rPr lang="en-US" dirty="0">
                <a:cs typeface="Courier New" panose="02070309020205020404" pitchFamily="49" charset="0"/>
              </a:rPr>
              <a:t>The first thing we need to do is open the </a:t>
            </a:r>
            <a:r>
              <a:rPr lang="en-US" i="1" dirty="0">
                <a:cs typeface="Courier New" panose="02070309020205020404" pitchFamily="49" charset="0"/>
              </a:rPr>
              <a:t>Source Control </a:t>
            </a:r>
            <a:r>
              <a:rPr lang="en-US" dirty="0">
                <a:cs typeface="Courier New" panose="02070309020205020404" pitchFamily="49" charset="0"/>
              </a:rPr>
              <a:t>menu. This is the menu that allows us to version-control our changes and upload the changes to our forked repository in GitHub (copy of the course repository). To open the control menu, press: </a:t>
            </a:r>
            <a:r>
              <a:rPr lang="en-US" b="1" dirty="0">
                <a:cs typeface="Courier New" panose="02070309020205020404" pitchFamily="49" charset="0"/>
              </a:rPr>
              <a:t>CTRL + SHIFT + G </a:t>
            </a:r>
            <a:r>
              <a:rPr lang="en-US" dirty="0">
                <a:cs typeface="Courier New" panose="02070309020205020404" pitchFamily="49" charset="0"/>
              </a:rPr>
              <a:t>or </a:t>
            </a:r>
            <a:r>
              <a:rPr lang="en-US" b="1" dirty="0">
                <a:cs typeface="Courier New" panose="02070309020205020404" pitchFamily="49" charset="0"/>
              </a:rPr>
              <a:t>click</a:t>
            </a:r>
            <a:r>
              <a:rPr lang="en-US" dirty="0">
                <a:cs typeface="Courier New" panose="02070309020205020404" pitchFamily="49" charset="0"/>
              </a:rPr>
              <a:t> the icon on the left side of the screen.</a:t>
            </a:r>
          </a:p>
        </p:txBody>
      </p:sp>
      <p:sp>
        <p:nvSpPr>
          <p:cNvPr id="5" name="Rectangle 4">
            <a:extLst>
              <a:ext uri="{FF2B5EF4-FFF2-40B4-BE49-F238E27FC236}">
                <a16:creationId xmlns:a16="http://schemas.microsoft.com/office/drawing/2014/main" id="{FD148193-22DE-F466-C941-278641CCAA9F}"/>
              </a:ext>
            </a:extLst>
          </p:cNvPr>
          <p:cNvSpPr/>
          <p:nvPr/>
        </p:nvSpPr>
        <p:spPr>
          <a:xfrm>
            <a:off x="235893" y="1076325"/>
            <a:ext cx="315414" cy="30480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D67DA198-7325-F9A3-AECB-C89655108163}"/>
              </a:ext>
            </a:extLst>
          </p:cNvPr>
          <p:cNvCxnSpPr>
            <a:stCxn id="6" idx="1"/>
            <a:endCxn id="5" idx="3"/>
          </p:cNvCxnSpPr>
          <p:nvPr/>
        </p:nvCxnSpPr>
        <p:spPr>
          <a:xfrm flipH="1" flipV="1">
            <a:off x="551307" y="1216152"/>
            <a:ext cx="3666732" cy="208173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9418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C24295-45AC-85EC-AECA-B37E052CCCBD}"/>
              </a:ext>
            </a:extLst>
          </p:cNvPr>
          <p:cNvSpPr/>
          <p:nvPr/>
        </p:nvSpPr>
        <p:spPr>
          <a:xfrm>
            <a:off x="356616" y="215470"/>
            <a:ext cx="1737360" cy="634077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FB4C72F1-1E83-491A-DB52-C67C9F87C41C}"/>
              </a:ext>
            </a:extLst>
          </p:cNvPr>
          <p:cNvPicPr>
            <a:picLocks noChangeAspect="1"/>
          </p:cNvPicPr>
          <p:nvPr/>
        </p:nvPicPr>
        <p:blipFill>
          <a:blip r:embed="rId3"/>
          <a:stretch>
            <a:fillRect/>
          </a:stretch>
        </p:blipFill>
        <p:spPr>
          <a:xfrm>
            <a:off x="102108" y="205604"/>
            <a:ext cx="11987784" cy="6446792"/>
          </a:xfrm>
          <a:prstGeom prst="rect">
            <a:avLst/>
          </a:prstGeom>
        </p:spPr>
      </p:pic>
      <p:sp>
        <p:nvSpPr>
          <p:cNvPr id="7" name="TextBox 6">
            <a:extLst>
              <a:ext uri="{FF2B5EF4-FFF2-40B4-BE49-F238E27FC236}">
                <a16:creationId xmlns:a16="http://schemas.microsoft.com/office/drawing/2014/main" id="{CEB108EF-EDEA-82F5-EB6E-E47794C2045C}"/>
              </a:ext>
            </a:extLst>
          </p:cNvPr>
          <p:cNvSpPr txBox="1"/>
          <p:nvPr/>
        </p:nvSpPr>
        <p:spPr>
          <a:xfrm>
            <a:off x="6460505" y="2069351"/>
            <a:ext cx="3755922"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Staging the Files</a:t>
            </a:r>
          </a:p>
          <a:p>
            <a:pPr algn="ctr"/>
            <a:endParaRPr lang="en-US" b="1" dirty="0">
              <a:cs typeface="Courier New" panose="02070309020205020404" pitchFamily="49" charset="0"/>
            </a:endParaRPr>
          </a:p>
          <a:p>
            <a:pPr algn="ctr"/>
            <a:r>
              <a:rPr lang="en-US" dirty="0">
                <a:cs typeface="Courier New" panose="02070309020205020404" pitchFamily="49" charset="0"/>
              </a:rPr>
              <a:t>Staging files is how we tell Git which changes (files) to include in our next commit or upload. For this exercise, we will </a:t>
            </a:r>
            <a:r>
              <a:rPr lang="en-US" b="1" dirty="0">
                <a:cs typeface="Courier New" panose="02070309020205020404" pitchFamily="49" charset="0"/>
              </a:rPr>
              <a:t>upload all files</a:t>
            </a:r>
            <a:r>
              <a:rPr lang="en-US" dirty="0">
                <a:cs typeface="Courier New" panose="02070309020205020404" pitchFamily="49" charset="0"/>
              </a:rPr>
              <a:t>. In VS Code, this is achieved by </a:t>
            </a:r>
            <a:r>
              <a:rPr lang="en-US" b="1" dirty="0">
                <a:cs typeface="Courier New" panose="02070309020205020404" pitchFamily="49" charset="0"/>
              </a:rPr>
              <a:t>clicking the +</a:t>
            </a:r>
            <a:r>
              <a:rPr lang="en-US" dirty="0">
                <a:cs typeface="Courier New" panose="02070309020205020404" pitchFamily="49" charset="0"/>
              </a:rPr>
              <a:t> next to the ‘Changes’ drop down (</a:t>
            </a:r>
            <a:r>
              <a:rPr lang="en-US" b="1" dirty="0">
                <a:cs typeface="Courier New" panose="02070309020205020404" pitchFamily="49" charset="0"/>
              </a:rPr>
              <a:t>Hint: </a:t>
            </a:r>
            <a:r>
              <a:rPr lang="en-US" dirty="0">
                <a:cs typeface="Courier New" panose="02070309020205020404" pitchFamily="49" charset="0"/>
              </a:rPr>
              <a:t>Hover your cursor to see the options). </a:t>
            </a:r>
          </a:p>
        </p:txBody>
      </p:sp>
      <p:sp>
        <p:nvSpPr>
          <p:cNvPr id="11" name="Rectangle 10">
            <a:extLst>
              <a:ext uri="{FF2B5EF4-FFF2-40B4-BE49-F238E27FC236}">
                <a16:creationId xmlns:a16="http://schemas.microsoft.com/office/drawing/2014/main" id="{7CF78BAC-D6AB-8A25-2DA4-13EA4D4540BF}"/>
              </a:ext>
            </a:extLst>
          </p:cNvPr>
          <p:cNvSpPr/>
          <p:nvPr/>
        </p:nvSpPr>
        <p:spPr>
          <a:xfrm>
            <a:off x="1717665" y="1124003"/>
            <a:ext cx="257908" cy="28135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E95AB8A-56E3-8BF2-D7F0-73C85517801C}"/>
              </a:ext>
            </a:extLst>
          </p:cNvPr>
          <p:cNvCxnSpPr>
            <a:cxnSpLocks/>
            <a:stCxn id="7" idx="1"/>
            <a:endCxn id="11" idx="3"/>
          </p:cNvCxnSpPr>
          <p:nvPr/>
        </p:nvCxnSpPr>
        <p:spPr>
          <a:xfrm flipH="1" flipV="1">
            <a:off x="1975573" y="1264679"/>
            <a:ext cx="4484932" cy="2235833"/>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7774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B7DDBC-B7C7-E25B-4DA5-7CD77E6B7466}"/>
              </a:ext>
            </a:extLst>
          </p:cNvPr>
          <p:cNvPicPr>
            <a:picLocks noChangeAspect="1"/>
          </p:cNvPicPr>
          <p:nvPr/>
        </p:nvPicPr>
        <p:blipFill>
          <a:blip r:embed="rId2"/>
          <a:stretch>
            <a:fillRect/>
          </a:stretch>
        </p:blipFill>
        <p:spPr>
          <a:xfrm>
            <a:off x="103646" y="200186"/>
            <a:ext cx="11984709" cy="6457629"/>
          </a:xfrm>
          <a:prstGeom prst="rect">
            <a:avLst/>
          </a:prstGeom>
        </p:spPr>
      </p:pic>
      <p:sp>
        <p:nvSpPr>
          <p:cNvPr id="7" name="TextBox 6">
            <a:extLst>
              <a:ext uri="{FF2B5EF4-FFF2-40B4-BE49-F238E27FC236}">
                <a16:creationId xmlns:a16="http://schemas.microsoft.com/office/drawing/2014/main" id="{DC7F099E-0B5A-9784-8375-4AEF740AF170}"/>
              </a:ext>
            </a:extLst>
          </p:cNvPr>
          <p:cNvSpPr txBox="1"/>
          <p:nvPr/>
        </p:nvSpPr>
        <p:spPr>
          <a:xfrm>
            <a:off x="7225006" y="1451311"/>
            <a:ext cx="4591855" cy="4801314"/>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Commit (Upload) to GitHub</a:t>
            </a:r>
          </a:p>
          <a:p>
            <a:pPr algn="ctr"/>
            <a:endParaRPr lang="en-US" b="1" dirty="0">
              <a:cs typeface="Courier New" panose="02070309020205020404" pitchFamily="49" charset="0"/>
            </a:endParaRPr>
          </a:p>
          <a:p>
            <a:pPr algn="ctr"/>
            <a:r>
              <a:rPr lang="en-US" dirty="0">
                <a:cs typeface="Courier New" panose="02070309020205020404" pitchFamily="49" charset="0"/>
              </a:rPr>
              <a:t>After completing Step 2, you should now see that all of your changed files appear under the ‘Staged Changes’ drop down, rather than the ‘Changes’ drop down. Now, to start the process of moving these files to your GitHub repository (fork), we first need to provide a Commit message. This is a note or brief phrase indicating the change that is occurring with this upload. For our activity, we will type: </a:t>
            </a:r>
          </a:p>
          <a:p>
            <a:pPr algn="ctr"/>
            <a:endParaRPr lang="en-US" dirty="0">
              <a:latin typeface="Courier New" panose="02070309020205020404" pitchFamily="49" charset="0"/>
              <a:cs typeface="Courier New" panose="02070309020205020404" pitchFamily="49" charset="0"/>
            </a:endParaRPr>
          </a:p>
          <a:p>
            <a:pPr algn="ctr"/>
            <a:r>
              <a:rPr lang="en-US" dirty="0">
                <a:latin typeface="Courier New" panose="02070309020205020404" pitchFamily="49" charset="0"/>
                <a:cs typeface="Courier New" panose="02070309020205020404" pitchFamily="49" charset="0"/>
              </a:rPr>
              <a:t>activity_1_upload</a:t>
            </a:r>
          </a:p>
          <a:p>
            <a:pPr algn="ctr"/>
            <a:endParaRPr lang="en-US" dirty="0">
              <a:cs typeface="Courier New" panose="02070309020205020404" pitchFamily="49" charset="0"/>
            </a:endParaRPr>
          </a:p>
          <a:p>
            <a:pPr algn="ctr"/>
            <a:r>
              <a:rPr lang="en-US" dirty="0">
                <a:cs typeface="Courier New" panose="02070309020205020404" pitchFamily="49" charset="0"/>
              </a:rPr>
              <a:t>Finally, click </a:t>
            </a:r>
            <a:r>
              <a:rPr lang="en-US" b="1" dirty="0">
                <a:cs typeface="Courier New" panose="02070309020205020404" pitchFamily="49" charset="0"/>
              </a:rPr>
              <a:t>Commit</a:t>
            </a:r>
            <a:r>
              <a:rPr lang="en-US" dirty="0">
                <a:cs typeface="Courier New" panose="02070309020205020404" pitchFamily="49" charset="0"/>
              </a:rPr>
              <a:t> to begin the upload process.</a:t>
            </a:r>
          </a:p>
        </p:txBody>
      </p:sp>
      <p:sp>
        <p:nvSpPr>
          <p:cNvPr id="8" name="Rectangle 7">
            <a:extLst>
              <a:ext uri="{FF2B5EF4-FFF2-40B4-BE49-F238E27FC236}">
                <a16:creationId xmlns:a16="http://schemas.microsoft.com/office/drawing/2014/main" id="{2054A0CC-48D5-92D9-F4C5-EF0BABF6190F}"/>
              </a:ext>
            </a:extLst>
          </p:cNvPr>
          <p:cNvSpPr/>
          <p:nvPr/>
        </p:nvSpPr>
        <p:spPr>
          <a:xfrm>
            <a:off x="413355" y="1223883"/>
            <a:ext cx="1762917" cy="687213"/>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7BB2548-6992-3A9F-B109-168ECF71246D}"/>
              </a:ext>
            </a:extLst>
          </p:cNvPr>
          <p:cNvSpPr/>
          <p:nvPr/>
        </p:nvSpPr>
        <p:spPr>
          <a:xfrm>
            <a:off x="413354" y="746766"/>
            <a:ext cx="1762917" cy="47711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22F07470-F714-EEDA-EA19-34601AA7B459}"/>
              </a:ext>
            </a:extLst>
          </p:cNvPr>
          <p:cNvCxnSpPr>
            <a:cxnSpLocks/>
            <a:stCxn id="7" idx="1"/>
            <a:endCxn id="9" idx="3"/>
          </p:cNvCxnSpPr>
          <p:nvPr/>
        </p:nvCxnSpPr>
        <p:spPr>
          <a:xfrm flipH="1" flipV="1">
            <a:off x="2176271" y="985325"/>
            <a:ext cx="5048735" cy="2866643"/>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0A6424E-09AB-8E87-4093-811BFCC5C887}"/>
              </a:ext>
            </a:extLst>
          </p:cNvPr>
          <p:cNvCxnSpPr>
            <a:cxnSpLocks/>
            <a:stCxn id="7" idx="1"/>
            <a:endCxn id="8" idx="3"/>
          </p:cNvCxnSpPr>
          <p:nvPr/>
        </p:nvCxnSpPr>
        <p:spPr>
          <a:xfrm flipH="1" flipV="1">
            <a:off x="2176272" y="1567490"/>
            <a:ext cx="5048734" cy="228447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977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4B365-2376-483E-4DE9-3C0577CA8B7F}"/>
              </a:ext>
            </a:extLst>
          </p:cNvPr>
          <p:cNvPicPr>
            <a:picLocks noChangeAspect="1"/>
          </p:cNvPicPr>
          <p:nvPr/>
        </p:nvPicPr>
        <p:blipFill>
          <a:blip r:embed="rId3"/>
          <a:stretch>
            <a:fillRect/>
          </a:stretch>
        </p:blipFill>
        <p:spPr>
          <a:xfrm>
            <a:off x="219515" y="280992"/>
            <a:ext cx="11752971" cy="6296016"/>
          </a:xfrm>
          <a:prstGeom prst="rect">
            <a:avLst/>
          </a:prstGeom>
        </p:spPr>
      </p:pic>
      <p:sp>
        <p:nvSpPr>
          <p:cNvPr id="6" name="TextBox 5">
            <a:extLst>
              <a:ext uri="{FF2B5EF4-FFF2-40B4-BE49-F238E27FC236}">
                <a16:creationId xmlns:a16="http://schemas.microsoft.com/office/drawing/2014/main" id="{5061455C-2EF6-3227-DBE9-C3C36D0A693C}"/>
              </a:ext>
            </a:extLst>
          </p:cNvPr>
          <p:cNvSpPr txBox="1"/>
          <p:nvPr/>
        </p:nvSpPr>
        <p:spPr>
          <a:xfrm>
            <a:off x="6826421" y="1017557"/>
            <a:ext cx="4591855" cy="507831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Sync Changes</a:t>
            </a:r>
          </a:p>
          <a:p>
            <a:pPr algn="ctr"/>
            <a:endParaRPr lang="en-US" b="1" dirty="0">
              <a:cs typeface="Courier New" panose="02070309020205020404" pitchFamily="49" charset="0"/>
            </a:endParaRPr>
          </a:p>
          <a:p>
            <a:pPr algn="ctr"/>
            <a:r>
              <a:rPr lang="en-US" dirty="0"/>
              <a:t>Syncing keeps your local work and the remote repository (GitHub) in agreement. When you click </a:t>
            </a:r>
            <a:r>
              <a:rPr lang="en-US" b="1" dirty="0"/>
              <a:t>Sync Changes</a:t>
            </a:r>
            <a:r>
              <a:rPr lang="en-US" dirty="0"/>
              <a:t>, VS Code does two things in one step: it pushes your committed changes up to the remote and pulls down any new changes made directly in GitHub. You'll find it at the bottom status bar or in the Source Control panel, often showing arrows with numbers, ↓ for commits waiting to come down, ↑ for commits waiting to go up. Committing saves your work locally; syncing is what shares it and brings you up to date.</a:t>
            </a:r>
            <a:br>
              <a:rPr lang="en-US" dirty="0"/>
            </a:br>
            <a:br>
              <a:rPr lang="en-US" dirty="0"/>
            </a:br>
            <a:r>
              <a:rPr lang="en-US" dirty="0"/>
              <a:t>To sync your new changes, click </a:t>
            </a:r>
            <a:r>
              <a:rPr lang="en-US" b="1" dirty="0"/>
              <a:t>Sync Changes</a:t>
            </a:r>
            <a:r>
              <a:rPr lang="en-US" dirty="0"/>
              <a:t>.</a:t>
            </a:r>
            <a:endParaRPr lang="en-US" dirty="0">
              <a:cs typeface="Courier New" panose="02070309020205020404" pitchFamily="49" charset="0"/>
            </a:endParaRPr>
          </a:p>
        </p:txBody>
      </p:sp>
      <p:sp>
        <p:nvSpPr>
          <p:cNvPr id="7" name="Rectangle 6">
            <a:extLst>
              <a:ext uri="{FF2B5EF4-FFF2-40B4-BE49-F238E27FC236}">
                <a16:creationId xmlns:a16="http://schemas.microsoft.com/office/drawing/2014/main" id="{99603DA6-DDFE-63EF-30FC-D7BD6897B5E0}"/>
              </a:ext>
            </a:extLst>
          </p:cNvPr>
          <p:cNvSpPr/>
          <p:nvPr/>
        </p:nvSpPr>
        <p:spPr>
          <a:xfrm>
            <a:off x="2567354" y="973016"/>
            <a:ext cx="1301261" cy="36341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7975252-3460-CFED-10DE-9A3DB2C5DC21}"/>
              </a:ext>
            </a:extLst>
          </p:cNvPr>
          <p:cNvCxnSpPr>
            <a:stCxn id="6" idx="1"/>
          </p:cNvCxnSpPr>
          <p:nvPr/>
        </p:nvCxnSpPr>
        <p:spPr>
          <a:xfrm flipH="1" flipV="1">
            <a:off x="3868615" y="1148862"/>
            <a:ext cx="2957806" cy="2407852"/>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143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D4637C-7F0B-E9A4-D5F6-E5807953AE7B}"/>
              </a:ext>
            </a:extLst>
          </p:cNvPr>
          <p:cNvPicPr>
            <a:picLocks noChangeAspect="1"/>
          </p:cNvPicPr>
          <p:nvPr/>
        </p:nvPicPr>
        <p:blipFill>
          <a:blip r:embed="rId2"/>
          <a:stretch>
            <a:fillRect/>
          </a:stretch>
        </p:blipFill>
        <p:spPr>
          <a:xfrm>
            <a:off x="354588" y="172737"/>
            <a:ext cx="11482821" cy="6037039"/>
          </a:xfrm>
          <a:prstGeom prst="rect">
            <a:avLst/>
          </a:prstGeom>
        </p:spPr>
      </p:pic>
      <p:sp>
        <p:nvSpPr>
          <p:cNvPr id="5" name="TextBox 4">
            <a:extLst>
              <a:ext uri="{FF2B5EF4-FFF2-40B4-BE49-F238E27FC236}">
                <a16:creationId xmlns:a16="http://schemas.microsoft.com/office/drawing/2014/main" id="{6C3A219E-2946-A429-DE37-BFFC2EC91B7B}"/>
              </a:ext>
            </a:extLst>
          </p:cNvPr>
          <p:cNvSpPr txBox="1"/>
          <p:nvPr/>
        </p:nvSpPr>
        <p:spPr>
          <a:xfrm>
            <a:off x="1242645" y="3822941"/>
            <a:ext cx="9706708" cy="2862322"/>
          </a:xfrm>
          <a:prstGeom prst="rect">
            <a:avLst/>
          </a:prstGeom>
          <a:solidFill>
            <a:schemeClr val="bg1"/>
          </a:solidFill>
          <a:ln>
            <a:solidFill>
              <a:schemeClr val="tx1"/>
            </a:solidFill>
          </a:ln>
        </p:spPr>
        <p:txBody>
          <a:bodyPr wrap="square">
            <a:spAutoFit/>
          </a:bodyPr>
          <a:lstStyle/>
          <a:p>
            <a:pPr algn="ctr"/>
            <a:r>
              <a:rPr lang="en-US" b="1" dirty="0">
                <a:cs typeface="Courier New" panose="02070309020205020404" pitchFamily="49" charset="0"/>
              </a:rPr>
              <a:t>Step 5: Confirming Upload to the Main Branch</a:t>
            </a:r>
          </a:p>
          <a:p>
            <a:pPr algn="ctr">
              <a:buNone/>
            </a:pPr>
            <a:endParaRPr lang="en-US" dirty="0"/>
          </a:p>
          <a:p>
            <a:pPr algn="ctr">
              <a:buNone/>
            </a:pPr>
            <a:r>
              <a:rPr lang="en-US" dirty="0"/>
              <a:t>The main branch is your repository's </a:t>
            </a:r>
            <a:r>
              <a:rPr lang="en-US" b="1" dirty="0"/>
              <a:t>official, up-to-date version of your project</a:t>
            </a:r>
            <a:r>
              <a:rPr lang="en-US" dirty="0"/>
              <a:t>. It's what people see by default and what other branches typically merge back into once their changes are ready. Think of it as the trunk: experimental work happens on separate branches, but main holds the version you consider stable and current.</a:t>
            </a:r>
          </a:p>
          <a:p>
            <a:pPr algn="ctr">
              <a:buNone/>
            </a:pPr>
            <a:endParaRPr lang="en-US" dirty="0"/>
          </a:p>
          <a:p>
            <a:pPr algn="ctr">
              <a:buNone/>
            </a:pPr>
            <a:r>
              <a:rPr lang="en-US" b="1" dirty="0"/>
              <a:t>Click OK</a:t>
            </a:r>
            <a:r>
              <a:rPr lang="en-US" dirty="0"/>
              <a:t>. </a:t>
            </a:r>
          </a:p>
          <a:p>
            <a:pPr algn="ctr">
              <a:buNone/>
            </a:pPr>
            <a:endParaRPr lang="en-US" dirty="0"/>
          </a:p>
          <a:p>
            <a:pPr algn="ctr">
              <a:buNone/>
            </a:pPr>
            <a:r>
              <a:rPr lang="en-US" u="sng" dirty="0"/>
              <a:t>Note:</a:t>
            </a:r>
            <a:r>
              <a:rPr lang="en-US" dirty="0"/>
              <a:t> You may be prompted to sign into GitHub after this step. </a:t>
            </a:r>
          </a:p>
        </p:txBody>
      </p:sp>
      <p:sp>
        <p:nvSpPr>
          <p:cNvPr id="6" name="Rectangle 5">
            <a:extLst>
              <a:ext uri="{FF2B5EF4-FFF2-40B4-BE49-F238E27FC236}">
                <a16:creationId xmlns:a16="http://schemas.microsoft.com/office/drawing/2014/main" id="{7EA3459B-E9F1-C07F-0D09-F033E5147189}"/>
              </a:ext>
            </a:extLst>
          </p:cNvPr>
          <p:cNvSpPr/>
          <p:nvPr/>
        </p:nvSpPr>
        <p:spPr>
          <a:xfrm>
            <a:off x="4583723" y="3077307"/>
            <a:ext cx="973015" cy="351693"/>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0046D3E-708D-E8C5-B4E2-D83C4CE64420}"/>
              </a:ext>
            </a:extLst>
          </p:cNvPr>
          <p:cNvCxnSpPr>
            <a:stCxn id="5" idx="0"/>
            <a:endCxn id="6" idx="2"/>
          </p:cNvCxnSpPr>
          <p:nvPr/>
        </p:nvCxnSpPr>
        <p:spPr>
          <a:xfrm flipH="1" flipV="1">
            <a:off x="5070231" y="3429000"/>
            <a:ext cx="1025768" cy="39394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655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F4912-E4B8-3F61-46C7-606DED7918CF}"/>
              </a:ext>
            </a:extLst>
          </p:cNvPr>
          <p:cNvPicPr>
            <a:picLocks noChangeAspect="1"/>
          </p:cNvPicPr>
          <p:nvPr/>
        </p:nvPicPr>
        <p:blipFill>
          <a:blip r:embed="rId2"/>
          <a:stretch>
            <a:fillRect/>
          </a:stretch>
        </p:blipFill>
        <p:spPr>
          <a:xfrm>
            <a:off x="252271" y="360867"/>
            <a:ext cx="11687458" cy="5733931"/>
          </a:xfrm>
          <a:prstGeom prst="rect">
            <a:avLst/>
          </a:prstGeom>
        </p:spPr>
      </p:pic>
      <p:sp>
        <p:nvSpPr>
          <p:cNvPr id="6" name="TextBox 5">
            <a:extLst>
              <a:ext uri="{FF2B5EF4-FFF2-40B4-BE49-F238E27FC236}">
                <a16:creationId xmlns:a16="http://schemas.microsoft.com/office/drawing/2014/main" id="{6AFA8DF0-501A-1835-2CAF-88585A6C4FE5}"/>
              </a:ext>
            </a:extLst>
          </p:cNvPr>
          <p:cNvSpPr txBox="1"/>
          <p:nvPr/>
        </p:nvSpPr>
        <p:spPr>
          <a:xfrm>
            <a:off x="1242646" y="4617470"/>
            <a:ext cx="9706708"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6: Back to our Fork</a:t>
            </a:r>
          </a:p>
          <a:p>
            <a:pPr algn="ctr">
              <a:buNone/>
            </a:pPr>
            <a:endParaRPr lang="en-US" dirty="0"/>
          </a:p>
          <a:p>
            <a:pPr algn="ctr">
              <a:buNone/>
            </a:pPr>
            <a:r>
              <a:rPr lang="en-US" dirty="0"/>
              <a:t>Now, let’s double-check everything worked. First, </a:t>
            </a:r>
            <a:r>
              <a:rPr lang="en-US" b="1" dirty="0"/>
              <a:t>navigate</a:t>
            </a:r>
            <a:r>
              <a:rPr lang="en-US" dirty="0"/>
              <a:t> back to your forked repo and </a:t>
            </a:r>
            <a:r>
              <a:rPr lang="en-US" b="1" dirty="0"/>
              <a:t>refresh</a:t>
            </a:r>
            <a:r>
              <a:rPr lang="en-US" dirty="0"/>
              <a:t> the page. You should now see the newly committed (uploaded) folder within the </a:t>
            </a:r>
            <a:r>
              <a:rPr lang="en-US" i="1" dirty="0"/>
              <a:t>USE-ME</a:t>
            </a:r>
            <a:r>
              <a:rPr lang="en-US" dirty="0"/>
              <a:t> directory. As we continue through the lab, we will add more output to this folder. </a:t>
            </a:r>
          </a:p>
        </p:txBody>
      </p:sp>
      <p:sp>
        <p:nvSpPr>
          <p:cNvPr id="7" name="Rectangle 6">
            <a:extLst>
              <a:ext uri="{FF2B5EF4-FFF2-40B4-BE49-F238E27FC236}">
                <a16:creationId xmlns:a16="http://schemas.microsoft.com/office/drawing/2014/main" id="{5F6F5B6C-D125-E1FE-FEE0-6AB3E15DF08C}"/>
              </a:ext>
            </a:extLst>
          </p:cNvPr>
          <p:cNvSpPr/>
          <p:nvPr/>
        </p:nvSpPr>
        <p:spPr>
          <a:xfrm>
            <a:off x="2240280" y="2798064"/>
            <a:ext cx="5678424" cy="41148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42A0F0D-61E0-A69A-344B-5A6B514D5C9A}"/>
              </a:ext>
            </a:extLst>
          </p:cNvPr>
          <p:cNvCxnSpPr>
            <a:endCxn id="7" idx="2"/>
          </p:cNvCxnSpPr>
          <p:nvPr/>
        </p:nvCxnSpPr>
        <p:spPr>
          <a:xfrm flipH="1" flipV="1">
            <a:off x="5079492" y="3209544"/>
            <a:ext cx="1016508" cy="14079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438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2F7E-AD3C-BE75-0860-ABB7BF63A1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45755CA-8BA8-08A6-AFCC-9D6C6AED8F2F}"/>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a:solidFill>
                  <a:schemeClr val="accent2"/>
                </a:solidFill>
                <a:latin typeface="Arial" panose="020B0604020202020204" pitchFamily="34" charset="0"/>
                <a:cs typeface="Arial" panose="020B0604020202020204" pitchFamily="34" charset="0"/>
              </a:rPr>
              <a:t>Commit via GitHub</a:t>
            </a:r>
          </a:p>
          <a:p>
            <a:pPr algn="ctr"/>
            <a:r>
              <a:rPr lang="en-US" sz="2500" b="1">
                <a:solidFill>
                  <a:schemeClr val="accent5"/>
                </a:solidFill>
                <a:latin typeface="Arial" panose="020B0604020202020204" pitchFamily="34" charset="0"/>
                <a:cs typeface="Arial" panose="020B0604020202020204" pitchFamily="34" charset="0"/>
              </a:rPr>
              <a:t>*Does not require Git download</a:t>
            </a:r>
            <a:endParaRPr lang="en-US" sz="2500">
              <a:solidFill>
                <a:schemeClr val="accent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5979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3CA17F-EBF9-DD69-E3A8-05E0DB15F724}"/>
              </a:ext>
            </a:extLst>
          </p:cNvPr>
          <p:cNvPicPr>
            <a:picLocks noChangeAspect="1"/>
          </p:cNvPicPr>
          <p:nvPr/>
        </p:nvPicPr>
        <p:blipFill>
          <a:blip r:embed="rId2"/>
          <a:stretch>
            <a:fillRect/>
          </a:stretch>
        </p:blipFill>
        <p:spPr>
          <a:xfrm>
            <a:off x="328881" y="607177"/>
            <a:ext cx="11534239" cy="5643646"/>
          </a:xfrm>
          <a:prstGeom prst="rect">
            <a:avLst/>
          </a:prstGeom>
        </p:spPr>
      </p:pic>
      <p:sp>
        <p:nvSpPr>
          <p:cNvPr id="2" name="TextBox 1">
            <a:extLst>
              <a:ext uri="{FF2B5EF4-FFF2-40B4-BE49-F238E27FC236}">
                <a16:creationId xmlns:a16="http://schemas.microsoft.com/office/drawing/2014/main" id="{7E1441BD-670B-4930-A175-D6869F5E0462}"/>
              </a:ext>
            </a:extLst>
          </p:cNvPr>
          <p:cNvSpPr txBox="1"/>
          <p:nvPr/>
        </p:nvSpPr>
        <p:spPr>
          <a:xfrm>
            <a:off x="7805301" y="3652990"/>
            <a:ext cx="3755922"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Navigate to your GitHub Fork</a:t>
            </a:r>
          </a:p>
          <a:p>
            <a:pPr algn="ctr"/>
            <a:endParaRPr lang="en-US" dirty="0">
              <a:cs typeface="Courier New" panose="02070309020205020404" pitchFamily="49" charset="0"/>
            </a:endParaRPr>
          </a:p>
          <a:p>
            <a:pPr algn="ctr"/>
            <a:r>
              <a:rPr lang="en-US" dirty="0">
                <a:cs typeface="Courier New" panose="02070309020205020404" pitchFamily="49" charset="0"/>
              </a:rPr>
              <a:t>We can also upload or commit our results via GitHub directly. This circumvents the need for the Git download we discussed earlier but takes a bit more time to upload files. First, you will want to </a:t>
            </a:r>
            <a:r>
              <a:rPr lang="en-US" b="1" dirty="0">
                <a:cs typeface="Courier New" panose="02070309020205020404" pitchFamily="49" charset="0"/>
              </a:rPr>
              <a:t>navigate</a:t>
            </a:r>
            <a:r>
              <a:rPr lang="en-US" dirty="0">
                <a:cs typeface="Courier New" panose="02070309020205020404" pitchFamily="49" charset="0"/>
              </a:rPr>
              <a:t> to your GitHub fork. </a:t>
            </a:r>
            <a:endParaRPr lang="en-US" b="1" dirty="0">
              <a:cs typeface="Courier New" panose="02070309020205020404" pitchFamily="49" charset="0"/>
            </a:endParaRPr>
          </a:p>
        </p:txBody>
      </p:sp>
    </p:spTree>
    <p:extLst>
      <p:ext uri="{BB962C8B-B14F-4D97-AF65-F5344CB8AC3E}">
        <p14:creationId xmlns:p14="http://schemas.microsoft.com/office/powerpoint/2010/main" val="151898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5B9B735-7A2C-788C-3861-2A734E52ABD5}"/>
              </a:ext>
            </a:extLst>
          </p:cNvPr>
          <p:cNvPicPr>
            <a:picLocks noChangeAspect="1"/>
          </p:cNvPicPr>
          <p:nvPr/>
        </p:nvPicPr>
        <p:blipFill>
          <a:blip r:embed="rId2"/>
          <a:stretch>
            <a:fillRect/>
          </a:stretch>
        </p:blipFill>
        <p:spPr>
          <a:xfrm>
            <a:off x="112544" y="493425"/>
            <a:ext cx="11966913" cy="5871150"/>
          </a:xfrm>
          <a:prstGeom prst="rect">
            <a:avLst/>
          </a:prstGeom>
        </p:spPr>
      </p:pic>
      <p:sp>
        <p:nvSpPr>
          <p:cNvPr id="6" name="TextBox 5">
            <a:extLst>
              <a:ext uri="{FF2B5EF4-FFF2-40B4-BE49-F238E27FC236}">
                <a16:creationId xmlns:a16="http://schemas.microsoft.com/office/drawing/2014/main" id="{2CB34725-5A0E-EBB6-AAB1-A6106630E01F}"/>
              </a:ext>
            </a:extLst>
          </p:cNvPr>
          <p:cNvSpPr txBox="1"/>
          <p:nvPr/>
        </p:nvSpPr>
        <p:spPr>
          <a:xfrm>
            <a:off x="521208" y="3845014"/>
            <a:ext cx="6001671"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Starting the Process of Uploading Files </a:t>
            </a:r>
          </a:p>
          <a:p>
            <a:pPr algn="ctr"/>
            <a:endParaRPr lang="en-US" dirty="0">
              <a:cs typeface="Courier New" panose="02070309020205020404" pitchFamily="49" charset="0"/>
            </a:endParaRPr>
          </a:p>
          <a:p>
            <a:pPr algn="ctr"/>
            <a:r>
              <a:rPr lang="en-US" dirty="0">
                <a:cs typeface="Courier New" panose="02070309020205020404" pitchFamily="49" charset="0"/>
              </a:rPr>
              <a:t>To start the process of uploading our files, we first are going to click the </a:t>
            </a:r>
            <a:r>
              <a:rPr lang="en-US" b="1" dirty="0">
                <a:cs typeface="Courier New" panose="02070309020205020404" pitchFamily="49" charset="0"/>
              </a:rPr>
              <a:t>Add file </a:t>
            </a:r>
            <a:r>
              <a:rPr lang="en-US" dirty="0">
                <a:cs typeface="Courier New" panose="02070309020205020404" pitchFamily="49" charset="0"/>
              </a:rPr>
              <a:t>button in the upper right-hand corner. </a:t>
            </a:r>
          </a:p>
          <a:p>
            <a:pPr algn="ctr"/>
            <a:endParaRPr lang="en-US" dirty="0">
              <a:cs typeface="Courier New" panose="02070309020205020404" pitchFamily="49" charset="0"/>
            </a:endParaRPr>
          </a:p>
          <a:p>
            <a:pPr algn="ctr"/>
            <a:r>
              <a:rPr lang="en-US" dirty="0">
                <a:cs typeface="Courier New" panose="02070309020205020404" pitchFamily="49" charset="0"/>
              </a:rPr>
              <a:t>As we already have the files on our local machine we want to upload to GitHub, we need to click </a:t>
            </a:r>
            <a:r>
              <a:rPr lang="en-US" b="1" dirty="0">
                <a:cs typeface="Courier New" panose="02070309020205020404" pitchFamily="49" charset="0"/>
              </a:rPr>
              <a:t>Upload files </a:t>
            </a:r>
            <a:r>
              <a:rPr lang="en-US" dirty="0">
                <a:cs typeface="Courier New" panose="02070309020205020404" pitchFamily="49" charset="0"/>
              </a:rPr>
              <a:t>rather than Create new file. This tells GitHub that we want to search our local machine rather than create something directly in GitHub.</a:t>
            </a:r>
            <a:endParaRPr lang="en-US" b="1" dirty="0">
              <a:cs typeface="Courier New" panose="02070309020205020404" pitchFamily="49" charset="0"/>
            </a:endParaRPr>
          </a:p>
        </p:txBody>
      </p:sp>
      <p:sp>
        <p:nvSpPr>
          <p:cNvPr id="7" name="Rectangle 6">
            <a:extLst>
              <a:ext uri="{FF2B5EF4-FFF2-40B4-BE49-F238E27FC236}">
                <a16:creationId xmlns:a16="http://schemas.microsoft.com/office/drawing/2014/main" id="{568117DB-E93B-50DC-9993-802DAB2FAFA8}"/>
              </a:ext>
            </a:extLst>
          </p:cNvPr>
          <p:cNvSpPr/>
          <p:nvPr/>
        </p:nvSpPr>
        <p:spPr>
          <a:xfrm>
            <a:off x="6522878" y="1709928"/>
            <a:ext cx="722217" cy="3169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5C19D7A-AAE1-DB82-C043-217C4C4219AD}"/>
              </a:ext>
            </a:extLst>
          </p:cNvPr>
          <p:cNvCxnSpPr>
            <a:cxnSpLocks/>
            <a:stCxn id="6" idx="0"/>
            <a:endCxn id="7" idx="1"/>
          </p:cNvCxnSpPr>
          <p:nvPr/>
        </p:nvCxnSpPr>
        <p:spPr>
          <a:xfrm flipV="1">
            <a:off x="3522044" y="1868424"/>
            <a:ext cx="3000834" cy="197659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BBD8C2B2-B1D6-F451-C5FE-C033B50D58F9}"/>
              </a:ext>
            </a:extLst>
          </p:cNvPr>
          <p:cNvSpPr/>
          <p:nvPr/>
        </p:nvSpPr>
        <p:spPr>
          <a:xfrm>
            <a:off x="6532022" y="2194560"/>
            <a:ext cx="1286098" cy="3169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B4802E0E-5D38-0D7C-9974-D3D9762B06AF}"/>
              </a:ext>
            </a:extLst>
          </p:cNvPr>
          <p:cNvCxnSpPr>
            <a:stCxn id="6" idx="0"/>
            <a:endCxn id="16" idx="1"/>
          </p:cNvCxnSpPr>
          <p:nvPr/>
        </p:nvCxnSpPr>
        <p:spPr>
          <a:xfrm flipV="1">
            <a:off x="3522044" y="2353056"/>
            <a:ext cx="3009978" cy="149195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508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15162E-CA6D-2638-5308-B04258A31114}"/>
              </a:ext>
            </a:extLst>
          </p:cNvPr>
          <p:cNvPicPr>
            <a:picLocks noChangeAspect="1"/>
          </p:cNvPicPr>
          <p:nvPr/>
        </p:nvPicPr>
        <p:blipFill>
          <a:blip r:embed="rId3"/>
          <a:stretch>
            <a:fillRect/>
          </a:stretch>
        </p:blipFill>
        <p:spPr>
          <a:xfrm>
            <a:off x="115824" y="484146"/>
            <a:ext cx="11960352" cy="5889709"/>
          </a:xfrm>
          <a:prstGeom prst="rect">
            <a:avLst/>
          </a:prstGeom>
        </p:spPr>
      </p:pic>
      <p:sp>
        <p:nvSpPr>
          <p:cNvPr id="4" name="TextBox 3">
            <a:extLst>
              <a:ext uri="{FF2B5EF4-FFF2-40B4-BE49-F238E27FC236}">
                <a16:creationId xmlns:a16="http://schemas.microsoft.com/office/drawing/2014/main" id="{5AE42FB4-9AF6-E1C5-3FE6-914E75FE2883}"/>
              </a:ext>
            </a:extLst>
          </p:cNvPr>
          <p:cNvSpPr txBox="1"/>
          <p:nvPr/>
        </p:nvSpPr>
        <p:spPr>
          <a:xfrm>
            <a:off x="6925056" y="3128734"/>
            <a:ext cx="4880007" cy="258532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Uploading the Files</a:t>
            </a:r>
          </a:p>
          <a:p>
            <a:pPr algn="ctr"/>
            <a:endParaRPr lang="en-US" dirty="0">
              <a:cs typeface="Courier New" panose="02070309020205020404" pitchFamily="49" charset="0"/>
            </a:endParaRPr>
          </a:p>
          <a:p>
            <a:pPr algn="ctr"/>
            <a:r>
              <a:rPr lang="en-US" dirty="0">
                <a:cs typeface="Courier New" panose="02070309020205020404" pitchFamily="49" charset="0"/>
              </a:rPr>
              <a:t>To upload files, we are going to first click </a:t>
            </a:r>
            <a:r>
              <a:rPr lang="en-US" b="1" dirty="0">
                <a:cs typeface="Courier New" panose="02070309020205020404" pitchFamily="49" charset="0"/>
              </a:rPr>
              <a:t>Choose your files</a:t>
            </a:r>
            <a:r>
              <a:rPr lang="en-US" dirty="0">
                <a:cs typeface="Courier New" panose="02070309020205020404" pitchFamily="49" charset="0"/>
              </a:rPr>
              <a:t>. This will open our file explorer and allow us to drag over our entire </a:t>
            </a:r>
            <a:r>
              <a:rPr lang="en-US" i="1" dirty="0">
                <a:cs typeface="Courier New" panose="02070309020205020404" pitchFamily="49" charset="0"/>
              </a:rPr>
              <a:t>USE-ME</a:t>
            </a:r>
            <a:r>
              <a:rPr lang="en-US" dirty="0">
                <a:cs typeface="Courier New" panose="02070309020205020404" pitchFamily="49" charset="0"/>
              </a:rPr>
              <a:t> folder. GitHub does not allow you to select an entire folder to upload, only individual files. It will however let you drag over an entire folder, which is what we will do for this activity.</a:t>
            </a:r>
            <a:endParaRPr lang="en-US" b="1" dirty="0">
              <a:cs typeface="Courier New" panose="02070309020205020404" pitchFamily="49" charset="0"/>
            </a:endParaRPr>
          </a:p>
        </p:txBody>
      </p:sp>
      <p:sp>
        <p:nvSpPr>
          <p:cNvPr id="5" name="Rectangle 4">
            <a:extLst>
              <a:ext uri="{FF2B5EF4-FFF2-40B4-BE49-F238E27FC236}">
                <a16:creationId xmlns:a16="http://schemas.microsoft.com/office/drawing/2014/main" id="{FFC1D3AA-F882-A1CF-A835-56169E83F9FF}"/>
              </a:ext>
            </a:extLst>
          </p:cNvPr>
          <p:cNvSpPr/>
          <p:nvPr/>
        </p:nvSpPr>
        <p:spPr>
          <a:xfrm>
            <a:off x="5559552" y="2487168"/>
            <a:ext cx="1133856" cy="20726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D5512A7-77AB-8ED8-722B-43C5032910D8}"/>
              </a:ext>
            </a:extLst>
          </p:cNvPr>
          <p:cNvCxnSpPr>
            <a:stCxn id="4" idx="1"/>
            <a:endCxn id="5" idx="2"/>
          </p:cNvCxnSpPr>
          <p:nvPr/>
        </p:nvCxnSpPr>
        <p:spPr>
          <a:xfrm flipH="1" flipV="1">
            <a:off x="6126480" y="2694432"/>
            <a:ext cx="798576" cy="172696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798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EC1073-DE50-A449-886C-FA7D1DE3BA39}"/>
              </a:ext>
            </a:extLst>
          </p:cNvPr>
          <p:cNvPicPr>
            <a:picLocks noChangeAspect="1"/>
          </p:cNvPicPr>
          <p:nvPr/>
        </p:nvPicPr>
        <p:blipFill>
          <a:blip r:embed="rId2"/>
          <a:stretch>
            <a:fillRect/>
          </a:stretch>
        </p:blipFill>
        <p:spPr>
          <a:xfrm>
            <a:off x="248412" y="672861"/>
            <a:ext cx="11695176" cy="5731734"/>
          </a:xfrm>
          <a:prstGeom prst="rect">
            <a:avLst/>
          </a:prstGeom>
        </p:spPr>
      </p:pic>
      <p:sp>
        <p:nvSpPr>
          <p:cNvPr id="5" name="TextBox 4">
            <a:extLst>
              <a:ext uri="{FF2B5EF4-FFF2-40B4-BE49-F238E27FC236}">
                <a16:creationId xmlns:a16="http://schemas.microsoft.com/office/drawing/2014/main" id="{F1AA4085-2235-1792-FEA6-D249EC5D74B4}"/>
              </a:ext>
            </a:extLst>
          </p:cNvPr>
          <p:cNvSpPr txBox="1"/>
          <p:nvPr/>
        </p:nvSpPr>
        <p:spPr>
          <a:xfrm>
            <a:off x="6473872" y="1280160"/>
            <a:ext cx="4880007" cy="507831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Dragging the USE-ME folder</a:t>
            </a:r>
          </a:p>
          <a:p>
            <a:pPr algn="ctr"/>
            <a:endParaRPr lang="en-US" dirty="0">
              <a:cs typeface="Courier New" panose="02070309020205020404" pitchFamily="49" charset="0"/>
            </a:endParaRPr>
          </a:p>
          <a:p>
            <a:pPr algn="ctr"/>
            <a:r>
              <a:rPr lang="en-US" dirty="0">
                <a:cs typeface="Courier New" panose="02070309020205020404" pitchFamily="49" charset="0"/>
              </a:rPr>
              <a:t>As discussed on the previous slide, we want to drag our </a:t>
            </a:r>
            <a:r>
              <a:rPr lang="en-US" i="1" dirty="0">
                <a:cs typeface="Courier New" panose="02070309020205020404" pitchFamily="49" charset="0"/>
              </a:rPr>
              <a:t>USE-ME</a:t>
            </a:r>
            <a:r>
              <a:rPr lang="en-US" dirty="0">
                <a:cs typeface="Courier New" panose="02070309020205020404" pitchFamily="49" charset="0"/>
              </a:rPr>
              <a:t> folder to GitHub. This ensures that the entire folder moves, and all files within the folder stay within it for the move. </a:t>
            </a:r>
          </a:p>
          <a:p>
            <a:pPr algn="ctr"/>
            <a:endParaRPr lang="en-US" b="1" dirty="0">
              <a:cs typeface="Courier New" panose="02070309020205020404" pitchFamily="49" charset="0"/>
            </a:endParaRPr>
          </a:p>
          <a:p>
            <a:pPr algn="ctr"/>
            <a:r>
              <a:rPr lang="en-US" dirty="0">
                <a:cs typeface="Courier New" panose="02070309020205020404" pitchFamily="49" charset="0"/>
              </a:rPr>
              <a:t>To drag the folder, </a:t>
            </a:r>
            <a:r>
              <a:rPr lang="en-US" b="1" dirty="0">
                <a:cs typeface="Courier New" panose="02070309020205020404" pitchFamily="49" charset="0"/>
              </a:rPr>
              <a:t>right click</a:t>
            </a:r>
            <a:r>
              <a:rPr lang="en-US" dirty="0">
                <a:cs typeface="Courier New" panose="02070309020205020404" pitchFamily="49" charset="0"/>
              </a:rPr>
              <a:t>, and </a:t>
            </a:r>
            <a:r>
              <a:rPr lang="en-US" b="1" dirty="0">
                <a:cs typeface="Courier New" panose="02070309020205020404" pitchFamily="49" charset="0"/>
              </a:rPr>
              <a:t>move</a:t>
            </a:r>
            <a:r>
              <a:rPr lang="en-US" dirty="0">
                <a:cs typeface="Courier New" panose="02070309020205020404" pitchFamily="49" charset="0"/>
              </a:rPr>
              <a:t> your cursor over the </a:t>
            </a:r>
            <a:r>
              <a:rPr lang="en-US" i="1" dirty="0">
                <a:cs typeface="Courier New" panose="02070309020205020404" pitchFamily="49" charset="0"/>
              </a:rPr>
              <a:t>Drag additional files </a:t>
            </a:r>
            <a:r>
              <a:rPr lang="en-US" dirty="0">
                <a:cs typeface="Courier New" panose="02070309020205020404" pitchFamily="49" charset="0"/>
              </a:rPr>
              <a:t>here to add them to your repository rectangle on GitHub. Click </a:t>
            </a:r>
            <a:r>
              <a:rPr lang="en-US" b="1" dirty="0">
                <a:cs typeface="Courier New" panose="02070309020205020404" pitchFamily="49" charset="0"/>
              </a:rPr>
              <a:t>Cancel</a:t>
            </a:r>
            <a:r>
              <a:rPr lang="en-US" dirty="0">
                <a:cs typeface="Courier New" panose="02070309020205020404" pitchFamily="49" charset="0"/>
              </a:rPr>
              <a:t> to close out the popup.</a:t>
            </a:r>
          </a:p>
          <a:p>
            <a:pPr algn="ctr"/>
            <a:endParaRPr lang="en-US" u="sng" dirty="0">
              <a:cs typeface="Courier New" panose="02070309020205020404" pitchFamily="49" charset="0"/>
            </a:endParaRPr>
          </a:p>
          <a:p>
            <a:pPr algn="ctr"/>
            <a:r>
              <a:rPr lang="en-US" u="sng" dirty="0">
                <a:cs typeface="Courier New" panose="02070309020205020404" pitchFamily="49" charset="0"/>
              </a:rPr>
              <a:t>Note:</a:t>
            </a:r>
            <a:r>
              <a:rPr lang="en-US" dirty="0">
                <a:cs typeface="Courier New" panose="02070309020205020404" pitchFamily="49" charset="0"/>
              </a:rPr>
              <a:t> You may run into an issue where it says the folder is too big. If this happens, do not upload the </a:t>
            </a:r>
            <a:r>
              <a:rPr lang="en-US" i="1" dirty="0">
                <a:cs typeface="Courier New" panose="02070309020205020404" pitchFamily="49" charset="0"/>
              </a:rPr>
              <a:t>data</a:t>
            </a:r>
            <a:r>
              <a:rPr lang="en-US" dirty="0">
                <a:cs typeface="Courier New" panose="02070309020205020404" pitchFamily="49" charset="0"/>
              </a:rPr>
              <a:t> folder (i.e., the folder that contains the original data). You will have to remove this folder from the </a:t>
            </a:r>
            <a:r>
              <a:rPr lang="en-US" i="1" dirty="0">
                <a:cs typeface="Courier New" panose="02070309020205020404" pitchFamily="49" charset="0"/>
              </a:rPr>
              <a:t>USE-ME</a:t>
            </a:r>
            <a:r>
              <a:rPr lang="en-US" dirty="0">
                <a:cs typeface="Courier New" panose="02070309020205020404" pitchFamily="49" charset="0"/>
              </a:rPr>
              <a:t> folder prior to dragging into GitHub.</a:t>
            </a:r>
          </a:p>
        </p:txBody>
      </p:sp>
      <p:sp>
        <p:nvSpPr>
          <p:cNvPr id="6" name="Rectangle 5">
            <a:extLst>
              <a:ext uri="{FF2B5EF4-FFF2-40B4-BE49-F238E27FC236}">
                <a16:creationId xmlns:a16="http://schemas.microsoft.com/office/drawing/2014/main" id="{E0E5D046-C04C-20A0-31B0-1A80F727FA27}"/>
              </a:ext>
            </a:extLst>
          </p:cNvPr>
          <p:cNvSpPr/>
          <p:nvPr/>
        </p:nvSpPr>
        <p:spPr>
          <a:xfrm>
            <a:off x="1557528" y="1990344"/>
            <a:ext cx="2950464" cy="2407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5FDB13F-11A3-FBB1-FDA2-1F8B24AD06A7}"/>
              </a:ext>
            </a:extLst>
          </p:cNvPr>
          <p:cNvCxnSpPr>
            <a:stCxn id="5" idx="1"/>
            <a:endCxn id="6" idx="3"/>
          </p:cNvCxnSpPr>
          <p:nvPr/>
        </p:nvCxnSpPr>
        <p:spPr>
          <a:xfrm flipH="1" flipV="1">
            <a:off x="4507992" y="2110740"/>
            <a:ext cx="1965880" cy="170857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224075EC-6786-9407-1CC6-E9307A169ECC}"/>
              </a:ext>
            </a:extLst>
          </p:cNvPr>
          <p:cNvSpPr/>
          <p:nvPr/>
        </p:nvSpPr>
        <p:spPr>
          <a:xfrm>
            <a:off x="4654296" y="5198293"/>
            <a:ext cx="704088" cy="269819"/>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B3A70373-EBC9-840D-1C15-CBB3373187C2}"/>
              </a:ext>
            </a:extLst>
          </p:cNvPr>
          <p:cNvCxnSpPr>
            <a:stCxn id="5" idx="1"/>
            <a:endCxn id="10" idx="3"/>
          </p:cNvCxnSpPr>
          <p:nvPr/>
        </p:nvCxnSpPr>
        <p:spPr>
          <a:xfrm flipH="1">
            <a:off x="5358384" y="3819317"/>
            <a:ext cx="1115488" cy="151388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738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7032B6-EE03-A2A8-8C22-8D1B7BAD69F5}"/>
              </a:ext>
            </a:extLst>
          </p:cNvPr>
          <p:cNvPicPr>
            <a:picLocks noChangeAspect="1"/>
          </p:cNvPicPr>
          <p:nvPr/>
        </p:nvPicPr>
        <p:blipFill>
          <a:blip r:embed="rId2"/>
          <a:stretch>
            <a:fillRect/>
          </a:stretch>
        </p:blipFill>
        <p:spPr>
          <a:xfrm>
            <a:off x="516900" y="92583"/>
            <a:ext cx="11158199" cy="5401642"/>
          </a:xfrm>
          <a:prstGeom prst="rect">
            <a:avLst/>
          </a:prstGeom>
        </p:spPr>
      </p:pic>
      <p:sp>
        <p:nvSpPr>
          <p:cNvPr id="7" name="TextBox 6">
            <a:extLst>
              <a:ext uri="{FF2B5EF4-FFF2-40B4-BE49-F238E27FC236}">
                <a16:creationId xmlns:a16="http://schemas.microsoft.com/office/drawing/2014/main" id="{6AD147D0-B8C6-4744-4228-5328C3A4BA74}"/>
              </a:ext>
            </a:extLst>
          </p:cNvPr>
          <p:cNvSpPr txBox="1"/>
          <p:nvPr/>
        </p:nvSpPr>
        <p:spPr>
          <a:xfrm>
            <a:off x="6473872" y="1280160"/>
            <a:ext cx="4880007" cy="2031325"/>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5: Checking the Uploads</a:t>
            </a:r>
          </a:p>
          <a:p>
            <a:pPr algn="ctr"/>
            <a:endParaRPr lang="en-US" dirty="0">
              <a:cs typeface="Courier New" panose="02070309020205020404" pitchFamily="49" charset="0"/>
            </a:endParaRPr>
          </a:p>
          <a:p>
            <a:pPr algn="ctr"/>
            <a:r>
              <a:rPr lang="en-US" dirty="0">
                <a:cs typeface="Courier New" panose="02070309020205020404" pitchFamily="49" charset="0"/>
              </a:rPr>
              <a:t>After dragging over the folder, you should see each individual component included within, as well as their respective file paths. If you notice any issues, please let us know and we can help debug!</a:t>
            </a:r>
          </a:p>
        </p:txBody>
      </p:sp>
      <p:sp>
        <p:nvSpPr>
          <p:cNvPr id="8" name="Rectangle 7">
            <a:extLst>
              <a:ext uri="{FF2B5EF4-FFF2-40B4-BE49-F238E27FC236}">
                <a16:creationId xmlns:a16="http://schemas.microsoft.com/office/drawing/2014/main" id="{B27BA724-5B4A-9668-CF11-828167AD0868}"/>
              </a:ext>
            </a:extLst>
          </p:cNvPr>
          <p:cNvSpPr/>
          <p:nvPr/>
        </p:nvSpPr>
        <p:spPr>
          <a:xfrm>
            <a:off x="649224" y="2926080"/>
            <a:ext cx="5541264" cy="2734056"/>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E8CAC6F7-B9AC-C899-E45E-FAD89B8A9006}"/>
              </a:ext>
            </a:extLst>
          </p:cNvPr>
          <p:cNvCxnSpPr>
            <a:stCxn id="7" idx="2"/>
          </p:cNvCxnSpPr>
          <p:nvPr/>
        </p:nvCxnSpPr>
        <p:spPr>
          <a:xfrm flipH="1">
            <a:off x="6190488" y="3311485"/>
            <a:ext cx="2723388" cy="101362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484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D54FA8-828B-51ED-0435-5095454D5927}"/>
              </a:ext>
            </a:extLst>
          </p:cNvPr>
          <p:cNvPicPr>
            <a:picLocks noChangeAspect="1"/>
          </p:cNvPicPr>
          <p:nvPr/>
        </p:nvPicPr>
        <p:blipFill>
          <a:blip r:embed="rId2"/>
          <a:stretch>
            <a:fillRect/>
          </a:stretch>
        </p:blipFill>
        <p:spPr>
          <a:xfrm>
            <a:off x="495299" y="806475"/>
            <a:ext cx="11201400" cy="2918437"/>
          </a:xfrm>
          <a:prstGeom prst="rect">
            <a:avLst/>
          </a:prstGeom>
        </p:spPr>
      </p:pic>
      <p:sp>
        <p:nvSpPr>
          <p:cNvPr id="5" name="TextBox 4">
            <a:extLst>
              <a:ext uri="{FF2B5EF4-FFF2-40B4-BE49-F238E27FC236}">
                <a16:creationId xmlns:a16="http://schemas.microsoft.com/office/drawing/2014/main" id="{19984F93-5A2A-7144-25FE-8953E970F109}"/>
              </a:ext>
            </a:extLst>
          </p:cNvPr>
          <p:cNvSpPr txBox="1"/>
          <p:nvPr/>
        </p:nvSpPr>
        <p:spPr>
          <a:xfrm>
            <a:off x="1203880" y="4115181"/>
            <a:ext cx="9784239" cy="1754326"/>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6: Commit Changes</a:t>
            </a:r>
          </a:p>
          <a:p>
            <a:pPr algn="ctr"/>
            <a:endParaRPr lang="en-US" dirty="0">
              <a:cs typeface="Courier New" panose="02070309020205020404" pitchFamily="49" charset="0"/>
            </a:endParaRPr>
          </a:p>
          <a:p>
            <a:pPr algn="ctr"/>
            <a:r>
              <a:rPr lang="en-US" dirty="0">
                <a:cs typeface="Courier New" panose="02070309020205020404" pitchFamily="49" charset="0"/>
              </a:rPr>
              <a:t>We are now ready to save our files to GitHub. First, GitHub asks us to give the change a short title, called a commit message. Delete the default text in the top box (it reads </a:t>
            </a:r>
            <a:r>
              <a:rPr lang="en-US" i="1" dirty="0">
                <a:cs typeface="Courier New" panose="02070309020205020404" pitchFamily="49" charset="0"/>
              </a:rPr>
              <a:t>Add files via upload</a:t>
            </a:r>
            <a:r>
              <a:rPr lang="en-US" dirty="0">
                <a:cs typeface="Courier New" panose="02070309020205020404" pitchFamily="49" charset="0"/>
              </a:rPr>
              <a:t>) and </a:t>
            </a:r>
            <a:r>
              <a:rPr lang="en-US" b="1" dirty="0">
                <a:cs typeface="Courier New" panose="02070309020205020404" pitchFamily="49" charset="0"/>
              </a:rPr>
              <a:t>type</a:t>
            </a: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activity_1_upload</a:t>
            </a:r>
            <a:r>
              <a:rPr lang="en-US" dirty="0">
                <a:cs typeface="Courier New" panose="02070309020205020404" pitchFamily="49" charset="0"/>
              </a:rPr>
              <a:t> instead. Then </a:t>
            </a:r>
            <a:r>
              <a:rPr lang="en-US" b="1" dirty="0">
                <a:cs typeface="Courier New" panose="02070309020205020404" pitchFamily="49" charset="0"/>
              </a:rPr>
              <a:t>click</a:t>
            </a:r>
            <a:r>
              <a:rPr lang="en-US" dirty="0">
                <a:cs typeface="Courier New" panose="02070309020205020404" pitchFamily="49" charset="0"/>
              </a:rPr>
              <a:t> the green </a:t>
            </a:r>
            <a:r>
              <a:rPr lang="en-US" i="1" dirty="0">
                <a:cs typeface="Courier New" panose="02070309020205020404" pitchFamily="49" charset="0"/>
              </a:rPr>
              <a:t>Commit changes</a:t>
            </a:r>
            <a:r>
              <a:rPr lang="en-US" dirty="0">
                <a:cs typeface="Courier New" panose="02070309020205020404" pitchFamily="49" charset="0"/>
              </a:rPr>
              <a:t> button. From now on, always write clear commit messages, so you can easily tell what each change did later.</a:t>
            </a:r>
          </a:p>
        </p:txBody>
      </p:sp>
      <p:sp>
        <p:nvSpPr>
          <p:cNvPr id="2" name="Rectangle 1">
            <a:extLst>
              <a:ext uri="{FF2B5EF4-FFF2-40B4-BE49-F238E27FC236}">
                <a16:creationId xmlns:a16="http://schemas.microsoft.com/office/drawing/2014/main" id="{AA3519E5-78CB-0AB9-852B-1EB838BDF395}"/>
              </a:ext>
            </a:extLst>
          </p:cNvPr>
          <p:cNvSpPr/>
          <p:nvPr/>
        </p:nvSpPr>
        <p:spPr>
          <a:xfrm>
            <a:off x="1333500" y="1323975"/>
            <a:ext cx="9544050" cy="38100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0B90550-977D-6170-27E3-E3D313B5DDE2}"/>
              </a:ext>
            </a:extLst>
          </p:cNvPr>
          <p:cNvSpPr/>
          <p:nvPr/>
        </p:nvSpPr>
        <p:spPr>
          <a:xfrm>
            <a:off x="1175305" y="3267712"/>
            <a:ext cx="1282145" cy="38100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56B88088-BE2E-91A5-59A8-70F342BB78BB}"/>
              </a:ext>
            </a:extLst>
          </p:cNvPr>
          <p:cNvCxnSpPr>
            <a:stCxn id="5" idx="0"/>
            <a:endCxn id="2" idx="2"/>
          </p:cNvCxnSpPr>
          <p:nvPr/>
        </p:nvCxnSpPr>
        <p:spPr>
          <a:xfrm flipV="1">
            <a:off x="6096000" y="1704975"/>
            <a:ext cx="9525" cy="241020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6E67673-4028-27C2-EC2B-DAA9AEEFED45}"/>
              </a:ext>
            </a:extLst>
          </p:cNvPr>
          <p:cNvCxnSpPr>
            <a:stCxn id="5" idx="0"/>
            <a:endCxn id="6" idx="3"/>
          </p:cNvCxnSpPr>
          <p:nvPr/>
        </p:nvCxnSpPr>
        <p:spPr>
          <a:xfrm flipH="1" flipV="1">
            <a:off x="2457450" y="3458212"/>
            <a:ext cx="3638550" cy="65696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715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594E-786E-C504-21CC-C5F99FCF74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C34B414-460B-38AA-E580-E9BEB8C84CA1}"/>
              </a:ext>
            </a:extLst>
          </p:cNvPr>
          <p:cNvPicPr>
            <a:picLocks noChangeAspect="1"/>
          </p:cNvPicPr>
          <p:nvPr/>
        </p:nvPicPr>
        <p:blipFill>
          <a:blip r:embed="rId2"/>
          <a:stretch>
            <a:fillRect/>
          </a:stretch>
        </p:blipFill>
        <p:spPr>
          <a:xfrm>
            <a:off x="252271" y="360867"/>
            <a:ext cx="11687458" cy="5733931"/>
          </a:xfrm>
          <a:prstGeom prst="rect">
            <a:avLst/>
          </a:prstGeom>
        </p:spPr>
      </p:pic>
      <p:sp>
        <p:nvSpPr>
          <p:cNvPr id="6" name="TextBox 5">
            <a:extLst>
              <a:ext uri="{FF2B5EF4-FFF2-40B4-BE49-F238E27FC236}">
                <a16:creationId xmlns:a16="http://schemas.microsoft.com/office/drawing/2014/main" id="{BCCE2D39-045C-FC38-D3C2-81B4243B5CDD}"/>
              </a:ext>
            </a:extLst>
          </p:cNvPr>
          <p:cNvSpPr txBox="1"/>
          <p:nvPr/>
        </p:nvSpPr>
        <p:spPr>
          <a:xfrm>
            <a:off x="1242646" y="4617470"/>
            <a:ext cx="9706708"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7: Back to our Fork</a:t>
            </a:r>
          </a:p>
          <a:p>
            <a:pPr algn="ctr">
              <a:buNone/>
            </a:pPr>
            <a:endParaRPr lang="en-US" dirty="0"/>
          </a:p>
          <a:p>
            <a:pPr algn="ctr">
              <a:buNone/>
            </a:pPr>
            <a:r>
              <a:rPr lang="en-US" dirty="0"/>
              <a:t>Now, let’s double-check everything worked. First, </a:t>
            </a:r>
            <a:r>
              <a:rPr lang="en-US" b="1" dirty="0"/>
              <a:t>navigate</a:t>
            </a:r>
            <a:r>
              <a:rPr lang="en-US" dirty="0"/>
              <a:t> back to your forked repo and </a:t>
            </a:r>
            <a:r>
              <a:rPr lang="en-US" b="1" dirty="0"/>
              <a:t>refresh</a:t>
            </a:r>
            <a:r>
              <a:rPr lang="en-US" dirty="0"/>
              <a:t> the page. You should now see the newly committed (uploaded) folder within the </a:t>
            </a:r>
            <a:r>
              <a:rPr lang="en-US" i="1" dirty="0"/>
              <a:t>USE-ME</a:t>
            </a:r>
            <a:r>
              <a:rPr lang="en-US" dirty="0"/>
              <a:t> directory. As we continue through the lab, we will add more output to this folder. </a:t>
            </a:r>
          </a:p>
        </p:txBody>
      </p:sp>
      <p:sp>
        <p:nvSpPr>
          <p:cNvPr id="7" name="Rectangle 6">
            <a:extLst>
              <a:ext uri="{FF2B5EF4-FFF2-40B4-BE49-F238E27FC236}">
                <a16:creationId xmlns:a16="http://schemas.microsoft.com/office/drawing/2014/main" id="{EF8613F9-C24D-9423-F684-B2A2664A982D}"/>
              </a:ext>
            </a:extLst>
          </p:cNvPr>
          <p:cNvSpPr/>
          <p:nvPr/>
        </p:nvSpPr>
        <p:spPr>
          <a:xfrm>
            <a:off x="2240280" y="2798064"/>
            <a:ext cx="5678424" cy="41148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49A7F86-6642-9033-5B32-A011210F3033}"/>
              </a:ext>
            </a:extLst>
          </p:cNvPr>
          <p:cNvCxnSpPr>
            <a:endCxn id="7" idx="2"/>
          </p:cNvCxnSpPr>
          <p:nvPr/>
        </p:nvCxnSpPr>
        <p:spPr>
          <a:xfrm flipH="1" flipV="1">
            <a:off x="5079492" y="3209544"/>
            <a:ext cx="1016508" cy="14079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81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4A1A-DF7D-C9B5-951B-65FC8114C541}"/>
              </a:ext>
            </a:extLst>
          </p:cNvPr>
          <p:cNvSpPr>
            <a:spLocks noGrp="1"/>
          </p:cNvSpPr>
          <p:nvPr>
            <p:ph type="title"/>
          </p:nvPr>
        </p:nvSpPr>
        <p:spPr>
          <a:xfrm>
            <a:off x="838200" y="1535113"/>
            <a:ext cx="10515600" cy="3787775"/>
          </a:xfrm>
        </p:spPr>
        <p:txBody>
          <a:bodyPr anchor="t" anchorCtr="0">
            <a:noAutofit/>
          </a:bodyPr>
          <a:lstStyle/>
          <a:p>
            <a:pPr algn="ctr"/>
            <a:r>
              <a:rPr lang="en-US" b="1" u="sng" dirty="0">
                <a:solidFill>
                  <a:srgbClr val="7030A0"/>
                </a:solidFill>
                <a:latin typeface="Arial" panose="020B0604020202020204" pitchFamily="34" charset="0"/>
                <a:cs typeface="Arial" panose="020B0604020202020204" pitchFamily="34" charset="0"/>
              </a:rPr>
              <a:t>Please note:</a:t>
            </a:r>
            <a:r>
              <a:rPr lang="en-US" dirty="0">
                <a:solidFill>
                  <a:srgbClr val="7030A0"/>
                </a:solidFill>
                <a:latin typeface="Arial" panose="020B0604020202020204" pitchFamily="34" charset="0"/>
                <a:cs typeface="Arial" panose="020B0604020202020204" pitchFamily="34" charset="0"/>
              </a:rPr>
              <a:t> When you update GitHub, you only need to upload the files that you changed. If a file did not change, do not re-upload it. This keeps you under GitHub's web upload limits, which only apply when you use the web portal.</a:t>
            </a:r>
          </a:p>
        </p:txBody>
      </p:sp>
    </p:spTree>
    <p:extLst>
      <p:ext uri="{BB962C8B-B14F-4D97-AF65-F5344CB8AC3E}">
        <p14:creationId xmlns:p14="http://schemas.microsoft.com/office/powerpoint/2010/main" val="2683546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E3C02-607F-3B2F-8A2C-11D77B61AC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9C9029-2DF5-B818-3ABE-ED239CBDA064}"/>
              </a:ext>
            </a:extLst>
          </p:cNvPr>
          <p:cNvSpPr/>
          <p:nvPr/>
        </p:nvSpPr>
        <p:spPr>
          <a:xfrm>
            <a:off x="914400" y="2796540"/>
            <a:ext cx="10363200" cy="126492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cs typeface="Arial" panose="020B0604020202020204" pitchFamily="34" charset="0"/>
              </a:rPr>
              <a:t>Task 2: Submitting a Pull Request </a:t>
            </a:r>
            <a:r>
              <a:rPr lang="en-US" sz="3500" b="1" dirty="0">
                <a:solidFill>
                  <a:schemeClr val="accent2"/>
                </a:solidFill>
                <a:latin typeface="Arial" panose="020B0604020202020204" pitchFamily="34" charset="0"/>
                <a:cs typeface="Arial" panose="020B0604020202020204" pitchFamily="34" charset="0"/>
              </a:rPr>
              <a:t>(Merging your fork and the class repository)</a:t>
            </a:r>
            <a:endParaRPr lang="en-US" sz="3500" dirty="0">
              <a:solidFill>
                <a:schemeClr val="accent2"/>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629FF0E3-D7B6-4982-7CAB-907739A3FF61}"/>
              </a:ext>
            </a:extLst>
          </p:cNvPr>
          <p:cNvPicPr>
            <a:picLocks noChangeAspect="1"/>
          </p:cNvPicPr>
          <p:nvPr/>
        </p:nvPicPr>
        <p:blipFill>
          <a:blip r:embed="rId3"/>
          <a:stretch>
            <a:fillRect/>
          </a:stretch>
        </p:blipFill>
        <p:spPr>
          <a:xfrm>
            <a:off x="123825" y="96036"/>
            <a:ext cx="1360667" cy="1360667"/>
          </a:xfrm>
          <a:prstGeom prst="rect">
            <a:avLst/>
          </a:prstGeom>
        </p:spPr>
      </p:pic>
    </p:spTree>
    <p:extLst>
      <p:ext uri="{BB962C8B-B14F-4D97-AF65-F5344CB8AC3E}">
        <p14:creationId xmlns:p14="http://schemas.microsoft.com/office/powerpoint/2010/main" val="63007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0E371D-8D7B-5EEB-5F64-9230CDF845C6}"/>
              </a:ext>
            </a:extLst>
          </p:cNvPr>
          <p:cNvPicPr>
            <a:picLocks noChangeAspect="1"/>
          </p:cNvPicPr>
          <p:nvPr/>
        </p:nvPicPr>
        <p:blipFill>
          <a:blip r:embed="rId2"/>
          <a:stretch>
            <a:fillRect/>
          </a:stretch>
        </p:blipFill>
        <p:spPr>
          <a:xfrm>
            <a:off x="257556" y="569168"/>
            <a:ext cx="11676888" cy="5719665"/>
          </a:xfrm>
          <a:prstGeom prst="rect">
            <a:avLst/>
          </a:prstGeom>
        </p:spPr>
      </p:pic>
      <p:sp>
        <p:nvSpPr>
          <p:cNvPr id="9" name="TextBox 8">
            <a:extLst>
              <a:ext uri="{FF2B5EF4-FFF2-40B4-BE49-F238E27FC236}">
                <a16:creationId xmlns:a16="http://schemas.microsoft.com/office/drawing/2014/main" id="{6708EE8B-1E34-D44E-A117-5395FAD1725D}"/>
              </a:ext>
            </a:extLst>
          </p:cNvPr>
          <p:cNvSpPr txBox="1"/>
          <p:nvPr/>
        </p:nvSpPr>
        <p:spPr>
          <a:xfrm>
            <a:off x="1242646" y="3950720"/>
            <a:ext cx="9706708" cy="2585323"/>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1: Starting the </a:t>
            </a:r>
            <a:r>
              <a:rPr lang="en-US" b="1" i="1" dirty="0">
                <a:cs typeface="Courier New" panose="02070309020205020404" pitchFamily="49" charset="0"/>
              </a:rPr>
              <a:t>Pull Request</a:t>
            </a:r>
            <a:r>
              <a:rPr lang="en-US" b="1" dirty="0">
                <a:cs typeface="Courier New" panose="02070309020205020404" pitchFamily="49" charset="0"/>
              </a:rPr>
              <a:t> process</a:t>
            </a:r>
          </a:p>
          <a:p>
            <a:pPr algn="ctr">
              <a:buNone/>
            </a:pPr>
            <a:endParaRPr lang="en-US" dirty="0"/>
          </a:p>
          <a:p>
            <a:pPr algn="ctr">
              <a:buNone/>
            </a:pPr>
            <a:r>
              <a:rPr lang="en-US" dirty="0"/>
              <a:t>Now that we have updated our fork, we need to combine our updates with the main course repository. The goal of this is to get some additional practice with GitHub, including submitting a </a:t>
            </a:r>
            <a:r>
              <a:rPr lang="en-US" i="1" dirty="0"/>
              <a:t>Pull Request</a:t>
            </a:r>
            <a:r>
              <a:rPr lang="en-US" dirty="0"/>
              <a:t>. As a reminder, a </a:t>
            </a:r>
            <a:r>
              <a:rPr lang="en-US" i="1" dirty="0"/>
              <a:t>Pull Request</a:t>
            </a:r>
            <a:r>
              <a:rPr lang="en-US" dirty="0"/>
              <a:t> is a way of asking the owner of the main project to review the changes you made in your fork and add them to the original repository. In other words, you are saying, “Here is what I changed. Please pull it into the main project.” </a:t>
            </a:r>
          </a:p>
          <a:p>
            <a:pPr algn="ctr">
              <a:buNone/>
            </a:pPr>
            <a:endParaRPr lang="en-US" dirty="0"/>
          </a:p>
          <a:p>
            <a:pPr algn="ctr">
              <a:buNone/>
            </a:pPr>
            <a:r>
              <a:rPr lang="en-US" b="1" dirty="0"/>
              <a:t>Click</a:t>
            </a:r>
            <a:r>
              <a:rPr lang="en-US" dirty="0"/>
              <a:t> </a:t>
            </a:r>
            <a:r>
              <a:rPr lang="en-US" i="1" dirty="0"/>
              <a:t>Contribute</a:t>
            </a:r>
            <a:r>
              <a:rPr lang="en-US" dirty="0"/>
              <a:t> to start this process. </a:t>
            </a:r>
          </a:p>
        </p:txBody>
      </p:sp>
      <p:sp>
        <p:nvSpPr>
          <p:cNvPr id="2" name="Rectangle 1">
            <a:extLst>
              <a:ext uri="{FF2B5EF4-FFF2-40B4-BE49-F238E27FC236}">
                <a16:creationId xmlns:a16="http://schemas.microsoft.com/office/drawing/2014/main" id="{2ED2E13E-1F9C-8CBE-7A48-CF71A3C16051}"/>
              </a:ext>
            </a:extLst>
          </p:cNvPr>
          <p:cNvSpPr/>
          <p:nvPr/>
        </p:nvSpPr>
        <p:spPr>
          <a:xfrm>
            <a:off x="5962650" y="2114550"/>
            <a:ext cx="1066800" cy="32385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5629D2F0-A26F-E16F-91B7-961604C71DCD}"/>
              </a:ext>
            </a:extLst>
          </p:cNvPr>
          <p:cNvCxnSpPr>
            <a:stCxn id="9" idx="0"/>
            <a:endCxn id="2" idx="2"/>
          </p:cNvCxnSpPr>
          <p:nvPr/>
        </p:nvCxnSpPr>
        <p:spPr>
          <a:xfrm flipV="1">
            <a:off x="6096000" y="2438400"/>
            <a:ext cx="400050" cy="151232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748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3088E7-BF55-699A-981C-576C5F2125A2}"/>
              </a:ext>
            </a:extLst>
          </p:cNvPr>
          <p:cNvPicPr>
            <a:picLocks noChangeAspect="1"/>
          </p:cNvPicPr>
          <p:nvPr/>
        </p:nvPicPr>
        <p:blipFill>
          <a:blip r:embed="rId2"/>
          <a:stretch>
            <a:fillRect/>
          </a:stretch>
        </p:blipFill>
        <p:spPr>
          <a:xfrm>
            <a:off x="206478" y="536440"/>
            <a:ext cx="11779045" cy="5785120"/>
          </a:xfrm>
          <a:prstGeom prst="rect">
            <a:avLst/>
          </a:prstGeom>
        </p:spPr>
      </p:pic>
      <p:sp>
        <p:nvSpPr>
          <p:cNvPr id="8" name="Rectangle 7">
            <a:extLst>
              <a:ext uri="{FF2B5EF4-FFF2-40B4-BE49-F238E27FC236}">
                <a16:creationId xmlns:a16="http://schemas.microsoft.com/office/drawing/2014/main" id="{04F3E710-1EE3-5231-CC45-39118B3BAB4E}"/>
              </a:ext>
            </a:extLst>
          </p:cNvPr>
          <p:cNvSpPr/>
          <p:nvPr/>
        </p:nvSpPr>
        <p:spPr>
          <a:xfrm>
            <a:off x="4076699" y="2990850"/>
            <a:ext cx="2867025" cy="32385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F4289F8-9EEA-0DBB-681C-021AB2573CF3}"/>
              </a:ext>
            </a:extLst>
          </p:cNvPr>
          <p:cNvSpPr txBox="1"/>
          <p:nvPr/>
        </p:nvSpPr>
        <p:spPr>
          <a:xfrm>
            <a:off x="1242646" y="4426970"/>
            <a:ext cx="9706708" cy="923330"/>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2: Open the </a:t>
            </a:r>
            <a:r>
              <a:rPr lang="en-US" b="1" i="1" dirty="0">
                <a:cs typeface="Courier New" panose="02070309020205020404" pitchFamily="49" charset="0"/>
              </a:rPr>
              <a:t>Pull Request</a:t>
            </a:r>
          </a:p>
          <a:p>
            <a:pPr algn="ctr"/>
            <a:endParaRPr lang="en-US" b="1" i="1" dirty="0">
              <a:cs typeface="Courier New" panose="02070309020205020404" pitchFamily="49" charset="0"/>
            </a:endParaRPr>
          </a:p>
          <a:p>
            <a:pPr algn="ctr"/>
            <a:r>
              <a:rPr lang="en-US" dirty="0">
                <a:cs typeface="Courier New" panose="02070309020205020404" pitchFamily="49" charset="0"/>
              </a:rPr>
              <a:t>Next, we need to formally open the pull request. To do so,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Open pull request</a:t>
            </a:r>
            <a:r>
              <a:rPr lang="en-US" dirty="0">
                <a:cs typeface="Courier New" panose="02070309020205020404" pitchFamily="49" charset="0"/>
              </a:rPr>
              <a:t>. </a:t>
            </a:r>
            <a:endParaRPr lang="en-US" dirty="0"/>
          </a:p>
        </p:txBody>
      </p:sp>
      <p:cxnSp>
        <p:nvCxnSpPr>
          <p:cNvPr id="11" name="Straight Arrow Connector 10">
            <a:extLst>
              <a:ext uri="{FF2B5EF4-FFF2-40B4-BE49-F238E27FC236}">
                <a16:creationId xmlns:a16="http://schemas.microsoft.com/office/drawing/2014/main" id="{A3D1DE42-3296-8D2F-25EA-9116784F1B10}"/>
              </a:ext>
            </a:extLst>
          </p:cNvPr>
          <p:cNvCxnSpPr>
            <a:stCxn id="9" idx="0"/>
            <a:endCxn id="8" idx="2"/>
          </p:cNvCxnSpPr>
          <p:nvPr/>
        </p:nvCxnSpPr>
        <p:spPr>
          <a:xfrm flipH="1" flipV="1">
            <a:off x="5510212" y="3314700"/>
            <a:ext cx="585788" cy="111227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124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B0BE50-4ACD-770F-1941-1EA5AC3E9173}"/>
              </a:ext>
            </a:extLst>
          </p:cNvPr>
          <p:cNvPicPr>
            <a:picLocks noChangeAspect="1"/>
          </p:cNvPicPr>
          <p:nvPr/>
        </p:nvPicPr>
        <p:blipFill>
          <a:blip r:embed="rId2"/>
          <a:stretch>
            <a:fillRect/>
          </a:stretch>
        </p:blipFill>
        <p:spPr>
          <a:xfrm>
            <a:off x="262128" y="551647"/>
            <a:ext cx="11667744" cy="5754707"/>
          </a:xfrm>
          <a:prstGeom prst="rect">
            <a:avLst/>
          </a:prstGeom>
        </p:spPr>
      </p:pic>
      <p:sp>
        <p:nvSpPr>
          <p:cNvPr id="6" name="TextBox 5">
            <a:extLst>
              <a:ext uri="{FF2B5EF4-FFF2-40B4-BE49-F238E27FC236}">
                <a16:creationId xmlns:a16="http://schemas.microsoft.com/office/drawing/2014/main" id="{CA5DECD9-3F1D-222D-5605-D780DB204AEE}"/>
              </a:ext>
            </a:extLst>
          </p:cNvPr>
          <p:cNvSpPr txBox="1"/>
          <p:nvPr/>
        </p:nvSpPr>
        <p:spPr>
          <a:xfrm>
            <a:off x="5394022" y="2982218"/>
            <a:ext cx="5962826"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3: Comparing changes</a:t>
            </a:r>
            <a:endParaRPr lang="en-US" b="1" i="1" dirty="0">
              <a:cs typeface="Courier New" panose="02070309020205020404" pitchFamily="49" charset="0"/>
            </a:endParaRPr>
          </a:p>
          <a:p>
            <a:pPr algn="ctr"/>
            <a:endParaRPr lang="en-US" b="1" i="1" dirty="0">
              <a:cs typeface="Courier New" panose="02070309020205020404" pitchFamily="49" charset="0"/>
            </a:endParaRPr>
          </a:p>
          <a:p>
            <a:pPr algn="ctr"/>
            <a:r>
              <a:rPr lang="en-US" dirty="0">
                <a:cs typeface="Courier New" panose="02070309020205020404" pitchFamily="49" charset="0"/>
              </a:rPr>
              <a:t>We do not need to do much on this page (everything should auto-populate). To finish submitting the pull request,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Create pull request</a:t>
            </a:r>
            <a:r>
              <a:rPr lang="en-US" dirty="0">
                <a:cs typeface="Courier New" panose="02070309020205020404" pitchFamily="49" charset="0"/>
              </a:rPr>
              <a:t>. </a:t>
            </a:r>
            <a:endParaRPr lang="en-US" dirty="0"/>
          </a:p>
        </p:txBody>
      </p:sp>
      <p:sp>
        <p:nvSpPr>
          <p:cNvPr id="7" name="Rectangle 6">
            <a:extLst>
              <a:ext uri="{FF2B5EF4-FFF2-40B4-BE49-F238E27FC236}">
                <a16:creationId xmlns:a16="http://schemas.microsoft.com/office/drawing/2014/main" id="{E99B3325-99DF-2773-BBAD-E050C6DF74E4}"/>
              </a:ext>
            </a:extLst>
          </p:cNvPr>
          <p:cNvSpPr/>
          <p:nvPr/>
        </p:nvSpPr>
        <p:spPr>
          <a:xfrm>
            <a:off x="6519672" y="5175504"/>
            <a:ext cx="1389888" cy="29260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98B72D74-8A83-A3E3-27B5-C2267F516761}"/>
              </a:ext>
            </a:extLst>
          </p:cNvPr>
          <p:cNvCxnSpPr>
            <a:stCxn id="6" idx="2"/>
            <a:endCxn id="7" idx="0"/>
          </p:cNvCxnSpPr>
          <p:nvPr/>
        </p:nvCxnSpPr>
        <p:spPr>
          <a:xfrm flipH="1">
            <a:off x="7214616" y="4459546"/>
            <a:ext cx="1160819" cy="71595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872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5A7FAC-7413-B01E-14A6-7F8474AABC8A}"/>
              </a:ext>
            </a:extLst>
          </p:cNvPr>
          <p:cNvPicPr>
            <a:picLocks noChangeAspect="1"/>
          </p:cNvPicPr>
          <p:nvPr/>
        </p:nvPicPr>
        <p:blipFill>
          <a:blip r:embed="rId2"/>
          <a:stretch>
            <a:fillRect/>
          </a:stretch>
        </p:blipFill>
        <p:spPr>
          <a:xfrm>
            <a:off x="179867" y="552631"/>
            <a:ext cx="11832267" cy="5752738"/>
          </a:xfrm>
          <a:prstGeom prst="rect">
            <a:avLst/>
          </a:prstGeom>
        </p:spPr>
      </p:pic>
      <p:sp>
        <p:nvSpPr>
          <p:cNvPr id="5" name="TextBox 4">
            <a:extLst>
              <a:ext uri="{FF2B5EF4-FFF2-40B4-BE49-F238E27FC236}">
                <a16:creationId xmlns:a16="http://schemas.microsoft.com/office/drawing/2014/main" id="{4DFB635F-118A-CDE5-C68F-5D7A634348BE}"/>
              </a:ext>
            </a:extLst>
          </p:cNvPr>
          <p:cNvSpPr txBox="1"/>
          <p:nvPr/>
        </p:nvSpPr>
        <p:spPr>
          <a:xfrm>
            <a:off x="1244600" y="4038600"/>
            <a:ext cx="9702800" cy="1754326"/>
          </a:xfrm>
          <a:prstGeom prst="rect">
            <a:avLst/>
          </a:prstGeom>
          <a:solidFill>
            <a:schemeClr val="bg1"/>
          </a:solidFill>
          <a:ln w="38100">
            <a:solidFill>
              <a:schemeClr val="tx1"/>
            </a:solidFill>
          </a:ln>
        </p:spPr>
        <p:txBody>
          <a:bodyPr wrap="square" anchor="t" anchorCtr="0">
            <a:spAutoFit/>
          </a:bodyPr>
          <a:lstStyle/>
          <a:p>
            <a:pPr algn="ctr"/>
            <a:r>
              <a:rPr lang="en-US" b="1" dirty="0">
                <a:cs typeface="Courier New" panose="02070309020205020404" pitchFamily="49" charset="0"/>
              </a:rPr>
              <a:t>Step 4: Viewing the Pull Request</a:t>
            </a:r>
          </a:p>
          <a:p>
            <a:pPr algn="ctr"/>
            <a:endParaRPr lang="en-US" dirty="0"/>
          </a:p>
          <a:p>
            <a:pPr algn="ctr"/>
            <a:r>
              <a:rPr lang="en-US" dirty="0"/>
              <a:t>Our Pull Request has now been created. To view it, open the </a:t>
            </a:r>
            <a:r>
              <a:rPr lang="en-US" i="1" dirty="0"/>
              <a:t>Pull requests</a:t>
            </a:r>
            <a:r>
              <a:rPr lang="en-US" dirty="0"/>
              <a:t> tab at the top of the course repository. Any open requests are listed here, so ours, </a:t>
            </a:r>
            <a:r>
              <a:rPr lang="en-US" i="1" dirty="0"/>
              <a:t>test-push</a:t>
            </a:r>
            <a:r>
              <a:rPr lang="en-US" dirty="0"/>
              <a:t>, shows up as </a:t>
            </a:r>
            <a:r>
              <a:rPr lang="en-US" i="1" dirty="0"/>
              <a:t>1 Open</a:t>
            </a:r>
            <a:r>
              <a:rPr lang="en-US" dirty="0"/>
              <a:t>. Click its title to see the details, including the changes we submitted and any comments from the reviewer.</a:t>
            </a:r>
          </a:p>
        </p:txBody>
      </p:sp>
      <p:sp>
        <p:nvSpPr>
          <p:cNvPr id="2" name="Rectangle 1">
            <a:extLst>
              <a:ext uri="{FF2B5EF4-FFF2-40B4-BE49-F238E27FC236}">
                <a16:creationId xmlns:a16="http://schemas.microsoft.com/office/drawing/2014/main" id="{E194CB74-31F6-159B-FFA5-C09B00B35B62}"/>
              </a:ext>
            </a:extLst>
          </p:cNvPr>
          <p:cNvSpPr/>
          <p:nvPr/>
        </p:nvSpPr>
        <p:spPr>
          <a:xfrm>
            <a:off x="1217168" y="877824"/>
            <a:ext cx="1077976" cy="28346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229F4BF-A95A-6D63-FEB9-0F1E44C25CF0}"/>
              </a:ext>
            </a:extLst>
          </p:cNvPr>
          <p:cNvCxnSpPr>
            <a:cxnSpLocks/>
            <a:endCxn id="2" idx="2"/>
          </p:cNvCxnSpPr>
          <p:nvPr/>
        </p:nvCxnSpPr>
        <p:spPr>
          <a:xfrm flipH="1" flipV="1">
            <a:off x="1756156" y="1161288"/>
            <a:ext cx="758444" cy="287731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87BA3460-E56B-E0E8-5DC5-37126AD53395}"/>
              </a:ext>
            </a:extLst>
          </p:cNvPr>
          <p:cNvSpPr/>
          <p:nvPr/>
        </p:nvSpPr>
        <p:spPr>
          <a:xfrm>
            <a:off x="2295144" y="1591056"/>
            <a:ext cx="758444" cy="356616"/>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D27FCE49-80C3-813D-F651-B62BF840C57D}"/>
              </a:ext>
            </a:extLst>
          </p:cNvPr>
          <p:cNvCxnSpPr>
            <a:endCxn id="8" idx="2"/>
          </p:cNvCxnSpPr>
          <p:nvPr/>
        </p:nvCxnSpPr>
        <p:spPr>
          <a:xfrm flipV="1">
            <a:off x="2624328" y="1947672"/>
            <a:ext cx="50038" cy="209092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266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B9F650-BC2F-C787-CF4B-C7417F9AF0C1}"/>
              </a:ext>
            </a:extLst>
          </p:cNvPr>
          <p:cNvPicPr>
            <a:picLocks noChangeAspect="1"/>
          </p:cNvPicPr>
          <p:nvPr/>
        </p:nvPicPr>
        <p:blipFill>
          <a:blip r:embed="rId2"/>
          <a:stretch>
            <a:fillRect/>
          </a:stretch>
        </p:blipFill>
        <p:spPr>
          <a:xfrm>
            <a:off x="249621" y="545478"/>
            <a:ext cx="11692759" cy="5767045"/>
          </a:xfrm>
          <a:prstGeom prst="rect">
            <a:avLst/>
          </a:prstGeom>
        </p:spPr>
      </p:pic>
      <p:sp>
        <p:nvSpPr>
          <p:cNvPr id="5" name="TextBox 4">
            <a:extLst>
              <a:ext uri="{FF2B5EF4-FFF2-40B4-BE49-F238E27FC236}">
                <a16:creationId xmlns:a16="http://schemas.microsoft.com/office/drawing/2014/main" id="{801DBC9E-55C6-CB5E-7DE8-68CD8D086CD6}"/>
              </a:ext>
            </a:extLst>
          </p:cNvPr>
          <p:cNvSpPr txBox="1"/>
          <p:nvPr/>
        </p:nvSpPr>
        <p:spPr>
          <a:xfrm>
            <a:off x="1244600" y="4038600"/>
            <a:ext cx="9702800" cy="1477328"/>
          </a:xfrm>
          <a:prstGeom prst="rect">
            <a:avLst/>
          </a:prstGeom>
          <a:solidFill>
            <a:schemeClr val="bg1"/>
          </a:solidFill>
          <a:ln w="38100">
            <a:solidFill>
              <a:schemeClr val="tx1"/>
            </a:solidFill>
          </a:ln>
        </p:spPr>
        <p:txBody>
          <a:bodyPr wrap="square" anchor="t" anchorCtr="0">
            <a:spAutoFit/>
          </a:bodyPr>
          <a:lstStyle/>
          <a:p>
            <a:pPr algn="ctr"/>
            <a:r>
              <a:rPr lang="en-US" b="1" dirty="0">
                <a:cs typeface="Courier New" panose="02070309020205020404" pitchFamily="49" charset="0"/>
              </a:rPr>
              <a:t>Step 5: Viewing the Merged Pull Request</a:t>
            </a:r>
          </a:p>
          <a:p>
            <a:pPr algn="ctr"/>
            <a:endParaRPr lang="en-US" dirty="0"/>
          </a:p>
          <a:p>
            <a:pPr algn="ctr"/>
            <a:r>
              <a:rPr lang="en-US" dirty="0"/>
              <a:t>Our Pull Request has now been merged, which means the changes from our fork are now part of the main repository. You can see this at the top of the file list, where the latest commit reads </a:t>
            </a:r>
            <a:r>
              <a:rPr lang="en-US" i="1" dirty="0"/>
              <a:t>Merge pull request #6</a:t>
            </a:r>
            <a:r>
              <a:rPr lang="en-US" dirty="0"/>
              <a:t>. The files we uploaded now appear in the repository. </a:t>
            </a:r>
          </a:p>
        </p:txBody>
      </p:sp>
      <p:sp>
        <p:nvSpPr>
          <p:cNvPr id="2" name="Rectangle 1">
            <a:extLst>
              <a:ext uri="{FF2B5EF4-FFF2-40B4-BE49-F238E27FC236}">
                <a16:creationId xmlns:a16="http://schemas.microsoft.com/office/drawing/2014/main" id="{CD9B152C-D86B-5952-C6E1-44C04B6EEA55}"/>
              </a:ext>
            </a:extLst>
          </p:cNvPr>
          <p:cNvSpPr/>
          <p:nvPr/>
        </p:nvSpPr>
        <p:spPr>
          <a:xfrm>
            <a:off x="2295728" y="1935804"/>
            <a:ext cx="2976663" cy="42801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D660C172-E030-69F3-CDA9-E96D2FFFEC79}"/>
              </a:ext>
            </a:extLst>
          </p:cNvPr>
          <p:cNvCxnSpPr>
            <a:stCxn id="5" idx="0"/>
            <a:endCxn id="2" idx="2"/>
          </p:cNvCxnSpPr>
          <p:nvPr/>
        </p:nvCxnSpPr>
        <p:spPr>
          <a:xfrm flipH="1" flipV="1">
            <a:off x="3784060" y="2363821"/>
            <a:ext cx="2311940" cy="167477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641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ote Heading"/>
          <p:cNvSpPr/>
          <p:nvPr/>
        </p:nvSpPr>
        <p:spPr>
          <a:xfrm>
            <a:off x="1016000" y="364787"/>
            <a:ext cx="10160000" cy="762000"/>
          </a:xfrm>
          <a:prstGeom prst="rect">
            <a:avLst/>
          </a:prstGeom>
        </p:spPr>
        <p:txBody>
          <a:bodyPr wrap="square" rtlCol="0">
            <a:normAutofit/>
          </a:bodyPr>
          <a:lstStyle/>
          <a:p>
            <a:pPr algn="ctr"/>
            <a:r>
              <a:rPr lang="en-US" sz="4400" b="1" dirty="0">
                <a:solidFill>
                  <a:srgbClr val="7030A0"/>
                </a:solidFill>
                <a:latin typeface="Arial" panose="020B0604020202020204" pitchFamily="34" charset="0"/>
                <a:cs typeface="Arial" panose="020B0604020202020204" pitchFamily="34" charset="0"/>
              </a:rPr>
              <a:t>Important Reminder</a:t>
            </a:r>
          </a:p>
        </p:txBody>
      </p:sp>
      <p:sp>
        <p:nvSpPr>
          <p:cNvPr id="12" name="Note Body"/>
          <p:cNvSpPr/>
          <p:nvPr/>
        </p:nvSpPr>
        <p:spPr>
          <a:xfrm>
            <a:off x="1968500" y="2675108"/>
            <a:ext cx="8255000" cy="2335718"/>
          </a:xfrm>
          <a:prstGeom prst="rect">
            <a:avLst/>
          </a:prstGeom>
        </p:spPr>
        <p:txBody>
          <a:bodyPr wrap="square" rtlCol="0" anchor="ctr">
            <a:noAutofit/>
          </a:bodyPr>
          <a:lstStyle/>
          <a:p>
            <a:pPr algn="ctr"/>
            <a:r>
              <a:rPr lang="en-US" sz="4400" dirty="0">
                <a:solidFill>
                  <a:schemeClr val="tx1"/>
                </a:solidFill>
                <a:latin typeface="Arial" panose="020B0604020202020204" pitchFamily="34" charset="0"/>
                <a:cs typeface="Arial" panose="020B0604020202020204" pitchFamily="34" charset="0"/>
              </a:rPr>
              <a:t>Every time you </a:t>
            </a:r>
            <a:r>
              <a:rPr lang="en-US" sz="4400" b="1" dirty="0">
                <a:solidFill>
                  <a:schemeClr val="accent2"/>
                </a:solidFill>
                <a:latin typeface="Arial" panose="020B0604020202020204" pitchFamily="34" charset="0"/>
                <a:cs typeface="Arial" panose="020B0604020202020204" pitchFamily="34" charset="0"/>
              </a:rPr>
              <a:t>commit</a:t>
            </a:r>
            <a:r>
              <a:rPr lang="en-US" sz="4400" dirty="0">
                <a:solidFill>
                  <a:schemeClr val="tx1"/>
                </a:solidFill>
                <a:latin typeface="Arial" panose="020B0604020202020204" pitchFamily="34" charset="0"/>
                <a:cs typeface="Arial" panose="020B0604020202020204" pitchFamily="34" charset="0"/>
              </a:rPr>
              <a:t> changes to your fork, remember to also submit a </a:t>
            </a:r>
            <a:r>
              <a:rPr lang="en-US" sz="4400" b="1" dirty="0">
                <a:solidFill>
                  <a:schemeClr val="accent2"/>
                </a:solidFill>
                <a:latin typeface="Arial" panose="020B0604020202020204" pitchFamily="34" charset="0"/>
                <a:cs typeface="Arial" panose="020B0604020202020204" pitchFamily="34" charset="0"/>
              </a:rPr>
              <a:t>pull request</a:t>
            </a:r>
            <a:r>
              <a:rPr lang="en-US" sz="4400" dirty="0">
                <a:solidFill>
                  <a:schemeClr val="tx1"/>
                </a:solidFill>
                <a:latin typeface="Arial" panose="020B0604020202020204" pitchFamily="34" charset="0"/>
                <a:cs typeface="Arial" panose="020B0604020202020204" pitchFamily="34" charset="0"/>
              </a:rPr>
              <a:t> to the course repository. This keeps your updates merged into the class repo so everyone stays in sync.</a:t>
            </a:r>
          </a:p>
        </p:txBody>
      </p:sp>
    </p:spTree>
    <p:extLst>
      <p:ext uri="{BB962C8B-B14F-4D97-AF65-F5344CB8AC3E}">
        <p14:creationId xmlns:p14="http://schemas.microsoft.com/office/powerpoint/2010/main" val="896384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0565D02-E2AB-4BD2-B4F2-4794F8D8E2D1}">
  <we:reference id="WA200010001" version="1.0.0.1" store="Omex" storeType="OMEX"/>
  <we:alternateReferences>
    <we:reference id="WA200010001" version="1.0.0.1" store="WA200010001" storeType="OMEX"/>
  </we:alternateReferences>
  <we:properties>
    <we:property name="claude.fileId" value="&quot;9d15be21-7c8e-42a6-b6b2-8c397fcfb9a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1611</TotalTime>
  <Words>1845</Words>
  <Application>Microsoft Office PowerPoint</Application>
  <PresentationFormat>Widescreen</PresentationFormat>
  <Paragraphs>144</Paragraphs>
  <Slides>31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Courier New</vt:lpstr>
      <vt:lpstr>Trebuchet MS</vt:lpstr>
      <vt:lpstr>Office Theme</vt:lpstr>
      <vt:lpstr>GitHub Commits &amp; Pull Requests </vt:lpstr>
      <vt:lpstr>PowerPoint Presentation</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Please note: When you update GitHub, you only need to upload the files that you changed. If a file did not change, do not re-upload it. This keeps you under GitHub's web upload limits, which only apply when you use the web portal.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12</cp:revision>
  <dcterms:created xsi:type="dcterms:W3CDTF">2026-07-17T01:11:23Z</dcterms:created>
  <dcterms:modified xsi:type="dcterms:W3CDTF">2026-07-21T20:02:53Z</dcterms:modified>
</cp:coreProperties>
</file>